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7" r:id="rId32"/>
    <p:sldId id="288" r:id="rId33"/>
    <p:sldId id="289" r:id="rId34"/>
    <p:sldId id="290" r:id="rId35"/>
    <p:sldId id="291" r:id="rId36"/>
    <p:sldId id="292" r:id="rId37"/>
    <p:sldId id="293" r:id="rId38"/>
    <p:sldId id="294" r:id="rId39"/>
    <p:sldId id="295" r:id="rId40"/>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880"/>
        <p:guide pos="216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8/23/2022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8/23/2022</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8/23/2022</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8/23/2022</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8/23/2022</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264159"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FCFCFD"/>
          </a:solidFill>
        </p:spPr>
        <p:txBody>
          <a:bodyPr wrap="square" lIns="0" tIns="0" rIns="0" bIns="0" rtlCol="0"/>
          <a:lstStyle/>
          <a:p>
            <a:endParaRPr/>
          </a:p>
        </p:txBody>
      </p:sp>
      <p:sp>
        <p:nvSpPr>
          <p:cNvPr id="17" name="bg object 17"/>
          <p:cNvSpPr/>
          <p:nvPr/>
        </p:nvSpPr>
        <p:spPr>
          <a:xfrm>
            <a:off x="264159"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FCFCFD"/>
          </a:solidFill>
        </p:spPr>
        <p:txBody>
          <a:bodyPr wrap="square" lIns="0" tIns="0" rIns="0" bIns="0" rtlCol="0"/>
          <a:lstStyle/>
          <a:p>
            <a:endParaRPr/>
          </a:p>
        </p:txBody>
      </p:sp>
      <p:sp>
        <p:nvSpPr>
          <p:cNvPr id="18" name="bg object 18"/>
          <p:cNvSpPr/>
          <p:nvPr/>
        </p:nvSpPr>
        <p:spPr>
          <a:xfrm>
            <a:off x="257809" y="274320"/>
            <a:ext cx="7620" cy="260350"/>
          </a:xfrm>
          <a:custGeom>
            <a:avLst/>
            <a:gdLst/>
            <a:ahLst/>
            <a:cxnLst/>
            <a:rect l="l" t="t" r="r" b="b"/>
            <a:pathLst>
              <a:path w="7620" h="260350">
                <a:moveTo>
                  <a:pt x="0" y="260350"/>
                </a:moveTo>
                <a:lnTo>
                  <a:pt x="7619" y="260350"/>
                </a:lnTo>
                <a:lnTo>
                  <a:pt x="7619" y="0"/>
                </a:lnTo>
                <a:lnTo>
                  <a:pt x="0" y="0"/>
                </a:lnTo>
                <a:lnTo>
                  <a:pt x="0" y="260350"/>
                </a:lnTo>
                <a:close/>
              </a:path>
            </a:pathLst>
          </a:custGeom>
          <a:solidFill>
            <a:srgbClr val="FBFBFD"/>
          </a:solidFill>
        </p:spPr>
        <p:txBody>
          <a:bodyPr wrap="square" lIns="0" tIns="0" rIns="0" bIns="0" rtlCol="0"/>
          <a:lstStyle/>
          <a:p>
            <a:endParaRPr/>
          </a:p>
        </p:txBody>
      </p:sp>
      <p:sp>
        <p:nvSpPr>
          <p:cNvPr id="19" name="bg object 19"/>
          <p:cNvSpPr/>
          <p:nvPr/>
        </p:nvSpPr>
        <p:spPr>
          <a:xfrm>
            <a:off x="257809" y="0"/>
            <a:ext cx="7620" cy="137160"/>
          </a:xfrm>
          <a:custGeom>
            <a:avLst/>
            <a:gdLst/>
            <a:ahLst/>
            <a:cxnLst/>
            <a:rect l="l" t="t" r="r" b="b"/>
            <a:pathLst>
              <a:path w="7620" h="137160">
                <a:moveTo>
                  <a:pt x="0" y="137160"/>
                </a:moveTo>
                <a:lnTo>
                  <a:pt x="7619" y="137160"/>
                </a:lnTo>
                <a:lnTo>
                  <a:pt x="7619" y="0"/>
                </a:lnTo>
                <a:lnTo>
                  <a:pt x="0" y="0"/>
                </a:lnTo>
                <a:lnTo>
                  <a:pt x="0" y="137160"/>
                </a:lnTo>
                <a:close/>
              </a:path>
            </a:pathLst>
          </a:custGeom>
          <a:solidFill>
            <a:srgbClr val="FBFBFD"/>
          </a:solidFill>
        </p:spPr>
        <p:txBody>
          <a:bodyPr wrap="square" lIns="0" tIns="0" rIns="0" bIns="0" rtlCol="0"/>
          <a:lstStyle/>
          <a:p>
            <a:endParaRPr/>
          </a:p>
        </p:txBody>
      </p:sp>
      <p:sp>
        <p:nvSpPr>
          <p:cNvPr id="20" name="bg object 20"/>
          <p:cNvSpPr/>
          <p:nvPr/>
        </p:nvSpPr>
        <p:spPr>
          <a:xfrm>
            <a:off x="250190" y="274320"/>
            <a:ext cx="7620" cy="260350"/>
          </a:xfrm>
          <a:custGeom>
            <a:avLst/>
            <a:gdLst/>
            <a:ahLst/>
            <a:cxnLst/>
            <a:rect l="l" t="t" r="r" b="b"/>
            <a:pathLst>
              <a:path w="7620" h="260350">
                <a:moveTo>
                  <a:pt x="0" y="260350"/>
                </a:moveTo>
                <a:lnTo>
                  <a:pt x="7620" y="260350"/>
                </a:lnTo>
                <a:lnTo>
                  <a:pt x="7620" y="0"/>
                </a:lnTo>
                <a:lnTo>
                  <a:pt x="0" y="0"/>
                </a:lnTo>
                <a:lnTo>
                  <a:pt x="0" y="260350"/>
                </a:lnTo>
                <a:close/>
              </a:path>
            </a:pathLst>
          </a:custGeom>
          <a:solidFill>
            <a:srgbClr val="FAFAFC"/>
          </a:solidFill>
        </p:spPr>
        <p:txBody>
          <a:bodyPr wrap="square" lIns="0" tIns="0" rIns="0" bIns="0" rtlCol="0"/>
          <a:lstStyle/>
          <a:p>
            <a:endParaRPr/>
          </a:p>
        </p:txBody>
      </p:sp>
      <p:sp>
        <p:nvSpPr>
          <p:cNvPr id="21" name="bg object 21"/>
          <p:cNvSpPr/>
          <p:nvPr/>
        </p:nvSpPr>
        <p:spPr>
          <a:xfrm>
            <a:off x="250190" y="0"/>
            <a:ext cx="7620" cy="137160"/>
          </a:xfrm>
          <a:custGeom>
            <a:avLst/>
            <a:gdLst/>
            <a:ahLst/>
            <a:cxnLst/>
            <a:rect l="l" t="t" r="r" b="b"/>
            <a:pathLst>
              <a:path w="7620" h="137160">
                <a:moveTo>
                  <a:pt x="0" y="137160"/>
                </a:moveTo>
                <a:lnTo>
                  <a:pt x="7620" y="137160"/>
                </a:lnTo>
                <a:lnTo>
                  <a:pt x="7620" y="0"/>
                </a:lnTo>
                <a:lnTo>
                  <a:pt x="0" y="0"/>
                </a:lnTo>
                <a:lnTo>
                  <a:pt x="0" y="137160"/>
                </a:lnTo>
                <a:close/>
              </a:path>
            </a:pathLst>
          </a:custGeom>
          <a:solidFill>
            <a:srgbClr val="FAFAFC"/>
          </a:solidFill>
        </p:spPr>
        <p:txBody>
          <a:bodyPr wrap="square" lIns="0" tIns="0" rIns="0" bIns="0" rtlCol="0"/>
          <a:lstStyle/>
          <a:p>
            <a:endParaRPr/>
          </a:p>
        </p:txBody>
      </p:sp>
      <p:sp>
        <p:nvSpPr>
          <p:cNvPr id="22" name="bg object 22"/>
          <p:cNvSpPr/>
          <p:nvPr/>
        </p:nvSpPr>
        <p:spPr>
          <a:xfrm>
            <a:off x="242570"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F8F8FB"/>
          </a:solidFill>
        </p:spPr>
        <p:txBody>
          <a:bodyPr wrap="square" lIns="0" tIns="0" rIns="0" bIns="0" rtlCol="0"/>
          <a:lstStyle/>
          <a:p>
            <a:endParaRPr/>
          </a:p>
        </p:txBody>
      </p:sp>
      <p:sp>
        <p:nvSpPr>
          <p:cNvPr id="23" name="bg object 23"/>
          <p:cNvSpPr/>
          <p:nvPr/>
        </p:nvSpPr>
        <p:spPr>
          <a:xfrm>
            <a:off x="242570"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F8F8FB"/>
          </a:solidFill>
        </p:spPr>
        <p:txBody>
          <a:bodyPr wrap="square" lIns="0" tIns="0" rIns="0" bIns="0" rtlCol="0"/>
          <a:lstStyle/>
          <a:p>
            <a:endParaRPr/>
          </a:p>
        </p:txBody>
      </p:sp>
      <p:sp>
        <p:nvSpPr>
          <p:cNvPr id="24" name="bg object 24"/>
          <p:cNvSpPr/>
          <p:nvPr/>
        </p:nvSpPr>
        <p:spPr>
          <a:xfrm>
            <a:off x="236220" y="274320"/>
            <a:ext cx="7620" cy="260350"/>
          </a:xfrm>
          <a:custGeom>
            <a:avLst/>
            <a:gdLst/>
            <a:ahLst/>
            <a:cxnLst/>
            <a:rect l="l" t="t" r="r" b="b"/>
            <a:pathLst>
              <a:path w="7620" h="260350">
                <a:moveTo>
                  <a:pt x="0" y="260350"/>
                </a:moveTo>
                <a:lnTo>
                  <a:pt x="7619" y="260350"/>
                </a:lnTo>
                <a:lnTo>
                  <a:pt x="7619" y="0"/>
                </a:lnTo>
                <a:lnTo>
                  <a:pt x="0" y="0"/>
                </a:lnTo>
                <a:lnTo>
                  <a:pt x="0" y="260350"/>
                </a:lnTo>
                <a:close/>
              </a:path>
            </a:pathLst>
          </a:custGeom>
          <a:solidFill>
            <a:srgbClr val="F7F7FB"/>
          </a:solidFill>
        </p:spPr>
        <p:txBody>
          <a:bodyPr wrap="square" lIns="0" tIns="0" rIns="0" bIns="0" rtlCol="0"/>
          <a:lstStyle/>
          <a:p>
            <a:endParaRPr/>
          </a:p>
        </p:txBody>
      </p:sp>
      <p:sp>
        <p:nvSpPr>
          <p:cNvPr id="25" name="bg object 25"/>
          <p:cNvSpPr/>
          <p:nvPr/>
        </p:nvSpPr>
        <p:spPr>
          <a:xfrm>
            <a:off x="236220" y="0"/>
            <a:ext cx="7620" cy="137160"/>
          </a:xfrm>
          <a:custGeom>
            <a:avLst/>
            <a:gdLst/>
            <a:ahLst/>
            <a:cxnLst/>
            <a:rect l="l" t="t" r="r" b="b"/>
            <a:pathLst>
              <a:path w="7620" h="137160">
                <a:moveTo>
                  <a:pt x="0" y="137160"/>
                </a:moveTo>
                <a:lnTo>
                  <a:pt x="7619" y="137160"/>
                </a:lnTo>
                <a:lnTo>
                  <a:pt x="7619" y="0"/>
                </a:lnTo>
                <a:lnTo>
                  <a:pt x="0" y="0"/>
                </a:lnTo>
                <a:lnTo>
                  <a:pt x="0" y="137160"/>
                </a:lnTo>
                <a:close/>
              </a:path>
            </a:pathLst>
          </a:custGeom>
          <a:solidFill>
            <a:srgbClr val="F7F7FB"/>
          </a:solidFill>
        </p:spPr>
        <p:txBody>
          <a:bodyPr wrap="square" lIns="0" tIns="0" rIns="0" bIns="0" rtlCol="0"/>
          <a:lstStyle/>
          <a:p>
            <a:endParaRPr/>
          </a:p>
        </p:txBody>
      </p:sp>
      <p:sp>
        <p:nvSpPr>
          <p:cNvPr id="26" name="bg object 26"/>
          <p:cNvSpPr/>
          <p:nvPr/>
        </p:nvSpPr>
        <p:spPr>
          <a:xfrm>
            <a:off x="228600" y="274320"/>
            <a:ext cx="7620" cy="260350"/>
          </a:xfrm>
          <a:custGeom>
            <a:avLst/>
            <a:gdLst/>
            <a:ahLst/>
            <a:cxnLst/>
            <a:rect l="l" t="t" r="r" b="b"/>
            <a:pathLst>
              <a:path w="7620" h="260350">
                <a:moveTo>
                  <a:pt x="0" y="260350"/>
                </a:moveTo>
                <a:lnTo>
                  <a:pt x="7620" y="260350"/>
                </a:lnTo>
                <a:lnTo>
                  <a:pt x="7620" y="0"/>
                </a:lnTo>
                <a:lnTo>
                  <a:pt x="0" y="0"/>
                </a:lnTo>
                <a:lnTo>
                  <a:pt x="0" y="260350"/>
                </a:lnTo>
                <a:close/>
              </a:path>
            </a:pathLst>
          </a:custGeom>
          <a:solidFill>
            <a:srgbClr val="F6F6FA"/>
          </a:solidFill>
        </p:spPr>
        <p:txBody>
          <a:bodyPr wrap="square" lIns="0" tIns="0" rIns="0" bIns="0" rtlCol="0"/>
          <a:lstStyle/>
          <a:p>
            <a:endParaRPr/>
          </a:p>
        </p:txBody>
      </p:sp>
      <p:sp>
        <p:nvSpPr>
          <p:cNvPr id="27" name="bg object 27"/>
          <p:cNvSpPr/>
          <p:nvPr/>
        </p:nvSpPr>
        <p:spPr>
          <a:xfrm>
            <a:off x="228600" y="0"/>
            <a:ext cx="7620" cy="137160"/>
          </a:xfrm>
          <a:custGeom>
            <a:avLst/>
            <a:gdLst/>
            <a:ahLst/>
            <a:cxnLst/>
            <a:rect l="l" t="t" r="r" b="b"/>
            <a:pathLst>
              <a:path w="7620" h="137160">
                <a:moveTo>
                  <a:pt x="0" y="137160"/>
                </a:moveTo>
                <a:lnTo>
                  <a:pt x="7620" y="137160"/>
                </a:lnTo>
                <a:lnTo>
                  <a:pt x="7620" y="0"/>
                </a:lnTo>
                <a:lnTo>
                  <a:pt x="0" y="0"/>
                </a:lnTo>
                <a:lnTo>
                  <a:pt x="0" y="137160"/>
                </a:lnTo>
                <a:close/>
              </a:path>
            </a:pathLst>
          </a:custGeom>
          <a:solidFill>
            <a:srgbClr val="F6F6FA"/>
          </a:solidFill>
        </p:spPr>
        <p:txBody>
          <a:bodyPr wrap="square" lIns="0" tIns="0" rIns="0" bIns="0" rtlCol="0"/>
          <a:lstStyle/>
          <a:p>
            <a:endParaRPr/>
          </a:p>
        </p:txBody>
      </p:sp>
      <p:sp>
        <p:nvSpPr>
          <p:cNvPr id="28" name="bg object 28"/>
          <p:cNvSpPr/>
          <p:nvPr/>
        </p:nvSpPr>
        <p:spPr>
          <a:xfrm>
            <a:off x="220979" y="274320"/>
            <a:ext cx="8890" cy="260350"/>
          </a:xfrm>
          <a:custGeom>
            <a:avLst/>
            <a:gdLst/>
            <a:ahLst/>
            <a:cxnLst/>
            <a:rect l="l" t="t" r="r" b="b"/>
            <a:pathLst>
              <a:path w="8889" h="260350">
                <a:moveTo>
                  <a:pt x="0" y="260350"/>
                </a:moveTo>
                <a:lnTo>
                  <a:pt x="8890" y="260350"/>
                </a:lnTo>
                <a:lnTo>
                  <a:pt x="8890" y="0"/>
                </a:lnTo>
                <a:lnTo>
                  <a:pt x="0" y="0"/>
                </a:lnTo>
                <a:lnTo>
                  <a:pt x="0" y="260350"/>
                </a:lnTo>
                <a:close/>
              </a:path>
            </a:pathLst>
          </a:custGeom>
          <a:solidFill>
            <a:srgbClr val="F5F5FA"/>
          </a:solidFill>
        </p:spPr>
        <p:txBody>
          <a:bodyPr wrap="square" lIns="0" tIns="0" rIns="0" bIns="0" rtlCol="0"/>
          <a:lstStyle/>
          <a:p>
            <a:endParaRPr/>
          </a:p>
        </p:txBody>
      </p:sp>
      <p:sp>
        <p:nvSpPr>
          <p:cNvPr id="29" name="bg object 29"/>
          <p:cNvSpPr/>
          <p:nvPr/>
        </p:nvSpPr>
        <p:spPr>
          <a:xfrm>
            <a:off x="220979" y="0"/>
            <a:ext cx="8890" cy="137160"/>
          </a:xfrm>
          <a:custGeom>
            <a:avLst/>
            <a:gdLst/>
            <a:ahLst/>
            <a:cxnLst/>
            <a:rect l="l" t="t" r="r" b="b"/>
            <a:pathLst>
              <a:path w="8889" h="137160">
                <a:moveTo>
                  <a:pt x="0" y="137160"/>
                </a:moveTo>
                <a:lnTo>
                  <a:pt x="8890" y="137160"/>
                </a:lnTo>
                <a:lnTo>
                  <a:pt x="8890" y="0"/>
                </a:lnTo>
                <a:lnTo>
                  <a:pt x="0" y="0"/>
                </a:lnTo>
                <a:lnTo>
                  <a:pt x="0" y="137160"/>
                </a:lnTo>
                <a:close/>
              </a:path>
            </a:pathLst>
          </a:custGeom>
          <a:solidFill>
            <a:srgbClr val="F5F5FA"/>
          </a:solidFill>
        </p:spPr>
        <p:txBody>
          <a:bodyPr wrap="square" lIns="0" tIns="0" rIns="0" bIns="0" rtlCol="0"/>
          <a:lstStyle/>
          <a:p>
            <a:endParaRPr/>
          </a:p>
        </p:txBody>
      </p:sp>
      <p:sp>
        <p:nvSpPr>
          <p:cNvPr id="30" name="bg object 30"/>
          <p:cNvSpPr/>
          <p:nvPr/>
        </p:nvSpPr>
        <p:spPr>
          <a:xfrm>
            <a:off x="214629" y="274320"/>
            <a:ext cx="7620" cy="260350"/>
          </a:xfrm>
          <a:custGeom>
            <a:avLst/>
            <a:gdLst/>
            <a:ahLst/>
            <a:cxnLst/>
            <a:rect l="l" t="t" r="r" b="b"/>
            <a:pathLst>
              <a:path w="7620" h="260350">
                <a:moveTo>
                  <a:pt x="0" y="260350"/>
                </a:moveTo>
                <a:lnTo>
                  <a:pt x="7620" y="260350"/>
                </a:lnTo>
                <a:lnTo>
                  <a:pt x="7620" y="0"/>
                </a:lnTo>
                <a:lnTo>
                  <a:pt x="0" y="0"/>
                </a:lnTo>
                <a:lnTo>
                  <a:pt x="0" y="260350"/>
                </a:lnTo>
                <a:close/>
              </a:path>
            </a:pathLst>
          </a:custGeom>
          <a:solidFill>
            <a:srgbClr val="F3F3F9"/>
          </a:solidFill>
        </p:spPr>
        <p:txBody>
          <a:bodyPr wrap="square" lIns="0" tIns="0" rIns="0" bIns="0" rtlCol="0"/>
          <a:lstStyle/>
          <a:p>
            <a:endParaRPr/>
          </a:p>
        </p:txBody>
      </p:sp>
      <p:sp>
        <p:nvSpPr>
          <p:cNvPr id="31" name="bg object 31"/>
          <p:cNvSpPr/>
          <p:nvPr/>
        </p:nvSpPr>
        <p:spPr>
          <a:xfrm>
            <a:off x="214629" y="0"/>
            <a:ext cx="7620" cy="137160"/>
          </a:xfrm>
          <a:custGeom>
            <a:avLst/>
            <a:gdLst/>
            <a:ahLst/>
            <a:cxnLst/>
            <a:rect l="l" t="t" r="r" b="b"/>
            <a:pathLst>
              <a:path w="7620" h="137160">
                <a:moveTo>
                  <a:pt x="0" y="137160"/>
                </a:moveTo>
                <a:lnTo>
                  <a:pt x="7620" y="137160"/>
                </a:lnTo>
                <a:lnTo>
                  <a:pt x="7620" y="0"/>
                </a:lnTo>
                <a:lnTo>
                  <a:pt x="0" y="0"/>
                </a:lnTo>
                <a:lnTo>
                  <a:pt x="0" y="137160"/>
                </a:lnTo>
                <a:close/>
              </a:path>
            </a:pathLst>
          </a:custGeom>
          <a:solidFill>
            <a:srgbClr val="F3F3F9"/>
          </a:solidFill>
        </p:spPr>
        <p:txBody>
          <a:bodyPr wrap="square" lIns="0" tIns="0" rIns="0" bIns="0" rtlCol="0"/>
          <a:lstStyle/>
          <a:p>
            <a:endParaRPr/>
          </a:p>
        </p:txBody>
      </p:sp>
      <p:sp>
        <p:nvSpPr>
          <p:cNvPr id="32" name="bg object 32"/>
          <p:cNvSpPr/>
          <p:nvPr/>
        </p:nvSpPr>
        <p:spPr>
          <a:xfrm>
            <a:off x="207009" y="274320"/>
            <a:ext cx="7620" cy="260350"/>
          </a:xfrm>
          <a:custGeom>
            <a:avLst/>
            <a:gdLst/>
            <a:ahLst/>
            <a:cxnLst/>
            <a:rect l="l" t="t" r="r" b="b"/>
            <a:pathLst>
              <a:path w="7620" h="260350">
                <a:moveTo>
                  <a:pt x="0" y="260350"/>
                </a:moveTo>
                <a:lnTo>
                  <a:pt x="7619" y="260350"/>
                </a:lnTo>
                <a:lnTo>
                  <a:pt x="7619" y="0"/>
                </a:lnTo>
                <a:lnTo>
                  <a:pt x="0" y="0"/>
                </a:lnTo>
                <a:lnTo>
                  <a:pt x="0" y="260350"/>
                </a:lnTo>
                <a:close/>
              </a:path>
            </a:pathLst>
          </a:custGeom>
          <a:solidFill>
            <a:srgbClr val="F2F2F8"/>
          </a:solidFill>
        </p:spPr>
        <p:txBody>
          <a:bodyPr wrap="square" lIns="0" tIns="0" rIns="0" bIns="0" rtlCol="0"/>
          <a:lstStyle/>
          <a:p>
            <a:endParaRPr/>
          </a:p>
        </p:txBody>
      </p:sp>
      <p:sp>
        <p:nvSpPr>
          <p:cNvPr id="33" name="bg object 33"/>
          <p:cNvSpPr/>
          <p:nvPr/>
        </p:nvSpPr>
        <p:spPr>
          <a:xfrm>
            <a:off x="207009" y="0"/>
            <a:ext cx="7620" cy="137160"/>
          </a:xfrm>
          <a:custGeom>
            <a:avLst/>
            <a:gdLst/>
            <a:ahLst/>
            <a:cxnLst/>
            <a:rect l="l" t="t" r="r" b="b"/>
            <a:pathLst>
              <a:path w="7620" h="137160">
                <a:moveTo>
                  <a:pt x="0" y="137160"/>
                </a:moveTo>
                <a:lnTo>
                  <a:pt x="7619" y="137160"/>
                </a:lnTo>
                <a:lnTo>
                  <a:pt x="7619" y="0"/>
                </a:lnTo>
                <a:lnTo>
                  <a:pt x="0" y="0"/>
                </a:lnTo>
                <a:lnTo>
                  <a:pt x="0" y="137160"/>
                </a:lnTo>
                <a:close/>
              </a:path>
            </a:pathLst>
          </a:custGeom>
          <a:solidFill>
            <a:srgbClr val="F2F2F8"/>
          </a:solidFill>
        </p:spPr>
        <p:txBody>
          <a:bodyPr wrap="square" lIns="0" tIns="0" rIns="0" bIns="0" rtlCol="0"/>
          <a:lstStyle/>
          <a:p>
            <a:endParaRPr/>
          </a:p>
        </p:txBody>
      </p:sp>
      <p:sp>
        <p:nvSpPr>
          <p:cNvPr id="34" name="bg object 34"/>
          <p:cNvSpPr/>
          <p:nvPr/>
        </p:nvSpPr>
        <p:spPr>
          <a:xfrm>
            <a:off x="199389"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F1F1F8"/>
          </a:solidFill>
        </p:spPr>
        <p:txBody>
          <a:bodyPr wrap="square" lIns="0" tIns="0" rIns="0" bIns="0" rtlCol="0"/>
          <a:lstStyle/>
          <a:p>
            <a:endParaRPr/>
          </a:p>
        </p:txBody>
      </p:sp>
      <p:sp>
        <p:nvSpPr>
          <p:cNvPr id="35" name="bg object 35"/>
          <p:cNvSpPr/>
          <p:nvPr/>
        </p:nvSpPr>
        <p:spPr>
          <a:xfrm>
            <a:off x="199389"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F1F1F8"/>
          </a:solidFill>
        </p:spPr>
        <p:txBody>
          <a:bodyPr wrap="square" lIns="0" tIns="0" rIns="0" bIns="0" rtlCol="0"/>
          <a:lstStyle/>
          <a:p>
            <a:endParaRPr/>
          </a:p>
        </p:txBody>
      </p:sp>
      <p:sp>
        <p:nvSpPr>
          <p:cNvPr id="36" name="bg object 36"/>
          <p:cNvSpPr/>
          <p:nvPr/>
        </p:nvSpPr>
        <p:spPr>
          <a:xfrm>
            <a:off x="193039" y="274320"/>
            <a:ext cx="7620" cy="260350"/>
          </a:xfrm>
          <a:custGeom>
            <a:avLst/>
            <a:gdLst/>
            <a:ahLst/>
            <a:cxnLst/>
            <a:rect l="l" t="t" r="r" b="b"/>
            <a:pathLst>
              <a:path w="7619" h="260350">
                <a:moveTo>
                  <a:pt x="0" y="260350"/>
                </a:moveTo>
                <a:lnTo>
                  <a:pt x="7620" y="260350"/>
                </a:lnTo>
                <a:lnTo>
                  <a:pt x="7620" y="0"/>
                </a:lnTo>
                <a:lnTo>
                  <a:pt x="0" y="0"/>
                </a:lnTo>
                <a:lnTo>
                  <a:pt x="0" y="260350"/>
                </a:lnTo>
                <a:close/>
              </a:path>
            </a:pathLst>
          </a:custGeom>
          <a:solidFill>
            <a:srgbClr val="F0F0F7"/>
          </a:solidFill>
        </p:spPr>
        <p:txBody>
          <a:bodyPr wrap="square" lIns="0" tIns="0" rIns="0" bIns="0" rtlCol="0"/>
          <a:lstStyle/>
          <a:p>
            <a:endParaRPr/>
          </a:p>
        </p:txBody>
      </p:sp>
      <p:sp>
        <p:nvSpPr>
          <p:cNvPr id="37" name="bg object 37"/>
          <p:cNvSpPr/>
          <p:nvPr/>
        </p:nvSpPr>
        <p:spPr>
          <a:xfrm>
            <a:off x="193039" y="0"/>
            <a:ext cx="7620" cy="137160"/>
          </a:xfrm>
          <a:custGeom>
            <a:avLst/>
            <a:gdLst/>
            <a:ahLst/>
            <a:cxnLst/>
            <a:rect l="l" t="t" r="r" b="b"/>
            <a:pathLst>
              <a:path w="7619" h="137160">
                <a:moveTo>
                  <a:pt x="0" y="137160"/>
                </a:moveTo>
                <a:lnTo>
                  <a:pt x="7620" y="137160"/>
                </a:lnTo>
                <a:lnTo>
                  <a:pt x="7620" y="0"/>
                </a:lnTo>
                <a:lnTo>
                  <a:pt x="0" y="0"/>
                </a:lnTo>
                <a:lnTo>
                  <a:pt x="0" y="137160"/>
                </a:lnTo>
                <a:close/>
              </a:path>
            </a:pathLst>
          </a:custGeom>
          <a:solidFill>
            <a:srgbClr val="F0F0F7"/>
          </a:solidFill>
        </p:spPr>
        <p:txBody>
          <a:bodyPr wrap="square" lIns="0" tIns="0" rIns="0" bIns="0" rtlCol="0"/>
          <a:lstStyle/>
          <a:p>
            <a:endParaRPr/>
          </a:p>
        </p:txBody>
      </p:sp>
      <p:sp>
        <p:nvSpPr>
          <p:cNvPr id="38" name="bg object 38"/>
          <p:cNvSpPr/>
          <p:nvPr/>
        </p:nvSpPr>
        <p:spPr>
          <a:xfrm>
            <a:off x="185420"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EEEF7"/>
          </a:solidFill>
        </p:spPr>
        <p:txBody>
          <a:bodyPr wrap="square" lIns="0" tIns="0" rIns="0" bIns="0" rtlCol="0"/>
          <a:lstStyle/>
          <a:p>
            <a:endParaRPr/>
          </a:p>
        </p:txBody>
      </p:sp>
      <p:sp>
        <p:nvSpPr>
          <p:cNvPr id="39" name="bg object 39"/>
          <p:cNvSpPr/>
          <p:nvPr/>
        </p:nvSpPr>
        <p:spPr>
          <a:xfrm>
            <a:off x="185420"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EEEF7"/>
          </a:solidFill>
        </p:spPr>
        <p:txBody>
          <a:bodyPr wrap="square" lIns="0" tIns="0" rIns="0" bIns="0" rtlCol="0"/>
          <a:lstStyle/>
          <a:p>
            <a:endParaRPr/>
          </a:p>
        </p:txBody>
      </p:sp>
      <p:sp>
        <p:nvSpPr>
          <p:cNvPr id="40" name="bg object 40"/>
          <p:cNvSpPr/>
          <p:nvPr/>
        </p:nvSpPr>
        <p:spPr>
          <a:xfrm>
            <a:off x="177800"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EDEDF6"/>
          </a:solidFill>
        </p:spPr>
        <p:txBody>
          <a:bodyPr wrap="square" lIns="0" tIns="0" rIns="0" bIns="0" rtlCol="0"/>
          <a:lstStyle/>
          <a:p>
            <a:endParaRPr/>
          </a:p>
        </p:txBody>
      </p:sp>
      <p:sp>
        <p:nvSpPr>
          <p:cNvPr id="41" name="bg object 41"/>
          <p:cNvSpPr/>
          <p:nvPr/>
        </p:nvSpPr>
        <p:spPr>
          <a:xfrm>
            <a:off x="177800"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EDEDF6"/>
          </a:solidFill>
        </p:spPr>
        <p:txBody>
          <a:bodyPr wrap="square" lIns="0" tIns="0" rIns="0" bIns="0" rtlCol="0"/>
          <a:lstStyle/>
          <a:p>
            <a:endParaRPr/>
          </a:p>
        </p:txBody>
      </p:sp>
      <p:sp>
        <p:nvSpPr>
          <p:cNvPr id="42" name="bg object 42"/>
          <p:cNvSpPr/>
          <p:nvPr/>
        </p:nvSpPr>
        <p:spPr>
          <a:xfrm>
            <a:off x="171450"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CECF5"/>
          </a:solidFill>
        </p:spPr>
        <p:txBody>
          <a:bodyPr wrap="square" lIns="0" tIns="0" rIns="0" bIns="0" rtlCol="0"/>
          <a:lstStyle/>
          <a:p>
            <a:endParaRPr/>
          </a:p>
        </p:txBody>
      </p:sp>
      <p:sp>
        <p:nvSpPr>
          <p:cNvPr id="43" name="bg object 43"/>
          <p:cNvSpPr/>
          <p:nvPr/>
        </p:nvSpPr>
        <p:spPr>
          <a:xfrm>
            <a:off x="171450"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CECF5"/>
          </a:solidFill>
        </p:spPr>
        <p:txBody>
          <a:bodyPr wrap="square" lIns="0" tIns="0" rIns="0" bIns="0" rtlCol="0"/>
          <a:lstStyle/>
          <a:p>
            <a:endParaRPr/>
          </a:p>
        </p:txBody>
      </p:sp>
      <p:sp>
        <p:nvSpPr>
          <p:cNvPr id="44" name="bg object 44"/>
          <p:cNvSpPr/>
          <p:nvPr/>
        </p:nvSpPr>
        <p:spPr>
          <a:xfrm>
            <a:off x="163829"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BEBF5"/>
          </a:solidFill>
        </p:spPr>
        <p:txBody>
          <a:bodyPr wrap="square" lIns="0" tIns="0" rIns="0" bIns="0" rtlCol="0"/>
          <a:lstStyle/>
          <a:p>
            <a:endParaRPr/>
          </a:p>
        </p:txBody>
      </p:sp>
      <p:sp>
        <p:nvSpPr>
          <p:cNvPr id="45" name="bg object 45"/>
          <p:cNvSpPr/>
          <p:nvPr/>
        </p:nvSpPr>
        <p:spPr>
          <a:xfrm>
            <a:off x="163829"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BEBF5"/>
          </a:solidFill>
        </p:spPr>
        <p:txBody>
          <a:bodyPr wrap="square" lIns="0" tIns="0" rIns="0" bIns="0" rtlCol="0"/>
          <a:lstStyle/>
          <a:p>
            <a:endParaRPr/>
          </a:p>
        </p:txBody>
      </p:sp>
      <p:sp>
        <p:nvSpPr>
          <p:cNvPr id="46" name="bg object 46"/>
          <p:cNvSpPr/>
          <p:nvPr/>
        </p:nvSpPr>
        <p:spPr>
          <a:xfrm>
            <a:off x="156210"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E9E9F4"/>
          </a:solidFill>
        </p:spPr>
        <p:txBody>
          <a:bodyPr wrap="square" lIns="0" tIns="0" rIns="0" bIns="0" rtlCol="0"/>
          <a:lstStyle/>
          <a:p>
            <a:endParaRPr/>
          </a:p>
        </p:txBody>
      </p:sp>
      <p:sp>
        <p:nvSpPr>
          <p:cNvPr id="47" name="bg object 47"/>
          <p:cNvSpPr/>
          <p:nvPr/>
        </p:nvSpPr>
        <p:spPr>
          <a:xfrm>
            <a:off x="156210"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E9E9F4"/>
          </a:solidFill>
        </p:spPr>
        <p:txBody>
          <a:bodyPr wrap="square" lIns="0" tIns="0" rIns="0" bIns="0" rtlCol="0"/>
          <a:lstStyle/>
          <a:p>
            <a:endParaRPr/>
          </a:p>
        </p:txBody>
      </p:sp>
      <p:sp>
        <p:nvSpPr>
          <p:cNvPr id="48" name="bg object 48"/>
          <p:cNvSpPr/>
          <p:nvPr/>
        </p:nvSpPr>
        <p:spPr>
          <a:xfrm>
            <a:off x="149860"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8E8F4"/>
          </a:solidFill>
        </p:spPr>
        <p:txBody>
          <a:bodyPr wrap="square" lIns="0" tIns="0" rIns="0" bIns="0" rtlCol="0"/>
          <a:lstStyle/>
          <a:p>
            <a:endParaRPr/>
          </a:p>
        </p:txBody>
      </p:sp>
      <p:sp>
        <p:nvSpPr>
          <p:cNvPr id="49" name="bg object 49"/>
          <p:cNvSpPr/>
          <p:nvPr/>
        </p:nvSpPr>
        <p:spPr>
          <a:xfrm>
            <a:off x="149860"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8E8F4"/>
          </a:solidFill>
        </p:spPr>
        <p:txBody>
          <a:bodyPr wrap="square" lIns="0" tIns="0" rIns="0" bIns="0" rtlCol="0"/>
          <a:lstStyle/>
          <a:p>
            <a:endParaRPr/>
          </a:p>
        </p:txBody>
      </p:sp>
      <p:sp>
        <p:nvSpPr>
          <p:cNvPr id="50" name="bg object 50"/>
          <p:cNvSpPr/>
          <p:nvPr/>
        </p:nvSpPr>
        <p:spPr>
          <a:xfrm>
            <a:off x="142239" y="274320"/>
            <a:ext cx="7620" cy="260350"/>
          </a:xfrm>
          <a:custGeom>
            <a:avLst/>
            <a:gdLst/>
            <a:ahLst/>
            <a:cxnLst/>
            <a:rect l="l" t="t" r="r" b="b"/>
            <a:pathLst>
              <a:path w="7619" h="260350">
                <a:moveTo>
                  <a:pt x="0" y="260350"/>
                </a:moveTo>
                <a:lnTo>
                  <a:pt x="7620" y="260350"/>
                </a:lnTo>
                <a:lnTo>
                  <a:pt x="7620" y="0"/>
                </a:lnTo>
                <a:lnTo>
                  <a:pt x="0" y="0"/>
                </a:lnTo>
                <a:lnTo>
                  <a:pt x="0" y="260350"/>
                </a:lnTo>
                <a:close/>
              </a:path>
            </a:pathLst>
          </a:custGeom>
          <a:solidFill>
            <a:srgbClr val="E7E7F3"/>
          </a:solidFill>
        </p:spPr>
        <p:txBody>
          <a:bodyPr wrap="square" lIns="0" tIns="0" rIns="0" bIns="0" rtlCol="0"/>
          <a:lstStyle/>
          <a:p>
            <a:endParaRPr/>
          </a:p>
        </p:txBody>
      </p:sp>
      <p:sp>
        <p:nvSpPr>
          <p:cNvPr id="51" name="bg object 51"/>
          <p:cNvSpPr/>
          <p:nvPr/>
        </p:nvSpPr>
        <p:spPr>
          <a:xfrm>
            <a:off x="142239" y="0"/>
            <a:ext cx="7620" cy="137160"/>
          </a:xfrm>
          <a:custGeom>
            <a:avLst/>
            <a:gdLst/>
            <a:ahLst/>
            <a:cxnLst/>
            <a:rect l="l" t="t" r="r" b="b"/>
            <a:pathLst>
              <a:path w="7619" h="137160">
                <a:moveTo>
                  <a:pt x="0" y="137160"/>
                </a:moveTo>
                <a:lnTo>
                  <a:pt x="7620" y="137160"/>
                </a:lnTo>
                <a:lnTo>
                  <a:pt x="7620" y="0"/>
                </a:lnTo>
                <a:lnTo>
                  <a:pt x="0" y="0"/>
                </a:lnTo>
                <a:lnTo>
                  <a:pt x="0" y="137160"/>
                </a:lnTo>
                <a:close/>
              </a:path>
            </a:pathLst>
          </a:custGeom>
          <a:solidFill>
            <a:srgbClr val="E7E7F3"/>
          </a:solidFill>
        </p:spPr>
        <p:txBody>
          <a:bodyPr wrap="square" lIns="0" tIns="0" rIns="0" bIns="0" rtlCol="0"/>
          <a:lstStyle/>
          <a:p>
            <a:endParaRPr/>
          </a:p>
        </p:txBody>
      </p:sp>
      <p:sp>
        <p:nvSpPr>
          <p:cNvPr id="52" name="bg object 52"/>
          <p:cNvSpPr/>
          <p:nvPr/>
        </p:nvSpPr>
        <p:spPr>
          <a:xfrm>
            <a:off x="134620" y="274320"/>
            <a:ext cx="8890" cy="260350"/>
          </a:xfrm>
          <a:custGeom>
            <a:avLst/>
            <a:gdLst/>
            <a:ahLst/>
            <a:cxnLst/>
            <a:rect l="l" t="t" r="r" b="b"/>
            <a:pathLst>
              <a:path w="8889" h="260350">
                <a:moveTo>
                  <a:pt x="0" y="260350"/>
                </a:moveTo>
                <a:lnTo>
                  <a:pt x="8890" y="260350"/>
                </a:lnTo>
                <a:lnTo>
                  <a:pt x="8890" y="0"/>
                </a:lnTo>
                <a:lnTo>
                  <a:pt x="0" y="0"/>
                </a:lnTo>
                <a:lnTo>
                  <a:pt x="0" y="260350"/>
                </a:lnTo>
                <a:close/>
              </a:path>
            </a:pathLst>
          </a:custGeom>
          <a:solidFill>
            <a:srgbClr val="E6E6F2"/>
          </a:solidFill>
        </p:spPr>
        <p:txBody>
          <a:bodyPr wrap="square" lIns="0" tIns="0" rIns="0" bIns="0" rtlCol="0"/>
          <a:lstStyle/>
          <a:p>
            <a:endParaRPr/>
          </a:p>
        </p:txBody>
      </p:sp>
      <p:sp>
        <p:nvSpPr>
          <p:cNvPr id="53" name="bg object 53"/>
          <p:cNvSpPr/>
          <p:nvPr/>
        </p:nvSpPr>
        <p:spPr>
          <a:xfrm>
            <a:off x="134619" y="0"/>
            <a:ext cx="8890" cy="137160"/>
          </a:xfrm>
          <a:custGeom>
            <a:avLst/>
            <a:gdLst/>
            <a:ahLst/>
            <a:cxnLst/>
            <a:rect l="l" t="t" r="r" b="b"/>
            <a:pathLst>
              <a:path w="8889" h="137160">
                <a:moveTo>
                  <a:pt x="0" y="137160"/>
                </a:moveTo>
                <a:lnTo>
                  <a:pt x="8890" y="137160"/>
                </a:lnTo>
                <a:lnTo>
                  <a:pt x="8890" y="0"/>
                </a:lnTo>
                <a:lnTo>
                  <a:pt x="0" y="0"/>
                </a:lnTo>
                <a:lnTo>
                  <a:pt x="0" y="137160"/>
                </a:lnTo>
                <a:close/>
              </a:path>
            </a:pathLst>
          </a:custGeom>
          <a:solidFill>
            <a:srgbClr val="E6E6F2"/>
          </a:solidFill>
        </p:spPr>
        <p:txBody>
          <a:bodyPr wrap="square" lIns="0" tIns="0" rIns="0" bIns="0" rtlCol="0"/>
          <a:lstStyle/>
          <a:p>
            <a:endParaRPr/>
          </a:p>
        </p:txBody>
      </p:sp>
      <p:sp>
        <p:nvSpPr>
          <p:cNvPr id="54" name="bg object 54"/>
          <p:cNvSpPr/>
          <p:nvPr/>
        </p:nvSpPr>
        <p:spPr>
          <a:xfrm>
            <a:off x="12826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E4E4F2"/>
          </a:solidFill>
        </p:spPr>
        <p:txBody>
          <a:bodyPr wrap="square" lIns="0" tIns="0" rIns="0" bIns="0" rtlCol="0"/>
          <a:lstStyle/>
          <a:p>
            <a:endParaRPr/>
          </a:p>
        </p:txBody>
      </p:sp>
      <p:sp>
        <p:nvSpPr>
          <p:cNvPr id="55" name="bg object 55"/>
          <p:cNvSpPr/>
          <p:nvPr/>
        </p:nvSpPr>
        <p:spPr>
          <a:xfrm>
            <a:off x="120650"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E3E3F1"/>
          </a:solidFill>
        </p:spPr>
        <p:txBody>
          <a:bodyPr wrap="square" lIns="0" tIns="0" rIns="0" bIns="0" rtlCol="0"/>
          <a:lstStyle/>
          <a:p>
            <a:endParaRPr/>
          </a:p>
        </p:txBody>
      </p:sp>
      <p:sp>
        <p:nvSpPr>
          <p:cNvPr id="56" name="bg object 56"/>
          <p:cNvSpPr/>
          <p:nvPr/>
        </p:nvSpPr>
        <p:spPr>
          <a:xfrm>
            <a:off x="113029" y="0"/>
            <a:ext cx="8890" cy="535940"/>
          </a:xfrm>
          <a:custGeom>
            <a:avLst/>
            <a:gdLst/>
            <a:ahLst/>
            <a:cxnLst/>
            <a:rect l="l" t="t" r="r" b="b"/>
            <a:pathLst>
              <a:path w="8889" h="535940">
                <a:moveTo>
                  <a:pt x="8889" y="0"/>
                </a:moveTo>
                <a:lnTo>
                  <a:pt x="0" y="0"/>
                </a:lnTo>
                <a:lnTo>
                  <a:pt x="0" y="535940"/>
                </a:lnTo>
                <a:lnTo>
                  <a:pt x="8889" y="535940"/>
                </a:lnTo>
                <a:lnTo>
                  <a:pt x="8889" y="0"/>
                </a:lnTo>
                <a:close/>
              </a:path>
            </a:pathLst>
          </a:custGeom>
          <a:solidFill>
            <a:srgbClr val="E2E2F0"/>
          </a:solidFill>
        </p:spPr>
        <p:txBody>
          <a:bodyPr wrap="square" lIns="0" tIns="0" rIns="0" bIns="0" rtlCol="0"/>
          <a:lstStyle/>
          <a:p>
            <a:endParaRPr/>
          </a:p>
        </p:txBody>
      </p:sp>
      <p:sp>
        <p:nvSpPr>
          <p:cNvPr id="57" name="bg object 57"/>
          <p:cNvSpPr/>
          <p:nvPr/>
        </p:nvSpPr>
        <p:spPr>
          <a:xfrm>
            <a:off x="10667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E1E1F0"/>
          </a:solidFill>
        </p:spPr>
        <p:txBody>
          <a:bodyPr wrap="square" lIns="0" tIns="0" rIns="0" bIns="0" rtlCol="0"/>
          <a:lstStyle/>
          <a:p>
            <a:endParaRPr/>
          </a:p>
        </p:txBody>
      </p:sp>
      <p:sp>
        <p:nvSpPr>
          <p:cNvPr id="58" name="bg object 58"/>
          <p:cNvSpPr/>
          <p:nvPr/>
        </p:nvSpPr>
        <p:spPr>
          <a:xfrm>
            <a:off x="99060" y="0"/>
            <a:ext cx="7620" cy="535940"/>
          </a:xfrm>
          <a:custGeom>
            <a:avLst/>
            <a:gdLst/>
            <a:ahLst/>
            <a:cxnLst/>
            <a:rect l="l" t="t" r="r" b="b"/>
            <a:pathLst>
              <a:path w="7619" h="535940">
                <a:moveTo>
                  <a:pt x="7620" y="0"/>
                </a:moveTo>
                <a:lnTo>
                  <a:pt x="0" y="0"/>
                </a:lnTo>
                <a:lnTo>
                  <a:pt x="0" y="535940"/>
                </a:lnTo>
                <a:lnTo>
                  <a:pt x="7620" y="535940"/>
                </a:lnTo>
                <a:lnTo>
                  <a:pt x="7620" y="0"/>
                </a:lnTo>
                <a:close/>
              </a:path>
            </a:pathLst>
          </a:custGeom>
          <a:solidFill>
            <a:srgbClr val="DFDFEF"/>
          </a:solidFill>
        </p:spPr>
        <p:txBody>
          <a:bodyPr wrap="square" lIns="0" tIns="0" rIns="0" bIns="0" rtlCol="0"/>
          <a:lstStyle/>
          <a:p>
            <a:endParaRPr/>
          </a:p>
        </p:txBody>
      </p:sp>
      <p:sp>
        <p:nvSpPr>
          <p:cNvPr id="59" name="bg object 59"/>
          <p:cNvSpPr/>
          <p:nvPr/>
        </p:nvSpPr>
        <p:spPr>
          <a:xfrm>
            <a:off x="91440" y="0"/>
            <a:ext cx="8890" cy="535940"/>
          </a:xfrm>
          <a:custGeom>
            <a:avLst/>
            <a:gdLst/>
            <a:ahLst/>
            <a:cxnLst/>
            <a:rect l="l" t="t" r="r" b="b"/>
            <a:pathLst>
              <a:path w="8890" h="535940">
                <a:moveTo>
                  <a:pt x="8890" y="0"/>
                </a:moveTo>
                <a:lnTo>
                  <a:pt x="0" y="0"/>
                </a:lnTo>
                <a:lnTo>
                  <a:pt x="0" y="535940"/>
                </a:lnTo>
                <a:lnTo>
                  <a:pt x="8890" y="535940"/>
                </a:lnTo>
                <a:lnTo>
                  <a:pt x="8890" y="0"/>
                </a:lnTo>
                <a:close/>
              </a:path>
            </a:pathLst>
          </a:custGeom>
          <a:solidFill>
            <a:srgbClr val="DEDEEF"/>
          </a:solidFill>
        </p:spPr>
        <p:txBody>
          <a:bodyPr wrap="square" lIns="0" tIns="0" rIns="0" bIns="0" rtlCol="0"/>
          <a:lstStyle/>
          <a:p>
            <a:endParaRPr/>
          </a:p>
        </p:txBody>
      </p:sp>
      <p:sp>
        <p:nvSpPr>
          <p:cNvPr id="60" name="bg object 60"/>
          <p:cNvSpPr/>
          <p:nvPr/>
        </p:nvSpPr>
        <p:spPr>
          <a:xfrm>
            <a:off x="85090"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DDDDEE"/>
          </a:solidFill>
        </p:spPr>
        <p:txBody>
          <a:bodyPr wrap="square" lIns="0" tIns="0" rIns="0" bIns="0" rtlCol="0"/>
          <a:lstStyle/>
          <a:p>
            <a:endParaRPr/>
          </a:p>
        </p:txBody>
      </p:sp>
      <p:sp>
        <p:nvSpPr>
          <p:cNvPr id="61" name="bg object 61"/>
          <p:cNvSpPr/>
          <p:nvPr/>
        </p:nvSpPr>
        <p:spPr>
          <a:xfrm>
            <a:off x="77469" y="0"/>
            <a:ext cx="7620" cy="535940"/>
          </a:xfrm>
          <a:custGeom>
            <a:avLst/>
            <a:gdLst/>
            <a:ahLst/>
            <a:cxnLst/>
            <a:rect l="l" t="t" r="r" b="b"/>
            <a:pathLst>
              <a:path w="7619" h="535940">
                <a:moveTo>
                  <a:pt x="7620" y="0"/>
                </a:moveTo>
                <a:lnTo>
                  <a:pt x="0" y="0"/>
                </a:lnTo>
                <a:lnTo>
                  <a:pt x="0" y="535940"/>
                </a:lnTo>
                <a:lnTo>
                  <a:pt x="7620" y="535940"/>
                </a:lnTo>
                <a:lnTo>
                  <a:pt x="7620" y="0"/>
                </a:lnTo>
                <a:close/>
              </a:path>
            </a:pathLst>
          </a:custGeom>
          <a:solidFill>
            <a:srgbClr val="DCDCED"/>
          </a:solidFill>
        </p:spPr>
        <p:txBody>
          <a:bodyPr wrap="square" lIns="0" tIns="0" rIns="0" bIns="0" rtlCol="0"/>
          <a:lstStyle/>
          <a:p>
            <a:endParaRPr/>
          </a:p>
        </p:txBody>
      </p:sp>
      <p:sp>
        <p:nvSpPr>
          <p:cNvPr id="62" name="bg object 62"/>
          <p:cNvSpPr/>
          <p:nvPr/>
        </p:nvSpPr>
        <p:spPr>
          <a:xfrm>
            <a:off x="69849" y="0"/>
            <a:ext cx="8890" cy="535940"/>
          </a:xfrm>
          <a:custGeom>
            <a:avLst/>
            <a:gdLst/>
            <a:ahLst/>
            <a:cxnLst/>
            <a:rect l="l" t="t" r="r" b="b"/>
            <a:pathLst>
              <a:path w="8890" h="535940">
                <a:moveTo>
                  <a:pt x="8890" y="0"/>
                </a:moveTo>
                <a:lnTo>
                  <a:pt x="0" y="0"/>
                </a:lnTo>
                <a:lnTo>
                  <a:pt x="0" y="535940"/>
                </a:lnTo>
                <a:lnTo>
                  <a:pt x="8890" y="535940"/>
                </a:lnTo>
                <a:lnTo>
                  <a:pt x="8890" y="0"/>
                </a:lnTo>
                <a:close/>
              </a:path>
            </a:pathLst>
          </a:custGeom>
          <a:solidFill>
            <a:srgbClr val="DADAED"/>
          </a:solidFill>
        </p:spPr>
        <p:txBody>
          <a:bodyPr wrap="square" lIns="0" tIns="0" rIns="0" bIns="0" rtlCol="0"/>
          <a:lstStyle/>
          <a:p>
            <a:endParaRPr/>
          </a:p>
        </p:txBody>
      </p:sp>
      <p:sp>
        <p:nvSpPr>
          <p:cNvPr id="63" name="bg object 63"/>
          <p:cNvSpPr/>
          <p:nvPr/>
        </p:nvSpPr>
        <p:spPr>
          <a:xfrm>
            <a:off x="6349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D9D9EC"/>
          </a:solidFill>
        </p:spPr>
        <p:txBody>
          <a:bodyPr wrap="square" lIns="0" tIns="0" rIns="0" bIns="0" rtlCol="0"/>
          <a:lstStyle/>
          <a:p>
            <a:endParaRPr/>
          </a:p>
        </p:txBody>
      </p:sp>
      <p:sp>
        <p:nvSpPr>
          <p:cNvPr id="64" name="bg object 64"/>
          <p:cNvSpPr/>
          <p:nvPr/>
        </p:nvSpPr>
        <p:spPr>
          <a:xfrm>
            <a:off x="5587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D8D8EC"/>
          </a:solidFill>
        </p:spPr>
        <p:txBody>
          <a:bodyPr wrap="square" lIns="0" tIns="0" rIns="0" bIns="0" rtlCol="0"/>
          <a:lstStyle/>
          <a:p>
            <a:endParaRPr/>
          </a:p>
        </p:txBody>
      </p:sp>
      <p:sp>
        <p:nvSpPr>
          <p:cNvPr id="65" name="bg object 65"/>
          <p:cNvSpPr/>
          <p:nvPr/>
        </p:nvSpPr>
        <p:spPr>
          <a:xfrm>
            <a:off x="48260" y="0"/>
            <a:ext cx="8890" cy="535940"/>
          </a:xfrm>
          <a:custGeom>
            <a:avLst/>
            <a:gdLst/>
            <a:ahLst/>
            <a:cxnLst/>
            <a:rect l="l" t="t" r="r" b="b"/>
            <a:pathLst>
              <a:path w="8890" h="535940">
                <a:moveTo>
                  <a:pt x="8890" y="0"/>
                </a:moveTo>
                <a:lnTo>
                  <a:pt x="0" y="0"/>
                </a:lnTo>
                <a:lnTo>
                  <a:pt x="0" y="535940"/>
                </a:lnTo>
                <a:lnTo>
                  <a:pt x="8890" y="535940"/>
                </a:lnTo>
                <a:lnTo>
                  <a:pt x="8890" y="0"/>
                </a:lnTo>
                <a:close/>
              </a:path>
            </a:pathLst>
          </a:custGeom>
          <a:solidFill>
            <a:srgbClr val="D7D7EB"/>
          </a:solidFill>
        </p:spPr>
        <p:txBody>
          <a:bodyPr wrap="square" lIns="0" tIns="0" rIns="0" bIns="0" rtlCol="0"/>
          <a:lstStyle/>
          <a:p>
            <a:endParaRPr/>
          </a:p>
        </p:txBody>
      </p:sp>
      <p:sp>
        <p:nvSpPr>
          <p:cNvPr id="66" name="bg object 66"/>
          <p:cNvSpPr/>
          <p:nvPr/>
        </p:nvSpPr>
        <p:spPr>
          <a:xfrm>
            <a:off x="4191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5D5EA"/>
          </a:solidFill>
        </p:spPr>
        <p:txBody>
          <a:bodyPr wrap="square" lIns="0" tIns="0" rIns="0" bIns="0" rtlCol="0"/>
          <a:lstStyle/>
          <a:p>
            <a:endParaRPr/>
          </a:p>
        </p:txBody>
      </p:sp>
      <p:sp>
        <p:nvSpPr>
          <p:cNvPr id="67" name="bg object 67"/>
          <p:cNvSpPr/>
          <p:nvPr/>
        </p:nvSpPr>
        <p:spPr>
          <a:xfrm>
            <a:off x="34289" y="0"/>
            <a:ext cx="7620" cy="535940"/>
          </a:xfrm>
          <a:custGeom>
            <a:avLst/>
            <a:gdLst/>
            <a:ahLst/>
            <a:cxnLst/>
            <a:rect l="l" t="t" r="r" b="b"/>
            <a:pathLst>
              <a:path w="7620" h="535940">
                <a:moveTo>
                  <a:pt x="7619" y="0"/>
                </a:moveTo>
                <a:lnTo>
                  <a:pt x="0" y="0"/>
                </a:lnTo>
                <a:lnTo>
                  <a:pt x="0" y="535940"/>
                </a:lnTo>
                <a:lnTo>
                  <a:pt x="7619" y="535940"/>
                </a:lnTo>
                <a:lnTo>
                  <a:pt x="7619" y="0"/>
                </a:lnTo>
                <a:close/>
              </a:path>
            </a:pathLst>
          </a:custGeom>
          <a:solidFill>
            <a:srgbClr val="D4D4EA"/>
          </a:solidFill>
        </p:spPr>
        <p:txBody>
          <a:bodyPr wrap="square" lIns="0" tIns="0" rIns="0" bIns="0" rtlCol="0"/>
          <a:lstStyle/>
          <a:p>
            <a:endParaRPr/>
          </a:p>
        </p:txBody>
      </p:sp>
      <p:sp>
        <p:nvSpPr>
          <p:cNvPr id="68" name="bg object 68"/>
          <p:cNvSpPr/>
          <p:nvPr/>
        </p:nvSpPr>
        <p:spPr>
          <a:xfrm>
            <a:off x="2667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3D3E9"/>
          </a:solidFill>
        </p:spPr>
        <p:txBody>
          <a:bodyPr wrap="square" lIns="0" tIns="0" rIns="0" bIns="0" rtlCol="0"/>
          <a:lstStyle/>
          <a:p>
            <a:endParaRPr/>
          </a:p>
        </p:txBody>
      </p:sp>
      <p:sp>
        <p:nvSpPr>
          <p:cNvPr id="69" name="bg object 69"/>
          <p:cNvSpPr/>
          <p:nvPr/>
        </p:nvSpPr>
        <p:spPr>
          <a:xfrm>
            <a:off x="2032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2D2E9"/>
          </a:solidFill>
        </p:spPr>
        <p:txBody>
          <a:bodyPr wrap="square" lIns="0" tIns="0" rIns="0" bIns="0" rtlCol="0"/>
          <a:lstStyle/>
          <a:p>
            <a:endParaRPr/>
          </a:p>
        </p:txBody>
      </p:sp>
      <p:sp>
        <p:nvSpPr>
          <p:cNvPr id="70" name="bg object 70"/>
          <p:cNvSpPr/>
          <p:nvPr/>
        </p:nvSpPr>
        <p:spPr>
          <a:xfrm>
            <a:off x="1270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0D0E8"/>
          </a:solidFill>
        </p:spPr>
        <p:txBody>
          <a:bodyPr wrap="square" lIns="0" tIns="0" rIns="0" bIns="0" rtlCol="0"/>
          <a:lstStyle/>
          <a:p>
            <a:endParaRPr/>
          </a:p>
        </p:txBody>
      </p:sp>
      <p:sp>
        <p:nvSpPr>
          <p:cNvPr id="71" name="bg object 71"/>
          <p:cNvSpPr/>
          <p:nvPr/>
        </p:nvSpPr>
        <p:spPr>
          <a:xfrm>
            <a:off x="5079"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CFCFE7"/>
          </a:solidFill>
        </p:spPr>
        <p:txBody>
          <a:bodyPr wrap="square" lIns="0" tIns="0" rIns="0" bIns="0" rtlCol="0"/>
          <a:lstStyle/>
          <a:p>
            <a:endParaRPr/>
          </a:p>
        </p:txBody>
      </p:sp>
      <p:sp>
        <p:nvSpPr>
          <p:cNvPr id="72" name="bg object 72"/>
          <p:cNvSpPr/>
          <p:nvPr/>
        </p:nvSpPr>
        <p:spPr>
          <a:xfrm>
            <a:off x="-127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CECEE7"/>
          </a:solidFill>
        </p:spPr>
        <p:txBody>
          <a:bodyPr wrap="square" lIns="0" tIns="0" rIns="0" bIns="0" rtlCol="0"/>
          <a:lstStyle/>
          <a:p>
            <a:endParaRPr/>
          </a:p>
        </p:txBody>
      </p:sp>
      <p:sp>
        <p:nvSpPr>
          <p:cNvPr id="73" name="bg object 73"/>
          <p:cNvSpPr/>
          <p:nvPr/>
        </p:nvSpPr>
        <p:spPr>
          <a:xfrm>
            <a:off x="90030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FCFCFD"/>
          </a:solidFill>
        </p:spPr>
        <p:txBody>
          <a:bodyPr wrap="square" lIns="0" tIns="0" rIns="0" bIns="0" rtlCol="0"/>
          <a:lstStyle/>
          <a:p>
            <a:endParaRPr/>
          </a:p>
        </p:txBody>
      </p:sp>
      <p:sp>
        <p:nvSpPr>
          <p:cNvPr id="74" name="bg object 74"/>
          <p:cNvSpPr/>
          <p:nvPr/>
        </p:nvSpPr>
        <p:spPr>
          <a:xfrm>
            <a:off x="89700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FBFBFC"/>
          </a:solidFill>
        </p:spPr>
        <p:txBody>
          <a:bodyPr wrap="square" lIns="0" tIns="0" rIns="0" bIns="0" rtlCol="0"/>
          <a:lstStyle/>
          <a:p>
            <a:endParaRPr/>
          </a:p>
        </p:txBody>
      </p:sp>
      <p:sp>
        <p:nvSpPr>
          <p:cNvPr id="75" name="bg object 75"/>
          <p:cNvSpPr/>
          <p:nvPr/>
        </p:nvSpPr>
        <p:spPr>
          <a:xfrm>
            <a:off x="89357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AFAFC"/>
          </a:solidFill>
        </p:spPr>
        <p:txBody>
          <a:bodyPr wrap="square" lIns="0" tIns="0" rIns="0" bIns="0" rtlCol="0"/>
          <a:lstStyle/>
          <a:p>
            <a:endParaRPr/>
          </a:p>
        </p:txBody>
      </p:sp>
      <p:sp>
        <p:nvSpPr>
          <p:cNvPr id="76" name="bg object 76"/>
          <p:cNvSpPr/>
          <p:nvPr/>
        </p:nvSpPr>
        <p:spPr>
          <a:xfrm>
            <a:off x="89014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9F9FB"/>
          </a:solidFill>
        </p:spPr>
        <p:txBody>
          <a:bodyPr wrap="square" lIns="0" tIns="0" rIns="0" bIns="0" rtlCol="0"/>
          <a:lstStyle/>
          <a:p>
            <a:endParaRPr/>
          </a:p>
        </p:txBody>
      </p:sp>
      <p:sp>
        <p:nvSpPr>
          <p:cNvPr id="77" name="bg object 77"/>
          <p:cNvSpPr/>
          <p:nvPr/>
        </p:nvSpPr>
        <p:spPr>
          <a:xfrm>
            <a:off x="88658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F8F8FB"/>
          </a:solidFill>
        </p:spPr>
        <p:txBody>
          <a:bodyPr wrap="square" lIns="0" tIns="0" rIns="0" bIns="0" rtlCol="0"/>
          <a:lstStyle/>
          <a:p>
            <a:endParaRPr/>
          </a:p>
        </p:txBody>
      </p:sp>
      <p:sp>
        <p:nvSpPr>
          <p:cNvPr id="78" name="bg object 78"/>
          <p:cNvSpPr/>
          <p:nvPr/>
        </p:nvSpPr>
        <p:spPr>
          <a:xfrm>
            <a:off x="88328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7F7FA"/>
          </a:solidFill>
        </p:spPr>
        <p:txBody>
          <a:bodyPr wrap="square" lIns="0" tIns="0" rIns="0" bIns="0" rtlCol="0"/>
          <a:lstStyle/>
          <a:p>
            <a:endParaRPr/>
          </a:p>
        </p:txBody>
      </p:sp>
      <p:sp>
        <p:nvSpPr>
          <p:cNvPr id="79" name="bg object 79"/>
          <p:cNvSpPr/>
          <p:nvPr/>
        </p:nvSpPr>
        <p:spPr>
          <a:xfrm>
            <a:off x="87985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F6F6FA"/>
          </a:solidFill>
        </p:spPr>
        <p:txBody>
          <a:bodyPr wrap="square" lIns="0" tIns="0" rIns="0" bIns="0" rtlCol="0"/>
          <a:lstStyle/>
          <a:p>
            <a:endParaRPr/>
          </a:p>
        </p:txBody>
      </p:sp>
      <p:sp>
        <p:nvSpPr>
          <p:cNvPr id="80" name="bg object 80"/>
          <p:cNvSpPr/>
          <p:nvPr/>
        </p:nvSpPr>
        <p:spPr>
          <a:xfrm>
            <a:off x="87642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5F5F9"/>
          </a:solidFill>
        </p:spPr>
        <p:txBody>
          <a:bodyPr wrap="square" lIns="0" tIns="0" rIns="0" bIns="0" rtlCol="0"/>
          <a:lstStyle/>
          <a:p>
            <a:endParaRPr/>
          </a:p>
        </p:txBody>
      </p:sp>
      <p:sp>
        <p:nvSpPr>
          <p:cNvPr id="81" name="bg object 81"/>
          <p:cNvSpPr/>
          <p:nvPr/>
        </p:nvSpPr>
        <p:spPr>
          <a:xfrm>
            <a:off x="87299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4F4F9"/>
          </a:solidFill>
        </p:spPr>
        <p:txBody>
          <a:bodyPr wrap="square" lIns="0" tIns="0" rIns="0" bIns="0" rtlCol="0"/>
          <a:lstStyle/>
          <a:p>
            <a:endParaRPr/>
          </a:p>
        </p:txBody>
      </p:sp>
      <p:sp>
        <p:nvSpPr>
          <p:cNvPr id="82" name="bg object 82"/>
          <p:cNvSpPr/>
          <p:nvPr/>
        </p:nvSpPr>
        <p:spPr>
          <a:xfrm>
            <a:off x="86956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3F3F8"/>
          </a:solidFill>
        </p:spPr>
        <p:txBody>
          <a:bodyPr wrap="square" lIns="0" tIns="0" rIns="0" bIns="0" rtlCol="0"/>
          <a:lstStyle/>
          <a:p>
            <a:endParaRPr/>
          </a:p>
        </p:txBody>
      </p:sp>
      <p:sp>
        <p:nvSpPr>
          <p:cNvPr id="83" name="bg object 83"/>
          <p:cNvSpPr/>
          <p:nvPr/>
        </p:nvSpPr>
        <p:spPr>
          <a:xfrm>
            <a:off x="866139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2F2F8"/>
          </a:solidFill>
        </p:spPr>
        <p:txBody>
          <a:bodyPr wrap="square" lIns="0" tIns="0" rIns="0" bIns="0" rtlCol="0"/>
          <a:lstStyle/>
          <a:p>
            <a:endParaRPr/>
          </a:p>
        </p:txBody>
      </p:sp>
      <p:sp>
        <p:nvSpPr>
          <p:cNvPr id="84" name="bg object 84"/>
          <p:cNvSpPr/>
          <p:nvPr/>
        </p:nvSpPr>
        <p:spPr>
          <a:xfrm>
            <a:off x="86271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F1F1F7"/>
          </a:solidFill>
        </p:spPr>
        <p:txBody>
          <a:bodyPr wrap="square" lIns="0" tIns="0" rIns="0" bIns="0" rtlCol="0"/>
          <a:lstStyle/>
          <a:p>
            <a:endParaRPr/>
          </a:p>
        </p:txBody>
      </p:sp>
      <p:sp>
        <p:nvSpPr>
          <p:cNvPr id="85" name="bg object 85"/>
          <p:cNvSpPr/>
          <p:nvPr/>
        </p:nvSpPr>
        <p:spPr>
          <a:xfrm>
            <a:off x="85928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0F0F7"/>
          </a:solidFill>
        </p:spPr>
        <p:txBody>
          <a:bodyPr wrap="square" lIns="0" tIns="0" rIns="0" bIns="0" rtlCol="0"/>
          <a:lstStyle/>
          <a:p>
            <a:endParaRPr/>
          </a:p>
        </p:txBody>
      </p:sp>
      <p:sp>
        <p:nvSpPr>
          <p:cNvPr id="86" name="bg object 86"/>
          <p:cNvSpPr/>
          <p:nvPr/>
        </p:nvSpPr>
        <p:spPr>
          <a:xfrm>
            <a:off x="85585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EFEFF6"/>
          </a:solidFill>
        </p:spPr>
        <p:txBody>
          <a:bodyPr wrap="square" lIns="0" tIns="0" rIns="0" bIns="0" rtlCol="0"/>
          <a:lstStyle/>
          <a:p>
            <a:endParaRPr/>
          </a:p>
        </p:txBody>
      </p:sp>
      <p:sp>
        <p:nvSpPr>
          <p:cNvPr id="87" name="bg object 87"/>
          <p:cNvSpPr/>
          <p:nvPr/>
        </p:nvSpPr>
        <p:spPr>
          <a:xfrm>
            <a:off x="852423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EEEEF6"/>
          </a:solidFill>
        </p:spPr>
        <p:txBody>
          <a:bodyPr wrap="square" lIns="0" tIns="0" rIns="0" bIns="0" rtlCol="0"/>
          <a:lstStyle/>
          <a:p>
            <a:endParaRPr/>
          </a:p>
        </p:txBody>
      </p:sp>
      <p:sp>
        <p:nvSpPr>
          <p:cNvPr id="88" name="bg object 88"/>
          <p:cNvSpPr/>
          <p:nvPr/>
        </p:nvSpPr>
        <p:spPr>
          <a:xfrm>
            <a:off x="84899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EDEDF5"/>
          </a:solidFill>
        </p:spPr>
        <p:txBody>
          <a:bodyPr wrap="square" lIns="0" tIns="0" rIns="0" bIns="0" rtlCol="0"/>
          <a:lstStyle/>
          <a:p>
            <a:endParaRPr/>
          </a:p>
        </p:txBody>
      </p:sp>
      <p:sp>
        <p:nvSpPr>
          <p:cNvPr id="89" name="bg object 89"/>
          <p:cNvSpPr/>
          <p:nvPr/>
        </p:nvSpPr>
        <p:spPr>
          <a:xfrm>
            <a:off x="84556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ECECF5"/>
          </a:solidFill>
        </p:spPr>
        <p:txBody>
          <a:bodyPr wrap="square" lIns="0" tIns="0" rIns="0" bIns="0" rtlCol="0"/>
          <a:lstStyle/>
          <a:p>
            <a:endParaRPr/>
          </a:p>
        </p:txBody>
      </p:sp>
      <p:sp>
        <p:nvSpPr>
          <p:cNvPr id="90" name="bg object 90"/>
          <p:cNvSpPr/>
          <p:nvPr/>
        </p:nvSpPr>
        <p:spPr>
          <a:xfrm>
            <a:off x="84213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BEBF4"/>
          </a:solidFill>
        </p:spPr>
        <p:txBody>
          <a:bodyPr wrap="square" lIns="0" tIns="0" rIns="0" bIns="0" rtlCol="0"/>
          <a:lstStyle/>
          <a:p>
            <a:endParaRPr/>
          </a:p>
        </p:txBody>
      </p:sp>
      <p:sp>
        <p:nvSpPr>
          <p:cNvPr id="91" name="bg object 91"/>
          <p:cNvSpPr/>
          <p:nvPr/>
        </p:nvSpPr>
        <p:spPr>
          <a:xfrm>
            <a:off x="83870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AEAF4"/>
          </a:solidFill>
        </p:spPr>
        <p:txBody>
          <a:bodyPr wrap="square" lIns="0" tIns="0" rIns="0" bIns="0" rtlCol="0"/>
          <a:lstStyle/>
          <a:p>
            <a:endParaRPr/>
          </a:p>
        </p:txBody>
      </p:sp>
      <p:sp>
        <p:nvSpPr>
          <p:cNvPr id="92" name="bg object 92"/>
          <p:cNvSpPr/>
          <p:nvPr/>
        </p:nvSpPr>
        <p:spPr>
          <a:xfrm>
            <a:off x="83527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9E9F3"/>
          </a:solidFill>
        </p:spPr>
        <p:txBody>
          <a:bodyPr wrap="square" lIns="0" tIns="0" rIns="0" bIns="0" rtlCol="0"/>
          <a:lstStyle/>
          <a:p>
            <a:endParaRPr/>
          </a:p>
        </p:txBody>
      </p:sp>
      <p:sp>
        <p:nvSpPr>
          <p:cNvPr id="93" name="bg object 93"/>
          <p:cNvSpPr/>
          <p:nvPr/>
        </p:nvSpPr>
        <p:spPr>
          <a:xfrm>
            <a:off x="83184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8E8F3"/>
          </a:solidFill>
        </p:spPr>
        <p:txBody>
          <a:bodyPr wrap="square" lIns="0" tIns="0" rIns="0" bIns="0" rtlCol="0"/>
          <a:lstStyle/>
          <a:p>
            <a:endParaRPr/>
          </a:p>
        </p:txBody>
      </p:sp>
      <p:sp>
        <p:nvSpPr>
          <p:cNvPr id="94" name="bg object 94"/>
          <p:cNvSpPr/>
          <p:nvPr/>
        </p:nvSpPr>
        <p:spPr>
          <a:xfrm>
            <a:off x="82842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7E7F2"/>
          </a:solidFill>
        </p:spPr>
        <p:txBody>
          <a:bodyPr wrap="square" lIns="0" tIns="0" rIns="0" bIns="0" rtlCol="0"/>
          <a:lstStyle/>
          <a:p>
            <a:endParaRPr/>
          </a:p>
        </p:txBody>
      </p:sp>
      <p:sp>
        <p:nvSpPr>
          <p:cNvPr id="95" name="bg object 95"/>
          <p:cNvSpPr/>
          <p:nvPr/>
        </p:nvSpPr>
        <p:spPr>
          <a:xfrm>
            <a:off x="82499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6E6F2"/>
          </a:solidFill>
        </p:spPr>
        <p:txBody>
          <a:bodyPr wrap="square" lIns="0" tIns="0" rIns="0" bIns="0" rtlCol="0"/>
          <a:lstStyle/>
          <a:p>
            <a:endParaRPr/>
          </a:p>
        </p:txBody>
      </p:sp>
      <p:sp>
        <p:nvSpPr>
          <p:cNvPr id="96" name="bg object 96"/>
          <p:cNvSpPr/>
          <p:nvPr/>
        </p:nvSpPr>
        <p:spPr>
          <a:xfrm>
            <a:off x="82156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5E5F1"/>
          </a:solidFill>
        </p:spPr>
        <p:txBody>
          <a:bodyPr wrap="square" lIns="0" tIns="0" rIns="0" bIns="0" rtlCol="0"/>
          <a:lstStyle/>
          <a:p>
            <a:endParaRPr/>
          </a:p>
        </p:txBody>
      </p:sp>
      <p:sp>
        <p:nvSpPr>
          <p:cNvPr id="97" name="bg object 97"/>
          <p:cNvSpPr/>
          <p:nvPr/>
        </p:nvSpPr>
        <p:spPr>
          <a:xfrm>
            <a:off x="81813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4E4F1"/>
          </a:solidFill>
        </p:spPr>
        <p:txBody>
          <a:bodyPr wrap="square" lIns="0" tIns="0" rIns="0" bIns="0" rtlCol="0"/>
          <a:lstStyle/>
          <a:p>
            <a:endParaRPr/>
          </a:p>
        </p:txBody>
      </p:sp>
      <p:sp>
        <p:nvSpPr>
          <p:cNvPr id="98" name="bg object 98"/>
          <p:cNvSpPr/>
          <p:nvPr/>
        </p:nvSpPr>
        <p:spPr>
          <a:xfrm>
            <a:off x="81470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3E3F0"/>
          </a:solidFill>
        </p:spPr>
        <p:txBody>
          <a:bodyPr wrap="square" lIns="0" tIns="0" rIns="0" bIns="0" rtlCol="0"/>
          <a:lstStyle/>
          <a:p>
            <a:endParaRPr/>
          </a:p>
        </p:txBody>
      </p:sp>
      <p:sp>
        <p:nvSpPr>
          <p:cNvPr id="99" name="bg object 99"/>
          <p:cNvSpPr/>
          <p:nvPr/>
        </p:nvSpPr>
        <p:spPr>
          <a:xfrm>
            <a:off x="81127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2E2F0"/>
          </a:solidFill>
        </p:spPr>
        <p:txBody>
          <a:bodyPr wrap="square" lIns="0" tIns="0" rIns="0" bIns="0" rtlCol="0"/>
          <a:lstStyle/>
          <a:p>
            <a:endParaRPr/>
          </a:p>
        </p:txBody>
      </p:sp>
      <p:sp>
        <p:nvSpPr>
          <p:cNvPr id="100" name="bg object 100"/>
          <p:cNvSpPr/>
          <p:nvPr/>
        </p:nvSpPr>
        <p:spPr>
          <a:xfrm>
            <a:off x="80784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1E1EF"/>
          </a:solidFill>
        </p:spPr>
        <p:txBody>
          <a:bodyPr wrap="square" lIns="0" tIns="0" rIns="0" bIns="0" rtlCol="0"/>
          <a:lstStyle/>
          <a:p>
            <a:endParaRPr/>
          </a:p>
        </p:txBody>
      </p:sp>
      <p:sp>
        <p:nvSpPr>
          <p:cNvPr id="101" name="bg object 101"/>
          <p:cNvSpPr/>
          <p:nvPr/>
        </p:nvSpPr>
        <p:spPr>
          <a:xfrm>
            <a:off x="80441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0E0EF"/>
          </a:solidFill>
        </p:spPr>
        <p:txBody>
          <a:bodyPr wrap="square" lIns="0" tIns="0" rIns="0" bIns="0" rtlCol="0"/>
          <a:lstStyle/>
          <a:p>
            <a:endParaRPr/>
          </a:p>
        </p:txBody>
      </p:sp>
      <p:sp>
        <p:nvSpPr>
          <p:cNvPr id="102" name="bg object 102"/>
          <p:cNvSpPr/>
          <p:nvPr/>
        </p:nvSpPr>
        <p:spPr>
          <a:xfrm>
            <a:off x="80098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DFDFEE"/>
          </a:solidFill>
        </p:spPr>
        <p:txBody>
          <a:bodyPr wrap="square" lIns="0" tIns="0" rIns="0" bIns="0" rtlCol="0"/>
          <a:lstStyle/>
          <a:p>
            <a:endParaRPr/>
          </a:p>
        </p:txBody>
      </p:sp>
      <p:sp>
        <p:nvSpPr>
          <p:cNvPr id="103" name="bg object 103"/>
          <p:cNvSpPr/>
          <p:nvPr/>
        </p:nvSpPr>
        <p:spPr>
          <a:xfrm>
            <a:off x="79755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DEDEEE"/>
          </a:solidFill>
        </p:spPr>
        <p:txBody>
          <a:bodyPr wrap="square" lIns="0" tIns="0" rIns="0" bIns="0" rtlCol="0"/>
          <a:lstStyle/>
          <a:p>
            <a:endParaRPr/>
          </a:p>
        </p:txBody>
      </p:sp>
      <p:sp>
        <p:nvSpPr>
          <p:cNvPr id="104" name="bg object 104"/>
          <p:cNvSpPr/>
          <p:nvPr/>
        </p:nvSpPr>
        <p:spPr>
          <a:xfrm>
            <a:off x="79425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DDDED"/>
          </a:solidFill>
        </p:spPr>
        <p:txBody>
          <a:bodyPr wrap="square" lIns="0" tIns="0" rIns="0" bIns="0" rtlCol="0"/>
          <a:lstStyle/>
          <a:p>
            <a:endParaRPr/>
          </a:p>
        </p:txBody>
      </p:sp>
      <p:sp>
        <p:nvSpPr>
          <p:cNvPr id="105" name="bg object 105"/>
          <p:cNvSpPr/>
          <p:nvPr/>
        </p:nvSpPr>
        <p:spPr>
          <a:xfrm>
            <a:off x="79082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CDCED"/>
          </a:solidFill>
        </p:spPr>
        <p:txBody>
          <a:bodyPr wrap="square" lIns="0" tIns="0" rIns="0" bIns="0" rtlCol="0"/>
          <a:lstStyle/>
          <a:p>
            <a:endParaRPr/>
          </a:p>
        </p:txBody>
      </p:sp>
      <p:sp>
        <p:nvSpPr>
          <p:cNvPr id="106" name="bg object 106"/>
          <p:cNvSpPr/>
          <p:nvPr/>
        </p:nvSpPr>
        <p:spPr>
          <a:xfrm>
            <a:off x="787399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BDBEC"/>
          </a:solidFill>
        </p:spPr>
        <p:txBody>
          <a:bodyPr wrap="square" lIns="0" tIns="0" rIns="0" bIns="0" rtlCol="0"/>
          <a:lstStyle/>
          <a:p>
            <a:endParaRPr/>
          </a:p>
        </p:txBody>
      </p:sp>
      <p:sp>
        <p:nvSpPr>
          <p:cNvPr id="107" name="bg object 107"/>
          <p:cNvSpPr/>
          <p:nvPr/>
        </p:nvSpPr>
        <p:spPr>
          <a:xfrm>
            <a:off x="78397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DADAEC"/>
          </a:solidFill>
        </p:spPr>
        <p:txBody>
          <a:bodyPr wrap="square" lIns="0" tIns="0" rIns="0" bIns="0" rtlCol="0"/>
          <a:lstStyle/>
          <a:p>
            <a:endParaRPr/>
          </a:p>
        </p:txBody>
      </p:sp>
      <p:sp>
        <p:nvSpPr>
          <p:cNvPr id="108" name="bg object 108"/>
          <p:cNvSpPr/>
          <p:nvPr/>
        </p:nvSpPr>
        <p:spPr>
          <a:xfrm>
            <a:off x="78054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9D9EB"/>
          </a:solidFill>
        </p:spPr>
        <p:txBody>
          <a:bodyPr wrap="square" lIns="0" tIns="0" rIns="0" bIns="0" rtlCol="0"/>
          <a:lstStyle/>
          <a:p>
            <a:endParaRPr/>
          </a:p>
        </p:txBody>
      </p:sp>
      <p:sp>
        <p:nvSpPr>
          <p:cNvPr id="109" name="bg object 109"/>
          <p:cNvSpPr/>
          <p:nvPr/>
        </p:nvSpPr>
        <p:spPr>
          <a:xfrm>
            <a:off x="77711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8D8EB"/>
          </a:solidFill>
        </p:spPr>
        <p:txBody>
          <a:bodyPr wrap="square" lIns="0" tIns="0" rIns="0" bIns="0" rtlCol="0"/>
          <a:lstStyle/>
          <a:p>
            <a:endParaRPr/>
          </a:p>
        </p:txBody>
      </p:sp>
      <p:sp>
        <p:nvSpPr>
          <p:cNvPr id="110" name="bg object 110"/>
          <p:cNvSpPr/>
          <p:nvPr/>
        </p:nvSpPr>
        <p:spPr>
          <a:xfrm>
            <a:off x="773683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7D7EA"/>
          </a:solidFill>
        </p:spPr>
        <p:txBody>
          <a:bodyPr wrap="square" lIns="0" tIns="0" rIns="0" bIns="0" rtlCol="0"/>
          <a:lstStyle/>
          <a:p>
            <a:endParaRPr/>
          </a:p>
        </p:txBody>
      </p:sp>
      <p:sp>
        <p:nvSpPr>
          <p:cNvPr id="111" name="bg object 111"/>
          <p:cNvSpPr/>
          <p:nvPr/>
        </p:nvSpPr>
        <p:spPr>
          <a:xfrm>
            <a:off x="77025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6D6EA"/>
          </a:solidFill>
        </p:spPr>
        <p:txBody>
          <a:bodyPr wrap="square" lIns="0" tIns="0" rIns="0" bIns="0" rtlCol="0"/>
          <a:lstStyle/>
          <a:p>
            <a:endParaRPr/>
          </a:p>
        </p:txBody>
      </p:sp>
      <p:sp>
        <p:nvSpPr>
          <p:cNvPr id="112" name="bg object 112"/>
          <p:cNvSpPr/>
          <p:nvPr/>
        </p:nvSpPr>
        <p:spPr>
          <a:xfrm>
            <a:off x="76682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D5D5E9"/>
          </a:solidFill>
        </p:spPr>
        <p:txBody>
          <a:bodyPr wrap="square" lIns="0" tIns="0" rIns="0" bIns="0" rtlCol="0"/>
          <a:lstStyle/>
          <a:p>
            <a:endParaRPr/>
          </a:p>
        </p:txBody>
      </p:sp>
      <p:sp>
        <p:nvSpPr>
          <p:cNvPr id="113" name="bg object 113"/>
          <p:cNvSpPr/>
          <p:nvPr/>
        </p:nvSpPr>
        <p:spPr>
          <a:xfrm>
            <a:off x="76339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4D4E9"/>
          </a:solidFill>
        </p:spPr>
        <p:txBody>
          <a:bodyPr wrap="square" lIns="0" tIns="0" rIns="0" bIns="0" rtlCol="0"/>
          <a:lstStyle/>
          <a:p>
            <a:endParaRPr/>
          </a:p>
        </p:txBody>
      </p:sp>
      <p:sp>
        <p:nvSpPr>
          <p:cNvPr id="114" name="bg object 114"/>
          <p:cNvSpPr/>
          <p:nvPr/>
        </p:nvSpPr>
        <p:spPr>
          <a:xfrm>
            <a:off x="75996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3D3E8"/>
          </a:solidFill>
        </p:spPr>
        <p:txBody>
          <a:bodyPr wrap="square" lIns="0" tIns="0" rIns="0" bIns="0" rtlCol="0"/>
          <a:lstStyle/>
          <a:p>
            <a:endParaRPr/>
          </a:p>
        </p:txBody>
      </p:sp>
      <p:sp>
        <p:nvSpPr>
          <p:cNvPr id="115" name="bg object 115"/>
          <p:cNvSpPr/>
          <p:nvPr/>
        </p:nvSpPr>
        <p:spPr>
          <a:xfrm>
            <a:off x="75653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2D2E8"/>
          </a:solidFill>
        </p:spPr>
        <p:txBody>
          <a:bodyPr wrap="square" lIns="0" tIns="0" rIns="0" bIns="0" rtlCol="0"/>
          <a:lstStyle/>
          <a:p>
            <a:endParaRPr/>
          </a:p>
        </p:txBody>
      </p:sp>
      <p:sp>
        <p:nvSpPr>
          <p:cNvPr id="116" name="bg object 116"/>
          <p:cNvSpPr/>
          <p:nvPr/>
        </p:nvSpPr>
        <p:spPr>
          <a:xfrm>
            <a:off x="75310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D1D1E7"/>
          </a:solidFill>
        </p:spPr>
        <p:txBody>
          <a:bodyPr wrap="square" lIns="0" tIns="0" rIns="0" bIns="0" rtlCol="0"/>
          <a:lstStyle/>
          <a:p>
            <a:endParaRPr/>
          </a:p>
        </p:txBody>
      </p:sp>
      <p:sp>
        <p:nvSpPr>
          <p:cNvPr id="117" name="bg object 117"/>
          <p:cNvSpPr/>
          <p:nvPr/>
        </p:nvSpPr>
        <p:spPr>
          <a:xfrm>
            <a:off x="74968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D0D0E7"/>
          </a:solidFill>
        </p:spPr>
        <p:txBody>
          <a:bodyPr wrap="square" lIns="0" tIns="0" rIns="0" bIns="0" rtlCol="0"/>
          <a:lstStyle/>
          <a:p>
            <a:endParaRPr/>
          </a:p>
        </p:txBody>
      </p:sp>
      <p:sp>
        <p:nvSpPr>
          <p:cNvPr id="118" name="bg object 118"/>
          <p:cNvSpPr/>
          <p:nvPr/>
        </p:nvSpPr>
        <p:spPr>
          <a:xfrm>
            <a:off x="74625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CFCFE6"/>
          </a:solidFill>
        </p:spPr>
        <p:txBody>
          <a:bodyPr wrap="square" lIns="0" tIns="0" rIns="0" bIns="0" rtlCol="0"/>
          <a:lstStyle/>
          <a:p>
            <a:endParaRPr/>
          </a:p>
        </p:txBody>
      </p:sp>
      <p:sp>
        <p:nvSpPr>
          <p:cNvPr id="119" name="bg object 119"/>
          <p:cNvSpPr/>
          <p:nvPr/>
        </p:nvSpPr>
        <p:spPr>
          <a:xfrm>
            <a:off x="74282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CECEE6"/>
          </a:solidFill>
        </p:spPr>
        <p:txBody>
          <a:bodyPr wrap="square" lIns="0" tIns="0" rIns="0" bIns="0" rtlCol="0"/>
          <a:lstStyle/>
          <a:p>
            <a:endParaRPr/>
          </a:p>
        </p:txBody>
      </p:sp>
      <p:sp>
        <p:nvSpPr>
          <p:cNvPr id="120" name="bg object 120"/>
          <p:cNvSpPr/>
          <p:nvPr/>
        </p:nvSpPr>
        <p:spPr>
          <a:xfrm>
            <a:off x="73939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DCDE5"/>
          </a:solidFill>
        </p:spPr>
        <p:txBody>
          <a:bodyPr wrap="square" lIns="0" tIns="0" rIns="0" bIns="0" rtlCol="0"/>
          <a:lstStyle/>
          <a:p>
            <a:endParaRPr/>
          </a:p>
        </p:txBody>
      </p:sp>
      <p:sp>
        <p:nvSpPr>
          <p:cNvPr id="121" name="bg object 121"/>
          <p:cNvSpPr/>
          <p:nvPr/>
        </p:nvSpPr>
        <p:spPr>
          <a:xfrm>
            <a:off x="73596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CCCE5"/>
          </a:solidFill>
        </p:spPr>
        <p:txBody>
          <a:bodyPr wrap="square" lIns="0" tIns="0" rIns="0" bIns="0" rtlCol="0"/>
          <a:lstStyle/>
          <a:p>
            <a:endParaRPr/>
          </a:p>
        </p:txBody>
      </p:sp>
      <p:sp>
        <p:nvSpPr>
          <p:cNvPr id="122" name="bg object 122"/>
          <p:cNvSpPr/>
          <p:nvPr/>
        </p:nvSpPr>
        <p:spPr>
          <a:xfrm>
            <a:off x="73253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CCCE4"/>
          </a:solidFill>
        </p:spPr>
        <p:txBody>
          <a:bodyPr wrap="square" lIns="0" tIns="0" rIns="0" bIns="0" rtlCol="0"/>
          <a:lstStyle/>
          <a:p>
            <a:endParaRPr/>
          </a:p>
        </p:txBody>
      </p:sp>
      <p:sp>
        <p:nvSpPr>
          <p:cNvPr id="123" name="bg object 123"/>
          <p:cNvSpPr/>
          <p:nvPr/>
        </p:nvSpPr>
        <p:spPr>
          <a:xfrm>
            <a:off x="72910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ACAE4"/>
          </a:solidFill>
        </p:spPr>
        <p:txBody>
          <a:bodyPr wrap="square" lIns="0" tIns="0" rIns="0" bIns="0" rtlCol="0"/>
          <a:lstStyle/>
          <a:p>
            <a:endParaRPr/>
          </a:p>
        </p:txBody>
      </p:sp>
      <p:sp>
        <p:nvSpPr>
          <p:cNvPr id="124" name="bg object 124"/>
          <p:cNvSpPr/>
          <p:nvPr/>
        </p:nvSpPr>
        <p:spPr>
          <a:xfrm>
            <a:off x="72567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9C9E3"/>
          </a:solidFill>
        </p:spPr>
        <p:txBody>
          <a:bodyPr wrap="square" lIns="0" tIns="0" rIns="0" bIns="0" rtlCol="0"/>
          <a:lstStyle/>
          <a:p>
            <a:endParaRPr/>
          </a:p>
        </p:txBody>
      </p:sp>
      <p:sp>
        <p:nvSpPr>
          <p:cNvPr id="125" name="bg object 125"/>
          <p:cNvSpPr/>
          <p:nvPr/>
        </p:nvSpPr>
        <p:spPr>
          <a:xfrm>
            <a:off x="72224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8C8E3"/>
          </a:solidFill>
        </p:spPr>
        <p:txBody>
          <a:bodyPr wrap="square" lIns="0" tIns="0" rIns="0" bIns="0" rtlCol="0"/>
          <a:lstStyle/>
          <a:p>
            <a:endParaRPr/>
          </a:p>
        </p:txBody>
      </p:sp>
      <p:sp>
        <p:nvSpPr>
          <p:cNvPr id="126" name="bg object 126"/>
          <p:cNvSpPr/>
          <p:nvPr/>
        </p:nvSpPr>
        <p:spPr>
          <a:xfrm>
            <a:off x="71881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7C7E2"/>
          </a:solidFill>
        </p:spPr>
        <p:txBody>
          <a:bodyPr wrap="square" lIns="0" tIns="0" rIns="0" bIns="0" rtlCol="0"/>
          <a:lstStyle/>
          <a:p>
            <a:endParaRPr/>
          </a:p>
        </p:txBody>
      </p:sp>
      <p:sp>
        <p:nvSpPr>
          <p:cNvPr id="127" name="bg object 127"/>
          <p:cNvSpPr/>
          <p:nvPr/>
        </p:nvSpPr>
        <p:spPr>
          <a:xfrm>
            <a:off x="71539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6C6E2"/>
          </a:solidFill>
        </p:spPr>
        <p:txBody>
          <a:bodyPr wrap="square" lIns="0" tIns="0" rIns="0" bIns="0" rtlCol="0"/>
          <a:lstStyle/>
          <a:p>
            <a:endParaRPr/>
          </a:p>
        </p:txBody>
      </p:sp>
      <p:sp>
        <p:nvSpPr>
          <p:cNvPr id="128" name="bg object 128"/>
          <p:cNvSpPr/>
          <p:nvPr/>
        </p:nvSpPr>
        <p:spPr>
          <a:xfrm>
            <a:off x="71196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5C5E1"/>
          </a:solidFill>
        </p:spPr>
        <p:txBody>
          <a:bodyPr wrap="square" lIns="0" tIns="0" rIns="0" bIns="0" rtlCol="0"/>
          <a:lstStyle/>
          <a:p>
            <a:endParaRPr/>
          </a:p>
        </p:txBody>
      </p:sp>
      <p:sp>
        <p:nvSpPr>
          <p:cNvPr id="129" name="bg object 129"/>
          <p:cNvSpPr/>
          <p:nvPr/>
        </p:nvSpPr>
        <p:spPr>
          <a:xfrm>
            <a:off x="70853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4C4E1"/>
          </a:solidFill>
        </p:spPr>
        <p:txBody>
          <a:bodyPr wrap="square" lIns="0" tIns="0" rIns="0" bIns="0" rtlCol="0"/>
          <a:lstStyle/>
          <a:p>
            <a:endParaRPr/>
          </a:p>
        </p:txBody>
      </p:sp>
      <p:sp>
        <p:nvSpPr>
          <p:cNvPr id="130" name="bg object 130"/>
          <p:cNvSpPr/>
          <p:nvPr/>
        </p:nvSpPr>
        <p:spPr>
          <a:xfrm>
            <a:off x="70523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C3C3E0"/>
          </a:solidFill>
        </p:spPr>
        <p:txBody>
          <a:bodyPr wrap="square" lIns="0" tIns="0" rIns="0" bIns="0" rtlCol="0"/>
          <a:lstStyle/>
          <a:p>
            <a:endParaRPr/>
          </a:p>
        </p:txBody>
      </p:sp>
      <p:sp>
        <p:nvSpPr>
          <p:cNvPr id="131" name="bg object 131"/>
          <p:cNvSpPr/>
          <p:nvPr/>
        </p:nvSpPr>
        <p:spPr>
          <a:xfrm>
            <a:off x="70167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2C2E0"/>
          </a:solidFill>
        </p:spPr>
        <p:txBody>
          <a:bodyPr wrap="square" lIns="0" tIns="0" rIns="0" bIns="0" rtlCol="0"/>
          <a:lstStyle/>
          <a:p>
            <a:endParaRPr/>
          </a:p>
        </p:txBody>
      </p:sp>
      <p:sp>
        <p:nvSpPr>
          <p:cNvPr id="132" name="bg object 132"/>
          <p:cNvSpPr/>
          <p:nvPr/>
        </p:nvSpPr>
        <p:spPr>
          <a:xfrm>
            <a:off x="69824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1C1DF"/>
          </a:solidFill>
        </p:spPr>
        <p:txBody>
          <a:bodyPr wrap="square" lIns="0" tIns="0" rIns="0" bIns="0" rtlCol="0"/>
          <a:lstStyle/>
          <a:p>
            <a:endParaRPr/>
          </a:p>
        </p:txBody>
      </p:sp>
      <p:sp>
        <p:nvSpPr>
          <p:cNvPr id="133" name="bg object 133"/>
          <p:cNvSpPr/>
          <p:nvPr/>
        </p:nvSpPr>
        <p:spPr>
          <a:xfrm>
            <a:off x="69481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0C0DF"/>
          </a:solidFill>
        </p:spPr>
        <p:txBody>
          <a:bodyPr wrap="square" lIns="0" tIns="0" rIns="0" bIns="0" rtlCol="0"/>
          <a:lstStyle/>
          <a:p>
            <a:endParaRPr/>
          </a:p>
        </p:txBody>
      </p:sp>
      <p:sp>
        <p:nvSpPr>
          <p:cNvPr id="134" name="bg object 134"/>
          <p:cNvSpPr/>
          <p:nvPr/>
        </p:nvSpPr>
        <p:spPr>
          <a:xfrm>
            <a:off x="69151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FBFDE"/>
          </a:solidFill>
        </p:spPr>
        <p:txBody>
          <a:bodyPr wrap="square" lIns="0" tIns="0" rIns="0" bIns="0" rtlCol="0"/>
          <a:lstStyle/>
          <a:p>
            <a:endParaRPr/>
          </a:p>
        </p:txBody>
      </p:sp>
      <p:sp>
        <p:nvSpPr>
          <p:cNvPr id="135" name="bg object 135"/>
          <p:cNvSpPr/>
          <p:nvPr/>
        </p:nvSpPr>
        <p:spPr>
          <a:xfrm>
            <a:off x="68808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EBEDD"/>
          </a:solidFill>
        </p:spPr>
        <p:txBody>
          <a:bodyPr wrap="square" lIns="0" tIns="0" rIns="0" bIns="0" rtlCol="0"/>
          <a:lstStyle/>
          <a:p>
            <a:endParaRPr/>
          </a:p>
        </p:txBody>
      </p:sp>
      <p:sp>
        <p:nvSpPr>
          <p:cNvPr id="136" name="bg object 136"/>
          <p:cNvSpPr/>
          <p:nvPr/>
        </p:nvSpPr>
        <p:spPr>
          <a:xfrm>
            <a:off x="68465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DBDDD"/>
          </a:solidFill>
        </p:spPr>
        <p:txBody>
          <a:bodyPr wrap="square" lIns="0" tIns="0" rIns="0" bIns="0" rtlCol="0"/>
          <a:lstStyle/>
          <a:p>
            <a:endParaRPr/>
          </a:p>
        </p:txBody>
      </p:sp>
      <p:sp>
        <p:nvSpPr>
          <p:cNvPr id="137" name="bg object 137"/>
          <p:cNvSpPr/>
          <p:nvPr/>
        </p:nvSpPr>
        <p:spPr>
          <a:xfrm>
            <a:off x="68122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CBCDC"/>
          </a:solidFill>
        </p:spPr>
        <p:txBody>
          <a:bodyPr wrap="square" lIns="0" tIns="0" rIns="0" bIns="0" rtlCol="0"/>
          <a:lstStyle/>
          <a:p>
            <a:endParaRPr/>
          </a:p>
        </p:txBody>
      </p:sp>
      <p:sp>
        <p:nvSpPr>
          <p:cNvPr id="138" name="bg object 138"/>
          <p:cNvSpPr/>
          <p:nvPr/>
        </p:nvSpPr>
        <p:spPr>
          <a:xfrm>
            <a:off x="67779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BBBDC"/>
          </a:solidFill>
        </p:spPr>
        <p:txBody>
          <a:bodyPr wrap="square" lIns="0" tIns="0" rIns="0" bIns="0" rtlCol="0"/>
          <a:lstStyle/>
          <a:p>
            <a:endParaRPr/>
          </a:p>
        </p:txBody>
      </p:sp>
      <p:sp>
        <p:nvSpPr>
          <p:cNvPr id="139" name="bg object 139"/>
          <p:cNvSpPr/>
          <p:nvPr/>
        </p:nvSpPr>
        <p:spPr>
          <a:xfrm>
            <a:off x="674369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ABADB"/>
          </a:solidFill>
        </p:spPr>
        <p:txBody>
          <a:bodyPr wrap="square" lIns="0" tIns="0" rIns="0" bIns="0" rtlCol="0"/>
          <a:lstStyle/>
          <a:p>
            <a:endParaRPr/>
          </a:p>
        </p:txBody>
      </p:sp>
      <p:sp>
        <p:nvSpPr>
          <p:cNvPr id="140" name="bg object 140"/>
          <p:cNvSpPr/>
          <p:nvPr/>
        </p:nvSpPr>
        <p:spPr>
          <a:xfrm>
            <a:off x="67094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9B9DB"/>
          </a:solidFill>
        </p:spPr>
        <p:txBody>
          <a:bodyPr wrap="square" lIns="0" tIns="0" rIns="0" bIns="0" rtlCol="0"/>
          <a:lstStyle/>
          <a:p>
            <a:endParaRPr/>
          </a:p>
        </p:txBody>
      </p:sp>
      <p:sp>
        <p:nvSpPr>
          <p:cNvPr id="141" name="bg object 141"/>
          <p:cNvSpPr/>
          <p:nvPr/>
        </p:nvSpPr>
        <p:spPr>
          <a:xfrm>
            <a:off x="66751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8B8DA"/>
          </a:solidFill>
        </p:spPr>
        <p:txBody>
          <a:bodyPr wrap="square" lIns="0" tIns="0" rIns="0" bIns="0" rtlCol="0"/>
          <a:lstStyle/>
          <a:p>
            <a:endParaRPr/>
          </a:p>
        </p:txBody>
      </p:sp>
      <p:sp>
        <p:nvSpPr>
          <p:cNvPr id="142" name="bg object 142"/>
          <p:cNvSpPr/>
          <p:nvPr/>
        </p:nvSpPr>
        <p:spPr>
          <a:xfrm>
            <a:off x="66408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7B7DA"/>
          </a:solidFill>
        </p:spPr>
        <p:txBody>
          <a:bodyPr wrap="square" lIns="0" tIns="0" rIns="0" bIns="0" rtlCol="0"/>
          <a:lstStyle/>
          <a:p>
            <a:endParaRPr/>
          </a:p>
        </p:txBody>
      </p:sp>
      <p:sp>
        <p:nvSpPr>
          <p:cNvPr id="143" name="bg object 143"/>
          <p:cNvSpPr/>
          <p:nvPr/>
        </p:nvSpPr>
        <p:spPr>
          <a:xfrm>
            <a:off x="660653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6B6D9"/>
          </a:solidFill>
        </p:spPr>
        <p:txBody>
          <a:bodyPr wrap="square" lIns="0" tIns="0" rIns="0" bIns="0" rtlCol="0"/>
          <a:lstStyle/>
          <a:p>
            <a:endParaRPr/>
          </a:p>
        </p:txBody>
      </p:sp>
      <p:sp>
        <p:nvSpPr>
          <p:cNvPr id="144" name="bg object 144"/>
          <p:cNvSpPr/>
          <p:nvPr/>
        </p:nvSpPr>
        <p:spPr>
          <a:xfrm>
            <a:off x="65722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5B5D9"/>
          </a:solidFill>
        </p:spPr>
        <p:txBody>
          <a:bodyPr wrap="square" lIns="0" tIns="0" rIns="0" bIns="0" rtlCol="0"/>
          <a:lstStyle/>
          <a:p>
            <a:endParaRPr/>
          </a:p>
        </p:txBody>
      </p:sp>
      <p:sp>
        <p:nvSpPr>
          <p:cNvPr id="145" name="bg object 145"/>
          <p:cNvSpPr/>
          <p:nvPr/>
        </p:nvSpPr>
        <p:spPr>
          <a:xfrm>
            <a:off x="653795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4B4D8"/>
          </a:solidFill>
        </p:spPr>
        <p:txBody>
          <a:bodyPr wrap="square" lIns="0" tIns="0" rIns="0" bIns="0" rtlCol="0"/>
          <a:lstStyle/>
          <a:p>
            <a:endParaRPr/>
          </a:p>
        </p:txBody>
      </p:sp>
      <p:sp>
        <p:nvSpPr>
          <p:cNvPr id="146" name="bg object 146"/>
          <p:cNvSpPr/>
          <p:nvPr/>
        </p:nvSpPr>
        <p:spPr>
          <a:xfrm>
            <a:off x="65036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B3B3D8"/>
          </a:solidFill>
        </p:spPr>
        <p:txBody>
          <a:bodyPr wrap="square" lIns="0" tIns="0" rIns="0" bIns="0" rtlCol="0"/>
          <a:lstStyle/>
          <a:p>
            <a:endParaRPr/>
          </a:p>
        </p:txBody>
      </p:sp>
      <p:sp>
        <p:nvSpPr>
          <p:cNvPr id="147" name="bg object 147"/>
          <p:cNvSpPr/>
          <p:nvPr/>
        </p:nvSpPr>
        <p:spPr>
          <a:xfrm>
            <a:off x="64693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B2B2D7"/>
          </a:solidFill>
        </p:spPr>
        <p:txBody>
          <a:bodyPr wrap="square" lIns="0" tIns="0" rIns="0" bIns="0" rtlCol="0"/>
          <a:lstStyle/>
          <a:p>
            <a:endParaRPr/>
          </a:p>
        </p:txBody>
      </p:sp>
      <p:sp>
        <p:nvSpPr>
          <p:cNvPr id="148" name="bg object 148"/>
          <p:cNvSpPr/>
          <p:nvPr/>
        </p:nvSpPr>
        <p:spPr>
          <a:xfrm>
            <a:off x="64350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1B1D7"/>
          </a:solidFill>
        </p:spPr>
        <p:txBody>
          <a:bodyPr wrap="square" lIns="0" tIns="0" rIns="0" bIns="0" rtlCol="0"/>
          <a:lstStyle/>
          <a:p>
            <a:endParaRPr/>
          </a:p>
        </p:txBody>
      </p:sp>
      <p:sp>
        <p:nvSpPr>
          <p:cNvPr id="149" name="bg object 149"/>
          <p:cNvSpPr/>
          <p:nvPr/>
        </p:nvSpPr>
        <p:spPr>
          <a:xfrm>
            <a:off x="64008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0B0D6"/>
          </a:solidFill>
        </p:spPr>
        <p:txBody>
          <a:bodyPr wrap="square" lIns="0" tIns="0" rIns="0" bIns="0" rtlCol="0"/>
          <a:lstStyle/>
          <a:p>
            <a:endParaRPr/>
          </a:p>
        </p:txBody>
      </p:sp>
      <p:sp>
        <p:nvSpPr>
          <p:cNvPr id="150" name="bg object 150"/>
          <p:cNvSpPr/>
          <p:nvPr/>
        </p:nvSpPr>
        <p:spPr>
          <a:xfrm>
            <a:off x="63665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FAFD6"/>
          </a:solidFill>
        </p:spPr>
        <p:txBody>
          <a:bodyPr wrap="square" lIns="0" tIns="0" rIns="0" bIns="0" rtlCol="0"/>
          <a:lstStyle/>
          <a:p>
            <a:endParaRPr/>
          </a:p>
        </p:txBody>
      </p:sp>
      <p:sp>
        <p:nvSpPr>
          <p:cNvPr id="151" name="bg object 151"/>
          <p:cNvSpPr/>
          <p:nvPr/>
        </p:nvSpPr>
        <p:spPr>
          <a:xfrm>
            <a:off x="63322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EAED5"/>
          </a:solidFill>
        </p:spPr>
        <p:txBody>
          <a:bodyPr wrap="square" lIns="0" tIns="0" rIns="0" bIns="0" rtlCol="0"/>
          <a:lstStyle/>
          <a:p>
            <a:endParaRPr/>
          </a:p>
        </p:txBody>
      </p:sp>
      <p:sp>
        <p:nvSpPr>
          <p:cNvPr id="152" name="bg object 152"/>
          <p:cNvSpPr/>
          <p:nvPr/>
        </p:nvSpPr>
        <p:spPr>
          <a:xfrm>
            <a:off x="62979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DADD5"/>
          </a:solidFill>
        </p:spPr>
        <p:txBody>
          <a:bodyPr wrap="square" lIns="0" tIns="0" rIns="0" bIns="0" rtlCol="0"/>
          <a:lstStyle/>
          <a:p>
            <a:endParaRPr/>
          </a:p>
        </p:txBody>
      </p:sp>
      <p:sp>
        <p:nvSpPr>
          <p:cNvPr id="153" name="bg object 153"/>
          <p:cNvSpPr/>
          <p:nvPr/>
        </p:nvSpPr>
        <p:spPr>
          <a:xfrm>
            <a:off x="62636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CACD4"/>
          </a:solidFill>
        </p:spPr>
        <p:txBody>
          <a:bodyPr wrap="square" lIns="0" tIns="0" rIns="0" bIns="0" rtlCol="0"/>
          <a:lstStyle/>
          <a:p>
            <a:endParaRPr/>
          </a:p>
        </p:txBody>
      </p:sp>
      <p:sp>
        <p:nvSpPr>
          <p:cNvPr id="154" name="bg object 154"/>
          <p:cNvSpPr/>
          <p:nvPr/>
        </p:nvSpPr>
        <p:spPr>
          <a:xfrm>
            <a:off x="62293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BABD4"/>
          </a:solidFill>
        </p:spPr>
        <p:txBody>
          <a:bodyPr wrap="square" lIns="0" tIns="0" rIns="0" bIns="0" rtlCol="0"/>
          <a:lstStyle/>
          <a:p>
            <a:endParaRPr/>
          </a:p>
        </p:txBody>
      </p:sp>
      <p:sp>
        <p:nvSpPr>
          <p:cNvPr id="155" name="bg object 155"/>
          <p:cNvSpPr/>
          <p:nvPr/>
        </p:nvSpPr>
        <p:spPr>
          <a:xfrm>
            <a:off x="61950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AAAD3"/>
          </a:solidFill>
        </p:spPr>
        <p:txBody>
          <a:bodyPr wrap="square" lIns="0" tIns="0" rIns="0" bIns="0" rtlCol="0"/>
          <a:lstStyle/>
          <a:p>
            <a:endParaRPr/>
          </a:p>
        </p:txBody>
      </p:sp>
      <p:sp>
        <p:nvSpPr>
          <p:cNvPr id="156" name="bg object 156"/>
          <p:cNvSpPr/>
          <p:nvPr/>
        </p:nvSpPr>
        <p:spPr>
          <a:xfrm>
            <a:off x="61607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9A9D3"/>
          </a:solidFill>
        </p:spPr>
        <p:txBody>
          <a:bodyPr wrap="square" lIns="0" tIns="0" rIns="0" bIns="0" rtlCol="0"/>
          <a:lstStyle/>
          <a:p>
            <a:endParaRPr/>
          </a:p>
        </p:txBody>
      </p:sp>
      <p:sp>
        <p:nvSpPr>
          <p:cNvPr id="157" name="bg object 157"/>
          <p:cNvSpPr/>
          <p:nvPr/>
        </p:nvSpPr>
        <p:spPr>
          <a:xfrm>
            <a:off x="61264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8A8D2"/>
          </a:solidFill>
        </p:spPr>
        <p:txBody>
          <a:bodyPr wrap="square" lIns="0" tIns="0" rIns="0" bIns="0" rtlCol="0"/>
          <a:lstStyle/>
          <a:p>
            <a:endParaRPr/>
          </a:p>
        </p:txBody>
      </p:sp>
      <p:sp>
        <p:nvSpPr>
          <p:cNvPr id="158" name="bg object 158"/>
          <p:cNvSpPr/>
          <p:nvPr/>
        </p:nvSpPr>
        <p:spPr>
          <a:xfrm>
            <a:off x="60921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7A7D2"/>
          </a:solidFill>
        </p:spPr>
        <p:txBody>
          <a:bodyPr wrap="square" lIns="0" tIns="0" rIns="0" bIns="0" rtlCol="0"/>
          <a:lstStyle/>
          <a:p>
            <a:endParaRPr/>
          </a:p>
        </p:txBody>
      </p:sp>
      <p:sp>
        <p:nvSpPr>
          <p:cNvPr id="159" name="bg object 159"/>
          <p:cNvSpPr/>
          <p:nvPr/>
        </p:nvSpPr>
        <p:spPr>
          <a:xfrm>
            <a:off x="60579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6A6D1"/>
          </a:solidFill>
        </p:spPr>
        <p:txBody>
          <a:bodyPr wrap="square" lIns="0" tIns="0" rIns="0" bIns="0" rtlCol="0"/>
          <a:lstStyle/>
          <a:p>
            <a:endParaRPr/>
          </a:p>
        </p:txBody>
      </p:sp>
      <p:sp>
        <p:nvSpPr>
          <p:cNvPr id="160" name="bg object 160"/>
          <p:cNvSpPr/>
          <p:nvPr/>
        </p:nvSpPr>
        <p:spPr>
          <a:xfrm>
            <a:off x="60236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5A5D1"/>
          </a:solidFill>
        </p:spPr>
        <p:txBody>
          <a:bodyPr wrap="square" lIns="0" tIns="0" rIns="0" bIns="0" rtlCol="0"/>
          <a:lstStyle/>
          <a:p>
            <a:endParaRPr/>
          </a:p>
        </p:txBody>
      </p:sp>
      <p:sp>
        <p:nvSpPr>
          <p:cNvPr id="161" name="bg object 161"/>
          <p:cNvSpPr/>
          <p:nvPr/>
        </p:nvSpPr>
        <p:spPr>
          <a:xfrm>
            <a:off x="59905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A4A4D0"/>
          </a:solidFill>
        </p:spPr>
        <p:txBody>
          <a:bodyPr wrap="square" lIns="0" tIns="0" rIns="0" bIns="0" rtlCol="0"/>
          <a:lstStyle/>
          <a:p>
            <a:endParaRPr/>
          </a:p>
        </p:txBody>
      </p:sp>
      <p:sp>
        <p:nvSpPr>
          <p:cNvPr id="162" name="bg object 162"/>
          <p:cNvSpPr/>
          <p:nvPr/>
        </p:nvSpPr>
        <p:spPr>
          <a:xfrm>
            <a:off x="59550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3A3D0"/>
          </a:solidFill>
        </p:spPr>
        <p:txBody>
          <a:bodyPr wrap="square" lIns="0" tIns="0" rIns="0" bIns="0" rtlCol="0"/>
          <a:lstStyle/>
          <a:p>
            <a:endParaRPr/>
          </a:p>
        </p:txBody>
      </p:sp>
      <p:sp>
        <p:nvSpPr>
          <p:cNvPr id="163" name="bg object 163"/>
          <p:cNvSpPr/>
          <p:nvPr/>
        </p:nvSpPr>
        <p:spPr>
          <a:xfrm>
            <a:off x="59207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2A2CF"/>
          </a:solidFill>
        </p:spPr>
        <p:txBody>
          <a:bodyPr wrap="square" lIns="0" tIns="0" rIns="0" bIns="0" rtlCol="0"/>
          <a:lstStyle/>
          <a:p>
            <a:endParaRPr/>
          </a:p>
        </p:txBody>
      </p:sp>
      <p:sp>
        <p:nvSpPr>
          <p:cNvPr id="164" name="bg object 164"/>
          <p:cNvSpPr/>
          <p:nvPr/>
        </p:nvSpPr>
        <p:spPr>
          <a:xfrm>
            <a:off x="58864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1A1CF"/>
          </a:solidFill>
        </p:spPr>
        <p:txBody>
          <a:bodyPr wrap="square" lIns="0" tIns="0" rIns="0" bIns="0" rtlCol="0"/>
          <a:lstStyle/>
          <a:p>
            <a:endParaRPr/>
          </a:p>
        </p:txBody>
      </p:sp>
      <p:sp>
        <p:nvSpPr>
          <p:cNvPr id="165" name="bg object 165"/>
          <p:cNvSpPr/>
          <p:nvPr/>
        </p:nvSpPr>
        <p:spPr>
          <a:xfrm>
            <a:off x="585342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A0A0CE"/>
          </a:solidFill>
        </p:spPr>
        <p:txBody>
          <a:bodyPr wrap="square" lIns="0" tIns="0" rIns="0" bIns="0" rtlCol="0"/>
          <a:lstStyle/>
          <a:p>
            <a:endParaRPr/>
          </a:p>
        </p:txBody>
      </p:sp>
      <p:sp>
        <p:nvSpPr>
          <p:cNvPr id="166" name="bg object 166"/>
          <p:cNvSpPr/>
          <p:nvPr/>
        </p:nvSpPr>
        <p:spPr>
          <a:xfrm>
            <a:off x="581913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F9FCE"/>
          </a:solidFill>
        </p:spPr>
        <p:txBody>
          <a:bodyPr wrap="square" lIns="0" tIns="0" rIns="0" bIns="0" rtlCol="0"/>
          <a:lstStyle/>
          <a:p>
            <a:endParaRPr/>
          </a:p>
        </p:txBody>
      </p:sp>
      <p:sp>
        <p:nvSpPr>
          <p:cNvPr id="167" name="bg object 167"/>
          <p:cNvSpPr/>
          <p:nvPr/>
        </p:nvSpPr>
        <p:spPr>
          <a:xfrm>
            <a:off x="57848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E9ECD"/>
          </a:solidFill>
        </p:spPr>
        <p:txBody>
          <a:bodyPr wrap="square" lIns="0" tIns="0" rIns="0" bIns="0" rtlCol="0"/>
          <a:lstStyle/>
          <a:p>
            <a:endParaRPr/>
          </a:p>
        </p:txBody>
      </p:sp>
      <p:sp>
        <p:nvSpPr>
          <p:cNvPr id="168" name="bg object 168"/>
          <p:cNvSpPr/>
          <p:nvPr/>
        </p:nvSpPr>
        <p:spPr>
          <a:xfrm>
            <a:off x="575055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D9DCD"/>
          </a:solidFill>
        </p:spPr>
        <p:txBody>
          <a:bodyPr wrap="square" lIns="0" tIns="0" rIns="0" bIns="0" rtlCol="0"/>
          <a:lstStyle/>
          <a:p>
            <a:endParaRPr/>
          </a:p>
        </p:txBody>
      </p:sp>
      <p:sp>
        <p:nvSpPr>
          <p:cNvPr id="169" name="bg object 169"/>
          <p:cNvSpPr/>
          <p:nvPr/>
        </p:nvSpPr>
        <p:spPr>
          <a:xfrm>
            <a:off x="57162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C9CCC"/>
          </a:solidFill>
        </p:spPr>
        <p:txBody>
          <a:bodyPr wrap="square" lIns="0" tIns="0" rIns="0" bIns="0" rtlCol="0"/>
          <a:lstStyle/>
          <a:p>
            <a:endParaRPr/>
          </a:p>
        </p:txBody>
      </p:sp>
      <p:sp>
        <p:nvSpPr>
          <p:cNvPr id="170" name="bg object 170"/>
          <p:cNvSpPr/>
          <p:nvPr/>
        </p:nvSpPr>
        <p:spPr>
          <a:xfrm>
            <a:off x="568197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B9BCC"/>
          </a:solidFill>
        </p:spPr>
        <p:txBody>
          <a:bodyPr wrap="square" lIns="0" tIns="0" rIns="0" bIns="0" rtlCol="0"/>
          <a:lstStyle/>
          <a:p>
            <a:endParaRPr/>
          </a:p>
        </p:txBody>
      </p:sp>
      <p:sp>
        <p:nvSpPr>
          <p:cNvPr id="171" name="bg object 171"/>
          <p:cNvSpPr/>
          <p:nvPr/>
        </p:nvSpPr>
        <p:spPr>
          <a:xfrm>
            <a:off x="56476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A9ACC"/>
          </a:solidFill>
        </p:spPr>
        <p:txBody>
          <a:bodyPr wrap="square" lIns="0" tIns="0" rIns="0" bIns="0" rtlCol="0"/>
          <a:lstStyle/>
          <a:p>
            <a:endParaRPr/>
          </a:p>
        </p:txBody>
      </p:sp>
      <p:sp>
        <p:nvSpPr>
          <p:cNvPr id="172" name="bg object 172"/>
          <p:cNvSpPr/>
          <p:nvPr/>
        </p:nvSpPr>
        <p:spPr>
          <a:xfrm>
            <a:off x="56134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999CC"/>
          </a:solidFill>
        </p:spPr>
        <p:txBody>
          <a:bodyPr wrap="square" lIns="0" tIns="0" rIns="0" bIns="0" rtlCol="0"/>
          <a:lstStyle/>
          <a:p>
            <a:endParaRPr/>
          </a:p>
        </p:txBody>
      </p:sp>
      <p:sp>
        <p:nvSpPr>
          <p:cNvPr id="173" name="bg object 173"/>
          <p:cNvSpPr/>
          <p:nvPr/>
        </p:nvSpPr>
        <p:spPr>
          <a:xfrm>
            <a:off x="557910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999CA"/>
          </a:solidFill>
        </p:spPr>
        <p:txBody>
          <a:bodyPr wrap="square" lIns="0" tIns="0" rIns="0" bIns="0" rtlCol="0"/>
          <a:lstStyle/>
          <a:p>
            <a:endParaRPr/>
          </a:p>
        </p:txBody>
      </p:sp>
      <p:sp>
        <p:nvSpPr>
          <p:cNvPr id="174" name="bg object 174"/>
          <p:cNvSpPr/>
          <p:nvPr/>
        </p:nvSpPr>
        <p:spPr>
          <a:xfrm>
            <a:off x="55448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797CA"/>
          </a:solidFill>
        </p:spPr>
        <p:txBody>
          <a:bodyPr wrap="square" lIns="0" tIns="0" rIns="0" bIns="0" rtlCol="0"/>
          <a:lstStyle/>
          <a:p>
            <a:endParaRPr/>
          </a:p>
        </p:txBody>
      </p:sp>
      <p:sp>
        <p:nvSpPr>
          <p:cNvPr id="175" name="bg object 175"/>
          <p:cNvSpPr/>
          <p:nvPr/>
        </p:nvSpPr>
        <p:spPr>
          <a:xfrm>
            <a:off x="551052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696C9"/>
          </a:solidFill>
        </p:spPr>
        <p:txBody>
          <a:bodyPr wrap="square" lIns="0" tIns="0" rIns="0" bIns="0" rtlCol="0"/>
          <a:lstStyle/>
          <a:p>
            <a:endParaRPr/>
          </a:p>
        </p:txBody>
      </p:sp>
      <p:sp>
        <p:nvSpPr>
          <p:cNvPr id="176" name="bg object 176"/>
          <p:cNvSpPr/>
          <p:nvPr/>
        </p:nvSpPr>
        <p:spPr>
          <a:xfrm>
            <a:off x="54762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595C9"/>
          </a:solidFill>
        </p:spPr>
        <p:txBody>
          <a:bodyPr wrap="square" lIns="0" tIns="0" rIns="0" bIns="0" rtlCol="0"/>
          <a:lstStyle/>
          <a:p>
            <a:endParaRPr/>
          </a:p>
        </p:txBody>
      </p:sp>
      <p:sp>
        <p:nvSpPr>
          <p:cNvPr id="177" name="bg object 177"/>
          <p:cNvSpPr/>
          <p:nvPr/>
        </p:nvSpPr>
        <p:spPr>
          <a:xfrm>
            <a:off x="54419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494C8"/>
          </a:solidFill>
        </p:spPr>
        <p:txBody>
          <a:bodyPr wrap="square" lIns="0" tIns="0" rIns="0" bIns="0" rtlCol="0"/>
          <a:lstStyle/>
          <a:p>
            <a:endParaRPr/>
          </a:p>
        </p:txBody>
      </p:sp>
      <p:sp>
        <p:nvSpPr>
          <p:cNvPr id="178" name="bg object 178"/>
          <p:cNvSpPr/>
          <p:nvPr/>
        </p:nvSpPr>
        <p:spPr>
          <a:xfrm>
            <a:off x="54076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393C8"/>
          </a:solidFill>
        </p:spPr>
        <p:txBody>
          <a:bodyPr wrap="square" lIns="0" tIns="0" rIns="0" bIns="0" rtlCol="0"/>
          <a:lstStyle/>
          <a:p>
            <a:endParaRPr/>
          </a:p>
        </p:txBody>
      </p:sp>
      <p:sp>
        <p:nvSpPr>
          <p:cNvPr id="179" name="bg object 179"/>
          <p:cNvSpPr/>
          <p:nvPr/>
        </p:nvSpPr>
        <p:spPr>
          <a:xfrm>
            <a:off x="53733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292C7"/>
          </a:solidFill>
        </p:spPr>
        <p:txBody>
          <a:bodyPr wrap="square" lIns="0" tIns="0" rIns="0" bIns="0" rtlCol="0"/>
          <a:lstStyle/>
          <a:p>
            <a:endParaRPr/>
          </a:p>
        </p:txBody>
      </p:sp>
      <p:sp>
        <p:nvSpPr>
          <p:cNvPr id="180" name="bg object 180"/>
          <p:cNvSpPr/>
          <p:nvPr/>
        </p:nvSpPr>
        <p:spPr>
          <a:xfrm>
            <a:off x="53390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191C7"/>
          </a:solidFill>
        </p:spPr>
        <p:txBody>
          <a:bodyPr wrap="square" lIns="0" tIns="0" rIns="0" bIns="0" rtlCol="0"/>
          <a:lstStyle/>
          <a:p>
            <a:endParaRPr/>
          </a:p>
        </p:txBody>
      </p:sp>
      <p:sp>
        <p:nvSpPr>
          <p:cNvPr id="181" name="bg object 181"/>
          <p:cNvSpPr/>
          <p:nvPr/>
        </p:nvSpPr>
        <p:spPr>
          <a:xfrm>
            <a:off x="53047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090C6"/>
          </a:solidFill>
        </p:spPr>
        <p:txBody>
          <a:bodyPr wrap="square" lIns="0" tIns="0" rIns="0" bIns="0" rtlCol="0"/>
          <a:lstStyle/>
          <a:p>
            <a:endParaRPr/>
          </a:p>
        </p:txBody>
      </p:sp>
      <p:sp>
        <p:nvSpPr>
          <p:cNvPr id="182" name="bg object 182"/>
          <p:cNvSpPr/>
          <p:nvPr/>
        </p:nvSpPr>
        <p:spPr>
          <a:xfrm>
            <a:off x="52705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F8FC6"/>
          </a:solidFill>
        </p:spPr>
        <p:txBody>
          <a:bodyPr wrap="square" lIns="0" tIns="0" rIns="0" bIns="0" rtlCol="0"/>
          <a:lstStyle/>
          <a:p>
            <a:endParaRPr/>
          </a:p>
        </p:txBody>
      </p:sp>
      <p:sp>
        <p:nvSpPr>
          <p:cNvPr id="183" name="bg object 183"/>
          <p:cNvSpPr/>
          <p:nvPr/>
        </p:nvSpPr>
        <p:spPr>
          <a:xfrm>
            <a:off x="52362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E8EC5"/>
          </a:solidFill>
        </p:spPr>
        <p:txBody>
          <a:bodyPr wrap="square" lIns="0" tIns="0" rIns="0" bIns="0" rtlCol="0"/>
          <a:lstStyle/>
          <a:p>
            <a:endParaRPr/>
          </a:p>
        </p:txBody>
      </p:sp>
      <p:sp>
        <p:nvSpPr>
          <p:cNvPr id="184" name="bg object 184"/>
          <p:cNvSpPr/>
          <p:nvPr/>
        </p:nvSpPr>
        <p:spPr>
          <a:xfrm>
            <a:off x="52019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D8DC5"/>
          </a:solidFill>
        </p:spPr>
        <p:txBody>
          <a:bodyPr wrap="square" lIns="0" tIns="0" rIns="0" bIns="0" rtlCol="0"/>
          <a:lstStyle/>
          <a:p>
            <a:endParaRPr/>
          </a:p>
        </p:txBody>
      </p:sp>
      <p:sp>
        <p:nvSpPr>
          <p:cNvPr id="185" name="bg object 185"/>
          <p:cNvSpPr/>
          <p:nvPr/>
        </p:nvSpPr>
        <p:spPr>
          <a:xfrm>
            <a:off x="51676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C8CC4"/>
          </a:solidFill>
        </p:spPr>
        <p:txBody>
          <a:bodyPr wrap="square" lIns="0" tIns="0" rIns="0" bIns="0" rtlCol="0"/>
          <a:lstStyle/>
          <a:p>
            <a:endParaRPr/>
          </a:p>
        </p:txBody>
      </p:sp>
      <p:sp>
        <p:nvSpPr>
          <p:cNvPr id="186" name="bg object 186"/>
          <p:cNvSpPr/>
          <p:nvPr/>
        </p:nvSpPr>
        <p:spPr>
          <a:xfrm>
            <a:off x="51333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B8BC4"/>
          </a:solidFill>
        </p:spPr>
        <p:txBody>
          <a:bodyPr wrap="square" lIns="0" tIns="0" rIns="0" bIns="0" rtlCol="0"/>
          <a:lstStyle/>
          <a:p>
            <a:endParaRPr/>
          </a:p>
        </p:txBody>
      </p:sp>
      <p:sp>
        <p:nvSpPr>
          <p:cNvPr id="187" name="bg object 187"/>
          <p:cNvSpPr/>
          <p:nvPr/>
        </p:nvSpPr>
        <p:spPr>
          <a:xfrm>
            <a:off x="50990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A8AC3"/>
          </a:solidFill>
        </p:spPr>
        <p:txBody>
          <a:bodyPr wrap="square" lIns="0" tIns="0" rIns="0" bIns="0" rtlCol="0"/>
          <a:lstStyle/>
          <a:p>
            <a:endParaRPr/>
          </a:p>
        </p:txBody>
      </p:sp>
      <p:sp>
        <p:nvSpPr>
          <p:cNvPr id="188" name="bg object 188"/>
          <p:cNvSpPr/>
          <p:nvPr/>
        </p:nvSpPr>
        <p:spPr>
          <a:xfrm>
            <a:off x="50647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989C3"/>
          </a:solidFill>
        </p:spPr>
        <p:txBody>
          <a:bodyPr wrap="square" lIns="0" tIns="0" rIns="0" bIns="0" rtlCol="0"/>
          <a:lstStyle/>
          <a:p>
            <a:endParaRPr/>
          </a:p>
        </p:txBody>
      </p:sp>
      <p:sp>
        <p:nvSpPr>
          <p:cNvPr id="189" name="bg object 189"/>
          <p:cNvSpPr/>
          <p:nvPr/>
        </p:nvSpPr>
        <p:spPr>
          <a:xfrm>
            <a:off x="503173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8888C2"/>
          </a:solidFill>
        </p:spPr>
        <p:txBody>
          <a:bodyPr wrap="square" lIns="0" tIns="0" rIns="0" bIns="0" rtlCol="0"/>
          <a:lstStyle/>
          <a:p>
            <a:endParaRPr/>
          </a:p>
        </p:txBody>
      </p:sp>
      <p:sp>
        <p:nvSpPr>
          <p:cNvPr id="190" name="bg object 190"/>
          <p:cNvSpPr/>
          <p:nvPr/>
        </p:nvSpPr>
        <p:spPr>
          <a:xfrm>
            <a:off x="49974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787C2"/>
          </a:solidFill>
        </p:spPr>
        <p:txBody>
          <a:bodyPr wrap="square" lIns="0" tIns="0" rIns="0" bIns="0" rtlCol="0"/>
          <a:lstStyle/>
          <a:p>
            <a:endParaRPr/>
          </a:p>
        </p:txBody>
      </p:sp>
      <p:sp>
        <p:nvSpPr>
          <p:cNvPr id="191" name="bg object 191"/>
          <p:cNvSpPr/>
          <p:nvPr/>
        </p:nvSpPr>
        <p:spPr>
          <a:xfrm>
            <a:off x="496315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686C1"/>
          </a:solidFill>
        </p:spPr>
        <p:txBody>
          <a:bodyPr wrap="square" lIns="0" tIns="0" rIns="0" bIns="0" rtlCol="0"/>
          <a:lstStyle/>
          <a:p>
            <a:endParaRPr/>
          </a:p>
        </p:txBody>
      </p:sp>
      <p:sp>
        <p:nvSpPr>
          <p:cNvPr id="192" name="bg object 192"/>
          <p:cNvSpPr/>
          <p:nvPr/>
        </p:nvSpPr>
        <p:spPr>
          <a:xfrm>
            <a:off x="49288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585C1"/>
          </a:solidFill>
        </p:spPr>
        <p:txBody>
          <a:bodyPr wrap="square" lIns="0" tIns="0" rIns="0" bIns="0" rtlCol="0"/>
          <a:lstStyle/>
          <a:p>
            <a:endParaRPr/>
          </a:p>
        </p:txBody>
      </p:sp>
      <p:sp>
        <p:nvSpPr>
          <p:cNvPr id="193" name="bg object 193"/>
          <p:cNvSpPr/>
          <p:nvPr/>
        </p:nvSpPr>
        <p:spPr>
          <a:xfrm>
            <a:off x="489457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8484C0"/>
          </a:solidFill>
        </p:spPr>
        <p:txBody>
          <a:bodyPr wrap="square" lIns="0" tIns="0" rIns="0" bIns="0" rtlCol="0"/>
          <a:lstStyle/>
          <a:p>
            <a:endParaRPr/>
          </a:p>
        </p:txBody>
      </p:sp>
      <p:sp>
        <p:nvSpPr>
          <p:cNvPr id="194" name="bg object 194"/>
          <p:cNvSpPr/>
          <p:nvPr/>
        </p:nvSpPr>
        <p:spPr>
          <a:xfrm>
            <a:off x="48602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8383C0"/>
          </a:solidFill>
        </p:spPr>
        <p:txBody>
          <a:bodyPr wrap="square" lIns="0" tIns="0" rIns="0" bIns="0" rtlCol="0"/>
          <a:lstStyle/>
          <a:p>
            <a:endParaRPr/>
          </a:p>
        </p:txBody>
      </p:sp>
      <p:sp>
        <p:nvSpPr>
          <p:cNvPr id="195" name="bg object 195"/>
          <p:cNvSpPr/>
          <p:nvPr/>
        </p:nvSpPr>
        <p:spPr>
          <a:xfrm>
            <a:off x="48260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282BF"/>
          </a:solidFill>
        </p:spPr>
        <p:txBody>
          <a:bodyPr wrap="square" lIns="0" tIns="0" rIns="0" bIns="0" rtlCol="0"/>
          <a:lstStyle/>
          <a:p>
            <a:endParaRPr/>
          </a:p>
        </p:txBody>
      </p:sp>
      <p:sp>
        <p:nvSpPr>
          <p:cNvPr id="196" name="bg object 196"/>
          <p:cNvSpPr/>
          <p:nvPr/>
        </p:nvSpPr>
        <p:spPr>
          <a:xfrm>
            <a:off x="479170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181BF"/>
          </a:solidFill>
        </p:spPr>
        <p:txBody>
          <a:bodyPr wrap="square" lIns="0" tIns="0" rIns="0" bIns="0" rtlCol="0"/>
          <a:lstStyle/>
          <a:p>
            <a:endParaRPr/>
          </a:p>
        </p:txBody>
      </p:sp>
      <p:sp>
        <p:nvSpPr>
          <p:cNvPr id="197" name="bg object 197"/>
          <p:cNvSpPr/>
          <p:nvPr/>
        </p:nvSpPr>
        <p:spPr>
          <a:xfrm>
            <a:off x="47574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080BE"/>
          </a:solidFill>
        </p:spPr>
        <p:txBody>
          <a:bodyPr wrap="square" lIns="0" tIns="0" rIns="0" bIns="0" rtlCol="0"/>
          <a:lstStyle/>
          <a:p>
            <a:endParaRPr/>
          </a:p>
        </p:txBody>
      </p:sp>
      <p:sp>
        <p:nvSpPr>
          <p:cNvPr id="198" name="bg object 198"/>
          <p:cNvSpPr/>
          <p:nvPr/>
        </p:nvSpPr>
        <p:spPr>
          <a:xfrm>
            <a:off x="47231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F7FBD"/>
          </a:solidFill>
        </p:spPr>
        <p:txBody>
          <a:bodyPr wrap="square" lIns="0" tIns="0" rIns="0" bIns="0" rtlCol="0"/>
          <a:lstStyle/>
          <a:p>
            <a:endParaRPr/>
          </a:p>
        </p:txBody>
      </p:sp>
      <p:sp>
        <p:nvSpPr>
          <p:cNvPr id="199" name="bg object 199"/>
          <p:cNvSpPr/>
          <p:nvPr/>
        </p:nvSpPr>
        <p:spPr>
          <a:xfrm>
            <a:off x="46888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E7EBD"/>
          </a:solidFill>
        </p:spPr>
        <p:txBody>
          <a:bodyPr wrap="square" lIns="0" tIns="0" rIns="0" bIns="0" rtlCol="0"/>
          <a:lstStyle/>
          <a:p>
            <a:endParaRPr/>
          </a:p>
        </p:txBody>
      </p:sp>
      <p:sp>
        <p:nvSpPr>
          <p:cNvPr id="200" name="bg object 200"/>
          <p:cNvSpPr/>
          <p:nvPr/>
        </p:nvSpPr>
        <p:spPr>
          <a:xfrm>
            <a:off x="46545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D7DBC"/>
          </a:solidFill>
        </p:spPr>
        <p:txBody>
          <a:bodyPr wrap="square" lIns="0" tIns="0" rIns="0" bIns="0" rtlCol="0"/>
          <a:lstStyle/>
          <a:p>
            <a:endParaRPr/>
          </a:p>
        </p:txBody>
      </p:sp>
      <p:sp>
        <p:nvSpPr>
          <p:cNvPr id="201" name="bg object 201"/>
          <p:cNvSpPr/>
          <p:nvPr/>
        </p:nvSpPr>
        <p:spPr>
          <a:xfrm>
            <a:off x="46202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C7CBC"/>
          </a:solidFill>
        </p:spPr>
        <p:txBody>
          <a:bodyPr wrap="square" lIns="0" tIns="0" rIns="0" bIns="0" rtlCol="0"/>
          <a:lstStyle/>
          <a:p>
            <a:endParaRPr/>
          </a:p>
        </p:txBody>
      </p:sp>
      <p:sp>
        <p:nvSpPr>
          <p:cNvPr id="202" name="bg object 202"/>
          <p:cNvSpPr/>
          <p:nvPr/>
        </p:nvSpPr>
        <p:spPr>
          <a:xfrm>
            <a:off x="45859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B7BBB"/>
          </a:solidFill>
        </p:spPr>
        <p:txBody>
          <a:bodyPr wrap="square" lIns="0" tIns="0" rIns="0" bIns="0" rtlCol="0"/>
          <a:lstStyle/>
          <a:p>
            <a:endParaRPr/>
          </a:p>
        </p:txBody>
      </p:sp>
      <p:sp>
        <p:nvSpPr>
          <p:cNvPr id="203" name="bg object 203"/>
          <p:cNvSpPr/>
          <p:nvPr/>
        </p:nvSpPr>
        <p:spPr>
          <a:xfrm>
            <a:off x="45516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A7ABB"/>
          </a:solidFill>
        </p:spPr>
        <p:txBody>
          <a:bodyPr wrap="square" lIns="0" tIns="0" rIns="0" bIns="0" rtlCol="0"/>
          <a:lstStyle/>
          <a:p>
            <a:endParaRPr/>
          </a:p>
        </p:txBody>
      </p:sp>
      <p:sp>
        <p:nvSpPr>
          <p:cNvPr id="204" name="bg object 204"/>
          <p:cNvSpPr/>
          <p:nvPr/>
        </p:nvSpPr>
        <p:spPr>
          <a:xfrm>
            <a:off x="45173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979BA"/>
          </a:solidFill>
        </p:spPr>
        <p:txBody>
          <a:bodyPr wrap="square" lIns="0" tIns="0" rIns="0" bIns="0" rtlCol="0"/>
          <a:lstStyle/>
          <a:p>
            <a:endParaRPr/>
          </a:p>
        </p:txBody>
      </p:sp>
      <p:sp>
        <p:nvSpPr>
          <p:cNvPr id="205" name="bg object 205"/>
          <p:cNvSpPr/>
          <p:nvPr/>
        </p:nvSpPr>
        <p:spPr>
          <a:xfrm>
            <a:off x="44831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878BA"/>
          </a:solidFill>
        </p:spPr>
        <p:txBody>
          <a:bodyPr wrap="square" lIns="0" tIns="0" rIns="0" bIns="0" rtlCol="0"/>
          <a:lstStyle/>
          <a:p>
            <a:endParaRPr/>
          </a:p>
        </p:txBody>
      </p:sp>
      <p:sp>
        <p:nvSpPr>
          <p:cNvPr id="206" name="bg object 206"/>
          <p:cNvSpPr/>
          <p:nvPr/>
        </p:nvSpPr>
        <p:spPr>
          <a:xfrm>
            <a:off x="44488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777B9"/>
          </a:solidFill>
        </p:spPr>
        <p:txBody>
          <a:bodyPr wrap="square" lIns="0" tIns="0" rIns="0" bIns="0" rtlCol="0"/>
          <a:lstStyle/>
          <a:p>
            <a:endParaRPr/>
          </a:p>
        </p:txBody>
      </p:sp>
      <p:sp>
        <p:nvSpPr>
          <p:cNvPr id="207" name="bg object 207"/>
          <p:cNvSpPr/>
          <p:nvPr/>
        </p:nvSpPr>
        <p:spPr>
          <a:xfrm>
            <a:off x="44145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676B9"/>
          </a:solidFill>
        </p:spPr>
        <p:txBody>
          <a:bodyPr wrap="square" lIns="0" tIns="0" rIns="0" bIns="0" rtlCol="0"/>
          <a:lstStyle/>
          <a:p>
            <a:endParaRPr/>
          </a:p>
        </p:txBody>
      </p:sp>
      <p:sp>
        <p:nvSpPr>
          <p:cNvPr id="208" name="bg object 208"/>
          <p:cNvSpPr/>
          <p:nvPr/>
        </p:nvSpPr>
        <p:spPr>
          <a:xfrm>
            <a:off x="43802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575B8"/>
          </a:solidFill>
        </p:spPr>
        <p:txBody>
          <a:bodyPr wrap="square" lIns="0" tIns="0" rIns="0" bIns="0" rtlCol="0"/>
          <a:lstStyle/>
          <a:p>
            <a:endParaRPr/>
          </a:p>
        </p:txBody>
      </p:sp>
      <p:sp>
        <p:nvSpPr>
          <p:cNvPr id="209" name="bg object 209"/>
          <p:cNvSpPr/>
          <p:nvPr/>
        </p:nvSpPr>
        <p:spPr>
          <a:xfrm>
            <a:off x="43459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474B8"/>
          </a:solidFill>
        </p:spPr>
        <p:txBody>
          <a:bodyPr wrap="square" lIns="0" tIns="0" rIns="0" bIns="0" rtlCol="0"/>
          <a:lstStyle/>
          <a:p>
            <a:endParaRPr/>
          </a:p>
        </p:txBody>
      </p:sp>
      <p:sp>
        <p:nvSpPr>
          <p:cNvPr id="210" name="bg object 210"/>
          <p:cNvSpPr/>
          <p:nvPr/>
        </p:nvSpPr>
        <p:spPr>
          <a:xfrm>
            <a:off x="43116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373B7"/>
          </a:solidFill>
        </p:spPr>
        <p:txBody>
          <a:bodyPr wrap="square" lIns="0" tIns="0" rIns="0" bIns="0" rtlCol="0"/>
          <a:lstStyle/>
          <a:p>
            <a:endParaRPr/>
          </a:p>
        </p:txBody>
      </p:sp>
      <p:sp>
        <p:nvSpPr>
          <p:cNvPr id="211" name="bg object 211"/>
          <p:cNvSpPr/>
          <p:nvPr/>
        </p:nvSpPr>
        <p:spPr>
          <a:xfrm>
            <a:off x="42773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272B7"/>
          </a:solidFill>
        </p:spPr>
        <p:txBody>
          <a:bodyPr wrap="square" lIns="0" tIns="0" rIns="0" bIns="0" rtlCol="0"/>
          <a:lstStyle/>
          <a:p>
            <a:endParaRPr/>
          </a:p>
        </p:txBody>
      </p:sp>
      <p:sp>
        <p:nvSpPr>
          <p:cNvPr id="212" name="bg object 212"/>
          <p:cNvSpPr/>
          <p:nvPr/>
        </p:nvSpPr>
        <p:spPr>
          <a:xfrm>
            <a:off x="42430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171B6"/>
          </a:solidFill>
        </p:spPr>
        <p:txBody>
          <a:bodyPr wrap="square" lIns="0" tIns="0" rIns="0" bIns="0" rtlCol="0"/>
          <a:lstStyle/>
          <a:p>
            <a:endParaRPr/>
          </a:p>
        </p:txBody>
      </p:sp>
      <p:sp>
        <p:nvSpPr>
          <p:cNvPr id="213" name="bg object 213"/>
          <p:cNvSpPr/>
          <p:nvPr/>
        </p:nvSpPr>
        <p:spPr>
          <a:xfrm>
            <a:off x="42100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7070B6"/>
          </a:solidFill>
        </p:spPr>
        <p:txBody>
          <a:bodyPr wrap="square" lIns="0" tIns="0" rIns="0" bIns="0" rtlCol="0"/>
          <a:lstStyle/>
          <a:p>
            <a:endParaRPr/>
          </a:p>
        </p:txBody>
      </p:sp>
      <p:sp>
        <p:nvSpPr>
          <p:cNvPr id="214" name="bg object 214"/>
          <p:cNvSpPr/>
          <p:nvPr/>
        </p:nvSpPr>
        <p:spPr>
          <a:xfrm>
            <a:off x="417575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F6FB5"/>
          </a:solidFill>
        </p:spPr>
        <p:txBody>
          <a:bodyPr wrap="square" lIns="0" tIns="0" rIns="0" bIns="0" rtlCol="0"/>
          <a:lstStyle/>
          <a:p>
            <a:endParaRPr/>
          </a:p>
        </p:txBody>
      </p:sp>
      <p:sp>
        <p:nvSpPr>
          <p:cNvPr id="215" name="bg object 215"/>
          <p:cNvSpPr/>
          <p:nvPr/>
        </p:nvSpPr>
        <p:spPr>
          <a:xfrm>
            <a:off x="41414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E6EB5"/>
          </a:solidFill>
        </p:spPr>
        <p:txBody>
          <a:bodyPr wrap="square" lIns="0" tIns="0" rIns="0" bIns="0" rtlCol="0"/>
          <a:lstStyle/>
          <a:p>
            <a:endParaRPr/>
          </a:p>
        </p:txBody>
      </p:sp>
      <p:sp>
        <p:nvSpPr>
          <p:cNvPr id="216" name="bg object 216"/>
          <p:cNvSpPr/>
          <p:nvPr/>
        </p:nvSpPr>
        <p:spPr>
          <a:xfrm>
            <a:off x="41059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D6DB4"/>
          </a:solidFill>
        </p:spPr>
        <p:txBody>
          <a:bodyPr wrap="square" lIns="0" tIns="0" rIns="0" bIns="0" rtlCol="0"/>
          <a:lstStyle/>
          <a:p>
            <a:endParaRPr/>
          </a:p>
        </p:txBody>
      </p:sp>
      <p:sp>
        <p:nvSpPr>
          <p:cNvPr id="217" name="bg object 217"/>
          <p:cNvSpPr/>
          <p:nvPr/>
        </p:nvSpPr>
        <p:spPr>
          <a:xfrm>
            <a:off x="40728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C6CB4"/>
          </a:solidFill>
        </p:spPr>
        <p:txBody>
          <a:bodyPr wrap="square" lIns="0" tIns="0" rIns="0" bIns="0" rtlCol="0"/>
          <a:lstStyle/>
          <a:p>
            <a:endParaRPr/>
          </a:p>
        </p:txBody>
      </p:sp>
      <p:sp>
        <p:nvSpPr>
          <p:cNvPr id="218" name="bg object 218"/>
          <p:cNvSpPr/>
          <p:nvPr/>
        </p:nvSpPr>
        <p:spPr>
          <a:xfrm>
            <a:off x="40386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B6BB3"/>
          </a:solidFill>
        </p:spPr>
        <p:txBody>
          <a:bodyPr wrap="square" lIns="0" tIns="0" rIns="0" bIns="0" rtlCol="0"/>
          <a:lstStyle/>
          <a:p>
            <a:endParaRPr/>
          </a:p>
        </p:txBody>
      </p:sp>
      <p:sp>
        <p:nvSpPr>
          <p:cNvPr id="219" name="bg object 219"/>
          <p:cNvSpPr/>
          <p:nvPr/>
        </p:nvSpPr>
        <p:spPr>
          <a:xfrm>
            <a:off x="400430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A6AB3"/>
          </a:solidFill>
        </p:spPr>
        <p:txBody>
          <a:bodyPr wrap="square" lIns="0" tIns="0" rIns="0" bIns="0" rtlCol="0"/>
          <a:lstStyle/>
          <a:p>
            <a:endParaRPr/>
          </a:p>
        </p:txBody>
      </p:sp>
      <p:sp>
        <p:nvSpPr>
          <p:cNvPr id="220" name="bg object 220"/>
          <p:cNvSpPr/>
          <p:nvPr/>
        </p:nvSpPr>
        <p:spPr>
          <a:xfrm>
            <a:off x="39700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969B2"/>
          </a:solidFill>
        </p:spPr>
        <p:txBody>
          <a:bodyPr wrap="square" lIns="0" tIns="0" rIns="0" bIns="0" rtlCol="0"/>
          <a:lstStyle/>
          <a:p>
            <a:endParaRPr/>
          </a:p>
        </p:txBody>
      </p:sp>
      <p:sp>
        <p:nvSpPr>
          <p:cNvPr id="221" name="bg object 221"/>
          <p:cNvSpPr/>
          <p:nvPr/>
        </p:nvSpPr>
        <p:spPr>
          <a:xfrm>
            <a:off x="393572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868B2"/>
          </a:solidFill>
        </p:spPr>
        <p:txBody>
          <a:bodyPr wrap="square" lIns="0" tIns="0" rIns="0" bIns="0" rtlCol="0"/>
          <a:lstStyle/>
          <a:p>
            <a:endParaRPr/>
          </a:p>
        </p:txBody>
      </p:sp>
      <p:sp>
        <p:nvSpPr>
          <p:cNvPr id="222" name="bg object 222"/>
          <p:cNvSpPr/>
          <p:nvPr/>
        </p:nvSpPr>
        <p:spPr>
          <a:xfrm>
            <a:off x="390143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767B1"/>
          </a:solidFill>
        </p:spPr>
        <p:txBody>
          <a:bodyPr wrap="square" lIns="0" tIns="0" rIns="0" bIns="0" rtlCol="0"/>
          <a:lstStyle/>
          <a:p>
            <a:endParaRPr/>
          </a:p>
        </p:txBody>
      </p:sp>
      <p:sp>
        <p:nvSpPr>
          <p:cNvPr id="223" name="bg object 223"/>
          <p:cNvSpPr/>
          <p:nvPr/>
        </p:nvSpPr>
        <p:spPr>
          <a:xfrm>
            <a:off x="38671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666B1"/>
          </a:solidFill>
        </p:spPr>
        <p:txBody>
          <a:bodyPr wrap="square" lIns="0" tIns="0" rIns="0" bIns="0" rtlCol="0"/>
          <a:lstStyle/>
          <a:p>
            <a:endParaRPr/>
          </a:p>
        </p:txBody>
      </p:sp>
      <p:sp>
        <p:nvSpPr>
          <p:cNvPr id="224" name="bg object 224"/>
          <p:cNvSpPr/>
          <p:nvPr/>
        </p:nvSpPr>
        <p:spPr>
          <a:xfrm>
            <a:off x="38328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666B0"/>
          </a:solidFill>
        </p:spPr>
        <p:txBody>
          <a:bodyPr wrap="square" lIns="0" tIns="0" rIns="0" bIns="0" rtlCol="0"/>
          <a:lstStyle/>
          <a:p>
            <a:endParaRPr/>
          </a:p>
        </p:txBody>
      </p:sp>
      <p:sp>
        <p:nvSpPr>
          <p:cNvPr id="225" name="bg object 225"/>
          <p:cNvSpPr/>
          <p:nvPr/>
        </p:nvSpPr>
        <p:spPr>
          <a:xfrm>
            <a:off x="37985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464B0"/>
          </a:solidFill>
        </p:spPr>
        <p:txBody>
          <a:bodyPr wrap="square" lIns="0" tIns="0" rIns="0" bIns="0" rtlCol="0"/>
          <a:lstStyle/>
          <a:p>
            <a:endParaRPr/>
          </a:p>
        </p:txBody>
      </p:sp>
      <p:sp>
        <p:nvSpPr>
          <p:cNvPr id="226" name="bg object 226"/>
          <p:cNvSpPr/>
          <p:nvPr/>
        </p:nvSpPr>
        <p:spPr>
          <a:xfrm>
            <a:off x="376427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363AF"/>
          </a:solidFill>
        </p:spPr>
        <p:txBody>
          <a:bodyPr wrap="square" lIns="0" tIns="0" rIns="0" bIns="0" rtlCol="0"/>
          <a:lstStyle/>
          <a:p>
            <a:endParaRPr/>
          </a:p>
        </p:txBody>
      </p:sp>
      <p:sp>
        <p:nvSpPr>
          <p:cNvPr id="227" name="bg object 227"/>
          <p:cNvSpPr/>
          <p:nvPr/>
        </p:nvSpPr>
        <p:spPr>
          <a:xfrm>
            <a:off x="37299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262AF"/>
          </a:solidFill>
        </p:spPr>
        <p:txBody>
          <a:bodyPr wrap="square" lIns="0" tIns="0" rIns="0" bIns="0" rtlCol="0"/>
          <a:lstStyle/>
          <a:p>
            <a:endParaRPr/>
          </a:p>
        </p:txBody>
      </p:sp>
      <p:sp>
        <p:nvSpPr>
          <p:cNvPr id="228" name="bg object 228"/>
          <p:cNvSpPr/>
          <p:nvPr/>
        </p:nvSpPr>
        <p:spPr>
          <a:xfrm>
            <a:off x="36957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161AE"/>
          </a:solidFill>
        </p:spPr>
        <p:txBody>
          <a:bodyPr wrap="square" lIns="0" tIns="0" rIns="0" bIns="0" rtlCol="0"/>
          <a:lstStyle/>
          <a:p>
            <a:endParaRPr/>
          </a:p>
        </p:txBody>
      </p:sp>
      <p:sp>
        <p:nvSpPr>
          <p:cNvPr id="229" name="bg object 229"/>
          <p:cNvSpPr/>
          <p:nvPr/>
        </p:nvSpPr>
        <p:spPr>
          <a:xfrm>
            <a:off x="36614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060AE"/>
          </a:solidFill>
        </p:spPr>
        <p:txBody>
          <a:bodyPr wrap="square" lIns="0" tIns="0" rIns="0" bIns="0" rtlCol="0"/>
          <a:lstStyle/>
          <a:p>
            <a:endParaRPr/>
          </a:p>
        </p:txBody>
      </p:sp>
      <p:sp>
        <p:nvSpPr>
          <p:cNvPr id="230" name="bg object 230"/>
          <p:cNvSpPr/>
          <p:nvPr/>
        </p:nvSpPr>
        <p:spPr>
          <a:xfrm>
            <a:off x="36271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F5FAD"/>
          </a:solidFill>
        </p:spPr>
        <p:txBody>
          <a:bodyPr wrap="square" lIns="0" tIns="0" rIns="0" bIns="0" rtlCol="0"/>
          <a:lstStyle/>
          <a:p>
            <a:endParaRPr/>
          </a:p>
        </p:txBody>
      </p:sp>
      <p:sp>
        <p:nvSpPr>
          <p:cNvPr id="231" name="bg object 231"/>
          <p:cNvSpPr/>
          <p:nvPr/>
        </p:nvSpPr>
        <p:spPr>
          <a:xfrm>
            <a:off x="35928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E5EAD"/>
          </a:solidFill>
        </p:spPr>
        <p:txBody>
          <a:bodyPr wrap="square" lIns="0" tIns="0" rIns="0" bIns="0" rtlCol="0"/>
          <a:lstStyle/>
          <a:p>
            <a:endParaRPr/>
          </a:p>
        </p:txBody>
      </p:sp>
      <p:sp>
        <p:nvSpPr>
          <p:cNvPr id="232" name="bg object 232"/>
          <p:cNvSpPr/>
          <p:nvPr/>
        </p:nvSpPr>
        <p:spPr>
          <a:xfrm>
            <a:off x="35585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D5DAC"/>
          </a:solidFill>
        </p:spPr>
        <p:txBody>
          <a:bodyPr wrap="square" lIns="0" tIns="0" rIns="0" bIns="0" rtlCol="0"/>
          <a:lstStyle/>
          <a:p>
            <a:endParaRPr/>
          </a:p>
        </p:txBody>
      </p:sp>
      <p:sp>
        <p:nvSpPr>
          <p:cNvPr id="233" name="bg object 233"/>
          <p:cNvSpPr/>
          <p:nvPr/>
        </p:nvSpPr>
        <p:spPr>
          <a:xfrm>
            <a:off x="35242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C5CAC"/>
          </a:solidFill>
        </p:spPr>
        <p:txBody>
          <a:bodyPr wrap="square" lIns="0" tIns="0" rIns="0" bIns="0" rtlCol="0"/>
          <a:lstStyle/>
          <a:p>
            <a:endParaRPr/>
          </a:p>
        </p:txBody>
      </p:sp>
      <p:sp>
        <p:nvSpPr>
          <p:cNvPr id="234" name="bg object 234"/>
          <p:cNvSpPr/>
          <p:nvPr/>
        </p:nvSpPr>
        <p:spPr>
          <a:xfrm>
            <a:off x="34899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B5BAB"/>
          </a:solidFill>
        </p:spPr>
        <p:txBody>
          <a:bodyPr wrap="square" lIns="0" tIns="0" rIns="0" bIns="0" rtlCol="0"/>
          <a:lstStyle/>
          <a:p>
            <a:endParaRPr/>
          </a:p>
        </p:txBody>
      </p:sp>
      <p:sp>
        <p:nvSpPr>
          <p:cNvPr id="235" name="bg object 235"/>
          <p:cNvSpPr/>
          <p:nvPr/>
        </p:nvSpPr>
        <p:spPr>
          <a:xfrm>
            <a:off x="34556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A5AAB"/>
          </a:solidFill>
        </p:spPr>
        <p:txBody>
          <a:bodyPr wrap="square" lIns="0" tIns="0" rIns="0" bIns="0" rtlCol="0"/>
          <a:lstStyle/>
          <a:p>
            <a:endParaRPr/>
          </a:p>
        </p:txBody>
      </p:sp>
      <p:sp>
        <p:nvSpPr>
          <p:cNvPr id="236" name="bg object 236"/>
          <p:cNvSpPr/>
          <p:nvPr/>
        </p:nvSpPr>
        <p:spPr>
          <a:xfrm>
            <a:off x="34213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959AA"/>
          </a:solidFill>
        </p:spPr>
        <p:txBody>
          <a:bodyPr wrap="square" lIns="0" tIns="0" rIns="0" bIns="0" rtlCol="0"/>
          <a:lstStyle/>
          <a:p>
            <a:endParaRPr/>
          </a:p>
        </p:txBody>
      </p:sp>
      <p:sp>
        <p:nvSpPr>
          <p:cNvPr id="237" name="bg object 237"/>
          <p:cNvSpPr/>
          <p:nvPr/>
        </p:nvSpPr>
        <p:spPr>
          <a:xfrm>
            <a:off x="33870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858AA"/>
          </a:solidFill>
        </p:spPr>
        <p:txBody>
          <a:bodyPr wrap="square" lIns="0" tIns="0" rIns="0" bIns="0" rtlCol="0"/>
          <a:lstStyle/>
          <a:p>
            <a:endParaRPr/>
          </a:p>
        </p:txBody>
      </p:sp>
      <p:sp>
        <p:nvSpPr>
          <p:cNvPr id="238" name="bg object 238"/>
          <p:cNvSpPr/>
          <p:nvPr/>
        </p:nvSpPr>
        <p:spPr>
          <a:xfrm>
            <a:off x="33528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757A9"/>
          </a:solidFill>
        </p:spPr>
        <p:txBody>
          <a:bodyPr wrap="square" lIns="0" tIns="0" rIns="0" bIns="0" rtlCol="0"/>
          <a:lstStyle/>
          <a:p>
            <a:endParaRPr/>
          </a:p>
        </p:txBody>
      </p:sp>
      <p:sp>
        <p:nvSpPr>
          <p:cNvPr id="239" name="bg object 239"/>
          <p:cNvSpPr/>
          <p:nvPr/>
        </p:nvSpPr>
        <p:spPr>
          <a:xfrm>
            <a:off x="33185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656A9"/>
          </a:solidFill>
        </p:spPr>
        <p:txBody>
          <a:bodyPr wrap="square" lIns="0" tIns="0" rIns="0" bIns="0" rtlCol="0"/>
          <a:lstStyle/>
          <a:p>
            <a:endParaRPr/>
          </a:p>
        </p:txBody>
      </p:sp>
      <p:sp>
        <p:nvSpPr>
          <p:cNvPr id="240" name="bg object 240"/>
          <p:cNvSpPr/>
          <p:nvPr/>
        </p:nvSpPr>
        <p:spPr>
          <a:xfrm>
            <a:off x="32842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555A8"/>
          </a:solidFill>
        </p:spPr>
        <p:txBody>
          <a:bodyPr wrap="square" lIns="0" tIns="0" rIns="0" bIns="0" rtlCol="0"/>
          <a:lstStyle/>
          <a:p>
            <a:endParaRPr/>
          </a:p>
        </p:txBody>
      </p:sp>
      <p:sp>
        <p:nvSpPr>
          <p:cNvPr id="241" name="bg object 241"/>
          <p:cNvSpPr/>
          <p:nvPr/>
        </p:nvSpPr>
        <p:spPr>
          <a:xfrm>
            <a:off x="3249929" y="133350"/>
            <a:ext cx="38100" cy="276860"/>
          </a:xfrm>
          <a:custGeom>
            <a:avLst/>
            <a:gdLst/>
            <a:ahLst/>
            <a:cxnLst/>
            <a:rect l="l" t="t" r="r" b="b"/>
            <a:pathLst>
              <a:path w="38100" h="276859">
                <a:moveTo>
                  <a:pt x="38099" y="0"/>
                </a:moveTo>
                <a:lnTo>
                  <a:pt x="0" y="0"/>
                </a:lnTo>
                <a:lnTo>
                  <a:pt x="0" y="276860"/>
                </a:lnTo>
                <a:lnTo>
                  <a:pt x="38099" y="276860"/>
                </a:lnTo>
                <a:lnTo>
                  <a:pt x="38099" y="0"/>
                </a:lnTo>
                <a:close/>
              </a:path>
            </a:pathLst>
          </a:custGeom>
          <a:solidFill>
            <a:srgbClr val="5454A8"/>
          </a:solidFill>
        </p:spPr>
        <p:txBody>
          <a:bodyPr wrap="square" lIns="0" tIns="0" rIns="0" bIns="0" rtlCol="0"/>
          <a:lstStyle/>
          <a:p>
            <a:endParaRPr/>
          </a:p>
        </p:txBody>
      </p:sp>
      <p:sp>
        <p:nvSpPr>
          <p:cNvPr id="242" name="bg object 242"/>
          <p:cNvSpPr/>
          <p:nvPr/>
        </p:nvSpPr>
        <p:spPr>
          <a:xfrm>
            <a:off x="32156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353A7"/>
          </a:solidFill>
        </p:spPr>
        <p:txBody>
          <a:bodyPr wrap="square" lIns="0" tIns="0" rIns="0" bIns="0" rtlCol="0"/>
          <a:lstStyle/>
          <a:p>
            <a:endParaRPr/>
          </a:p>
        </p:txBody>
      </p:sp>
      <p:sp>
        <p:nvSpPr>
          <p:cNvPr id="243" name="bg object 243"/>
          <p:cNvSpPr/>
          <p:nvPr/>
        </p:nvSpPr>
        <p:spPr>
          <a:xfrm>
            <a:off x="31826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5252A7"/>
          </a:solidFill>
        </p:spPr>
        <p:txBody>
          <a:bodyPr wrap="square" lIns="0" tIns="0" rIns="0" bIns="0" rtlCol="0"/>
          <a:lstStyle/>
          <a:p>
            <a:endParaRPr/>
          </a:p>
        </p:txBody>
      </p:sp>
      <p:sp>
        <p:nvSpPr>
          <p:cNvPr id="244" name="bg object 244"/>
          <p:cNvSpPr/>
          <p:nvPr/>
        </p:nvSpPr>
        <p:spPr>
          <a:xfrm>
            <a:off x="314832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5151A6"/>
          </a:solidFill>
        </p:spPr>
        <p:txBody>
          <a:bodyPr wrap="square" lIns="0" tIns="0" rIns="0" bIns="0" rtlCol="0"/>
          <a:lstStyle/>
          <a:p>
            <a:endParaRPr/>
          </a:p>
        </p:txBody>
      </p:sp>
      <p:sp>
        <p:nvSpPr>
          <p:cNvPr id="245" name="bg object 245"/>
          <p:cNvSpPr/>
          <p:nvPr/>
        </p:nvSpPr>
        <p:spPr>
          <a:xfrm>
            <a:off x="311404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5050A6"/>
          </a:solidFill>
        </p:spPr>
        <p:txBody>
          <a:bodyPr wrap="square" lIns="0" tIns="0" rIns="0" bIns="0" rtlCol="0"/>
          <a:lstStyle/>
          <a:p>
            <a:endParaRPr/>
          </a:p>
        </p:txBody>
      </p:sp>
      <p:sp>
        <p:nvSpPr>
          <p:cNvPr id="246" name="bg object 246"/>
          <p:cNvSpPr/>
          <p:nvPr/>
        </p:nvSpPr>
        <p:spPr>
          <a:xfrm>
            <a:off x="30797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F4FA5"/>
          </a:solidFill>
        </p:spPr>
        <p:txBody>
          <a:bodyPr wrap="square" lIns="0" tIns="0" rIns="0" bIns="0" rtlCol="0"/>
          <a:lstStyle/>
          <a:p>
            <a:endParaRPr/>
          </a:p>
        </p:txBody>
      </p:sp>
      <p:sp>
        <p:nvSpPr>
          <p:cNvPr id="247" name="bg object 247"/>
          <p:cNvSpPr/>
          <p:nvPr/>
        </p:nvSpPr>
        <p:spPr>
          <a:xfrm>
            <a:off x="304545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4E4EA5"/>
          </a:solidFill>
        </p:spPr>
        <p:txBody>
          <a:bodyPr wrap="square" lIns="0" tIns="0" rIns="0" bIns="0" rtlCol="0"/>
          <a:lstStyle/>
          <a:p>
            <a:endParaRPr/>
          </a:p>
        </p:txBody>
      </p:sp>
      <p:sp>
        <p:nvSpPr>
          <p:cNvPr id="248" name="bg object 248"/>
          <p:cNvSpPr/>
          <p:nvPr/>
        </p:nvSpPr>
        <p:spPr>
          <a:xfrm>
            <a:off x="301116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D4DA4"/>
          </a:solidFill>
        </p:spPr>
        <p:txBody>
          <a:bodyPr wrap="square" lIns="0" tIns="0" rIns="0" bIns="0" rtlCol="0"/>
          <a:lstStyle/>
          <a:p>
            <a:endParaRPr/>
          </a:p>
        </p:txBody>
      </p:sp>
      <p:sp>
        <p:nvSpPr>
          <p:cNvPr id="249" name="bg object 249"/>
          <p:cNvSpPr/>
          <p:nvPr/>
        </p:nvSpPr>
        <p:spPr>
          <a:xfrm>
            <a:off x="297687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C4CA4"/>
          </a:solidFill>
        </p:spPr>
        <p:txBody>
          <a:bodyPr wrap="square" lIns="0" tIns="0" rIns="0" bIns="0" rtlCol="0"/>
          <a:lstStyle/>
          <a:p>
            <a:endParaRPr/>
          </a:p>
        </p:txBody>
      </p:sp>
      <p:sp>
        <p:nvSpPr>
          <p:cNvPr id="250" name="bg object 250"/>
          <p:cNvSpPr/>
          <p:nvPr/>
        </p:nvSpPr>
        <p:spPr>
          <a:xfrm>
            <a:off x="294259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B4BA3"/>
          </a:solidFill>
        </p:spPr>
        <p:txBody>
          <a:bodyPr wrap="square" lIns="0" tIns="0" rIns="0" bIns="0" rtlCol="0"/>
          <a:lstStyle/>
          <a:p>
            <a:endParaRPr/>
          </a:p>
        </p:txBody>
      </p:sp>
      <p:sp>
        <p:nvSpPr>
          <p:cNvPr id="251" name="bg object 251"/>
          <p:cNvSpPr/>
          <p:nvPr/>
        </p:nvSpPr>
        <p:spPr>
          <a:xfrm>
            <a:off x="290830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A4AA3"/>
          </a:solidFill>
        </p:spPr>
        <p:txBody>
          <a:bodyPr wrap="square" lIns="0" tIns="0" rIns="0" bIns="0" rtlCol="0"/>
          <a:lstStyle/>
          <a:p>
            <a:endParaRPr/>
          </a:p>
        </p:txBody>
      </p:sp>
      <p:sp>
        <p:nvSpPr>
          <p:cNvPr id="252" name="bg object 252"/>
          <p:cNvSpPr/>
          <p:nvPr/>
        </p:nvSpPr>
        <p:spPr>
          <a:xfrm>
            <a:off x="287400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4949A2"/>
          </a:solidFill>
        </p:spPr>
        <p:txBody>
          <a:bodyPr wrap="square" lIns="0" tIns="0" rIns="0" bIns="0" rtlCol="0"/>
          <a:lstStyle/>
          <a:p>
            <a:endParaRPr/>
          </a:p>
        </p:txBody>
      </p:sp>
      <p:sp>
        <p:nvSpPr>
          <p:cNvPr id="253" name="bg object 253"/>
          <p:cNvSpPr/>
          <p:nvPr/>
        </p:nvSpPr>
        <p:spPr>
          <a:xfrm>
            <a:off x="28397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848A2"/>
          </a:solidFill>
        </p:spPr>
        <p:txBody>
          <a:bodyPr wrap="square" lIns="0" tIns="0" rIns="0" bIns="0" rtlCol="0"/>
          <a:lstStyle/>
          <a:p>
            <a:endParaRPr/>
          </a:p>
        </p:txBody>
      </p:sp>
      <p:sp>
        <p:nvSpPr>
          <p:cNvPr id="254" name="bg object 254"/>
          <p:cNvSpPr/>
          <p:nvPr/>
        </p:nvSpPr>
        <p:spPr>
          <a:xfrm>
            <a:off x="28054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747A1"/>
          </a:solidFill>
        </p:spPr>
        <p:txBody>
          <a:bodyPr wrap="square" lIns="0" tIns="0" rIns="0" bIns="0" rtlCol="0"/>
          <a:lstStyle/>
          <a:p>
            <a:endParaRPr/>
          </a:p>
        </p:txBody>
      </p:sp>
      <p:sp>
        <p:nvSpPr>
          <p:cNvPr id="255" name="bg object 255"/>
          <p:cNvSpPr/>
          <p:nvPr/>
        </p:nvSpPr>
        <p:spPr>
          <a:xfrm>
            <a:off x="27711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646A1"/>
          </a:solidFill>
        </p:spPr>
        <p:txBody>
          <a:bodyPr wrap="square" lIns="0" tIns="0" rIns="0" bIns="0" rtlCol="0"/>
          <a:lstStyle/>
          <a:p>
            <a:endParaRPr/>
          </a:p>
        </p:txBody>
      </p:sp>
      <p:sp>
        <p:nvSpPr>
          <p:cNvPr id="256" name="bg object 256"/>
          <p:cNvSpPr/>
          <p:nvPr/>
        </p:nvSpPr>
        <p:spPr>
          <a:xfrm>
            <a:off x="27368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545A0"/>
          </a:solidFill>
        </p:spPr>
        <p:txBody>
          <a:bodyPr wrap="square" lIns="0" tIns="0" rIns="0" bIns="0" rtlCol="0"/>
          <a:lstStyle/>
          <a:p>
            <a:endParaRPr/>
          </a:p>
        </p:txBody>
      </p:sp>
      <p:sp>
        <p:nvSpPr>
          <p:cNvPr id="257" name="bg object 257"/>
          <p:cNvSpPr/>
          <p:nvPr/>
        </p:nvSpPr>
        <p:spPr>
          <a:xfrm>
            <a:off x="270255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4444A0"/>
          </a:solidFill>
        </p:spPr>
        <p:txBody>
          <a:bodyPr wrap="square" lIns="0" tIns="0" rIns="0" bIns="0" rtlCol="0"/>
          <a:lstStyle/>
          <a:p>
            <a:endParaRPr/>
          </a:p>
        </p:txBody>
      </p:sp>
      <p:sp>
        <p:nvSpPr>
          <p:cNvPr id="258" name="bg object 258"/>
          <p:cNvSpPr/>
          <p:nvPr/>
        </p:nvSpPr>
        <p:spPr>
          <a:xfrm>
            <a:off x="26682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3439F"/>
          </a:solidFill>
        </p:spPr>
        <p:txBody>
          <a:bodyPr wrap="square" lIns="0" tIns="0" rIns="0" bIns="0" rtlCol="0"/>
          <a:lstStyle/>
          <a:p>
            <a:endParaRPr/>
          </a:p>
        </p:txBody>
      </p:sp>
      <p:sp>
        <p:nvSpPr>
          <p:cNvPr id="259" name="bg object 259"/>
          <p:cNvSpPr/>
          <p:nvPr/>
        </p:nvSpPr>
        <p:spPr>
          <a:xfrm>
            <a:off x="26339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2429F"/>
          </a:solidFill>
        </p:spPr>
        <p:txBody>
          <a:bodyPr wrap="square" lIns="0" tIns="0" rIns="0" bIns="0" rtlCol="0"/>
          <a:lstStyle/>
          <a:p>
            <a:endParaRPr/>
          </a:p>
        </p:txBody>
      </p:sp>
      <p:sp>
        <p:nvSpPr>
          <p:cNvPr id="260" name="bg object 260"/>
          <p:cNvSpPr/>
          <p:nvPr/>
        </p:nvSpPr>
        <p:spPr>
          <a:xfrm>
            <a:off x="259969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1419E"/>
          </a:solidFill>
        </p:spPr>
        <p:txBody>
          <a:bodyPr wrap="square" lIns="0" tIns="0" rIns="0" bIns="0" rtlCol="0"/>
          <a:lstStyle/>
          <a:p>
            <a:endParaRPr/>
          </a:p>
        </p:txBody>
      </p:sp>
      <p:sp>
        <p:nvSpPr>
          <p:cNvPr id="261" name="bg object 261"/>
          <p:cNvSpPr/>
          <p:nvPr/>
        </p:nvSpPr>
        <p:spPr>
          <a:xfrm>
            <a:off x="25654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0409E"/>
          </a:solidFill>
        </p:spPr>
        <p:txBody>
          <a:bodyPr wrap="square" lIns="0" tIns="0" rIns="0" bIns="0" rtlCol="0"/>
          <a:lstStyle/>
          <a:p>
            <a:endParaRPr/>
          </a:p>
        </p:txBody>
      </p:sp>
      <p:sp>
        <p:nvSpPr>
          <p:cNvPr id="262" name="bg object 262"/>
          <p:cNvSpPr/>
          <p:nvPr/>
        </p:nvSpPr>
        <p:spPr>
          <a:xfrm>
            <a:off x="25311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F3F9D"/>
          </a:solidFill>
        </p:spPr>
        <p:txBody>
          <a:bodyPr wrap="square" lIns="0" tIns="0" rIns="0" bIns="0" rtlCol="0"/>
          <a:lstStyle/>
          <a:p>
            <a:endParaRPr/>
          </a:p>
        </p:txBody>
      </p:sp>
      <p:sp>
        <p:nvSpPr>
          <p:cNvPr id="263" name="bg object 263"/>
          <p:cNvSpPr/>
          <p:nvPr/>
        </p:nvSpPr>
        <p:spPr>
          <a:xfrm>
            <a:off x="24968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E3E9C"/>
          </a:solidFill>
        </p:spPr>
        <p:txBody>
          <a:bodyPr wrap="square" lIns="0" tIns="0" rIns="0" bIns="0" rtlCol="0"/>
          <a:lstStyle/>
          <a:p>
            <a:endParaRPr/>
          </a:p>
        </p:txBody>
      </p:sp>
      <p:sp>
        <p:nvSpPr>
          <p:cNvPr id="264" name="bg object 264"/>
          <p:cNvSpPr/>
          <p:nvPr/>
        </p:nvSpPr>
        <p:spPr>
          <a:xfrm>
            <a:off x="24625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D3D9C"/>
          </a:solidFill>
        </p:spPr>
        <p:txBody>
          <a:bodyPr wrap="square" lIns="0" tIns="0" rIns="0" bIns="0" rtlCol="0"/>
          <a:lstStyle/>
          <a:p>
            <a:endParaRPr/>
          </a:p>
        </p:txBody>
      </p:sp>
      <p:sp>
        <p:nvSpPr>
          <p:cNvPr id="265" name="bg object 265"/>
          <p:cNvSpPr/>
          <p:nvPr/>
        </p:nvSpPr>
        <p:spPr>
          <a:xfrm>
            <a:off x="24282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C3C9B"/>
          </a:solidFill>
        </p:spPr>
        <p:txBody>
          <a:bodyPr wrap="square" lIns="0" tIns="0" rIns="0" bIns="0" rtlCol="0"/>
          <a:lstStyle/>
          <a:p>
            <a:endParaRPr/>
          </a:p>
        </p:txBody>
      </p:sp>
      <p:sp>
        <p:nvSpPr>
          <p:cNvPr id="266" name="bg object 266"/>
          <p:cNvSpPr/>
          <p:nvPr/>
        </p:nvSpPr>
        <p:spPr>
          <a:xfrm>
            <a:off x="23939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B3B9B"/>
          </a:solidFill>
        </p:spPr>
        <p:txBody>
          <a:bodyPr wrap="square" lIns="0" tIns="0" rIns="0" bIns="0" rtlCol="0"/>
          <a:lstStyle/>
          <a:p>
            <a:endParaRPr/>
          </a:p>
        </p:txBody>
      </p:sp>
      <p:sp>
        <p:nvSpPr>
          <p:cNvPr id="267" name="bg object 267"/>
          <p:cNvSpPr/>
          <p:nvPr/>
        </p:nvSpPr>
        <p:spPr>
          <a:xfrm>
            <a:off x="23596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A3A9A"/>
          </a:solidFill>
        </p:spPr>
        <p:txBody>
          <a:bodyPr wrap="square" lIns="0" tIns="0" rIns="0" bIns="0" rtlCol="0"/>
          <a:lstStyle/>
          <a:p>
            <a:endParaRPr/>
          </a:p>
        </p:txBody>
      </p:sp>
      <p:sp>
        <p:nvSpPr>
          <p:cNvPr id="268" name="bg object 268"/>
          <p:cNvSpPr/>
          <p:nvPr/>
        </p:nvSpPr>
        <p:spPr>
          <a:xfrm>
            <a:off x="23253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9399A"/>
          </a:solidFill>
        </p:spPr>
        <p:txBody>
          <a:bodyPr wrap="square" lIns="0" tIns="0" rIns="0" bIns="0" rtlCol="0"/>
          <a:lstStyle/>
          <a:p>
            <a:endParaRPr/>
          </a:p>
        </p:txBody>
      </p:sp>
      <p:sp>
        <p:nvSpPr>
          <p:cNvPr id="269" name="bg object 269"/>
          <p:cNvSpPr/>
          <p:nvPr/>
        </p:nvSpPr>
        <p:spPr>
          <a:xfrm>
            <a:off x="22923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83899"/>
          </a:solidFill>
        </p:spPr>
        <p:txBody>
          <a:bodyPr wrap="square" lIns="0" tIns="0" rIns="0" bIns="0" rtlCol="0"/>
          <a:lstStyle/>
          <a:p>
            <a:endParaRPr/>
          </a:p>
        </p:txBody>
      </p:sp>
      <p:sp>
        <p:nvSpPr>
          <p:cNvPr id="270" name="bg object 270"/>
          <p:cNvSpPr/>
          <p:nvPr/>
        </p:nvSpPr>
        <p:spPr>
          <a:xfrm>
            <a:off x="225679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73799"/>
          </a:solidFill>
        </p:spPr>
        <p:txBody>
          <a:bodyPr wrap="square" lIns="0" tIns="0" rIns="0" bIns="0" rtlCol="0"/>
          <a:lstStyle/>
          <a:p>
            <a:endParaRPr/>
          </a:p>
        </p:txBody>
      </p:sp>
      <p:sp>
        <p:nvSpPr>
          <p:cNvPr id="271" name="bg object 271"/>
          <p:cNvSpPr/>
          <p:nvPr/>
        </p:nvSpPr>
        <p:spPr>
          <a:xfrm>
            <a:off x="22225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63699"/>
          </a:solidFill>
        </p:spPr>
        <p:txBody>
          <a:bodyPr wrap="square" lIns="0" tIns="0" rIns="0" bIns="0" rtlCol="0"/>
          <a:lstStyle/>
          <a:p>
            <a:endParaRPr/>
          </a:p>
        </p:txBody>
      </p:sp>
      <p:sp>
        <p:nvSpPr>
          <p:cNvPr id="272" name="bg object 272"/>
          <p:cNvSpPr/>
          <p:nvPr/>
        </p:nvSpPr>
        <p:spPr>
          <a:xfrm>
            <a:off x="21882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53599"/>
          </a:solidFill>
        </p:spPr>
        <p:txBody>
          <a:bodyPr wrap="square" lIns="0" tIns="0" rIns="0" bIns="0" rtlCol="0"/>
          <a:lstStyle/>
          <a:p>
            <a:endParaRPr/>
          </a:p>
        </p:txBody>
      </p:sp>
      <p:sp>
        <p:nvSpPr>
          <p:cNvPr id="273" name="bg object 273"/>
          <p:cNvSpPr/>
          <p:nvPr/>
        </p:nvSpPr>
        <p:spPr>
          <a:xfrm>
            <a:off x="215519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43497"/>
          </a:solidFill>
        </p:spPr>
        <p:txBody>
          <a:bodyPr wrap="square" lIns="0" tIns="0" rIns="0" bIns="0" rtlCol="0"/>
          <a:lstStyle/>
          <a:p>
            <a:endParaRPr/>
          </a:p>
        </p:txBody>
      </p:sp>
      <p:sp>
        <p:nvSpPr>
          <p:cNvPr id="274" name="bg object 274"/>
          <p:cNvSpPr/>
          <p:nvPr/>
        </p:nvSpPr>
        <p:spPr>
          <a:xfrm>
            <a:off x="212090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33397"/>
          </a:solidFill>
        </p:spPr>
        <p:txBody>
          <a:bodyPr wrap="square" lIns="0" tIns="0" rIns="0" bIns="0" rtlCol="0"/>
          <a:lstStyle/>
          <a:p>
            <a:endParaRPr/>
          </a:p>
        </p:txBody>
      </p:sp>
      <p:sp>
        <p:nvSpPr>
          <p:cNvPr id="275" name="bg object 275"/>
          <p:cNvSpPr/>
          <p:nvPr/>
        </p:nvSpPr>
        <p:spPr>
          <a:xfrm>
            <a:off x="208660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333396"/>
          </a:solidFill>
        </p:spPr>
        <p:txBody>
          <a:bodyPr wrap="square" lIns="0" tIns="0" rIns="0" bIns="0" rtlCol="0"/>
          <a:lstStyle/>
          <a:p>
            <a:endParaRPr/>
          </a:p>
        </p:txBody>
      </p:sp>
      <p:sp>
        <p:nvSpPr>
          <p:cNvPr id="276" name="bg object 276"/>
          <p:cNvSpPr/>
          <p:nvPr/>
        </p:nvSpPr>
        <p:spPr>
          <a:xfrm>
            <a:off x="20523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13196"/>
          </a:solidFill>
        </p:spPr>
        <p:txBody>
          <a:bodyPr wrap="square" lIns="0" tIns="0" rIns="0" bIns="0" rtlCol="0"/>
          <a:lstStyle/>
          <a:p>
            <a:endParaRPr/>
          </a:p>
        </p:txBody>
      </p:sp>
      <p:sp>
        <p:nvSpPr>
          <p:cNvPr id="277" name="bg object 277"/>
          <p:cNvSpPr/>
          <p:nvPr/>
        </p:nvSpPr>
        <p:spPr>
          <a:xfrm>
            <a:off x="201802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03095"/>
          </a:solidFill>
        </p:spPr>
        <p:txBody>
          <a:bodyPr wrap="square" lIns="0" tIns="0" rIns="0" bIns="0" rtlCol="0"/>
          <a:lstStyle/>
          <a:p>
            <a:endParaRPr/>
          </a:p>
        </p:txBody>
      </p:sp>
      <p:sp>
        <p:nvSpPr>
          <p:cNvPr id="278" name="bg object 278"/>
          <p:cNvSpPr/>
          <p:nvPr/>
        </p:nvSpPr>
        <p:spPr>
          <a:xfrm>
            <a:off x="198374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F2F95"/>
          </a:solidFill>
        </p:spPr>
        <p:txBody>
          <a:bodyPr wrap="square" lIns="0" tIns="0" rIns="0" bIns="0" rtlCol="0"/>
          <a:lstStyle/>
          <a:p>
            <a:endParaRPr/>
          </a:p>
        </p:txBody>
      </p:sp>
      <p:sp>
        <p:nvSpPr>
          <p:cNvPr id="279" name="bg object 279"/>
          <p:cNvSpPr/>
          <p:nvPr/>
        </p:nvSpPr>
        <p:spPr>
          <a:xfrm>
            <a:off x="19494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E2E94"/>
          </a:solidFill>
        </p:spPr>
        <p:txBody>
          <a:bodyPr wrap="square" lIns="0" tIns="0" rIns="0" bIns="0" rtlCol="0"/>
          <a:lstStyle/>
          <a:p>
            <a:endParaRPr/>
          </a:p>
        </p:txBody>
      </p:sp>
      <p:sp>
        <p:nvSpPr>
          <p:cNvPr id="280" name="bg object 280"/>
          <p:cNvSpPr/>
          <p:nvPr/>
        </p:nvSpPr>
        <p:spPr>
          <a:xfrm>
            <a:off x="191515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2D2D94"/>
          </a:solidFill>
        </p:spPr>
        <p:txBody>
          <a:bodyPr wrap="square" lIns="0" tIns="0" rIns="0" bIns="0" rtlCol="0"/>
          <a:lstStyle/>
          <a:p>
            <a:endParaRPr/>
          </a:p>
        </p:txBody>
      </p:sp>
      <p:sp>
        <p:nvSpPr>
          <p:cNvPr id="281" name="bg object 281"/>
          <p:cNvSpPr/>
          <p:nvPr/>
        </p:nvSpPr>
        <p:spPr>
          <a:xfrm>
            <a:off x="188086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C2C93"/>
          </a:solidFill>
        </p:spPr>
        <p:txBody>
          <a:bodyPr wrap="square" lIns="0" tIns="0" rIns="0" bIns="0" rtlCol="0"/>
          <a:lstStyle/>
          <a:p>
            <a:endParaRPr/>
          </a:p>
        </p:txBody>
      </p:sp>
      <p:sp>
        <p:nvSpPr>
          <p:cNvPr id="282" name="bg object 282"/>
          <p:cNvSpPr/>
          <p:nvPr/>
        </p:nvSpPr>
        <p:spPr>
          <a:xfrm>
            <a:off x="184657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B2B93"/>
          </a:solidFill>
        </p:spPr>
        <p:txBody>
          <a:bodyPr wrap="square" lIns="0" tIns="0" rIns="0" bIns="0" rtlCol="0"/>
          <a:lstStyle/>
          <a:p>
            <a:endParaRPr/>
          </a:p>
        </p:txBody>
      </p:sp>
      <p:sp>
        <p:nvSpPr>
          <p:cNvPr id="283" name="bg object 283"/>
          <p:cNvSpPr/>
          <p:nvPr/>
        </p:nvSpPr>
        <p:spPr>
          <a:xfrm>
            <a:off x="181229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A2A92"/>
          </a:solidFill>
        </p:spPr>
        <p:txBody>
          <a:bodyPr wrap="square" lIns="0" tIns="0" rIns="0" bIns="0" rtlCol="0"/>
          <a:lstStyle/>
          <a:p>
            <a:endParaRPr/>
          </a:p>
        </p:txBody>
      </p:sp>
      <p:sp>
        <p:nvSpPr>
          <p:cNvPr id="284" name="bg object 284"/>
          <p:cNvSpPr/>
          <p:nvPr/>
        </p:nvSpPr>
        <p:spPr>
          <a:xfrm>
            <a:off x="17780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92992"/>
          </a:solidFill>
        </p:spPr>
        <p:txBody>
          <a:bodyPr wrap="square" lIns="0" tIns="0" rIns="0" bIns="0" rtlCol="0"/>
          <a:lstStyle/>
          <a:p>
            <a:endParaRPr/>
          </a:p>
        </p:txBody>
      </p:sp>
      <p:sp>
        <p:nvSpPr>
          <p:cNvPr id="285" name="bg object 285"/>
          <p:cNvSpPr/>
          <p:nvPr/>
        </p:nvSpPr>
        <p:spPr>
          <a:xfrm>
            <a:off x="17437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82891"/>
          </a:solidFill>
        </p:spPr>
        <p:txBody>
          <a:bodyPr wrap="square" lIns="0" tIns="0" rIns="0" bIns="0" rtlCol="0"/>
          <a:lstStyle/>
          <a:p>
            <a:endParaRPr/>
          </a:p>
        </p:txBody>
      </p:sp>
      <p:sp>
        <p:nvSpPr>
          <p:cNvPr id="286" name="bg object 286"/>
          <p:cNvSpPr/>
          <p:nvPr/>
        </p:nvSpPr>
        <p:spPr>
          <a:xfrm>
            <a:off x="17094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72791"/>
          </a:solidFill>
        </p:spPr>
        <p:txBody>
          <a:bodyPr wrap="square" lIns="0" tIns="0" rIns="0" bIns="0" rtlCol="0"/>
          <a:lstStyle/>
          <a:p>
            <a:endParaRPr/>
          </a:p>
        </p:txBody>
      </p:sp>
      <p:sp>
        <p:nvSpPr>
          <p:cNvPr id="287" name="bg object 287"/>
          <p:cNvSpPr/>
          <p:nvPr/>
        </p:nvSpPr>
        <p:spPr>
          <a:xfrm>
            <a:off x="167512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62690"/>
          </a:solidFill>
        </p:spPr>
        <p:txBody>
          <a:bodyPr wrap="square" lIns="0" tIns="0" rIns="0" bIns="0" rtlCol="0"/>
          <a:lstStyle/>
          <a:p>
            <a:endParaRPr/>
          </a:p>
        </p:txBody>
      </p:sp>
      <p:sp>
        <p:nvSpPr>
          <p:cNvPr id="288" name="bg object 288"/>
          <p:cNvSpPr/>
          <p:nvPr/>
        </p:nvSpPr>
        <p:spPr>
          <a:xfrm>
            <a:off x="16408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52590"/>
          </a:solidFill>
        </p:spPr>
        <p:txBody>
          <a:bodyPr wrap="square" lIns="0" tIns="0" rIns="0" bIns="0" rtlCol="0"/>
          <a:lstStyle/>
          <a:p>
            <a:endParaRPr/>
          </a:p>
        </p:txBody>
      </p:sp>
      <p:sp>
        <p:nvSpPr>
          <p:cNvPr id="289" name="bg object 289"/>
          <p:cNvSpPr/>
          <p:nvPr/>
        </p:nvSpPr>
        <p:spPr>
          <a:xfrm>
            <a:off x="16065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4248F"/>
          </a:solidFill>
        </p:spPr>
        <p:txBody>
          <a:bodyPr wrap="square" lIns="0" tIns="0" rIns="0" bIns="0" rtlCol="0"/>
          <a:lstStyle/>
          <a:p>
            <a:endParaRPr/>
          </a:p>
        </p:txBody>
      </p:sp>
      <p:sp>
        <p:nvSpPr>
          <p:cNvPr id="290" name="bg object 290"/>
          <p:cNvSpPr/>
          <p:nvPr/>
        </p:nvSpPr>
        <p:spPr>
          <a:xfrm>
            <a:off x="15722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3238F"/>
          </a:solidFill>
        </p:spPr>
        <p:txBody>
          <a:bodyPr wrap="square" lIns="0" tIns="0" rIns="0" bIns="0" rtlCol="0"/>
          <a:lstStyle/>
          <a:p>
            <a:endParaRPr/>
          </a:p>
        </p:txBody>
      </p:sp>
      <p:sp>
        <p:nvSpPr>
          <p:cNvPr id="291" name="bg object 291"/>
          <p:cNvSpPr/>
          <p:nvPr/>
        </p:nvSpPr>
        <p:spPr>
          <a:xfrm>
            <a:off x="15379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2228E"/>
          </a:solidFill>
        </p:spPr>
        <p:txBody>
          <a:bodyPr wrap="square" lIns="0" tIns="0" rIns="0" bIns="0" rtlCol="0"/>
          <a:lstStyle/>
          <a:p>
            <a:endParaRPr/>
          </a:p>
        </p:txBody>
      </p:sp>
      <p:sp>
        <p:nvSpPr>
          <p:cNvPr id="292" name="bg object 292"/>
          <p:cNvSpPr/>
          <p:nvPr/>
        </p:nvSpPr>
        <p:spPr>
          <a:xfrm>
            <a:off x="15036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1218E"/>
          </a:solidFill>
        </p:spPr>
        <p:txBody>
          <a:bodyPr wrap="square" lIns="0" tIns="0" rIns="0" bIns="0" rtlCol="0"/>
          <a:lstStyle/>
          <a:p>
            <a:endParaRPr/>
          </a:p>
        </p:txBody>
      </p:sp>
      <p:sp>
        <p:nvSpPr>
          <p:cNvPr id="293" name="bg object 293"/>
          <p:cNvSpPr/>
          <p:nvPr/>
        </p:nvSpPr>
        <p:spPr>
          <a:xfrm>
            <a:off x="146939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0208D"/>
          </a:solidFill>
        </p:spPr>
        <p:txBody>
          <a:bodyPr wrap="square" lIns="0" tIns="0" rIns="0" bIns="0" rtlCol="0"/>
          <a:lstStyle/>
          <a:p>
            <a:endParaRPr/>
          </a:p>
        </p:txBody>
      </p:sp>
      <p:sp>
        <p:nvSpPr>
          <p:cNvPr id="294" name="bg object 294"/>
          <p:cNvSpPr/>
          <p:nvPr/>
        </p:nvSpPr>
        <p:spPr>
          <a:xfrm>
            <a:off x="14350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F1F8D"/>
          </a:solidFill>
        </p:spPr>
        <p:txBody>
          <a:bodyPr wrap="square" lIns="0" tIns="0" rIns="0" bIns="0" rtlCol="0"/>
          <a:lstStyle/>
          <a:p>
            <a:endParaRPr/>
          </a:p>
        </p:txBody>
      </p:sp>
      <p:sp>
        <p:nvSpPr>
          <p:cNvPr id="295" name="bg object 295"/>
          <p:cNvSpPr/>
          <p:nvPr/>
        </p:nvSpPr>
        <p:spPr>
          <a:xfrm>
            <a:off x="14008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E1E8C"/>
          </a:solidFill>
        </p:spPr>
        <p:txBody>
          <a:bodyPr wrap="square" lIns="0" tIns="0" rIns="0" bIns="0" rtlCol="0"/>
          <a:lstStyle/>
          <a:p>
            <a:endParaRPr/>
          </a:p>
        </p:txBody>
      </p:sp>
      <p:sp>
        <p:nvSpPr>
          <p:cNvPr id="296" name="bg object 296"/>
          <p:cNvSpPr/>
          <p:nvPr/>
        </p:nvSpPr>
        <p:spPr>
          <a:xfrm>
            <a:off x="13665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D1D8C"/>
          </a:solidFill>
        </p:spPr>
        <p:txBody>
          <a:bodyPr wrap="square" lIns="0" tIns="0" rIns="0" bIns="0" rtlCol="0"/>
          <a:lstStyle/>
          <a:p>
            <a:endParaRPr/>
          </a:p>
        </p:txBody>
      </p:sp>
      <p:sp>
        <p:nvSpPr>
          <p:cNvPr id="297" name="bg object 297"/>
          <p:cNvSpPr/>
          <p:nvPr/>
        </p:nvSpPr>
        <p:spPr>
          <a:xfrm>
            <a:off x="13322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C1C8B"/>
          </a:solidFill>
        </p:spPr>
        <p:txBody>
          <a:bodyPr wrap="square" lIns="0" tIns="0" rIns="0" bIns="0" rtlCol="0"/>
          <a:lstStyle/>
          <a:p>
            <a:endParaRPr/>
          </a:p>
        </p:txBody>
      </p:sp>
      <p:sp>
        <p:nvSpPr>
          <p:cNvPr id="298" name="bg object 298"/>
          <p:cNvSpPr/>
          <p:nvPr/>
        </p:nvSpPr>
        <p:spPr>
          <a:xfrm>
            <a:off x="12979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B1B8B"/>
          </a:solidFill>
        </p:spPr>
        <p:txBody>
          <a:bodyPr wrap="square" lIns="0" tIns="0" rIns="0" bIns="0" rtlCol="0"/>
          <a:lstStyle/>
          <a:p>
            <a:endParaRPr/>
          </a:p>
        </p:txBody>
      </p:sp>
      <p:sp>
        <p:nvSpPr>
          <p:cNvPr id="299" name="bg object 299"/>
          <p:cNvSpPr/>
          <p:nvPr/>
        </p:nvSpPr>
        <p:spPr>
          <a:xfrm>
            <a:off x="12649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A1A8A"/>
          </a:solidFill>
        </p:spPr>
        <p:txBody>
          <a:bodyPr wrap="square" lIns="0" tIns="0" rIns="0" bIns="0" rtlCol="0"/>
          <a:lstStyle/>
          <a:p>
            <a:endParaRPr/>
          </a:p>
        </p:txBody>
      </p:sp>
      <p:sp>
        <p:nvSpPr>
          <p:cNvPr id="300" name="bg object 300"/>
          <p:cNvSpPr/>
          <p:nvPr/>
        </p:nvSpPr>
        <p:spPr>
          <a:xfrm>
            <a:off x="123062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19198A"/>
          </a:solidFill>
        </p:spPr>
        <p:txBody>
          <a:bodyPr wrap="square" lIns="0" tIns="0" rIns="0" bIns="0" rtlCol="0"/>
          <a:lstStyle/>
          <a:p>
            <a:endParaRPr/>
          </a:p>
        </p:txBody>
      </p:sp>
      <p:sp>
        <p:nvSpPr>
          <p:cNvPr id="301" name="bg object 301"/>
          <p:cNvSpPr/>
          <p:nvPr/>
        </p:nvSpPr>
        <p:spPr>
          <a:xfrm>
            <a:off x="11950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81889"/>
          </a:solidFill>
        </p:spPr>
        <p:txBody>
          <a:bodyPr wrap="square" lIns="0" tIns="0" rIns="0" bIns="0" rtlCol="0"/>
          <a:lstStyle/>
          <a:p>
            <a:endParaRPr/>
          </a:p>
        </p:txBody>
      </p:sp>
      <p:sp>
        <p:nvSpPr>
          <p:cNvPr id="302" name="bg object 302"/>
          <p:cNvSpPr/>
          <p:nvPr/>
        </p:nvSpPr>
        <p:spPr>
          <a:xfrm>
            <a:off x="11607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71789"/>
          </a:solidFill>
        </p:spPr>
        <p:txBody>
          <a:bodyPr wrap="square" lIns="0" tIns="0" rIns="0" bIns="0" rtlCol="0"/>
          <a:lstStyle/>
          <a:p>
            <a:endParaRPr/>
          </a:p>
        </p:txBody>
      </p:sp>
      <p:sp>
        <p:nvSpPr>
          <p:cNvPr id="303" name="bg object 303"/>
          <p:cNvSpPr/>
          <p:nvPr/>
        </p:nvSpPr>
        <p:spPr>
          <a:xfrm>
            <a:off x="112776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61688"/>
          </a:solidFill>
        </p:spPr>
        <p:txBody>
          <a:bodyPr wrap="square" lIns="0" tIns="0" rIns="0" bIns="0" rtlCol="0"/>
          <a:lstStyle/>
          <a:p>
            <a:endParaRPr/>
          </a:p>
        </p:txBody>
      </p:sp>
      <p:sp>
        <p:nvSpPr>
          <p:cNvPr id="304" name="bg object 304"/>
          <p:cNvSpPr/>
          <p:nvPr/>
        </p:nvSpPr>
        <p:spPr>
          <a:xfrm>
            <a:off x="109346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51588"/>
          </a:solidFill>
        </p:spPr>
        <p:txBody>
          <a:bodyPr wrap="square" lIns="0" tIns="0" rIns="0" bIns="0" rtlCol="0"/>
          <a:lstStyle/>
          <a:p>
            <a:endParaRPr/>
          </a:p>
        </p:txBody>
      </p:sp>
      <p:sp>
        <p:nvSpPr>
          <p:cNvPr id="305" name="bg object 305"/>
          <p:cNvSpPr/>
          <p:nvPr/>
        </p:nvSpPr>
        <p:spPr>
          <a:xfrm>
            <a:off x="105917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141487"/>
          </a:solidFill>
        </p:spPr>
        <p:txBody>
          <a:bodyPr wrap="square" lIns="0" tIns="0" rIns="0" bIns="0" rtlCol="0"/>
          <a:lstStyle/>
          <a:p>
            <a:endParaRPr/>
          </a:p>
        </p:txBody>
      </p:sp>
      <p:sp>
        <p:nvSpPr>
          <p:cNvPr id="306" name="bg object 306"/>
          <p:cNvSpPr/>
          <p:nvPr/>
        </p:nvSpPr>
        <p:spPr>
          <a:xfrm>
            <a:off x="1024890"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131387"/>
          </a:solidFill>
        </p:spPr>
        <p:txBody>
          <a:bodyPr wrap="square" lIns="0" tIns="0" rIns="0" bIns="0" rtlCol="0"/>
          <a:lstStyle/>
          <a:p>
            <a:endParaRPr/>
          </a:p>
        </p:txBody>
      </p:sp>
      <p:sp>
        <p:nvSpPr>
          <p:cNvPr id="307" name="bg object 307"/>
          <p:cNvSpPr/>
          <p:nvPr/>
        </p:nvSpPr>
        <p:spPr>
          <a:xfrm>
            <a:off x="99059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21286"/>
          </a:solidFill>
        </p:spPr>
        <p:txBody>
          <a:bodyPr wrap="square" lIns="0" tIns="0" rIns="0" bIns="0" rtlCol="0"/>
          <a:lstStyle/>
          <a:p>
            <a:endParaRPr/>
          </a:p>
        </p:txBody>
      </p:sp>
      <p:sp>
        <p:nvSpPr>
          <p:cNvPr id="308" name="bg object 308"/>
          <p:cNvSpPr/>
          <p:nvPr/>
        </p:nvSpPr>
        <p:spPr>
          <a:xfrm>
            <a:off x="95631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11186"/>
          </a:solidFill>
        </p:spPr>
        <p:txBody>
          <a:bodyPr wrap="square" lIns="0" tIns="0" rIns="0" bIns="0" rtlCol="0"/>
          <a:lstStyle/>
          <a:p>
            <a:endParaRPr/>
          </a:p>
        </p:txBody>
      </p:sp>
      <p:sp>
        <p:nvSpPr>
          <p:cNvPr id="309" name="bg object 309"/>
          <p:cNvSpPr/>
          <p:nvPr/>
        </p:nvSpPr>
        <p:spPr>
          <a:xfrm>
            <a:off x="92202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01085"/>
          </a:solidFill>
        </p:spPr>
        <p:txBody>
          <a:bodyPr wrap="square" lIns="0" tIns="0" rIns="0" bIns="0" rtlCol="0"/>
          <a:lstStyle/>
          <a:p>
            <a:endParaRPr/>
          </a:p>
        </p:txBody>
      </p:sp>
      <p:sp>
        <p:nvSpPr>
          <p:cNvPr id="310" name="bg object 310"/>
          <p:cNvSpPr/>
          <p:nvPr/>
        </p:nvSpPr>
        <p:spPr>
          <a:xfrm>
            <a:off x="88772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0F0F85"/>
          </a:solidFill>
        </p:spPr>
        <p:txBody>
          <a:bodyPr wrap="square" lIns="0" tIns="0" rIns="0" bIns="0" rtlCol="0"/>
          <a:lstStyle/>
          <a:p>
            <a:endParaRPr/>
          </a:p>
        </p:txBody>
      </p:sp>
      <p:sp>
        <p:nvSpPr>
          <p:cNvPr id="311" name="bg object 311"/>
          <p:cNvSpPr/>
          <p:nvPr/>
        </p:nvSpPr>
        <p:spPr>
          <a:xfrm>
            <a:off x="85343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0E0E84"/>
          </a:solidFill>
        </p:spPr>
        <p:txBody>
          <a:bodyPr wrap="square" lIns="0" tIns="0" rIns="0" bIns="0" rtlCol="0"/>
          <a:lstStyle/>
          <a:p>
            <a:endParaRPr/>
          </a:p>
        </p:txBody>
      </p:sp>
      <p:sp>
        <p:nvSpPr>
          <p:cNvPr id="312" name="bg object 312"/>
          <p:cNvSpPr/>
          <p:nvPr/>
        </p:nvSpPr>
        <p:spPr>
          <a:xfrm>
            <a:off x="81914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0D0D84"/>
          </a:solidFill>
        </p:spPr>
        <p:txBody>
          <a:bodyPr wrap="square" lIns="0" tIns="0" rIns="0" bIns="0" rtlCol="0"/>
          <a:lstStyle/>
          <a:p>
            <a:endParaRPr/>
          </a:p>
        </p:txBody>
      </p:sp>
      <p:sp>
        <p:nvSpPr>
          <p:cNvPr id="313" name="bg object 313"/>
          <p:cNvSpPr/>
          <p:nvPr/>
        </p:nvSpPr>
        <p:spPr>
          <a:xfrm>
            <a:off x="78486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0C0C83"/>
          </a:solidFill>
        </p:spPr>
        <p:txBody>
          <a:bodyPr wrap="square" lIns="0" tIns="0" rIns="0" bIns="0" rtlCol="0"/>
          <a:lstStyle/>
          <a:p>
            <a:endParaRPr/>
          </a:p>
        </p:txBody>
      </p:sp>
      <p:sp>
        <p:nvSpPr>
          <p:cNvPr id="314" name="bg object 314"/>
          <p:cNvSpPr/>
          <p:nvPr/>
        </p:nvSpPr>
        <p:spPr>
          <a:xfrm>
            <a:off x="7505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0B0B83"/>
          </a:solidFill>
        </p:spPr>
        <p:txBody>
          <a:bodyPr wrap="square" lIns="0" tIns="0" rIns="0" bIns="0" rtlCol="0"/>
          <a:lstStyle/>
          <a:p>
            <a:endParaRPr/>
          </a:p>
        </p:txBody>
      </p:sp>
      <p:sp>
        <p:nvSpPr>
          <p:cNvPr id="315" name="bg object 315"/>
          <p:cNvSpPr/>
          <p:nvPr/>
        </p:nvSpPr>
        <p:spPr>
          <a:xfrm>
            <a:off x="7162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0A0A82"/>
          </a:solidFill>
        </p:spPr>
        <p:txBody>
          <a:bodyPr wrap="square" lIns="0" tIns="0" rIns="0" bIns="0" rtlCol="0"/>
          <a:lstStyle/>
          <a:p>
            <a:endParaRPr/>
          </a:p>
        </p:txBody>
      </p:sp>
      <p:sp>
        <p:nvSpPr>
          <p:cNvPr id="316" name="bg object 316"/>
          <p:cNvSpPr/>
          <p:nvPr/>
        </p:nvSpPr>
        <p:spPr>
          <a:xfrm>
            <a:off x="681990" y="133349"/>
            <a:ext cx="38100" cy="276860"/>
          </a:xfrm>
          <a:custGeom>
            <a:avLst/>
            <a:gdLst/>
            <a:ahLst/>
            <a:cxnLst/>
            <a:rect l="l" t="t" r="r" b="b"/>
            <a:pathLst>
              <a:path w="38100" h="276859">
                <a:moveTo>
                  <a:pt x="38100" y="0"/>
                </a:moveTo>
                <a:lnTo>
                  <a:pt x="0" y="0"/>
                </a:lnTo>
                <a:lnTo>
                  <a:pt x="0" y="1270"/>
                </a:lnTo>
                <a:lnTo>
                  <a:pt x="0" y="5080"/>
                </a:lnTo>
                <a:lnTo>
                  <a:pt x="0" y="142252"/>
                </a:lnTo>
                <a:lnTo>
                  <a:pt x="0" y="276860"/>
                </a:lnTo>
                <a:lnTo>
                  <a:pt x="38100" y="276860"/>
                </a:lnTo>
                <a:lnTo>
                  <a:pt x="38100" y="142252"/>
                </a:lnTo>
                <a:lnTo>
                  <a:pt x="38100" y="5080"/>
                </a:lnTo>
                <a:lnTo>
                  <a:pt x="38100" y="1270"/>
                </a:lnTo>
                <a:lnTo>
                  <a:pt x="38100" y="0"/>
                </a:lnTo>
                <a:close/>
              </a:path>
            </a:pathLst>
          </a:custGeom>
          <a:solidFill>
            <a:srgbClr val="090982"/>
          </a:solidFill>
        </p:spPr>
        <p:txBody>
          <a:bodyPr wrap="square" lIns="0" tIns="0" rIns="0" bIns="0" rtlCol="0"/>
          <a:lstStyle/>
          <a:p>
            <a:endParaRPr/>
          </a:p>
        </p:txBody>
      </p:sp>
      <p:sp>
        <p:nvSpPr>
          <p:cNvPr id="317" name="bg object 317"/>
          <p:cNvSpPr/>
          <p:nvPr/>
        </p:nvSpPr>
        <p:spPr>
          <a:xfrm>
            <a:off x="647699" y="275590"/>
            <a:ext cx="38100" cy="134620"/>
          </a:xfrm>
          <a:custGeom>
            <a:avLst/>
            <a:gdLst/>
            <a:ahLst/>
            <a:cxnLst/>
            <a:rect l="l" t="t" r="r" b="b"/>
            <a:pathLst>
              <a:path w="38100" h="134620">
                <a:moveTo>
                  <a:pt x="0" y="134619"/>
                </a:moveTo>
                <a:lnTo>
                  <a:pt x="38100" y="134619"/>
                </a:lnTo>
                <a:lnTo>
                  <a:pt x="38100" y="0"/>
                </a:lnTo>
                <a:lnTo>
                  <a:pt x="0" y="0"/>
                </a:lnTo>
                <a:lnTo>
                  <a:pt x="0" y="134619"/>
                </a:lnTo>
                <a:close/>
              </a:path>
            </a:pathLst>
          </a:custGeom>
          <a:solidFill>
            <a:srgbClr val="080881"/>
          </a:solidFill>
        </p:spPr>
        <p:txBody>
          <a:bodyPr wrap="square" lIns="0" tIns="0" rIns="0" bIns="0" rtlCol="0"/>
          <a:lstStyle/>
          <a:p>
            <a:endParaRPr/>
          </a:p>
        </p:txBody>
      </p:sp>
      <p:sp>
        <p:nvSpPr>
          <p:cNvPr id="318" name="bg object 318"/>
          <p:cNvSpPr/>
          <p:nvPr/>
        </p:nvSpPr>
        <p:spPr>
          <a:xfrm>
            <a:off x="613410" y="275590"/>
            <a:ext cx="38100" cy="134620"/>
          </a:xfrm>
          <a:custGeom>
            <a:avLst/>
            <a:gdLst/>
            <a:ahLst/>
            <a:cxnLst/>
            <a:rect l="l" t="t" r="r" b="b"/>
            <a:pathLst>
              <a:path w="38100" h="134620">
                <a:moveTo>
                  <a:pt x="0" y="134619"/>
                </a:moveTo>
                <a:lnTo>
                  <a:pt x="38100" y="134619"/>
                </a:lnTo>
                <a:lnTo>
                  <a:pt x="38100" y="0"/>
                </a:lnTo>
                <a:lnTo>
                  <a:pt x="0" y="0"/>
                </a:lnTo>
                <a:lnTo>
                  <a:pt x="0" y="134619"/>
                </a:lnTo>
                <a:close/>
              </a:path>
            </a:pathLst>
          </a:custGeom>
          <a:solidFill>
            <a:srgbClr val="070781"/>
          </a:solidFill>
        </p:spPr>
        <p:txBody>
          <a:bodyPr wrap="square" lIns="0" tIns="0" rIns="0" bIns="0" rtlCol="0"/>
          <a:lstStyle/>
          <a:p>
            <a:endParaRPr/>
          </a:p>
        </p:txBody>
      </p:sp>
      <p:sp>
        <p:nvSpPr>
          <p:cNvPr id="319" name="bg object 319"/>
          <p:cNvSpPr/>
          <p:nvPr/>
        </p:nvSpPr>
        <p:spPr>
          <a:xfrm>
            <a:off x="579120" y="275590"/>
            <a:ext cx="38100" cy="134620"/>
          </a:xfrm>
          <a:custGeom>
            <a:avLst/>
            <a:gdLst/>
            <a:ahLst/>
            <a:cxnLst/>
            <a:rect l="l" t="t" r="r" b="b"/>
            <a:pathLst>
              <a:path w="38100" h="134620">
                <a:moveTo>
                  <a:pt x="0" y="134619"/>
                </a:moveTo>
                <a:lnTo>
                  <a:pt x="38100" y="134619"/>
                </a:lnTo>
                <a:lnTo>
                  <a:pt x="38100" y="0"/>
                </a:lnTo>
                <a:lnTo>
                  <a:pt x="0" y="0"/>
                </a:lnTo>
                <a:lnTo>
                  <a:pt x="0" y="134619"/>
                </a:lnTo>
                <a:close/>
              </a:path>
            </a:pathLst>
          </a:custGeom>
          <a:solidFill>
            <a:srgbClr val="060680"/>
          </a:solidFill>
        </p:spPr>
        <p:txBody>
          <a:bodyPr wrap="square" lIns="0" tIns="0" rIns="0" bIns="0" rtlCol="0"/>
          <a:lstStyle/>
          <a:p>
            <a:endParaRPr/>
          </a:p>
        </p:txBody>
      </p:sp>
      <p:sp>
        <p:nvSpPr>
          <p:cNvPr id="320" name="bg object 320"/>
          <p:cNvSpPr/>
          <p:nvPr/>
        </p:nvSpPr>
        <p:spPr>
          <a:xfrm>
            <a:off x="544830" y="133349"/>
            <a:ext cx="38100" cy="276860"/>
          </a:xfrm>
          <a:custGeom>
            <a:avLst/>
            <a:gdLst/>
            <a:ahLst/>
            <a:cxnLst/>
            <a:rect l="l" t="t" r="r" b="b"/>
            <a:pathLst>
              <a:path w="38100" h="276859">
                <a:moveTo>
                  <a:pt x="38100" y="0"/>
                </a:moveTo>
                <a:lnTo>
                  <a:pt x="0" y="0"/>
                </a:lnTo>
                <a:lnTo>
                  <a:pt x="0" y="1270"/>
                </a:lnTo>
                <a:lnTo>
                  <a:pt x="0" y="5080"/>
                </a:lnTo>
                <a:lnTo>
                  <a:pt x="0" y="138430"/>
                </a:lnTo>
                <a:lnTo>
                  <a:pt x="0" y="142252"/>
                </a:lnTo>
                <a:lnTo>
                  <a:pt x="2540" y="142252"/>
                </a:lnTo>
                <a:lnTo>
                  <a:pt x="2540" y="276860"/>
                </a:lnTo>
                <a:lnTo>
                  <a:pt x="38100" y="276860"/>
                </a:lnTo>
                <a:lnTo>
                  <a:pt x="38100" y="142252"/>
                </a:lnTo>
                <a:lnTo>
                  <a:pt x="38100" y="138430"/>
                </a:lnTo>
                <a:lnTo>
                  <a:pt x="38100" y="5080"/>
                </a:lnTo>
                <a:lnTo>
                  <a:pt x="38100" y="1270"/>
                </a:lnTo>
                <a:lnTo>
                  <a:pt x="38100" y="0"/>
                </a:lnTo>
                <a:close/>
              </a:path>
            </a:pathLst>
          </a:custGeom>
          <a:solidFill>
            <a:srgbClr val="050580"/>
          </a:solidFill>
        </p:spPr>
        <p:txBody>
          <a:bodyPr wrap="square" lIns="0" tIns="0" rIns="0" bIns="0" rtlCol="0"/>
          <a:lstStyle/>
          <a:p>
            <a:endParaRPr/>
          </a:p>
        </p:txBody>
      </p:sp>
      <p:sp>
        <p:nvSpPr>
          <p:cNvPr id="321" name="bg object 321"/>
          <p:cNvSpPr/>
          <p:nvPr/>
        </p:nvSpPr>
        <p:spPr>
          <a:xfrm>
            <a:off x="510540" y="133349"/>
            <a:ext cx="38100" cy="276860"/>
          </a:xfrm>
          <a:custGeom>
            <a:avLst/>
            <a:gdLst/>
            <a:ahLst/>
            <a:cxnLst/>
            <a:rect l="l" t="t" r="r" b="b"/>
            <a:pathLst>
              <a:path w="38100" h="276859">
                <a:moveTo>
                  <a:pt x="38100" y="0"/>
                </a:moveTo>
                <a:lnTo>
                  <a:pt x="0" y="0"/>
                </a:lnTo>
                <a:lnTo>
                  <a:pt x="0" y="1270"/>
                </a:lnTo>
                <a:lnTo>
                  <a:pt x="0" y="5080"/>
                </a:lnTo>
                <a:lnTo>
                  <a:pt x="0" y="138430"/>
                </a:lnTo>
                <a:lnTo>
                  <a:pt x="0" y="142252"/>
                </a:lnTo>
                <a:lnTo>
                  <a:pt x="36830" y="142252"/>
                </a:lnTo>
                <a:lnTo>
                  <a:pt x="36830" y="276860"/>
                </a:lnTo>
                <a:lnTo>
                  <a:pt x="38100" y="276860"/>
                </a:lnTo>
                <a:lnTo>
                  <a:pt x="38100" y="142252"/>
                </a:lnTo>
                <a:lnTo>
                  <a:pt x="38100" y="138430"/>
                </a:lnTo>
                <a:lnTo>
                  <a:pt x="38100" y="5080"/>
                </a:lnTo>
                <a:lnTo>
                  <a:pt x="38100" y="1270"/>
                </a:lnTo>
                <a:lnTo>
                  <a:pt x="38100" y="0"/>
                </a:lnTo>
                <a:close/>
              </a:path>
            </a:pathLst>
          </a:custGeom>
          <a:solidFill>
            <a:srgbClr val="04047F"/>
          </a:solidFill>
        </p:spPr>
        <p:txBody>
          <a:bodyPr wrap="square" lIns="0" tIns="0" rIns="0" bIns="0" rtlCol="0"/>
          <a:lstStyle/>
          <a:p>
            <a:endParaRPr/>
          </a:p>
        </p:txBody>
      </p:sp>
      <p:sp>
        <p:nvSpPr>
          <p:cNvPr id="322" name="bg object 322"/>
          <p:cNvSpPr/>
          <p:nvPr/>
        </p:nvSpPr>
        <p:spPr>
          <a:xfrm>
            <a:off x="476250" y="133350"/>
            <a:ext cx="38100" cy="1270"/>
          </a:xfrm>
          <a:custGeom>
            <a:avLst/>
            <a:gdLst/>
            <a:ahLst/>
            <a:cxnLst/>
            <a:rect l="l" t="t" r="r" b="b"/>
            <a:pathLst>
              <a:path w="38100" h="1269">
                <a:moveTo>
                  <a:pt x="0" y="1270"/>
                </a:moveTo>
                <a:lnTo>
                  <a:pt x="38100" y="1270"/>
                </a:lnTo>
                <a:lnTo>
                  <a:pt x="38100" y="0"/>
                </a:lnTo>
                <a:lnTo>
                  <a:pt x="0" y="0"/>
                </a:lnTo>
                <a:lnTo>
                  <a:pt x="0" y="1270"/>
                </a:lnTo>
                <a:close/>
              </a:path>
            </a:pathLst>
          </a:custGeom>
          <a:solidFill>
            <a:srgbClr val="03037F"/>
          </a:solidFill>
        </p:spPr>
        <p:txBody>
          <a:bodyPr wrap="square" lIns="0" tIns="0" rIns="0" bIns="0" rtlCol="0"/>
          <a:lstStyle/>
          <a:p>
            <a:endParaRPr/>
          </a:p>
        </p:txBody>
      </p:sp>
      <p:sp>
        <p:nvSpPr>
          <p:cNvPr id="323" name="bg object 323"/>
          <p:cNvSpPr/>
          <p:nvPr/>
        </p:nvSpPr>
        <p:spPr>
          <a:xfrm>
            <a:off x="441959" y="133350"/>
            <a:ext cx="38100" cy="1270"/>
          </a:xfrm>
          <a:custGeom>
            <a:avLst/>
            <a:gdLst/>
            <a:ahLst/>
            <a:cxnLst/>
            <a:rect l="l" t="t" r="r" b="b"/>
            <a:pathLst>
              <a:path w="38100" h="1269">
                <a:moveTo>
                  <a:pt x="0" y="1270"/>
                </a:moveTo>
                <a:lnTo>
                  <a:pt x="38100" y="1270"/>
                </a:lnTo>
                <a:lnTo>
                  <a:pt x="38100" y="0"/>
                </a:lnTo>
                <a:lnTo>
                  <a:pt x="0" y="0"/>
                </a:lnTo>
                <a:lnTo>
                  <a:pt x="0" y="1270"/>
                </a:lnTo>
                <a:close/>
              </a:path>
            </a:pathLst>
          </a:custGeom>
          <a:solidFill>
            <a:srgbClr val="02027E"/>
          </a:solidFill>
        </p:spPr>
        <p:txBody>
          <a:bodyPr wrap="square" lIns="0" tIns="0" rIns="0" bIns="0" rtlCol="0"/>
          <a:lstStyle/>
          <a:p>
            <a:endParaRPr/>
          </a:p>
        </p:txBody>
      </p:sp>
      <p:sp>
        <p:nvSpPr>
          <p:cNvPr id="324" name="bg object 324"/>
          <p:cNvSpPr/>
          <p:nvPr/>
        </p:nvSpPr>
        <p:spPr>
          <a:xfrm>
            <a:off x="408940" y="0"/>
            <a:ext cx="278130" cy="271780"/>
          </a:xfrm>
          <a:custGeom>
            <a:avLst/>
            <a:gdLst/>
            <a:ahLst/>
            <a:cxnLst/>
            <a:rect l="l" t="t" r="r" b="b"/>
            <a:pathLst>
              <a:path w="278130" h="271780">
                <a:moveTo>
                  <a:pt x="138430" y="134620"/>
                </a:moveTo>
                <a:lnTo>
                  <a:pt x="0" y="134620"/>
                </a:lnTo>
                <a:lnTo>
                  <a:pt x="0" y="271780"/>
                </a:lnTo>
                <a:lnTo>
                  <a:pt x="138430" y="271780"/>
                </a:lnTo>
                <a:lnTo>
                  <a:pt x="138430" y="134620"/>
                </a:lnTo>
                <a:close/>
              </a:path>
              <a:path w="278130" h="271780">
                <a:moveTo>
                  <a:pt x="278130" y="0"/>
                </a:moveTo>
                <a:lnTo>
                  <a:pt x="138430" y="0"/>
                </a:lnTo>
                <a:lnTo>
                  <a:pt x="138430" y="134620"/>
                </a:lnTo>
                <a:lnTo>
                  <a:pt x="278130" y="134620"/>
                </a:lnTo>
                <a:lnTo>
                  <a:pt x="278130" y="0"/>
                </a:lnTo>
                <a:close/>
              </a:path>
            </a:pathLst>
          </a:custGeom>
          <a:solidFill>
            <a:srgbClr val="CCCCE5"/>
          </a:solidFill>
        </p:spPr>
        <p:txBody>
          <a:bodyPr wrap="square" lIns="0" tIns="0" rIns="0" bIns="0" rtlCol="0"/>
          <a:lstStyle/>
          <a:p>
            <a:endParaRPr/>
          </a:p>
        </p:txBody>
      </p:sp>
      <p:sp>
        <p:nvSpPr>
          <p:cNvPr id="325" name="bg object 325"/>
          <p:cNvSpPr/>
          <p:nvPr/>
        </p:nvSpPr>
        <p:spPr>
          <a:xfrm>
            <a:off x="547370" y="134620"/>
            <a:ext cx="139700" cy="140970"/>
          </a:xfrm>
          <a:custGeom>
            <a:avLst/>
            <a:gdLst/>
            <a:ahLst/>
            <a:cxnLst/>
            <a:rect l="l" t="t" r="r" b="b"/>
            <a:pathLst>
              <a:path w="139700" h="140970">
                <a:moveTo>
                  <a:pt x="139700" y="0"/>
                </a:moveTo>
                <a:lnTo>
                  <a:pt x="0" y="0"/>
                </a:lnTo>
                <a:lnTo>
                  <a:pt x="0" y="140970"/>
                </a:lnTo>
                <a:lnTo>
                  <a:pt x="139700" y="140970"/>
                </a:lnTo>
                <a:close/>
              </a:path>
            </a:pathLst>
          </a:custGeom>
          <a:solidFill>
            <a:srgbClr val="9999CC"/>
          </a:solidFill>
        </p:spPr>
        <p:txBody>
          <a:bodyPr wrap="square" lIns="0" tIns="0" rIns="0" bIns="0" rtlCol="0"/>
          <a:lstStyle/>
          <a:p>
            <a:endParaRPr/>
          </a:p>
        </p:txBody>
      </p:sp>
      <p:sp>
        <p:nvSpPr>
          <p:cNvPr id="326" name="bg object 326"/>
          <p:cNvSpPr/>
          <p:nvPr/>
        </p:nvSpPr>
        <p:spPr>
          <a:xfrm>
            <a:off x="274319" y="274320"/>
            <a:ext cx="135890" cy="134620"/>
          </a:xfrm>
          <a:custGeom>
            <a:avLst/>
            <a:gdLst/>
            <a:ahLst/>
            <a:cxnLst/>
            <a:rect l="l" t="t" r="r" b="b"/>
            <a:pathLst>
              <a:path w="135890" h="134620">
                <a:moveTo>
                  <a:pt x="0" y="134619"/>
                </a:moveTo>
                <a:lnTo>
                  <a:pt x="135889" y="134619"/>
                </a:lnTo>
                <a:lnTo>
                  <a:pt x="135889" y="0"/>
                </a:lnTo>
                <a:lnTo>
                  <a:pt x="0" y="0"/>
                </a:lnTo>
                <a:lnTo>
                  <a:pt x="0" y="134619"/>
                </a:lnTo>
                <a:close/>
              </a:path>
            </a:pathLst>
          </a:custGeom>
          <a:solidFill>
            <a:srgbClr val="CCCCE5"/>
          </a:solidFill>
        </p:spPr>
        <p:txBody>
          <a:bodyPr wrap="square" lIns="0" tIns="0" rIns="0" bIns="0" rtlCol="0"/>
          <a:lstStyle/>
          <a:p>
            <a:endParaRPr/>
          </a:p>
        </p:txBody>
      </p:sp>
      <p:sp>
        <p:nvSpPr>
          <p:cNvPr id="327" name="bg object 327"/>
          <p:cNvSpPr/>
          <p:nvPr/>
        </p:nvSpPr>
        <p:spPr>
          <a:xfrm>
            <a:off x="132079" y="135889"/>
            <a:ext cx="140970" cy="138430"/>
          </a:xfrm>
          <a:custGeom>
            <a:avLst/>
            <a:gdLst/>
            <a:ahLst/>
            <a:cxnLst/>
            <a:rect l="l" t="t" r="r" b="b"/>
            <a:pathLst>
              <a:path w="140970" h="138429">
                <a:moveTo>
                  <a:pt x="140970" y="0"/>
                </a:moveTo>
                <a:lnTo>
                  <a:pt x="0" y="0"/>
                </a:lnTo>
                <a:lnTo>
                  <a:pt x="0" y="138429"/>
                </a:lnTo>
                <a:lnTo>
                  <a:pt x="140970" y="138429"/>
                </a:lnTo>
                <a:close/>
              </a:path>
            </a:pathLst>
          </a:custGeom>
          <a:solidFill>
            <a:srgbClr val="00007C"/>
          </a:solidFill>
        </p:spPr>
        <p:txBody>
          <a:bodyPr wrap="square" lIns="0" tIns="0" rIns="0" bIns="0" rtlCol="0"/>
          <a:lstStyle/>
          <a:p>
            <a:endParaRPr/>
          </a:p>
        </p:txBody>
      </p:sp>
      <p:sp>
        <p:nvSpPr>
          <p:cNvPr id="328" name="bg object 328"/>
          <p:cNvSpPr/>
          <p:nvPr/>
        </p:nvSpPr>
        <p:spPr>
          <a:xfrm>
            <a:off x="274320" y="271779"/>
            <a:ext cx="273050" cy="274320"/>
          </a:xfrm>
          <a:custGeom>
            <a:avLst/>
            <a:gdLst/>
            <a:ahLst/>
            <a:cxnLst/>
            <a:rect l="l" t="t" r="r" b="b"/>
            <a:pathLst>
              <a:path w="273050" h="274320">
                <a:moveTo>
                  <a:pt x="273050" y="0"/>
                </a:moveTo>
                <a:lnTo>
                  <a:pt x="134620" y="0"/>
                </a:lnTo>
                <a:lnTo>
                  <a:pt x="134620" y="137160"/>
                </a:lnTo>
                <a:lnTo>
                  <a:pt x="0" y="137160"/>
                </a:lnTo>
                <a:lnTo>
                  <a:pt x="0" y="274320"/>
                </a:lnTo>
                <a:lnTo>
                  <a:pt x="135877" y="274320"/>
                </a:lnTo>
                <a:lnTo>
                  <a:pt x="135877" y="138430"/>
                </a:lnTo>
                <a:lnTo>
                  <a:pt x="273050" y="138430"/>
                </a:lnTo>
                <a:lnTo>
                  <a:pt x="273050" y="0"/>
                </a:lnTo>
                <a:close/>
              </a:path>
            </a:pathLst>
          </a:custGeom>
          <a:solidFill>
            <a:srgbClr val="9999CC"/>
          </a:solidFill>
        </p:spPr>
        <p:txBody>
          <a:bodyPr wrap="square" lIns="0" tIns="0" rIns="0" bIns="0" rtlCol="0"/>
          <a:lstStyle/>
          <a:p>
            <a:endParaRPr/>
          </a:p>
        </p:txBody>
      </p:sp>
      <p:sp>
        <p:nvSpPr>
          <p:cNvPr id="2" name="Holder 2"/>
          <p:cNvSpPr>
            <a:spLocks noGrp="1"/>
          </p:cNvSpPr>
          <p:nvPr>
            <p:ph type="title"/>
          </p:nvPr>
        </p:nvSpPr>
        <p:spPr>
          <a:xfrm>
            <a:off x="1193800" y="643890"/>
            <a:ext cx="7200900" cy="513080"/>
          </a:xfrm>
          <a:prstGeom prst="rect">
            <a:avLst/>
          </a:prstGeom>
        </p:spPr>
        <p:txBody>
          <a:bodyPr wrap="square" lIns="0" tIns="0" rIns="0" bIns="0">
            <a:spAutoFit/>
          </a:bodyPr>
          <a:lstStyle>
            <a:lvl1pPr>
              <a:defRPr sz="3200" b="0" i="0">
                <a:solidFill>
                  <a:schemeClr val="tx1"/>
                </a:solidFill>
                <a:latin typeface="Arial"/>
                <a:cs typeface="Arial"/>
              </a:defRPr>
            </a:lvl1pPr>
          </a:lstStyle>
          <a:p>
            <a:endParaRPr/>
          </a:p>
        </p:txBody>
      </p:sp>
      <p:sp>
        <p:nvSpPr>
          <p:cNvPr id="3" name="Holder 3"/>
          <p:cNvSpPr>
            <a:spLocks noGrp="1"/>
          </p:cNvSpPr>
          <p:nvPr>
            <p:ph type="body" idx="1"/>
          </p:nvPr>
        </p:nvSpPr>
        <p:spPr>
          <a:xfrm>
            <a:off x="534669" y="2814320"/>
            <a:ext cx="8037195" cy="1859279"/>
          </a:xfrm>
          <a:prstGeom prst="rect">
            <a:avLst/>
          </a:prstGeom>
        </p:spPr>
        <p:txBody>
          <a:bodyPr wrap="square" lIns="0" tIns="0" rIns="0" bIns="0">
            <a:spAutoFit/>
          </a:bodyPr>
          <a:lstStyle>
            <a:lvl1pPr>
              <a:defRPr sz="2000" b="1"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8/23/2022</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224529" y="4224020"/>
            <a:ext cx="74930" cy="2635250"/>
          </a:xfrm>
          <a:custGeom>
            <a:avLst/>
            <a:gdLst/>
            <a:ahLst/>
            <a:cxnLst/>
            <a:rect l="l" t="t" r="r" b="b"/>
            <a:pathLst>
              <a:path w="74929" h="2635250">
                <a:moveTo>
                  <a:pt x="0" y="2635249"/>
                </a:moveTo>
                <a:lnTo>
                  <a:pt x="74930" y="2635249"/>
                </a:lnTo>
                <a:lnTo>
                  <a:pt x="74930" y="0"/>
                </a:lnTo>
                <a:lnTo>
                  <a:pt x="0" y="0"/>
                </a:lnTo>
                <a:lnTo>
                  <a:pt x="0" y="2635249"/>
                </a:lnTo>
                <a:close/>
              </a:path>
            </a:pathLst>
          </a:custGeom>
          <a:solidFill>
            <a:srgbClr val="FCFCFD"/>
          </a:solidFill>
        </p:spPr>
        <p:txBody>
          <a:bodyPr wrap="square" lIns="0" tIns="0" rIns="0" bIns="0" rtlCol="0"/>
          <a:lstStyle/>
          <a:p>
            <a:endParaRPr/>
          </a:p>
        </p:txBody>
      </p:sp>
      <p:sp>
        <p:nvSpPr>
          <p:cNvPr id="3" name="object 3"/>
          <p:cNvSpPr/>
          <p:nvPr/>
        </p:nvSpPr>
        <p:spPr>
          <a:xfrm>
            <a:off x="3224529" y="0"/>
            <a:ext cx="74930" cy="1691639"/>
          </a:xfrm>
          <a:custGeom>
            <a:avLst/>
            <a:gdLst/>
            <a:ahLst/>
            <a:cxnLst/>
            <a:rect l="l" t="t" r="r" b="b"/>
            <a:pathLst>
              <a:path w="74929" h="1691639">
                <a:moveTo>
                  <a:pt x="0" y="1691640"/>
                </a:moveTo>
                <a:lnTo>
                  <a:pt x="74930" y="1691640"/>
                </a:lnTo>
                <a:lnTo>
                  <a:pt x="74930" y="0"/>
                </a:lnTo>
                <a:lnTo>
                  <a:pt x="0" y="0"/>
                </a:lnTo>
                <a:lnTo>
                  <a:pt x="0" y="1691640"/>
                </a:lnTo>
                <a:close/>
              </a:path>
            </a:pathLst>
          </a:custGeom>
          <a:solidFill>
            <a:srgbClr val="FCFCFD"/>
          </a:solidFill>
        </p:spPr>
        <p:txBody>
          <a:bodyPr wrap="square" lIns="0" tIns="0" rIns="0" bIns="0" rtlCol="0"/>
          <a:lstStyle/>
          <a:p>
            <a:endParaRPr/>
          </a:p>
        </p:txBody>
      </p:sp>
      <p:sp>
        <p:nvSpPr>
          <p:cNvPr id="4" name="object 4"/>
          <p:cNvSpPr/>
          <p:nvPr/>
        </p:nvSpPr>
        <p:spPr>
          <a:xfrm>
            <a:off x="3155950"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FBFBFD"/>
          </a:solidFill>
        </p:spPr>
        <p:txBody>
          <a:bodyPr wrap="square" lIns="0" tIns="0" rIns="0" bIns="0" rtlCol="0"/>
          <a:lstStyle/>
          <a:p>
            <a:endParaRPr/>
          </a:p>
        </p:txBody>
      </p:sp>
      <p:sp>
        <p:nvSpPr>
          <p:cNvPr id="5" name="object 5"/>
          <p:cNvSpPr/>
          <p:nvPr/>
        </p:nvSpPr>
        <p:spPr>
          <a:xfrm>
            <a:off x="3155950" y="0"/>
            <a:ext cx="74930" cy="1691639"/>
          </a:xfrm>
          <a:custGeom>
            <a:avLst/>
            <a:gdLst/>
            <a:ahLst/>
            <a:cxnLst/>
            <a:rect l="l" t="t" r="r" b="b"/>
            <a:pathLst>
              <a:path w="74930" h="1691639">
                <a:moveTo>
                  <a:pt x="0" y="1691640"/>
                </a:moveTo>
                <a:lnTo>
                  <a:pt x="74930" y="1691640"/>
                </a:lnTo>
                <a:lnTo>
                  <a:pt x="74930" y="0"/>
                </a:lnTo>
                <a:lnTo>
                  <a:pt x="0" y="0"/>
                </a:lnTo>
                <a:lnTo>
                  <a:pt x="0" y="1691640"/>
                </a:lnTo>
                <a:close/>
              </a:path>
            </a:pathLst>
          </a:custGeom>
          <a:solidFill>
            <a:srgbClr val="FBFBFD"/>
          </a:solidFill>
        </p:spPr>
        <p:txBody>
          <a:bodyPr wrap="square" lIns="0" tIns="0" rIns="0" bIns="0" rtlCol="0"/>
          <a:lstStyle/>
          <a:p>
            <a:endParaRPr/>
          </a:p>
        </p:txBody>
      </p:sp>
      <p:sp>
        <p:nvSpPr>
          <p:cNvPr id="6" name="object 6"/>
          <p:cNvSpPr/>
          <p:nvPr/>
        </p:nvSpPr>
        <p:spPr>
          <a:xfrm>
            <a:off x="308610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FAFAFC"/>
          </a:solidFill>
        </p:spPr>
        <p:txBody>
          <a:bodyPr wrap="square" lIns="0" tIns="0" rIns="0" bIns="0" rtlCol="0"/>
          <a:lstStyle/>
          <a:p>
            <a:endParaRPr/>
          </a:p>
        </p:txBody>
      </p:sp>
      <p:sp>
        <p:nvSpPr>
          <p:cNvPr id="7" name="object 7"/>
          <p:cNvSpPr/>
          <p:nvPr/>
        </p:nvSpPr>
        <p:spPr>
          <a:xfrm>
            <a:off x="3086100"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FAFAFC"/>
          </a:solidFill>
        </p:spPr>
        <p:txBody>
          <a:bodyPr wrap="square" lIns="0" tIns="0" rIns="0" bIns="0" rtlCol="0"/>
          <a:lstStyle/>
          <a:p>
            <a:endParaRPr/>
          </a:p>
        </p:txBody>
      </p:sp>
      <p:sp>
        <p:nvSpPr>
          <p:cNvPr id="8" name="object 8"/>
          <p:cNvSpPr/>
          <p:nvPr/>
        </p:nvSpPr>
        <p:spPr>
          <a:xfrm>
            <a:off x="301752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F9F9FC"/>
          </a:solidFill>
        </p:spPr>
        <p:txBody>
          <a:bodyPr wrap="square" lIns="0" tIns="0" rIns="0" bIns="0" rtlCol="0"/>
          <a:lstStyle/>
          <a:p>
            <a:endParaRPr/>
          </a:p>
        </p:txBody>
      </p:sp>
      <p:sp>
        <p:nvSpPr>
          <p:cNvPr id="9" name="object 9"/>
          <p:cNvSpPr/>
          <p:nvPr/>
        </p:nvSpPr>
        <p:spPr>
          <a:xfrm>
            <a:off x="3017520"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F9F9FC"/>
          </a:solidFill>
        </p:spPr>
        <p:txBody>
          <a:bodyPr wrap="square" lIns="0" tIns="0" rIns="0" bIns="0" rtlCol="0"/>
          <a:lstStyle/>
          <a:p>
            <a:endParaRPr/>
          </a:p>
        </p:txBody>
      </p:sp>
      <p:sp>
        <p:nvSpPr>
          <p:cNvPr id="10" name="object 10"/>
          <p:cNvSpPr/>
          <p:nvPr/>
        </p:nvSpPr>
        <p:spPr>
          <a:xfrm>
            <a:off x="2948939"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F8F8FB"/>
          </a:solidFill>
        </p:spPr>
        <p:txBody>
          <a:bodyPr wrap="square" lIns="0" tIns="0" rIns="0" bIns="0" rtlCol="0"/>
          <a:lstStyle/>
          <a:p>
            <a:endParaRPr/>
          </a:p>
        </p:txBody>
      </p:sp>
      <p:sp>
        <p:nvSpPr>
          <p:cNvPr id="11" name="object 11"/>
          <p:cNvSpPr/>
          <p:nvPr/>
        </p:nvSpPr>
        <p:spPr>
          <a:xfrm>
            <a:off x="2948939"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F8F8FB"/>
          </a:solidFill>
        </p:spPr>
        <p:txBody>
          <a:bodyPr wrap="square" lIns="0" tIns="0" rIns="0" bIns="0" rtlCol="0"/>
          <a:lstStyle/>
          <a:p>
            <a:endParaRPr/>
          </a:p>
        </p:txBody>
      </p:sp>
      <p:sp>
        <p:nvSpPr>
          <p:cNvPr id="12" name="object 12"/>
          <p:cNvSpPr/>
          <p:nvPr/>
        </p:nvSpPr>
        <p:spPr>
          <a:xfrm>
            <a:off x="288036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F7F7FB"/>
          </a:solidFill>
        </p:spPr>
        <p:txBody>
          <a:bodyPr wrap="square" lIns="0" tIns="0" rIns="0" bIns="0" rtlCol="0"/>
          <a:lstStyle/>
          <a:p>
            <a:endParaRPr/>
          </a:p>
        </p:txBody>
      </p:sp>
      <p:sp>
        <p:nvSpPr>
          <p:cNvPr id="13" name="object 13"/>
          <p:cNvSpPr/>
          <p:nvPr/>
        </p:nvSpPr>
        <p:spPr>
          <a:xfrm>
            <a:off x="2880360"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F7F7FB"/>
          </a:solidFill>
        </p:spPr>
        <p:txBody>
          <a:bodyPr wrap="square" lIns="0" tIns="0" rIns="0" bIns="0" rtlCol="0"/>
          <a:lstStyle/>
          <a:p>
            <a:endParaRPr/>
          </a:p>
        </p:txBody>
      </p:sp>
      <p:sp>
        <p:nvSpPr>
          <p:cNvPr id="14" name="object 14"/>
          <p:cNvSpPr/>
          <p:nvPr/>
        </p:nvSpPr>
        <p:spPr>
          <a:xfrm>
            <a:off x="2811779"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F6F6FA"/>
          </a:solidFill>
        </p:spPr>
        <p:txBody>
          <a:bodyPr wrap="square" lIns="0" tIns="0" rIns="0" bIns="0" rtlCol="0"/>
          <a:lstStyle/>
          <a:p>
            <a:endParaRPr/>
          </a:p>
        </p:txBody>
      </p:sp>
      <p:sp>
        <p:nvSpPr>
          <p:cNvPr id="15" name="object 15"/>
          <p:cNvSpPr/>
          <p:nvPr/>
        </p:nvSpPr>
        <p:spPr>
          <a:xfrm>
            <a:off x="2811779" y="0"/>
            <a:ext cx="74930" cy="1691639"/>
          </a:xfrm>
          <a:custGeom>
            <a:avLst/>
            <a:gdLst/>
            <a:ahLst/>
            <a:cxnLst/>
            <a:rect l="l" t="t" r="r" b="b"/>
            <a:pathLst>
              <a:path w="74930" h="1691639">
                <a:moveTo>
                  <a:pt x="0" y="1691640"/>
                </a:moveTo>
                <a:lnTo>
                  <a:pt x="74930" y="1691640"/>
                </a:lnTo>
                <a:lnTo>
                  <a:pt x="74930" y="0"/>
                </a:lnTo>
                <a:lnTo>
                  <a:pt x="0" y="0"/>
                </a:lnTo>
                <a:lnTo>
                  <a:pt x="0" y="1691640"/>
                </a:lnTo>
                <a:close/>
              </a:path>
            </a:pathLst>
          </a:custGeom>
          <a:solidFill>
            <a:srgbClr val="F6F6FA"/>
          </a:solidFill>
        </p:spPr>
        <p:txBody>
          <a:bodyPr wrap="square" lIns="0" tIns="0" rIns="0" bIns="0" rtlCol="0"/>
          <a:lstStyle/>
          <a:p>
            <a:endParaRPr/>
          </a:p>
        </p:txBody>
      </p:sp>
      <p:sp>
        <p:nvSpPr>
          <p:cNvPr id="16" name="object 16"/>
          <p:cNvSpPr/>
          <p:nvPr/>
        </p:nvSpPr>
        <p:spPr>
          <a:xfrm>
            <a:off x="2743200"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F5F5FA"/>
          </a:solidFill>
        </p:spPr>
        <p:txBody>
          <a:bodyPr wrap="square" lIns="0" tIns="0" rIns="0" bIns="0" rtlCol="0"/>
          <a:lstStyle/>
          <a:p>
            <a:endParaRPr/>
          </a:p>
        </p:txBody>
      </p:sp>
      <p:sp>
        <p:nvSpPr>
          <p:cNvPr id="17" name="object 17"/>
          <p:cNvSpPr/>
          <p:nvPr/>
        </p:nvSpPr>
        <p:spPr>
          <a:xfrm>
            <a:off x="2743200" y="0"/>
            <a:ext cx="74930" cy="1068070"/>
          </a:xfrm>
          <a:custGeom>
            <a:avLst/>
            <a:gdLst/>
            <a:ahLst/>
            <a:cxnLst/>
            <a:rect l="l" t="t" r="r" b="b"/>
            <a:pathLst>
              <a:path w="74930" h="1068070">
                <a:moveTo>
                  <a:pt x="0" y="1068070"/>
                </a:moveTo>
                <a:lnTo>
                  <a:pt x="74930" y="1068070"/>
                </a:lnTo>
                <a:lnTo>
                  <a:pt x="74930" y="0"/>
                </a:lnTo>
                <a:lnTo>
                  <a:pt x="0" y="0"/>
                </a:lnTo>
                <a:lnTo>
                  <a:pt x="0" y="1068070"/>
                </a:lnTo>
                <a:close/>
              </a:path>
            </a:pathLst>
          </a:custGeom>
          <a:solidFill>
            <a:srgbClr val="F5F5FA"/>
          </a:solidFill>
        </p:spPr>
        <p:txBody>
          <a:bodyPr wrap="square" lIns="0" tIns="0" rIns="0" bIns="0" rtlCol="0"/>
          <a:lstStyle/>
          <a:p>
            <a:endParaRPr/>
          </a:p>
        </p:txBody>
      </p:sp>
      <p:sp>
        <p:nvSpPr>
          <p:cNvPr id="18" name="object 18"/>
          <p:cNvSpPr/>
          <p:nvPr/>
        </p:nvSpPr>
        <p:spPr>
          <a:xfrm>
            <a:off x="2674620"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F4F4F9"/>
          </a:solidFill>
        </p:spPr>
        <p:txBody>
          <a:bodyPr wrap="square" lIns="0" tIns="0" rIns="0" bIns="0" rtlCol="0"/>
          <a:lstStyle/>
          <a:p>
            <a:endParaRPr/>
          </a:p>
        </p:txBody>
      </p:sp>
      <p:sp>
        <p:nvSpPr>
          <p:cNvPr id="19" name="object 19"/>
          <p:cNvSpPr/>
          <p:nvPr/>
        </p:nvSpPr>
        <p:spPr>
          <a:xfrm>
            <a:off x="2674620" y="0"/>
            <a:ext cx="74930" cy="1068070"/>
          </a:xfrm>
          <a:custGeom>
            <a:avLst/>
            <a:gdLst/>
            <a:ahLst/>
            <a:cxnLst/>
            <a:rect l="l" t="t" r="r" b="b"/>
            <a:pathLst>
              <a:path w="74930" h="1068070">
                <a:moveTo>
                  <a:pt x="0" y="1068070"/>
                </a:moveTo>
                <a:lnTo>
                  <a:pt x="74930" y="1068070"/>
                </a:lnTo>
                <a:lnTo>
                  <a:pt x="74930" y="0"/>
                </a:lnTo>
                <a:lnTo>
                  <a:pt x="0" y="0"/>
                </a:lnTo>
                <a:lnTo>
                  <a:pt x="0" y="1068070"/>
                </a:lnTo>
                <a:close/>
              </a:path>
            </a:pathLst>
          </a:custGeom>
          <a:solidFill>
            <a:srgbClr val="F4F4F9"/>
          </a:solidFill>
        </p:spPr>
        <p:txBody>
          <a:bodyPr wrap="square" lIns="0" tIns="0" rIns="0" bIns="0" rtlCol="0"/>
          <a:lstStyle/>
          <a:p>
            <a:endParaRPr/>
          </a:p>
        </p:txBody>
      </p:sp>
      <p:sp>
        <p:nvSpPr>
          <p:cNvPr id="20" name="object 20"/>
          <p:cNvSpPr/>
          <p:nvPr/>
        </p:nvSpPr>
        <p:spPr>
          <a:xfrm>
            <a:off x="260477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F3F3F9"/>
          </a:solidFill>
        </p:spPr>
        <p:txBody>
          <a:bodyPr wrap="square" lIns="0" tIns="0" rIns="0" bIns="0" rtlCol="0"/>
          <a:lstStyle/>
          <a:p>
            <a:endParaRPr/>
          </a:p>
        </p:txBody>
      </p:sp>
      <p:sp>
        <p:nvSpPr>
          <p:cNvPr id="21" name="object 21"/>
          <p:cNvSpPr/>
          <p:nvPr/>
        </p:nvSpPr>
        <p:spPr>
          <a:xfrm>
            <a:off x="2604770" y="0"/>
            <a:ext cx="76200" cy="1068070"/>
          </a:xfrm>
          <a:custGeom>
            <a:avLst/>
            <a:gdLst/>
            <a:ahLst/>
            <a:cxnLst/>
            <a:rect l="l" t="t" r="r" b="b"/>
            <a:pathLst>
              <a:path w="76200" h="1068070">
                <a:moveTo>
                  <a:pt x="0" y="1068070"/>
                </a:moveTo>
                <a:lnTo>
                  <a:pt x="76200" y="1068070"/>
                </a:lnTo>
                <a:lnTo>
                  <a:pt x="76200" y="0"/>
                </a:lnTo>
                <a:lnTo>
                  <a:pt x="0" y="0"/>
                </a:lnTo>
                <a:lnTo>
                  <a:pt x="0" y="1068070"/>
                </a:lnTo>
                <a:close/>
              </a:path>
            </a:pathLst>
          </a:custGeom>
          <a:solidFill>
            <a:srgbClr val="F3F3F9"/>
          </a:solidFill>
        </p:spPr>
        <p:txBody>
          <a:bodyPr wrap="square" lIns="0" tIns="0" rIns="0" bIns="0" rtlCol="0"/>
          <a:lstStyle/>
          <a:p>
            <a:endParaRPr/>
          </a:p>
        </p:txBody>
      </p:sp>
      <p:sp>
        <p:nvSpPr>
          <p:cNvPr id="22" name="object 22"/>
          <p:cNvSpPr/>
          <p:nvPr/>
        </p:nvSpPr>
        <p:spPr>
          <a:xfrm>
            <a:off x="2536189"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F2F2F8"/>
          </a:solidFill>
        </p:spPr>
        <p:txBody>
          <a:bodyPr wrap="square" lIns="0" tIns="0" rIns="0" bIns="0" rtlCol="0"/>
          <a:lstStyle/>
          <a:p>
            <a:endParaRPr/>
          </a:p>
        </p:txBody>
      </p:sp>
      <p:sp>
        <p:nvSpPr>
          <p:cNvPr id="23" name="object 23"/>
          <p:cNvSpPr/>
          <p:nvPr/>
        </p:nvSpPr>
        <p:spPr>
          <a:xfrm>
            <a:off x="2536189" y="0"/>
            <a:ext cx="76200" cy="1068070"/>
          </a:xfrm>
          <a:custGeom>
            <a:avLst/>
            <a:gdLst/>
            <a:ahLst/>
            <a:cxnLst/>
            <a:rect l="l" t="t" r="r" b="b"/>
            <a:pathLst>
              <a:path w="76200" h="1068070">
                <a:moveTo>
                  <a:pt x="0" y="1068070"/>
                </a:moveTo>
                <a:lnTo>
                  <a:pt x="76200" y="1068070"/>
                </a:lnTo>
                <a:lnTo>
                  <a:pt x="76200" y="0"/>
                </a:lnTo>
                <a:lnTo>
                  <a:pt x="0" y="0"/>
                </a:lnTo>
                <a:lnTo>
                  <a:pt x="0" y="1068070"/>
                </a:lnTo>
                <a:close/>
              </a:path>
            </a:pathLst>
          </a:custGeom>
          <a:solidFill>
            <a:srgbClr val="F2F2F8"/>
          </a:solidFill>
        </p:spPr>
        <p:txBody>
          <a:bodyPr wrap="square" lIns="0" tIns="0" rIns="0" bIns="0" rtlCol="0"/>
          <a:lstStyle/>
          <a:p>
            <a:endParaRPr/>
          </a:p>
        </p:txBody>
      </p:sp>
      <p:sp>
        <p:nvSpPr>
          <p:cNvPr id="24" name="object 24"/>
          <p:cNvSpPr/>
          <p:nvPr/>
        </p:nvSpPr>
        <p:spPr>
          <a:xfrm>
            <a:off x="2467610" y="4224020"/>
            <a:ext cx="74930" cy="2635250"/>
          </a:xfrm>
          <a:custGeom>
            <a:avLst/>
            <a:gdLst/>
            <a:ahLst/>
            <a:cxnLst/>
            <a:rect l="l" t="t" r="r" b="b"/>
            <a:pathLst>
              <a:path w="74930" h="2635250">
                <a:moveTo>
                  <a:pt x="0" y="2635249"/>
                </a:moveTo>
                <a:lnTo>
                  <a:pt x="74929" y="2635249"/>
                </a:lnTo>
                <a:lnTo>
                  <a:pt x="74929" y="0"/>
                </a:lnTo>
                <a:lnTo>
                  <a:pt x="0" y="0"/>
                </a:lnTo>
                <a:lnTo>
                  <a:pt x="0" y="2635249"/>
                </a:lnTo>
                <a:close/>
              </a:path>
            </a:pathLst>
          </a:custGeom>
          <a:solidFill>
            <a:srgbClr val="F1F1F8"/>
          </a:solidFill>
        </p:spPr>
        <p:txBody>
          <a:bodyPr wrap="square" lIns="0" tIns="0" rIns="0" bIns="0" rtlCol="0"/>
          <a:lstStyle/>
          <a:p>
            <a:endParaRPr/>
          </a:p>
        </p:txBody>
      </p:sp>
      <p:sp>
        <p:nvSpPr>
          <p:cNvPr id="25" name="object 25"/>
          <p:cNvSpPr/>
          <p:nvPr/>
        </p:nvSpPr>
        <p:spPr>
          <a:xfrm>
            <a:off x="2467610" y="0"/>
            <a:ext cx="74930" cy="1068070"/>
          </a:xfrm>
          <a:custGeom>
            <a:avLst/>
            <a:gdLst/>
            <a:ahLst/>
            <a:cxnLst/>
            <a:rect l="l" t="t" r="r" b="b"/>
            <a:pathLst>
              <a:path w="74930" h="1068070">
                <a:moveTo>
                  <a:pt x="0" y="1068070"/>
                </a:moveTo>
                <a:lnTo>
                  <a:pt x="74929" y="1068070"/>
                </a:lnTo>
                <a:lnTo>
                  <a:pt x="74929" y="0"/>
                </a:lnTo>
                <a:lnTo>
                  <a:pt x="0" y="0"/>
                </a:lnTo>
                <a:lnTo>
                  <a:pt x="0" y="1068070"/>
                </a:lnTo>
                <a:close/>
              </a:path>
            </a:pathLst>
          </a:custGeom>
          <a:solidFill>
            <a:srgbClr val="F1F1F8"/>
          </a:solidFill>
        </p:spPr>
        <p:txBody>
          <a:bodyPr wrap="square" lIns="0" tIns="0" rIns="0" bIns="0" rtlCol="0"/>
          <a:lstStyle/>
          <a:p>
            <a:endParaRPr/>
          </a:p>
        </p:txBody>
      </p:sp>
      <p:sp>
        <p:nvSpPr>
          <p:cNvPr id="26" name="object 26"/>
          <p:cNvSpPr/>
          <p:nvPr/>
        </p:nvSpPr>
        <p:spPr>
          <a:xfrm>
            <a:off x="2399029"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F0F0F7"/>
          </a:solidFill>
        </p:spPr>
        <p:txBody>
          <a:bodyPr wrap="square" lIns="0" tIns="0" rIns="0" bIns="0" rtlCol="0"/>
          <a:lstStyle/>
          <a:p>
            <a:endParaRPr/>
          </a:p>
        </p:txBody>
      </p:sp>
      <p:sp>
        <p:nvSpPr>
          <p:cNvPr id="27" name="object 27"/>
          <p:cNvSpPr/>
          <p:nvPr/>
        </p:nvSpPr>
        <p:spPr>
          <a:xfrm>
            <a:off x="2399029" y="0"/>
            <a:ext cx="74930" cy="1068070"/>
          </a:xfrm>
          <a:custGeom>
            <a:avLst/>
            <a:gdLst/>
            <a:ahLst/>
            <a:cxnLst/>
            <a:rect l="l" t="t" r="r" b="b"/>
            <a:pathLst>
              <a:path w="74930" h="1068070">
                <a:moveTo>
                  <a:pt x="0" y="1068070"/>
                </a:moveTo>
                <a:lnTo>
                  <a:pt x="74930" y="1068070"/>
                </a:lnTo>
                <a:lnTo>
                  <a:pt x="74930" y="0"/>
                </a:lnTo>
                <a:lnTo>
                  <a:pt x="0" y="0"/>
                </a:lnTo>
                <a:lnTo>
                  <a:pt x="0" y="1068070"/>
                </a:lnTo>
                <a:close/>
              </a:path>
            </a:pathLst>
          </a:custGeom>
          <a:solidFill>
            <a:srgbClr val="F0F0F7"/>
          </a:solidFill>
        </p:spPr>
        <p:txBody>
          <a:bodyPr wrap="square" lIns="0" tIns="0" rIns="0" bIns="0" rtlCol="0"/>
          <a:lstStyle/>
          <a:p>
            <a:endParaRPr/>
          </a:p>
        </p:txBody>
      </p:sp>
      <p:sp>
        <p:nvSpPr>
          <p:cNvPr id="28" name="object 28"/>
          <p:cNvSpPr/>
          <p:nvPr/>
        </p:nvSpPr>
        <p:spPr>
          <a:xfrm>
            <a:off x="2330450"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EFEFF7"/>
          </a:solidFill>
        </p:spPr>
        <p:txBody>
          <a:bodyPr wrap="square" lIns="0" tIns="0" rIns="0" bIns="0" rtlCol="0"/>
          <a:lstStyle/>
          <a:p>
            <a:endParaRPr/>
          </a:p>
        </p:txBody>
      </p:sp>
      <p:sp>
        <p:nvSpPr>
          <p:cNvPr id="29" name="object 29"/>
          <p:cNvSpPr/>
          <p:nvPr/>
        </p:nvSpPr>
        <p:spPr>
          <a:xfrm>
            <a:off x="2330450" y="0"/>
            <a:ext cx="74930" cy="1068070"/>
          </a:xfrm>
          <a:custGeom>
            <a:avLst/>
            <a:gdLst/>
            <a:ahLst/>
            <a:cxnLst/>
            <a:rect l="l" t="t" r="r" b="b"/>
            <a:pathLst>
              <a:path w="74930" h="1068070">
                <a:moveTo>
                  <a:pt x="0" y="1068070"/>
                </a:moveTo>
                <a:lnTo>
                  <a:pt x="74930" y="1068070"/>
                </a:lnTo>
                <a:lnTo>
                  <a:pt x="74930" y="0"/>
                </a:lnTo>
                <a:lnTo>
                  <a:pt x="0" y="0"/>
                </a:lnTo>
                <a:lnTo>
                  <a:pt x="0" y="1068070"/>
                </a:lnTo>
                <a:close/>
              </a:path>
            </a:pathLst>
          </a:custGeom>
          <a:solidFill>
            <a:srgbClr val="EFEFF7"/>
          </a:solidFill>
        </p:spPr>
        <p:txBody>
          <a:bodyPr wrap="square" lIns="0" tIns="0" rIns="0" bIns="0" rtlCol="0"/>
          <a:lstStyle/>
          <a:p>
            <a:endParaRPr/>
          </a:p>
        </p:txBody>
      </p:sp>
      <p:sp>
        <p:nvSpPr>
          <p:cNvPr id="30" name="object 30"/>
          <p:cNvSpPr/>
          <p:nvPr/>
        </p:nvSpPr>
        <p:spPr>
          <a:xfrm>
            <a:off x="226060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EEEEF6"/>
          </a:solidFill>
        </p:spPr>
        <p:txBody>
          <a:bodyPr wrap="square" lIns="0" tIns="0" rIns="0" bIns="0" rtlCol="0"/>
          <a:lstStyle/>
          <a:p>
            <a:endParaRPr/>
          </a:p>
        </p:txBody>
      </p:sp>
      <p:sp>
        <p:nvSpPr>
          <p:cNvPr id="31" name="object 31"/>
          <p:cNvSpPr/>
          <p:nvPr/>
        </p:nvSpPr>
        <p:spPr>
          <a:xfrm>
            <a:off x="2260600"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EEEEF6"/>
          </a:solidFill>
        </p:spPr>
        <p:txBody>
          <a:bodyPr wrap="square" lIns="0" tIns="0" rIns="0" bIns="0" rtlCol="0"/>
          <a:lstStyle/>
          <a:p>
            <a:endParaRPr/>
          </a:p>
        </p:txBody>
      </p:sp>
      <p:sp>
        <p:nvSpPr>
          <p:cNvPr id="32" name="object 32"/>
          <p:cNvSpPr/>
          <p:nvPr/>
        </p:nvSpPr>
        <p:spPr>
          <a:xfrm>
            <a:off x="219202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EDEDF6"/>
          </a:solidFill>
        </p:spPr>
        <p:txBody>
          <a:bodyPr wrap="square" lIns="0" tIns="0" rIns="0" bIns="0" rtlCol="0"/>
          <a:lstStyle/>
          <a:p>
            <a:endParaRPr/>
          </a:p>
        </p:txBody>
      </p:sp>
      <p:sp>
        <p:nvSpPr>
          <p:cNvPr id="33" name="object 33"/>
          <p:cNvSpPr/>
          <p:nvPr/>
        </p:nvSpPr>
        <p:spPr>
          <a:xfrm>
            <a:off x="2192020"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EDEDF6"/>
          </a:solidFill>
        </p:spPr>
        <p:txBody>
          <a:bodyPr wrap="square" lIns="0" tIns="0" rIns="0" bIns="0" rtlCol="0"/>
          <a:lstStyle/>
          <a:p>
            <a:endParaRPr/>
          </a:p>
        </p:txBody>
      </p:sp>
      <p:sp>
        <p:nvSpPr>
          <p:cNvPr id="34" name="object 34"/>
          <p:cNvSpPr/>
          <p:nvPr/>
        </p:nvSpPr>
        <p:spPr>
          <a:xfrm>
            <a:off x="2123439"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ECECF5"/>
          </a:solidFill>
        </p:spPr>
        <p:txBody>
          <a:bodyPr wrap="square" lIns="0" tIns="0" rIns="0" bIns="0" rtlCol="0"/>
          <a:lstStyle/>
          <a:p>
            <a:endParaRPr/>
          </a:p>
        </p:txBody>
      </p:sp>
      <p:sp>
        <p:nvSpPr>
          <p:cNvPr id="35" name="object 35"/>
          <p:cNvSpPr/>
          <p:nvPr/>
        </p:nvSpPr>
        <p:spPr>
          <a:xfrm>
            <a:off x="2123439"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ECECF5"/>
          </a:solidFill>
        </p:spPr>
        <p:txBody>
          <a:bodyPr wrap="square" lIns="0" tIns="0" rIns="0" bIns="0" rtlCol="0"/>
          <a:lstStyle/>
          <a:p>
            <a:endParaRPr/>
          </a:p>
        </p:txBody>
      </p:sp>
      <p:sp>
        <p:nvSpPr>
          <p:cNvPr id="36" name="object 36"/>
          <p:cNvSpPr/>
          <p:nvPr/>
        </p:nvSpPr>
        <p:spPr>
          <a:xfrm>
            <a:off x="205486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EBEBF5"/>
          </a:solidFill>
        </p:spPr>
        <p:txBody>
          <a:bodyPr wrap="square" lIns="0" tIns="0" rIns="0" bIns="0" rtlCol="0"/>
          <a:lstStyle/>
          <a:p>
            <a:endParaRPr/>
          </a:p>
        </p:txBody>
      </p:sp>
      <p:sp>
        <p:nvSpPr>
          <p:cNvPr id="37" name="object 37"/>
          <p:cNvSpPr/>
          <p:nvPr/>
        </p:nvSpPr>
        <p:spPr>
          <a:xfrm>
            <a:off x="2054860"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EBEBF5"/>
          </a:solidFill>
        </p:spPr>
        <p:txBody>
          <a:bodyPr wrap="square" lIns="0" tIns="0" rIns="0" bIns="0" rtlCol="0"/>
          <a:lstStyle/>
          <a:p>
            <a:endParaRPr/>
          </a:p>
        </p:txBody>
      </p:sp>
      <p:sp>
        <p:nvSpPr>
          <p:cNvPr id="38" name="object 38"/>
          <p:cNvSpPr/>
          <p:nvPr/>
        </p:nvSpPr>
        <p:spPr>
          <a:xfrm>
            <a:off x="1986279"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EAEAF4"/>
          </a:solidFill>
        </p:spPr>
        <p:txBody>
          <a:bodyPr wrap="square" lIns="0" tIns="0" rIns="0" bIns="0" rtlCol="0"/>
          <a:lstStyle/>
          <a:p>
            <a:endParaRPr/>
          </a:p>
        </p:txBody>
      </p:sp>
      <p:sp>
        <p:nvSpPr>
          <p:cNvPr id="39" name="object 39"/>
          <p:cNvSpPr/>
          <p:nvPr/>
        </p:nvSpPr>
        <p:spPr>
          <a:xfrm>
            <a:off x="1986279" y="0"/>
            <a:ext cx="74930" cy="1691639"/>
          </a:xfrm>
          <a:custGeom>
            <a:avLst/>
            <a:gdLst/>
            <a:ahLst/>
            <a:cxnLst/>
            <a:rect l="l" t="t" r="r" b="b"/>
            <a:pathLst>
              <a:path w="74930" h="1691639">
                <a:moveTo>
                  <a:pt x="0" y="1691640"/>
                </a:moveTo>
                <a:lnTo>
                  <a:pt x="74930" y="1691640"/>
                </a:lnTo>
                <a:lnTo>
                  <a:pt x="74930" y="0"/>
                </a:lnTo>
                <a:lnTo>
                  <a:pt x="0" y="0"/>
                </a:lnTo>
                <a:lnTo>
                  <a:pt x="0" y="1691640"/>
                </a:lnTo>
                <a:close/>
              </a:path>
            </a:pathLst>
          </a:custGeom>
          <a:solidFill>
            <a:srgbClr val="EAEAF4"/>
          </a:solidFill>
        </p:spPr>
        <p:txBody>
          <a:bodyPr wrap="square" lIns="0" tIns="0" rIns="0" bIns="0" rtlCol="0"/>
          <a:lstStyle/>
          <a:p>
            <a:endParaRPr/>
          </a:p>
        </p:txBody>
      </p:sp>
      <p:sp>
        <p:nvSpPr>
          <p:cNvPr id="40" name="object 40"/>
          <p:cNvSpPr/>
          <p:nvPr/>
        </p:nvSpPr>
        <p:spPr>
          <a:xfrm>
            <a:off x="1917700"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E9E9F4"/>
          </a:solidFill>
        </p:spPr>
        <p:txBody>
          <a:bodyPr wrap="square" lIns="0" tIns="0" rIns="0" bIns="0" rtlCol="0"/>
          <a:lstStyle/>
          <a:p>
            <a:endParaRPr/>
          </a:p>
        </p:txBody>
      </p:sp>
      <p:sp>
        <p:nvSpPr>
          <p:cNvPr id="41" name="object 41"/>
          <p:cNvSpPr/>
          <p:nvPr/>
        </p:nvSpPr>
        <p:spPr>
          <a:xfrm>
            <a:off x="1917700" y="0"/>
            <a:ext cx="74930" cy="1691639"/>
          </a:xfrm>
          <a:custGeom>
            <a:avLst/>
            <a:gdLst/>
            <a:ahLst/>
            <a:cxnLst/>
            <a:rect l="l" t="t" r="r" b="b"/>
            <a:pathLst>
              <a:path w="74930" h="1691639">
                <a:moveTo>
                  <a:pt x="0" y="1691640"/>
                </a:moveTo>
                <a:lnTo>
                  <a:pt x="74930" y="1691640"/>
                </a:lnTo>
                <a:lnTo>
                  <a:pt x="74930" y="0"/>
                </a:lnTo>
                <a:lnTo>
                  <a:pt x="0" y="0"/>
                </a:lnTo>
                <a:lnTo>
                  <a:pt x="0" y="1691640"/>
                </a:lnTo>
                <a:close/>
              </a:path>
            </a:pathLst>
          </a:custGeom>
          <a:solidFill>
            <a:srgbClr val="E9E9F4"/>
          </a:solidFill>
        </p:spPr>
        <p:txBody>
          <a:bodyPr wrap="square" lIns="0" tIns="0" rIns="0" bIns="0" rtlCol="0"/>
          <a:lstStyle/>
          <a:p>
            <a:endParaRPr/>
          </a:p>
        </p:txBody>
      </p:sp>
      <p:sp>
        <p:nvSpPr>
          <p:cNvPr id="42" name="object 42"/>
          <p:cNvSpPr/>
          <p:nvPr/>
        </p:nvSpPr>
        <p:spPr>
          <a:xfrm>
            <a:off x="1849120" y="4224020"/>
            <a:ext cx="74930" cy="2635250"/>
          </a:xfrm>
          <a:custGeom>
            <a:avLst/>
            <a:gdLst/>
            <a:ahLst/>
            <a:cxnLst/>
            <a:rect l="l" t="t" r="r" b="b"/>
            <a:pathLst>
              <a:path w="74930" h="2635250">
                <a:moveTo>
                  <a:pt x="0" y="2635249"/>
                </a:moveTo>
                <a:lnTo>
                  <a:pt x="74930" y="2635249"/>
                </a:lnTo>
                <a:lnTo>
                  <a:pt x="74930" y="0"/>
                </a:lnTo>
                <a:lnTo>
                  <a:pt x="0" y="0"/>
                </a:lnTo>
                <a:lnTo>
                  <a:pt x="0" y="2635249"/>
                </a:lnTo>
                <a:close/>
              </a:path>
            </a:pathLst>
          </a:custGeom>
          <a:solidFill>
            <a:srgbClr val="E8E8F3"/>
          </a:solidFill>
        </p:spPr>
        <p:txBody>
          <a:bodyPr wrap="square" lIns="0" tIns="0" rIns="0" bIns="0" rtlCol="0"/>
          <a:lstStyle/>
          <a:p>
            <a:endParaRPr/>
          </a:p>
        </p:txBody>
      </p:sp>
      <p:sp>
        <p:nvSpPr>
          <p:cNvPr id="43" name="object 43"/>
          <p:cNvSpPr/>
          <p:nvPr/>
        </p:nvSpPr>
        <p:spPr>
          <a:xfrm>
            <a:off x="1849120" y="0"/>
            <a:ext cx="74930" cy="1691639"/>
          </a:xfrm>
          <a:custGeom>
            <a:avLst/>
            <a:gdLst/>
            <a:ahLst/>
            <a:cxnLst/>
            <a:rect l="l" t="t" r="r" b="b"/>
            <a:pathLst>
              <a:path w="74930" h="1691639">
                <a:moveTo>
                  <a:pt x="0" y="1691640"/>
                </a:moveTo>
                <a:lnTo>
                  <a:pt x="74930" y="1691640"/>
                </a:lnTo>
                <a:lnTo>
                  <a:pt x="74930" y="0"/>
                </a:lnTo>
                <a:lnTo>
                  <a:pt x="0" y="0"/>
                </a:lnTo>
                <a:lnTo>
                  <a:pt x="0" y="1691640"/>
                </a:lnTo>
                <a:close/>
              </a:path>
            </a:pathLst>
          </a:custGeom>
          <a:solidFill>
            <a:srgbClr val="E8E8F3"/>
          </a:solidFill>
        </p:spPr>
        <p:txBody>
          <a:bodyPr wrap="square" lIns="0" tIns="0" rIns="0" bIns="0" rtlCol="0"/>
          <a:lstStyle/>
          <a:p>
            <a:endParaRPr/>
          </a:p>
        </p:txBody>
      </p:sp>
      <p:sp>
        <p:nvSpPr>
          <p:cNvPr id="44" name="object 44"/>
          <p:cNvSpPr/>
          <p:nvPr/>
        </p:nvSpPr>
        <p:spPr>
          <a:xfrm>
            <a:off x="1779270" y="4224020"/>
            <a:ext cx="76200" cy="2635250"/>
          </a:xfrm>
          <a:custGeom>
            <a:avLst/>
            <a:gdLst/>
            <a:ahLst/>
            <a:cxnLst/>
            <a:rect l="l" t="t" r="r" b="b"/>
            <a:pathLst>
              <a:path w="76200" h="2635250">
                <a:moveTo>
                  <a:pt x="0" y="2635249"/>
                </a:moveTo>
                <a:lnTo>
                  <a:pt x="76200" y="2635249"/>
                </a:lnTo>
                <a:lnTo>
                  <a:pt x="76200" y="0"/>
                </a:lnTo>
                <a:lnTo>
                  <a:pt x="0" y="0"/>
                </a:lnTo>
                <a:lnTo>
                  <a:pt x="0" y="2635249"/>
                </a:lnTo>
                <a:close/>
              </a:path>
            </a:pathLst>
          </a:custGeom>
          <a:solidFill>
            <a:srgbClr val="E7E7F3"/>
          </a:solidFill>
        </p:spPr>
        <p:txBody>
          <a:bodyPr wrap="square" lIns="0" tIns="0" rIns="0" bIns="0" rtlCol="0"/>
          <a:lstStyle/>
          <a:p>
            <a:endParaRPr/>
          </a:p>
        </p:txBody>
      </p:sp>
      <p:grpSp>
        <p:nvGrpSpPr>
          <p:cNvPr id="45" name="object 45"/>
          <p:cNvGrpSpPr/>
          <p:nvPr/>
        </p:nvGrpSpPr>
        <p:grpSpPr>
          <a:xfrm>
            <a:off x="0" y="0"/>
            <a:ext cx="9144000" cy="6860540"/>
            <a:chOff x="0" y="0"/>
            <a:chExt cx="9144000" cy="6860540"/>
          </a:xfrm>
        </p:grpSpPr>
        <p:sp>
          <p:nvSpPr>
            <p:cNvPr id="46" name="object 46"/>
            <p:cNvSpPr/>
            <p:nvPr/>
          </p:nvSpPr>
          <p:spPr>
            <a:xfrm>
              <a:off x="1779270" y="0"/>
              <a:ext cx="76200" cy="1691639"/>
            </a:xfrm>
            <a:custGeom>
              <a:avLst/>
              <a:gdLst/>
              <a:ahLst/>
              <a:cxnLst/>
              <a:rect l="l" t="t" r="r" b="b"/>
              <a:pathLst>
                <a:path w="76200" h="1691639">
                  <a:moveTo>
                    <a:pt x="0" y="1691640"/>
                  </a:moveTo>
                  <a:lnTo>
                    <a:pt x="76200" y="1691640"/>
                  </a:lnTo>
                  <a:lnTo>
                    <a:pt x="76200" y="0"/>
                  </a:lnTo>
                  <a:lnTo>
                    <a:pt x="0" y="0"/>
                  </a:lnTo>
                  <a:lnTo>
                    <a:pt x="0" y="1691640"/>
                  </a:lnTo>
                  <a:close/>
                </a:path>
              </a:pathLst>
            </a:custGeom>
            <a:solidFill>
              <a:srgbClr val="E7E7F3"/>
            </a:solidFill>
          </p:spPr>
          <p:txBody>
            <a:bodyPr wrap="square" lIns="0" tIns="0" rIns="0" bIns="0" rtlCol="0"/>
            <a:lstStyle/>
            <a:p>
              <a:endParaRPr/>
            </a:p>
          </p:txBody>
        </p:sp>
        <p:sp>
          <p:nvSpPr>
            <p:cNvPr id="47" name="object 47"/>
            <p:cNvSpPr/>
            <p:nvPr/>
          </p:nvSpPr>
          <p:spPr>
            <a:xfrm>
              <a:off x="1710689" y="0"/>
              <a:ext cx="76200" cy="6860540"/>
            </a:xfrm>
            <a:custGeom>
              <a:avLst/>
              <a:gdLst/>
              <a:ahLst/>
              <a:cxnLst/>
              <a:rect l="l" t="t" r="r" b="b"/>
              <a:pathLst>
                <a:path w="76200" h="6860540">
                  <a:moveTo>
                    <a:pt x="76200" y="0"/>
                  </a:moveTo>
                  <a:lnTo>
                    <a:pt x="0" y="0"/>
                  </a:lnTo>
                  <a:lnTo>
                    <a:pt x="0" y="6860540"/>
                  </a:lnTo>
                  <a:lnTo>
                    <a:pt x="76200" y="6860540"/>
                  </a:lnTo>
                  <a:lnTo>
                    <a:pt x="76200" y="0"/>
                  </a:lnTo>
                  <a:close/>
                </a:path>
              </a:pathLst>
            </a:custGeom>
            <a:solidFill>
              <a:srgbClr val="E6E6F2"/>
            </a:solidFill>
          </p:spPr>
          <p:txBody>
            <a:bodyPr wrap="square" lIns="0" tIns="0" rIns="0" bIns="0" rtlCol="0"/>
            <a:lstStyle/>
            <a:p>
              <a:endParaRPr/>
            </a:p>
          </p:txBody>
        </p:sp>
        <p:sp>
          <p:nvSpPr>
            <p:cNvPr id="48" name="object 48"/>
            <p:cNvSpPr/>
            <p:nvPr/>
          </p:nvSpPr>
          <p:spPr>
            <a:xfrm>
              <a:off x="1642110" y="0"/>
              <a:ext cx="74930" cy="6860540"/>
            </a:xfrm>
            <a:custGeom>
              <a:avLst/>
              <a:gdLst/>
              <a:ahLst/>
              <a:cxnLst/>
              <a:rect l="l" t="t" r="r" b="b"/>
              <a:pathLst>
                <a:path w="74930" h="6860540">
                  <a:moveTo>
                    <a:pt x="74930" y="4225290"/>
                  </a:moveTo>
                  <a:lnTo>
                    <a:pt x="0" y="4225290"/>
                  </a:lnTo>
                  <a:lnTo>
                    <a:pt x="0" y="6860540"/>
                  </a:lnTo>
                  <a:lnTo>
                    <a:pt x="74930" y="6860540"/>
                  </a:lnTo>
                  <a:lnTo>
                    <a:pt x="74930" y="4225290"/>
                  </a:lnTo>
                  <a:close/>
                </a:path>
                <a:path w="74930" h="6860540">
                  <a:moveTo>
                    <a:pt x="74930" y="0"/>
                  </a:moveTo>
                  <a:lnTo>
                    <a:pt x="0" y="0"/>
                  </a:lnTo>
                  <a:lnTo>
                    <a:pt x="0" y="2325370"/>
                  </a:lnTo>
                  <a:lnTo>
                    <a:pt x="74930" y="2325370"/>
                  </a:lnTo>
                  <a:lnTo>
                    <a:pt x="74930" y="0"/>
                  </a:lnTo>
                  <a:close/>
                </a:path>
              </a:pathLst>
            </a:custGeom>
            <a:solidFill>
              <a:srgbClr val="E5E5F2"/>
            </a:solidFill>
          </p:spPr>
          <p:txBody>
            <a:bodyPr wrap="square" lIns="0" tIns="0" rIns="0" bIns="0" rtlCol="0"/>
            <a:lstStyle/>
            <a:p>
              <a:endParaRPr/>
            </a:p>
          </p:txBody>
        </p:sp>
        <p:sp>
          <p:nvSpPr>
            <p:cNvPr id="49" name="object 49"/>
            <p:cNvSpPr/>
            <p:nvPr/>
          </p:nvSpPr>
          <p:spPr>
            <a:xfrm>
              <a:off x="1573530" y="0"/>
              <a:ext cx="74930" cy="6860540"/>
            </a:xfrm>
            <a:custGeom>
              <a:avLst/>
              <a:gdLst/>
              <a:ahLst/>
              <a:cxnLst/>
              <a:rect l="l" t="t" r="r" b="b"/>
              <a:pathLst>
                <a:path w="74930" h="6860540">
                  <a:moveTo>
                    <a:pt x="74930" y="4225290"/>
                  </a:moveTo>
                  <a:lnTo>
                    <a:pt x="0" y="4225290"/>
                  </a:lnTo>
                  <a:lnTo>
                    <a:pt x="0" y="6860540"/>
                  </a:lnTo>
                  <a:lnTo>
                    <a:pt x="74930" y="6860540"/>
                  </a:lnTo>
                  <a:lnTo>
                    <a:pt x="74930" y="4225290"/>
                  </a:lnTo>
                  <a:close/>
                </a:path>
                <a:path w="74930" h="6860540">
                  <a:moveTo>
                    <a:pt x="74930" y="0"/>
                  </a:moveTo>
                  <a:lnTo>
                    <a:pt x="0" y="0"/>
                  </a:lnTo>
                  <a:lnTo>
                    <a:pt x="0" y="2325370"/>
                  </a:lnTo>
                  <a:lnTo>
                    <a:pt x="74930" y="2325370"/>
                  </a:lnTo>
                  <a:lnTo>
                    <a:pt x="74930" y="0"/>
                  </a:lnTo>
                  <a:close/>
                </a:path>
              </a:pathLst>
            </a:custGeom>
            <a:solidFill>
              <a:srgbClr val="E4E4F2"/>
            </a:solidFill>
          </p:spPr>
          <p:txBody>
            <a:bodyPr wrap="square" lIns="0" tIns="0" rIns="0" bIns="0" rtlCol="0"/>
            <a:lstStyle/>
            <a:p>
              <a:endParaRPr/>
            </a:p>
          </p:txBody>
        </p:sp>
        <p:sp>
          <p:nvSpPr>
            <p:cNvPr id="50" name="object 50"/>
            <p:cNvSpPr/>
            <p:nvPr/>
          </p:nvSpPr>
          <p:spPr>
            <a:xfrm>
              <a:off x="1504950" y="0"/>
              <a:ext cx="74930" cy="6860540"/>
            </a:xfrm>
            <a:custGeom>
              <a:avLst/>
              <a:gdLst/>
              <a:ahLst/>
              <a:cxnLst/>
              <a:rect l="l" t="t" r="r" b="b"/>
              <a:pathLst>
                <a:path w="74930" h="6860540">
                  <a:moveTo>
                    <a:pt x="74930" y="4225290"/>
                  </a:moveTo>
                  <a:lnTo>
                    <a:pt x="0" y="4225290"/>
                  </a:lnTo>
                  <a:lnTo>
                    <a:pt x="0" y="6860540"/>
                  </a:lnTo>
                  <a:lnTo>
                    <a:pt x="74930" y="6860540"/>
                  </a:lnTo>
                  <a:lnTo>
                    <a:pt x="74930" y="4225290"/>
                  </a:lnTo>
                  <a:close/>
                </a:path>
                <a:path w="74930" h="6860540">
                  <a:moveTo>
                    <a:pt x="74930" y="0"/>
                  </a:moveTo>
                  <a:lnTo>
                    <a:pt x="0" y="0"/>
                  </a:lnTo>
                  <a:lnTo>
                    <a:pt x="0" y="2325370"/>
                  </a:lnTo>
                  <a:lnTo>
                    <a:pt x="74930" y="2325370"/>
                  </a:lnTo>
                  <a:lnTo>
                    <a:pt x="74930" y="0"/>
                  </a:lnTo>
                  <a:close/>
                </a:path>
              </a:pathLst>
            </a:custGeom>
            <a:solidFill>
              <a:srgbClr val="E3E3F1"/>
            </a:solidFill>
          </p:spPr>
          <p:txBody>
            <a:bodyPr wrap="square" lIns="0" tIns="0" rIns="0" bIns="0" rtlCol="0"/>
            <a:lstStyle/>
            <a:p>
              <a:endParaRPr/>
            </a:p>
          </p:txBody>
        </p:sp>
        <p:sp>
          <p:nvSpPr>
            <p:cNvPr id="51" name="object 51"/>
            <p:cNvSpPr/>
            <p:nvPr/>
          </p:nvSpPr>
          <p:spPr>
            <a:xfrm>
              <a:off x="143510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325370"/>
                  </a:lnTo>
                  <a:lnTo>
                    <a:pt x="76200" y="2325370"/>
                  </a:lnTo>
                  <a:lnTo>
                    <a:pt x="76200" y="0"/>
                  </a:lnTo>
                  <a:close/>
                </a:path>
              </a:pathLst>
            </a:custGeom>
            <a:solidFill>
              <a:srgbClr val="E2E2F1"/>
            </a:solidFill>
          </p:spPr>
          <p:txBody>
            <a:bodyPr wrap="square" lIns="0" tIns="0" rIns="0" bIns="0" rtlCol="0"/>
            <a:lstStyle/>
            <a:p>
              <a:endParaRPr/>
            </a:p>
          </p:txBody>
        </p:sp>
        <p:sp>
          <p:nvSpPr>
            <p:cNvPr id="52" name="object 52"/>
            <p:cNvSpPr/>
            <p:nvPr/>
          </p:nvSpPr>
          <p:spPr>
            <a:xfrm>
              <a:off x="136652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325370"/>
                  </a:lnTo>
                  <a:lnTo>
                    <a:pt x="76200" y="2325370"/>
                  </a:lnTo>
                  <a:lnTo>
                    <a:pt x="76200" y="0"/>
                  </a:lnTo>
                  <a:close/>
                </a:path>
              </a:pathLst>
            </a:custGeom>
            <a:solidFill>
              <a:srgbClr val="E1E1F0"/>
            </a:solidFill>
          </p:spPr>
          <p:txBody>
            <a:bodyPr wrap="square" lIns="0" tIns="0" rIns="0" bIns="0" rtlCol="0"/>
            <a:lstStyle/>
            <a:p>
              <a:endParaRPr/>
            </a:p>
          </p:txBody>
        </p:sp>
        <p:sp>
          <p:nvSpPr>
            <p:cNvPr id="53" name="object 53"/>
            <p:cNvSpPr/>
            <p:nvPr/>
          </p:nvSpPr>
          <p:spPr>
            <a:xfrm>
              <a:off x="129794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325370"/>
                  </a:lnTo>
                  <a:lnTo>
                    <a:pt x="76200" y="2325370"/>
                  </a:lnTo>
                  <a:lnTo>
                    <a:pt x="76200" y="0"/>
                  </a:lnTo>
                  <a:close/>
                </a:path>
              </a:pathLst>
            </a:custGeom>
            <a:solidFill>
              <a:srgbClr val="E0E0F0"/>
            </a:solidFill>
          </p:spPr>
          <p:txBody>
            <a:bodyPr wrap="square" lIns="0" tIns="0" rIns="0" bIns="0" rtlCol="0"/>
            <a:lstStyle/>
            <a:p>
              <a:endParaRPr/>
            </a:p>
          </p:txBody>
        </p:sp>
        <p:sp>
          <p:nvSpPr>
            <p:cNvPr id="54" name="object 54"/>
            <p:cNvSpPr/>
            <p:nvPr/>
          </p:nvSpPr>
          <p:spPr>
            <a:xfrm>
              <a:off x="122936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325370"/>
                  </a:lnTo>
                  <a:lnTo>
                    <a:pt x="76200" y="2325370"/>
                  </a:lnTo>
                  <a:lnTo>
                    <a:pt x="76200" y="0"/>
                  </a:lnTo>
                  <a:close/>
                </a:path>
              </a:pathLst>
            </a:custGeom>
            <a:solidFill>
              <a:srgbClr val="DFDFEF"/>
            </a:solidFill>
          </p:spPr>
          <p:txBody>
            <a:bodyPr wrap="square" lIns="0" tIns="0" rIns="0" bIns="0" rtlCol="0"/>
            <a:lstStyle/>
            <a:p>
              <a:endParaRPr/>
            </a:p>
          </p:txBody>
        </p:sp>
        <p:sp>
          <p:nvSpPr>
            <p:cNvPr id="55" name="object 55"/>
            <p:cNvSpPr/>
            <p:nvPr/>
          </p:nvSpPr>
          <p:spPr>
            <a:xfrm>
              <a:off x="1160780" y="0"/>
              <a:ext cx="74930" cy="6860540"/>
            </a:xfrm>
            <a:custGeom>
              <a:avLst/>
              <a:gdLst/>
              <a:ahLst/>
              <a:cxnLst/>
              <a:rect l="l" t="t" r="r" b="b"/>
              <a:pathLst>
                <a:path w="74930" h="6860540">
                  <a:moveTo>
                    <a:pt x="74930" y="4225290"/>
                  </a:moveTo>
                  <a:lnTo>
                    <a:pt x="0" y="4225290"/>
                  </a:lnTo>
                  <a:lnTo>
                    <a:pt x="0" y="6860540"/>
                  </a:lnTo>
                  <a:lnTo>
                    <a:pt x="74930" y="6860540"/>
                  </a:lnTo>
                  <a:lnTo>
                    <a:pt x="74930" y="4225290"/>
                  </a:lnTo>
                  <a:close/>
                </a:path>
                <a:path w="74930" h="6860540">
                  <a:moveTo>
                    <a:pt x="74930" y="0"/>
                  </a:moveTo>
                  <a:lnTo>
                    <a:pt x="0" y="0"/>
                  </a:lnTo>
                  <a:lnTo>
                    <a:pt x="0" y="2325370"/>
                  </a:lnTo>
                  <a:lnTo>
                    <a:pt x="74930" y="2325370"/>
                  </a:lnTo>
                  <a:lnTo>
                    <a:pt x="74930" y="0"/>
                  </a:lnTo>
                  <a:close/>
                </a:path>
              </a:pathLst>
            </a:custGeom>
            <a:solidFill>
              <a:srgbClr val="DEDEEF"/>
            </a:solidFill>
          </p:spPr>
          <p:txBody>
            <a:bodyPr wrap="square" lIns="0" tIns="0" rIns="0" bIns="0" rtlCol="0"/>
            <a:lstStyle/>
            <a:p>
              <a:endParaRPr/>
            </a:p>
          </p:txBody>
        </p:sp>
        <p:sp>
          <p:nvSpPr>
            <p:cNvPr id="56" name="object 56"/>
            <p:cNvSpPr/>
            <p:nvPr/>
          </p:nvSpPr>
          <p:spPr>
            <a:xfrm>
              <a:off x="1092200" y="0"/>
              <a:ext cx="74930" cy="6860540"/>
            </a:xfrm>
            <a:custGeom>
              <a:avLst/>
              <a:gdLst/>
              <a:ahLst/>
              <a:cxnLst/>
              <a:rect l="l" t="t" r="r" b="b"/>
              <a:pathLst>
                <a:path w="74930" h="6860540">
                  <a:moveTo>
                    <a:pt x="74930" y="0"/>
                  </a:moveTo>
                  <a:lnTo>
                    <a:pt x="0" y="0"/>
                  </a:lnTo>
                  <a:lnTo>
                    <a:pt x="0" y="6860540"/>
                  </a:lnTo>
                  <a:lnTo>
                    <a:pt x="74930" y="6860540"/>
                  </a:lnTo>
                  <a:lnTo>
                    <a:pt x="74930" y="0"/>
                  </a:lnTo>
                  <a:close/>
                </a:path>
              </a:pathLst>
            </a:custGeom>
            <a:solidFill>
              <a:srgbClr val="DDDDEE"/>
            </a:solidFill>
          </p:spPr>
          <p:txBody>
            <a:bodyPr wrap="square" lIns="0" tIns="0" rIns="0" bIns="0" rtlCol="0"/>
            <a:lstStyle/>
            <a:p>
              <a:endParaRPr/>
            </a:p>
          </p:txBody>
        </p:sp>
        <p:sp>
          <p:nvSpPr>
            <p:cNvPr id="57" name="object 57"/>
            <p:cNvSpPr/>
            <p:nvPr/>
          </p:nvSpPr>
          <p:spPr>
            <a:xfrm>
              <a:off x="1023620" y="0"/>
              <a:ext cx="74930" cy="6860540"/>
            </a:xfrm>
            <a:custGeom>
              <a:avLst/>
              <a:gdLst/>
              <a:ahLst/>
              <a:cxnLst/>
              <a:rect l="l" t="t" r="r" b="b"/>
              <a:pathLst>
                <a:path w="74930" h="6860540">
                  <a:moveTo>
                    <a:pt x="74930" y="4225290"/>
                  </a:moveTo>
                  <a:lnTo>
                    <a:pt x="0" y="4225290"/>
                  </a:lnTo>
                  <a:lnTo>
                    <a:pt x="0" y="6860540"/>
                  </a:lnTo>
                  <a:lnTo>
                    <a:pt x="74930" y="6860540"/>
                  </a:lnTo>
                  <a:lnTo>
                    <a:pt x="74930" y="4225290"/>
                  </a:lnTo>
                  <a:close/>
                </a:path>
                <a:path w="74930" h="6860540">
                  <a:moveTo>
                    <a:pt x="74930" y="0"/>
                  </a:moveTo>
                  <a:lnTo>
                    <a:pt x="0" y="0"/>
                  </a:lnTo>
                  <a:lnTo>
                    <a:pt x="0" y="2948940"/>
                  </a:lnTo>
                  <a:lnTo>
                    <a:pt x="74930" y="2948940"/>
                  </a:lnTo>
                  <a:lnTo>
                    <a:pt x="74930" y="0"/>
                  </a:lnTo>
                  <a:close/>
                </a:path>
              </a:pathLst>
            </a:custGeom>
            <a:solidFill>
              <a:srgbClr val="DCDCEE"/>
            </a:solidFill>
          </p:spPr>
          <p:txBody>
            <a:bodyPr wrap="square" lIns="0" tIns="0" rIns="0" bIns="0" rtlCol="0"/>
            <a:lstStyle/>
            <a:p>
              <a:endParaRPr/>
            </a:p>
          </p:txBody>
        </p:sp>
        <p:sp>
          <p:nvSpPr>
            <p:cNvPr id="58" name="object 58"/>
            <p:cNvSpPr/>
            <p:nvPr/>
          </p:nvSpPr>
          <p:spPr>
            <a:xfrm>
              <a:off x="95377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948940"/>
                  </a:lnTo>
                  <a:lnTo>
                    <a:pt x="76200" y="2948940"/>
                  </a:lnTo>
                  <a:lnTo>
                    <a:pt x="76200" y="0"/>
                  </a:lnTo>
                  <a:close/>
                </a:path>
              </a:pathLst>
            </a:custGeom>
            <a:solidFill>
              <a:srgbClr val="DBDBED"/>
            </a:solidFill>
          </p:spPr>
          <p:txBody>
            <a:bodyPr wrap="square" lIns="0" tIns="0" rIns="0" bIns="0" rtlCol="0"/>
            <a:lstStyle/>
            <a:p>
              <a:endParaRPr/>
            </a:p>
          </p:txBody>
        </p:sp>
        <p:sp>
          <p:nvSpPr>
            <p:cNvPr id="59" name="object 59"/>
            <p:cNvSpPr/>
            <p:nvPr/>
          </p:nvSpPr>
          <p:spPr>
            <a:xfrm>
              <a:off x="88519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948940"/>
                  </a:lnTo>
                  <a:lnTo>
                    <a:pt x="76200" y="2948940"/>
                  </a:lnTo>
                  <a:lnTo>
                    <a:pt x="76200" y="0"/>
                  </a:lnTo>
                  <a:close/>
                </a:path>
              </a:pathLst>
            </a:custGeom>
            <a:solidFill>
              <a:srgbClr val="DADAED"/>
            </a:solidFill>
          </p:spPr>
          <p:txBody>
            <a:bodyPr wrap="square" lIns="0" tIns="0" rIns="0" bIns="0" rtlCol="0"/>
            <a:lstStyle/>
            <a:p>
              <a:endParaRPr/>
            </a:p>
          </p:txBody>
        </p:sp>
        <p:sp>
          <p:nvSpPr>
            <p:cNvPr id="60" name="object 60"/>
            <p:cNvSpPr/>
            <p:nvPr/>
          </p:nvSpPr>
          <p:spPr>
            <a:xfrm>
              <a:off x="81661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948940"/>
                  </a:lnTo>
                  <a:lnTo>
                    <a:pt x="76200" y="2948940"/>
                  </a:lnTo>
                  <a:lnTo>
                    <a:pt x="76200" y="0"/>
                  </a:lnTo>
                  <a:close/>
                </a:path>
              </a:pathLst>
            </a:custGeom>
            <a:solidFill>
              <a:srgbClr val="D9D9EC"/>
            </a:solidFill>
          </p:spPr>
          <p:txBody>
            <a:bodyPr wrap="square" lIns="0" tIns="0" rIns="0" bIns="0" rtlCol="0"/>
            <a:lstStyle/>
            <a:p>
              <a:endParaRPr/>
            </a:p>
          </p:txBody>
        </p:sp>
        <p:sp>
          <p:nvSpPr>
            <p:cNvPr id="61" name="object 61"/>
            <p:cNvSpPr/>
            <p:nvPr/>
          </p:nvSpPr>
          <p:spPr>
            <a:xfrm>
              <a:off x="748030" y="0"/>
              <a:ext cx="74930" cy="6860540"/>
            </a:xfrm>
            <a:custGeom>
              <a:avLst/>
              <a:gdLst/>
              <a:ahLst/>
              <a:cxnLst/>
              <a:rect l="l" t="t" r="r" b="b"/>
              <a:pathLst>
                <a:path w="74930" h="6860540">
                  <a:moveTo>
                    <a:pt x="74930" y="4225290"/>
                  </a:moveTo>
                  <a:lnTo>
                    <a:pt x="0" y="4225290"/>
                  </a:lnTo>
                  <a:lnTo>
                    <a:pt x="0" y="6860540"/>
                  </a:lnTo>
                  <a:lnTo>
                    <a:pt x="74930" y="6860540"/>
                  </a:lnTo>
                  <a:lnTo>
                    <a:pt x="74930" y="4225290"/>
                  </a:lnTo>
                  <a:close/>
                </a:path>
                <a:path w="74930" h="6860540">
                  <a:moveTo>
                    <a:pt x="74930" y="0"/>
                  </a:moveTo>
                  <a:lnTo>
                    <a:pt x="0" y="0"/>
                  </a:lnTo>
                  <a:lnTo>
                    <a:pt x="0" y="2948940"/>
                  </a:lnTo>
                  <a:lnTo>
                    <a:pt x="74930" y="2948940"/>
                  </a:lnTo>
                  <a:lnTo>
                    <a:pt x="74930" y="0"/>
                  </a:lnTo>
                  <a:close/>
                </a:path>
              </a:pathLst>
            </a:custGeom>
            <a:solidFill>
              <a:srgbClr val="D8D8EC"/>
            </a:solidFill>
          </p:spPr>
          <p:txBody>
            <a:bodyPr wrap="square" lIns="0" tIns="0" rIns="0" bIns="0" rtlCol="0"/>
            <a:lstStyle/>
            <a:p>
              <a:endParaRPr/>
            </a:p>
          </p:txBody>
        </p:sp>
        <p:sp>
          <p:nvSpPr>
            <p:cNvPr id="62" name="object 62"/>
            <p:cNvSpPr/>
            <p:nvPr/>
          </p:nvSpPr>
          <p:spPr>
            <a:xfrm>
              <a:off x="679450" y="0"/>
              <a:ext cx="74930" cy="6860540"/>
            </a:xfrm>
            <a:custGeom>
              <a:avLst/>
              <a:gdLst/>
              <a:ahLst/>
              <a:cxnLst/>
              <a:rect l="l" t="t" r="r" b="b"/>
              <a:pathLst>
                <a:path w="74929" h="6860540">
                  <a:moveTo>
                    <a:pt x="74930" y="4225290"/>
                  </a:moveTo>
                  <a:lnTo>
                    <a:pt x="0" y="4225290"/>
                  </a:lnTo>
                  <a:lnTo>
                    <a:pt x="0" y="6860540"/>
                  </a:lnTo>
                  <a:lnTo>
                    <a:pt x="74930" y="6860540"/>
                  </a:lnTo>
                  <a:lnTo>
                    <a:pt x="74930" y="4225290"/>
                  </a:lnTo>
                  <a:close/>
                </a:path>
                <a:path w="74929" h="6860540">
                  <a:moveTo>
                    <a:pt x="74930" y="0"/>
                  </a:moveTo>
                  <a:lnTo>
                    <a:pt x="0" y="0"/>
                  </a:lnTo>
                  <a:lnTo>
                    <a:pt x="0" y="2948940"/>
                  </a:lnTo>
                  <a:lnTo>
                    <a:pt x="74930" y="2948940"/>
                  </a:lnTo>
                  <a:lnTo>
                    <a:pt x="74930" y="0"/>
                  </a:lnTo>
                  <a:close/>
                </a:path>
              </a:pathLst>
            </a:custGeom>
            <a:solidFill>
              <a:srgbClr val="D7D7EB"/>
            </a:solidFill>
          </p:spPr>
          <p:txBody>
            <a:bodyPr wrap="square" lIns="0" tIns="0" rIns="0" bIns="0" rtlCol="0"/>
            <a:lstStyle/>
            <a:p>
              <a:endParaRPr/>
            </a:p>
          </p:txBody>
        </p:sp>
        <p:sp>
          <p:nvSpPr>
            <p:cNvPr id="63" name="object 63"/>
            <p:cNvSpPr/>
            <p:nvPr/>
          </p:nvSpPr>
          <p:spPr>
            <a:xfrm>
              <a:off x="609600" y="0"/>
              <a:ext cx="76200" cy="6860540"/>
            </a:xfrm>
            <a:custGeom>
              <a:avLst/>
              <a:gdLst/>
              <a:ahLst/>
              <a:cxnLst/>
              <a:rect l="l" t="t" r="r" b="b"/>
              <a:pathLst>
                <a:path w="76200" h="6860540">
                  <a:moveTo>
                    <a:pt x="76200" y="4225290"/>
                  </a:moveTo>
                  <a:lnTo>
                    <a:pt x="0" y="4225290"/>
                  </a:lnTo>
                  <a:lnTo>
                    <a:pt x="0" y="6860540"/>
                  </a:lnTo>
                  <a:lnTo>
                    <a:pt x="76200" y="6860540"/>
                  </a:lnTo>
                  <a:lnTo>
                    <a:pt x="76200" y="4225290"/>
                  </a:lnTo>
                  <a:close/>
                </a:path>
                <a:path w="76200" h="6860540">
                  <a:moveTo>
                    <a:pt x="76200" y="0"/>
                  </a:moveTo>
                  <a:lnTo>
                    <a:pt x="0" y="0"/>
                  </a:lnTo>
                  <a:lnTo>
                    <a:pt x="0" y="2948940"/>
                  </a:lnTo>
                  <a:lnTo>
                    <a:pt x="76200" y="2948940"/>
                  </a:lnTo>
                  <a:lnTo>
                    <a:pt x="76200" y="0"/>
                  </a:lnTo>
                  <a:close/>
                </a:path>
              </a:pathLst>
            </a:custGeom>
            <a:solidFill>
              <a:srgbClr val="D6D6EB"/>
            </a:solidFill>
          </p:spPr>
          <p:txBody>
            <a:bodyPr wrap="square" lIns="0" tIns="0" rIns="0" bIns="0" rtlCol="0"/>
            <a:lstStyle/>
            <a:p>
              <a:endParaRPr/>
            </a:p>
          </p:txBody>
        </p:sp>
        <p:sp>
          <p:nvSpPr>
            <p:cNvPr id="64" name="object 64"/>
            <p:cNvSpPr/>
            <p:nvPr/>
          </p:nvSpPr>
          <p:spPr>
            <a:xfrm>
              <a:off x="541019" y="0"/>
              <a:ext cx="76200" cy="6860540"/>
            </a:xfrm>
            <a:custGeom>
              <a:avLst/>
              <a:gdLst/>
              <a:ahLst/>
              <a:cxnLst/>
              <a:rect l="l" t="t" r="r" b="b"/>
              <a:pathLst>
                <a:path w="76200" h="6860540">
                  <a:moveTo>
                    <a:pt x="76200" y="0"/>
                  </a:moveTo>
                  <a:lnTo>
                    <a:pt x="0" y="0"/>
                  </a:lnTo>
                  <a:lnTo>
                    <a:pt x="0" y="6860540"/>
                  </a:lnTo>
                  <a:lnTo>
                    <a:pt x="76200" y="6860540"/>
                  </a:lnTo>
                  <a:lnTo>
                    <a:pt x="76200" y="0"/>
                  </a:lnTo>
                  <a:close/>
                </a:path>
              </a:pathLst>
            </a:custGeom>
            <a:solidFill>
              <a:srgbClr val="D5D5EA"/>
            </a:solidFill>
          </p:spPr>
          <p:txBody>
            <a:bodyPr wrap="square" lIns="0" tIns="0" rIns="0" bIns="0" rtlCol="0"/>
            <a:lstStyle/>
            <a:p>
              <a:endParaRPr/>
            </a:p>
          </p:txBody>
        </p:sp>
        <p:sp>
          <p:nvSpPr>
            <p:cNvPr id="65" name="object 65"/>
            <p:cNvSpPr/>
            <p:nvPr/>
          </p:nvSpPr>
          <p:spPr>
            <a:xfrm>
              <a:off x="472440" y="0"/>
              <a:ext cx="76200" cy="6860540"/>
            </a:xfrm>
            <a:custGeom>
              <a:avLst/>
              <a:gdLst/>
              <a:ahLst/>
              <a:cxnLst/>
              <a:rect l="l" t="t" r="r" b="b"/>
              <a:pathLst>
                <a:path w="76200" h="6860540">
                  <a:moveTo>
                    <a:pt x="76200" y="2957830"/>
                  </a:moveTo>
                  <a:lnTo>
                    <a:pt x="0" y="2957830"/>
                  </a:lnTo>
                  <a:lnTo>
                    <a:pt x="0" y="6860540"/>
                  </a:lnTo>
                  <a:lnTo>
                    <a:pt x="76200" y="6860540"/>
                  </a:lnTo>
                  <a:lnTo>
                    <a:pt x="76200" y="2957830"/>
                  </a:lnTo>
                  <a:close/>
                </a:path>
                <a:path w="76200" h="6860540">
                  <a:moveTo>
                    <a:pt x="76200" y="0"/>
                  </a:moveTo>
                  <a:lnTo>
                    <a:pt x="0" y="0"/>
                  </a:lnTo>
                  <a:lnTo>
                    <a:pt x="0" y="2325370"/>
                  </a:lnTo>
                  <a:lnTo>
                    <a:pt x="76200" y="2325370"/>
                  </a:lnTo>
                  <a:lnTo>
                    <a:pt x="76200" y="0"/>
                  </a:lnTo>
                  <a:close/>
                </a:path>
              </a:pathLst>
            </a:custGeom>
            <a:solidFill>
              <a:srgbClr val="D4D4EA"/>
            </a:solidFill>
          </p:spPr>
          <p:txBody>
            <a:bodyPr wrap="square" lIns="0" tIns="0" rIns="0" bIns="0" rtlCol="0"/>
            <a:lstStyle/>
            <a:p>
              <a:endParaRPr/>
            </a:p>
          </p:txBody>
        </p:sp>
        <p:sp>
          <p:nvSpPr>
            <p:cNvPr id="66" name="object 66"/>
            <p:cNvSpPr/>
            <p:nvPr/>
          </p:nvSpPr>
          <p:spPr>
            <a:xfrm>
              <a:off x="403860" y="0"/>
              <a:ext cx="76200" cy="6860540"/>
            </a:xfrm>
            <a:custGeom>
              <a:avLst/>
              <a:gdLst/>
              <a:ahLst/>
              <a:cxnLst/>
              <a:rect l="l" t="t" r="r" b="b"/>
              <a:pathLst>
                <a:path w="76200" h="6860540">
                  <a:moveTo>
                    <a:pt x="76200" y="2957830"/>
                  </a:moveTo>
                  <a:lnTo>
                    <a:pt x="0" y="2957830"/>
                  </a:lnTo>
                  <a:lnTo>
                    <a:pt x="0" y="6860540"/>
                  </a:lnTo>
                  <a:lnTo>
                    <a:pt x="76200" y="6860540"/>
                  </a:lnTo>
                  <a:lnTo>
                    <a:pt x="76200" y="2957830"/>
                  </a:lnTo>
                  <a:close/>
                </a:path>
                <a:path w="76200" h="6860540">
                  <a:moveTo>
                    <a:pt x="76200" y="0"/>
                  </a:moveTo>
                  <a:lnTo>
                    <a:pt x="0" y="0"/>
                  </a:lnTo>
                  <a:lnTo>
                    <a:pt x="0" y="2325370"/>
                  </a:lnTo>
                  <a:lnTo>
                    <a:pt x="76200" y="2325370"/>
                  </a:lnTo>
                  <a:lnTo>
                    <a:pt x="76200" y="0"/>
                  </a:lnTo>
                  <a:close/>
                </a:path>
              </a:pathLst>
            </a:custGeom>
            <a:solidFill>
              <a:srgbClr val="D3D3E9"/>
            </a:solidFill>
          </p:spPr>
          <p:txBody>
            <a:bodyPr wrap="square" lIns="0" tIns="0" rIns="0" bIns="0" rtlCol="0"/>
            <a:lstStyle/>
            <a:p>
              <a:endParaRPr/>
            </a:p>
          </p:txBody>
        </p:sp>
        <p:sp>
          <p:nvSpPr>
            <p:cNvPr id="67" name="object 67"/>
            <p:cNvSpPr/>
            <p:nvPr/>
          </p:nvSpPr>
          <p:spPr>
            <a:xfrm>
              <a:off x="335280" y="0"/>
              <a:ext cx="74930" cy="6860540"/>
            </a:xfrm>
            <a:custGeom>
              <a:avLst/>
              <a:gdLst/>
              <a:ahLst/>
              <a:cxnLst/>
              <a:rect l="l" t="t" r="r" b="b"/>
              <a:pathLst>
                <a:path w="74929" h="6860540">
                  <a:moveTo>
                    <a:pt x="74917" y="2957830"/>
                  </a:moveTo>
                  <a:lnTo>
                    <a:pt x="0" y="2957830"/>
                  </a:lnTo>
                  <a:lnTo>
                    <a:pt x="0" y="6860540"/>
                  </a:lnTo>
                  <a:lnTo>
                    <a:pt x="74917" y="6860540"/>
                  </a:lnTo>
                  <a:lnTo>
                    <a:pt x="74917" y="2957830"/>
                  </a:lnTo>
                  <a:close/>
                </a:path>
                <a:path w="74929" h="6860540">
                  <a:moveTo>
                    <a:pt x="74917" y="0"/>
                  </a:moveTo>
                  <a:lnTo>
                    <a:pt x="0" y="0"/>
                  </a:lnTo>
                  <a:lnTo>
                    <a:pt x="0" y="2325370"/>
                  </a:lnTo>
                  <a:lnTo>
                    <a:pt x="74917" y="2325370"/>
                  </a:lnTo>
                  <a:lnTo>
                    <a:pt x="74917" y="0"/>
                  </a:lnTo>
                  <a:close/>
                </a:path>
              </a:pathLst>
            </a:custGeom>
            <a:solidFill>
              <a:srgbClr val="D2D2E9"/>
            </a:solidFill>
          </p:spPr>
          <p:txBody>
            <a:bodyPr wrap="square" lIns="0" tIns="0" rIns="0" bIns="0" rtlCol="0"/>
            <a:lstStyle/>
            <a:p>
              <a:endParaRPr/>
            </a:p>
          </p:txBody>
        </p:sp>
        <p:sp>
          <p:nvSpPr>
            <p:cNvPr id="68" name="object 68"/>
            <p:cNvSpPr/>
            <p:nvPr/>
          </p:nvSpPr>
          <p:spPr>
            <a:xfrm>
              <a:off x="266700" y="0"/>
              <a:ext cx="74930" cy="6860540"/>
            </a:xfrm>
            <a:custGeom>
              <a:avLst/>
              <a:gdLst/>
              <a:ahLst/>
              <a:cxnLst/>
              <a:rect l="l" t="t" r="r" b="b"/>
              <a:pathLst>
                <a:path w="74929" h="6860540">
                  <a:moveTo>
                    <a:pt x="74930" y="2957830"/>
                  </a:moveTo>
                  <a:lnTo>
                    <a:pt x="0" y="2957830"/>
                  </a:lnTo>
                  <a:lnTo>
                    <a:pt x="0" y="6860540"/>
                  </a:lnTo>
                  <a:lnTo>
                    <a:pt x="74930" y="6860540"/>
                  </a:lnTo>
                  <a:lnTo>
                    <a:pt x="74930" y="2957830"/>
                  </a:lnTo>
                  <a:close/>
                </a:path>
                <a:path w="74929" h="6860540">
                  <a:moveTo>
                    <a:pt x="74930" y="0"/>
                  </a:moveTo>
                  <a:lnTo>
                    <a:pt x="0" y="0"/>
                  </a:lnTo>
                  <a:lnTo>
                    <a:pt x="0" y="2325370"/>
                  </a:lnTo>
                  <a:lnTo>
                    <a:pt x="74930" y="2325370"/>
                  </a:lnTo>
                  <a:lnTo>
                    <a:pt x="74930" y="0"/>
                  </a:lnTo>
                  <a:close/>
                </a:path>
              </a:pathLst>
            </a:custGeom>
            <a:solidFill>
              <a:srgbClr val="D1D1E8"/>
            </a:solidFill>
          </p:spPr>
          <p:txBody>
            <a:bodyPr wrap="square" lIns="0" tIns="0" rIns="0" bIns="0" rtlCol="0"/>
            <a:lstStyle/>
            <a:p>
              <a:endParaRPr/>
            </a:p>
          </p:txBody>
        </p:sp>
        <p:sp>
          <p:nvSpPr>
            <p:cNvPr id="69" name="object 69"/>
            <p:cNvSpPr/>
            <p:nvPr/>
          </p:nvSpPr>
          <p:spPr>
            <a:xfrm>
              <a:off x="198120" y="0"/>
              <a:ext cx="74930" cy="6860540"/>
            </a:xfrm>
            <a:custGeom>
              <a:avLst/>
              <a:gdLst/>
              <a:ahLst/>
              <a:cxnLst/>
              <a:rect l="l" t="t" r="r" b="b"/>
              <a:pathLst>
                <a:path w="74929" h="6860540">
                  <a:moveTo>
                    <a:pt x="74930" y="2957830"/>
                  </a:moveTo>
                  <a:lnTo>
                    <a:pt x="0" y="2957830"/>
                  </a:lnTo>
                  <a:lnTo>
                    <a:pt x="0" y="6860540"/>
                  </a:lnTo>
                  <a:lnTo>
                    <a:pt x="74930" y="6860540"/>
                  </a:lnTo>
                  <a:lnTo>
                    <a:pt x="74930" y="2957830"/>
                  </a:lnTo>
                  <a:close/>
                </a:path>
                <a:path w="74929" h="6860540">
                  <a:moveTo>
                    <a:pt x="74930" y="0"/>
                  </a:moveTo>
                  <a:lnTo>
                    <a:pt x="0" y="0"/>
                  </a:lnTo>
                  <a:lnTo>
                    <a:pt x="0" y="2325370"/>
                  </a:lnTo>
                  <a:lnTo>
                    <a:pt x="74930" y="2325370"/>
                  </a:lnTo>
                  <a:lnTo>
                    <a:pt x="74930" y="0"/>
                  </a:lnTo>
                  <a:close/>
                </a:path>
              </a:pathLst>
            </a:custGeom>
            <a:solidFill>
              <a:srgbClr val="D0D0E8"/>
            </a:solidFill>
          </p:spPr>
          <p:txBody>
            <a:bodyPr wrap="square" lIns="0" tIns="0" rIns="0" bIns="0" rtlCol="0"/>
            <a:lstStyle/>
            <a:p>
              <a:endParaRPr/>
            </a:p>
          </p:txBody>
        </p:sp>
        <p:sp>
          <p:nvSpPr>
            <p:cNvPr id="70" name="object 70"/>
            <p:cNvSpPr/>
            <p:nvPr/>
          </p:nvSpPr>
          <p:spPr>
            <a:xfrm>
              <a:off x="128270" y="0"/>
              <a:ext cx="76200" cy="6860540"/>
            </a:xfrm>
            <a:custGeom>
              <a:avLst/>
              <a:gdLst/>
              <a:ahLst/>
              <a:cxnLst/>
              <a:rect l="l" t="t" r="r" b="b"/>
              <a:pathLst>
                <a:path w="76200" h="6860540">
                  <a:moveTo>
                    <a:pt x="76200" y="2957830"/>
                  </a:moveTo>
                  <a:lnTo>
                    <a:pt x="0" y="2957830"/>
                  </a:lnTo>
                  <a:lnTo>
                    <a:pt x="0" y="6860540"/>
                  </a:lnTo>
                  <a:lnTo>
                    <a:pt x="76200" y="6860540"/>
                  </a:lnTo>
                  <a:lnTo>
                    <a:pt x="76200" y="2957830"/>
                  </a:lnTo>
                  <a:close/>
                </a:path>
                <a:path w="76200" h="6860540">
                  <a:moveTo>
                    <a:pt x="76200" y="0"/>
                  </a:moveTo>
                  <a:lnTo>
                    <a:pt x="0" y="0"/>
                  </a:lnTo>
                  <a:lnTo>
                    <a:pt x="0" y="2325370"/>
                  </a:lnTo>
                  <a:lnTo>
                    <a:pt x="76200" y="2325370"/>
                  </a:lnTo>
                  <a:lnTo>
                    <a:pt x="76200" y="0"/>
                  </a:lnTo>
                  <a:close/>
                </a:path>
              </a:pathLst>
            </a:custGeom>
            <a:solidFill>
              <a:srgbClr val="CFCFE7"/>
            </a:solidFill>
          </p:spPr>
          <p:txBody>
            <a:bodyPr wrap="square" lIns="0" tIns="0" rIns="0" bIns="0" rtlCol="0"/>
            <a:lstStyle/>
            <a:p>
              <a:endParaRPr/>
            </a:p>
          </p:txBody>
        </p:sp>
        <p:sp>
          <p:nvSpPr>
            <p:cNvPr id="71" name="object 71"/>
            <p:cNvSpPr/>
            <p:nvPr/>
          </p:nvSpPr>
          <p:spPr>
            <a:xfrm>
              <a:off x="59690" y="0"/>
              <a:ext cx="76200" cy="6860540"/>
            </a:xfrm>
            <a:custGeom>
              <a:avLst/>
              <a:gdLst/>
              <a:ahLst/>
              <a:cxnLst/>
              <a:rect l="l" t="t" r="r" b="b"/>
              <a:pathLst>
                <a:path w="76200" h="6860540">
                  <a:moveTo>
                    <a:pt x="76200" y="2957830"/>
                  </a:moveTo>
                  <a:lnTo>
                    <a:pt x="0" y="2957830"/>
                  </a:lnTo>
                  <a:lnTo>
                    <a:pt x="0" y="6860540"/>
                  </a:lnTo>
                  <a:lnTo>
                    <a:pt x="76200" y="6860540"/>
                  </a:lnTo>
                  <a:lnTo>
                    <a:pt x="76200" y="2957830"/>
                  </a:lnTo>
                  <a:close/>
                </a:path>
                <a:path w="76200" h="6860540">
                  <a:moveTo>
                    <a:pt x="76200" y="0"/>
                  </a:moveTo>
                  <a:lnTo>
                    <a:pt x="0" y="0"/>
                  </a:lnTo>
                  <a:lnTo>
                    <a:pt x="0" y="2325370"/>
                  </a:lnTo>
                  <a:lnTo>
                    <a:pt x="76200" y="2325370"/>
                  </a:lnTo>
                  <a:lnTo>
                    <a:pt x="76200" y="0"/>
                  </a:lnTo>
                  <a:close/>
                </a:path>
              </a:pathLst>
            </a:custGeom>
            <a:solidFill>
              <a:srgbClr val="CECEE7"/>
            </a:solidFill>
          </p:spPr>
          <p:txBody>
            <a:bodyPr wrap="square" lIns="0" tIns="0" rIns="0" bIns="0" rtlCol="0"/>
            <a:lstStyle/>
            <a:p>
              <a:endParaRPr/>
            </a:p>
          </p:txBody>
        </p:sp>
        <p:sp>
          <p:nvSpPr>
            <p:cNvPr id="72" name="object 72"/>
            <p:cNvSpPr/>
            <p:nvPr/>
          </p:nvSpPr>
          <p:spPr>
            <a:xfrm>
              <a:off x="0" y="0"/>
              <a:ext cx="67310" cy="6858000"/>
            </a:xfrm>
            <a:custGeom>
              <a:avLst/>
              <a:gdLst/>
              <a:ahLst/>
              <a:cxnLst/>
              <a:rect l="l" t="t" r="r" b="b"/>
              <a:pathLst>
                <a:path w="67310" h="6858000">
                  <a:moveTo>
                    <a:pt x="67310" y="2956560"/>
                  </a:moveTo>
                  <a:lnTo>
                    <a:pt x="0" y="2956560"/>
                  </a:lnTo>
                  <a:lnTo>
                    <a:pt x="0" y="6858000"/>
                  </a:lnTo>
                  <a:lnTo>
                    <a:pt x="67310" y="6858000"/>
                  </a:lnTo>
                  <a:lnTo>
                    <a:pt x="67310" y="2956560"/>
                  </a:lnTo>
                  <a:close/>
                </a:path>
                <a:path w="67310" h="6858000">
                  <a:moveTo>
                    <a:pt x="67310" y="0"/>
                  </a:moveTo>
                  <a:lnTo>
                    <a:pt x="0" y="0"/>
                  </a:lnTo>
                  <a:lnTo>
                    <a:pt x="0" y="2324100"/>
                  </a:lnTo>
                  <a:lnTo>
                    <a:pt x="67310" y="2324100"/>
                  </a:lnTo>
                  <a:lnTo>
                    <a:pt x="67310" y="0"/>
                  </a:lnTo>
                  <a:close/>
                </a:path>
              </a:pathLst>
            </a:custGeom>
            <a:solidFill>
              <a:srgbClr val="CDCDE6"/>
            </a:solidFill>
          </p:spPr>
          <p:txBody>
            <a:bodyPr wrap="square" lIns="0" tIns="0" rIns="0" bIns="0" rtlCol="0"/>
            <a:lstStyle/>
            <a:p>
              <a:endParaRPr/>
            </a:p>
          </p:txBody>
        </p:sp>
        <p:sp>
          <p:nvSpPr>
            <p:cNvPr id="73" name="object 73"/>
            <p:cNvSpPr/>
            <p:nvPr/>
          </p:nvSpPr>
          <p:spPr>
            <a:xfrm>
              <a:off x="1715770" y="1690369"/>
              <a:ext cx="7428230" cy="2533650"/>
            </a:xfrm>
            <a:custGeom>
              <a:avLst/>
              <a:gdLst/>
              <a:ahLst/>
              <a:cxnLst/>
              <a:rect l="l" t="t" r="r" b="b"/>
              <a:pathLst>
                <a:path w="7428230" h="2533650">
                  <a:moveTo>
                    <a:pt x="7428230" y="0"/>
                  </a:moveTo>
                  <a:lnTo>
                    <a:pt x="0" y="0"/>
                  </a:lnTo>
                  <a:lnTo>
                    <a:pt x="0" y="2533649"/>
                  </a:lnTo>
                  <a:lnTo>
                    <a:pt x="7428230" y="2533649"/>
                  </a:lnTo>
                  <a:close/>
                </a:path>
              </a:pathLst>
            </a:custGeom>
            <a:solidFill>
              <a:srgbClr val="00007C"/>
            </a:solidFill>
          </p:spPr>
          <p:txBody>
            <a:bodyPr wrap="square" lIns="0" tIns="0" rIns="0" bIns="0" rtlCol="0"/>
            <a:lstStyle/>
            <a:p>
              <a:endParaRPr/>
            </a:p>
          </p:txBody>
        </p:sp>
        <p:sp>
          <p:nvSpPr>
            <p:cNvPr id="74" name="object 74"/>
            <p:cNvSpPr/>
            <p:nvPr/>
          </p:nvSpPr>
          <p:spPr>
            <a:xfrm>
              <a:off x="572769" y="3592829"/>
              <a:ext cx="568960" cy="631190"/>
            </a:xfrm>
            <a:custGeom>
              <a:avLst/>
              <a:gdLst/>
              <a:ahLst/>
              <a:cxnLst/>
              <a:rect l="l" t="t" r="r" b="b"/>
              <a:pathLst>
                <a:path w="568960" h="631189">
                  <a:moveTo>
                    <a:pt x="0" y="631190"/>
                  </a:moveTo>
                  <a:lnTo>
                    <a:pt x="568960" y="631190"/>
                  </a:lnTo>
                  <a:lnTo>
                    <a:pt x="568960" y="0"/>
                  </a:lnTo>
                  <a:lnTo>
                    <a:pt x="0" y="0"/>
                  </a:lnTo>
                  <a:lnTo>
                    <a:pt x="0" y="631190"/>
                  </a:lnTo>
                  <a:close/>
                </a:path>
              </a:pathLst>
            </a:custGeom>
            <a:solidFill>
              <a:srgbClr val="9999CC"/>
            </a:solidFill>
          </p:spPr>
          <p:txBody>
            <a:bodyPr wrap="square" lIns="0" tIns="0" rIns="0" bIns="0" rtlCol="0"/>
            <a:lstStyle/>
            <a:p>
              <a:endParaRPr/>
            </a:p>
          </p:txBody>
        </p:sp>
        <p:sp>
          <p:nvSpPr>
            <p:cNvPr id="75" name="object 75"/>
            <p:cNvSpPr/>
            <p:nvPr/>
          </p:nvSpPr>
          <p:spPr>
            <a:xfrm>
              <a:off x="1715770" y="1066799"/>
              <a:ext cx="1150620" cy="1257300"/>
            </a:xfrm>
            <a:custGeom>
              <a:avLst/>
              <a:gdLst/>
              <a:ahLst/>
              <a:cxnLst/>
              <a:rect l="l" t="t" r="r" b="b"/>
              <a:pathLst>
                <a:path w="1150620" h="1257300">
                  <a:moveTo>
                    <a:pt x="565150" y="623570"/>
                  </a:moveTo>
                  <a:lnTo>
                    <a:pt x="0" y="623570"/>
                  </a:lnTo>
                  <a:lnTo>
                    <a:pt x="0" y="1257300"/>
                  </a:lnTo>
                  <a:lnTo>
                    <a:pt x="565150" y="1257300"/>
                  </a:lnTo>
                  <a:lnTo>
                    <a:pt x="565150" y="623570"/>
                  </a:lnTo>
                  <a:close/>
                </a:path>
                <a:path w="1150620" h="1257300">
                  <a:moveTo>
                    <a:pt x="1150620" y="0"/>
                  </a:moveTo>
                  <a:lnTo>
                    <a:pt x="565150" y="0"/>
                  </a:lnTo>
                  <a:lnTo>
                    <a:pt x="565150" y="623570"/>
                  </a:lnTo>
                  <a:lnTo>
                    <a:pt x="1150620" y="623570"/>
                  </a:lnTo>
                  <a:lnTo>
                    <a:pt x="1150620" y="0"/>
                  </a:lnTo>
                  <a:close/>
                </a:path>
              </a:pathLst>
            </a:custGeom>
            <a:solidFill>
              <a:srgbClr val="CCCCE5"/>
            </a:solidFill>
          </p:spPr>
          <p:txBody>
            <a:bodyPr wrap="square" lIns="0" tIns="0" rIns="0" bIns="0" rtlCol="0"/>
            <a:lstStyle/>
            <a:p>
              <a:endParaRPr/>
            </a:p>
          </p:txBody>
        </p:sp>
        <p:sp>
          <p:nvSpPr>
            <p:cNvPr id="76" name="object 76"/>
            <p:cNvSpPr/>
            <p:nvPr/>
          </p:nvSpPr>
          <p:spPr>
            <a:xfrm>
              <a:off x="1141730" y="3592829"/>
              <a:ext cx="584200" cy="631190"/>
            </a:xfrm>
            <a:custGeom>
              <a:avLst/>
              <a:gdLst/>
              <a:ahLst/>
              <a:cxnLst/>
              <a:rect l="l" t="t" r="r" b="b"/>
              <a:pathLst>
                <a:path w="584200" h="631189">
                  <a:moveTo>
                    <a:pt x="0" y="631190"/>
                  </a:moveTo>
                  <a:lnTo>
                    <a:pt x="584200" y="631190"/>
                  </a:lnTo>
                  <a:lnTo>
                    <a:pt x="584200" y="0"/>
                  </a:lnTo>
                  <a:lnTo>
                    <a:pt x="0" y="0"/>
                  </a:lnTo>
                  <a:lnTo>
                    <a:pt x="0" y="631190"/>
                  </a:lnTo>
                  <a:close/>
                </a:path>
              </a:pathLst>
            </a:custGeom>
            <a:solidFill>
              <a:srgbClr val="00007C"/>
            </a:solidFill>
          </p:spPr>
          <p:txBody>
            <a:bodyPr wrap="square" lIns="0" tIns="0" rIns="0" bIns="0" rtlCol="0"/>
            <a:lstStyle/>
            <a:p>
              <a:endParaRPr/>
            </a:p>
          </p:txBody>
        </p:sp>
        <p:sp>
          <p:nvSpPr>
            <p:cNvPr id="77" name="object 77"/>
            <p:cNvSpPr/>
            <p:nvPr/>
          </p:nvSpPr>
          <p:spPr>
            <a:xfrm>
              <a:off x="2280920" y="1690369"/>
              <a:ext cx="585470" cy="642620"/>
            </a:xfrm>
            <a:custGeom>
              <a:avLst/>
              <a:gdLst/>
              <a:ahLst/>
              <a:cxnLst/>
              <a:rect l="l" t="t" r="r" b="b"/>
              <a:pathLst>
                <a:path w="585469" h="642619">
                  <a:moveTo>
                    <a:pt x="585469" y="0"/>
                  </a:moveTo>
                  <a:lnTo>
                    <a:pt x="0" y="0"/>
                  </a:lnTo>
                  <a:lnTo>
                    <a:pt x="0" y="642619"/>
                  </a:lnTo>
                  <a:lnTo>
                    <a:pt x="585469" y="642619"/>
                  </a:lnTo>
                  <a:close/>
                </a:path>
              </a:pathLst>
            </a:custGeom>
            <a:solidFill>
              <a:srgbClr val="9999CC"/>
            </a:solidFill>
          </p:spPr>
          <p:txBody>
            <a:bodyPr wrap="square" lIns="0" tIns="0" rIns="0" bIns="0" rtlCol="0"/>
            <a:lstStyle/>
            <a:p>
              <a:endParaRPr/>
            </a:p>
          </p:txBody>
        </p:sp>
        <p:sp>
          <p:nvSpPr>
            <p:cNvPr id="78" name="object 78"/>
            <p:cNvSpPr/>
            <p:nvPr/>
          </p:nvSpPr>
          <p:spPr>
            <a:xfrm>
              <a:off x="1141730" y="2324100"/>
              <a:ext cx="574040" cy="623570"/>
            </a:xfrm>
            <a:custGeom>
              <a:avLst/>
              <a:gdLst/>
              <a:ahLst/>
              <a:cxnLst/>
              <a:rect l="l" t="t" r="r" b="b"/>
              <a:pathLst>
                <a:path w="574039" h="623569">
                  <a:moveTo>
                    <a:pt x="0" y="623570"/>
                  </a:moveTo>
                  <a:lnTo>
                    <a:pt x="574039" y="623570"/>
                  </a:lnTo>
                  <a:lnTo>
                    <a:pt x="574039" y="0"/>
                  </a:lnTo>
                  <a:lnTo>
                    <a:pt x="0" y="0"/>
                  </a:lnTo>
                  <a:lnTo>
                    <a:pt x="0" y="623570"/>
                  </a:lnTo>
                  <a:close/>
                </a:path>
              </a:pathLst>
            </a:custGeom>
            <a:solidFill>
              <a:srgbClr val="CCCCE5"/>
            </a:solidFill>
          </p:spPr>
          <p:txBody>
            <a:bodyPr wrap="square" lIns="0" tIns="0" rIns="0" bIns="0" rtlCol="0"/>
            <a:lstStyle/>
            <a:p>
              <a:endParaRPr/>
            </a:p>
          </p:txBody>
        </p:sp>
        <p:sp>
          <p:nvSpPr>
            <p:cNvPr id="79" name="object 79"/>
            <p:cNvSpPr/>
            <p:nvPr/>
          </p:nvSpPr>
          <p:spPr>
            <a:xfrm>
              <a:off x="0" y="2324099"/>
              <a:ext cx="582930" cy="632460"/>
            </a:xfrm>
            <a:custGeom>
              <a:avLst/>
              <a:gdLst/>
              <a:ahLst/>
              <a:cxnLst/>
              <a:rect l="l" t="t" r="r" b="b"/>
              <a:pathLst>
                <a:path w="582930" h="632460">
                  <a:moveTo>
                    <a:pt x="582930" y="0"/>
                  </a:moveTo>
                  <a:lnTo>
                    <a:pt x="0" y="0"/>
                  </a:lnTo>
                  <a:lnTo>
                    <a:pt x="0" y="623570"/>
                  </a:lnTo>
                  <a:lnTo>
                    <a:pt x="0" y="632460"/>
                  </a:lnTo>
                  <a:lnTo>
                    <a:pt x="582930" y="632460"/>
                  </a:lnTo>
                  <a:lnTo>
                    <a:pt x="582930" y="623570"/>
                  </a:lnTo>
                  <a:lnTo>
                    <a:pt x="582930" y="0"/>
                  </a:lnTo>
                  <a:close/>
                </a:path>
              </a:pathLst>
            </a:custGeom>
            <a:solidFill>
              <a:srgbClr val="00007C"/>
            </a:solidFill>
          </p:spPr>
          <p:txBody>
            <a:bodyPr wrap="square" lIns="0" tIns="0" rIns="0" bIns="0" rtlCol="0"/>
            <a:lstStyle/>
            <a:p>
              <a:endParaRPr/>
            </a:p>
          </p:txBody>
        </p:sp>
        <p:sp>
          <p:nvSpPr>
            <p:cNvPr id="80" name="object 80"/>
            <p:cNvSpPr/>
            <p:nvPr/>
          </p:nvSpPr>
          <p:spPr>
            <a:xfrm>
              <a:off x="1715770" y="2324100"/>
              <a:ext cx="575310" cy="632460"/>
            </a:xfrm>
            <a:custGeom>
              <a:avLst/>
              <a:gdLst/>
              <a:ahLst/>
              <a:cxnLst/>
              <a:rect l="l" t="t" r="r" b="b"/>
              <a:pathLst>
                <a:path w="575310" h="632460">
                  <a:moveTo>
                    <a:pt x="575310" y="0"/>
                  </a:moveTo>
                  <a:lnTo>
                    <a:pt x="0" y="0"/>
                  </a:lnTo>
                  <a:lnTo>
                    <a:pt x="0" y="632460"/>
                  </a:lnTo>
                  <a:lnTo>
                    <a:pt x="575310" y="632460"/>
                  </a:lnTo>
                  <a:close/>
                </a:path>
              </a:pathLst>
            </a:custGeom>
            <a:solidFill>
              <a:srgbClr val="9999CC"/>
            </a:solidFill>
          </p:spPr>
          <p:txBody>
            <a:bodyPr wrap="square" lIns="0" tIns="0" rIns="0" bIns="0" rtlCol="0"/>
            <a:lstStyle/>
            <a:p>
              <a:endParaRPr/>
            </a:p>
          </p:txBody>
        </p:sp>
        <p:sp>
          <p:nvSpPr>
            <p:cNvPr id="81" name="object 81"/>
            <p:cNvSpPr/>
            <p:nvPr/>
          </p:nvSpPr>
          <p:spPr>
            <a:xfrm>
              <a:off x="572769" y="2947669"/>
              <a:ext cx="568960" cy="645160"/>
            </a:xfrm>
            <a:custGeom>
              <a:avLst/>
              <a:gdLst/>
              <a:ahLst/>
              <a:cxnLst/>
              <a:rect l="l" t="t" r="r" b="b"/>
              <a:pathLst>
                <a:path w="568960" h="645160">
                  <a:moveTo>
                    <a:pt x="0" y="645159"/>
                  </a:moveTo>
                  <a:lnTo>
                    <a:pt x="568960" y="645159"/>
                  </a:lnTo>
                  <a:lnTo>
                    <a:pt x="568960" y="0"/>
                  </a:lnTo>
                  <a:lnTo>
                    <a:pt x="0" y="0"/>
                  </a:lnTo>
                  <a:lnTo>
                    <a:pt x="0" y="645159"/>
                  </a:lnTo>
                  <a:close/>
                </a:path>
              </a:pathLst>
            </a:custGeom>
            <a:solidFill>
              <a:srgbClr val="CCCCE5"/>
            </a:solidFill>
          </p:spPr>
          <p:txBody>
            <a:bodyPr wrap="square" lIns="0" tIns="0" rIns="0" bIns="0" rtlCol="0"/>
            <a:lstStyle/>
            <a:p>
              <a:endParaRPr/>
            </a:p>
          </p:txBody>
        </p:sp>
        <p:sp>
          <p:nvSpPr>
            <p:cNvPr id="82" name="object 82"/>
            <p:cNvSpPr/>
            <p:nvPr/>
          </p:nvSpPr>
          <p:spPr>
            <a:xfrm>
              <a:off x="1141730" y="2947669"/>
              <a:ext cx="584200" cy="645160"/>
            </a:xfrm>
            <a:custGeom>
              <a:avLst/>
              <a:gdLst/>
              <a:ahLst/>
              <a:cxnLst/>
              <a:rect l="l" t="t" r="r" b="b"/>
              <a:pathLst>
                <a:path w="584200" h="645160">
                  <a:moveTo>
                    <a:pt x="584200" y="0"/>
                  </a:moveTo>
                  <a:lnTo>
                    <a:pt x="0" y="0"/>
                  </a:lnTo>
                  <a:lnTo>
                    <a:pt x="0" y="645159"/>
                  </a:lnTo>
                  <a:lnTo>
                    <a:pt x="584200" y="645159"/>
                  </a:lnTo>
                  <a:close/>
                </a:path>
              </a:pathLst>
            </a:custGeom>
            <a:solidFill>
              <a:srgbClr val="9999CC"/>
            </a:solidFill>
          </p:spPr>
          <p:txBody>
            <a:bodyPr wrap="square" lIns="0" tIns="0" rIns="0" bIns="0" rtlCol="0"/>
            <a:lstStyle/>
            <a:p>
              <a:endParaRPr/>
            </a:p>
          </p:txBody>
        </p:sp>
      </p:grpSp>
      <p:sp>
        <p:nvSpPr>
          <p:cNvPr id="83" name="object 83"/>
          <p:cNvSpPr txBox="1">
            <a:spLocks noGrp="1"/>
          </p:cNvSpPr>
          <p:nvPr>
            <p:ph type="title"/>
          </p:nvPr>
        </p:nvSpPr>
        <p:spPr>
          <a:xfrm>
            <a:off x="1296669" y="548640"/>
            <a:ext cx="6345555" cy="787400"/>
          </a:xfrm>
          <a:prstGeom prst="rect">
            <a:avLst/>
          </a:prstGeom>
        </p:spPr>
        <p:txBody>
          <a:bodyPr vert="horz" wrap="square" lIns="0" tIns="12700" rIns="0" bIns="0" rtlCol="0">
            <a:spAutoFit/>
          </a:bodyPr>
          <a:lstStyle/>
          <a:p>
            <a:pPr marL="12700">
              <a:lnSpc>
                <a:spcPct val="100000"/>
              </a:lnSpc>
              <a:spcBef>
                <a:spcPts val="100"/>
              </a:spcBef>
            </a:pPr>
            <a:r>
              <a:rPr sz="5000" spc="-5" dirty="0"/>
              <a:t>Business</a:t>
            </a:r>
            <a:r>
              <a:rPr sz="5000" spc="-50" dirty="0"/>
              <a:t> </a:t>
            </a:r>
            <a:r>
              <a:rPr sz="5000" spc="-5" dirty="0"/>
              <a:t>Environment</a:t>
            </a:r>
            <a:endParaRPr sz="50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4669" y="795020"/>
            <a:ext cx="4681220" cy="695960"/>
          </a:xfrm>
          <a:prstGeom prst="rect">
            <a:avLst/>
          </a:prstGeom>
        </p:spPr>
        <p:txBody>
          <a:bodyPr vert="horz" wrap="square" lIns="0" tIns="12700" rIns="0" bIns="0" rtlCol="0">
            <a:spAutoFit/>
          </a:bodyPr>
          <a:lstStyle/>
          <a:p>
            <a:pPr marL="12700">
              <a:lnSpc>
                <a:spcPct val="100000"/>
              </a:lnSpc>
              <a:spcBef>
                <a:spcPts val="100"/>
              </a:spcBef>
              <a:tabLst>
                <a:tab pos="2341245" algn="l"/>
              </a:tabLst>
            </a:pPr>
            <a:r>
              <a:rPr sz="4400" spc="-5" dirty="0"/>
              <a:t>L</a:t>
            </a:r>
            <a:r>
              <a:rPr sz="4400" spc="-10" dirty="0"/>
              <a:t>e</a:t>
            </a:r>
            <a:r>
              <a:rPr sz="4400" spc="-5" dirty="0"/>
              <a:t>arnin</a:t>
            </a:r>
            <a:r>
              <a:rPr sz="4400" dirty="0"/>
              <a:t>g	</a:t>
            </a:r>
            <a:r>
              <a:rPr sz="4400" spc="-5" dirty="0"/>
              <a:t>Obje</a:t>
            </a:r>
            <a:r>
              <a:rPr sz="4400" dirty="0"/>
              <a:t>c</a:t>
            </a:r>
            <a:r>
              <a:rPr sz="4400" spc="-5" dirty="0"/>
              <a:t>t</a:t>
            </a:r>
            <a:r>
              <a:rPr sz="4400" spc="5" dirty="0"/>
              <a:t>i</a:t>
            </a:r>
            <a:r>
              <a:rPr sz="4400" spc="-10" dirty="0"/>
              <a:t>v</a:t>
            </a:r>
            <a:r>
              <a:rPr sz="4400" dirty="0"/>
              <a:t>e</a:t>
            </a:r>
            <a:endParaRPr sz="4400"/>
          </a:p>
        </p:txBody>
      </p:sp>
      <p:sp>
        <p:nvSpPr>
          <p:cNvPr id="3" name="object 3"/>
          <p:cNvSpPr txBox="1"/>
          <p:nvPr/>
        </p:nvSpPr>
        <p:spPr>
          <a:xfrm>
            <a:off x="509269" y="1913889"/>
            <a:ext cx="7857490" cy="3703320"/>
          </a:xfrm>
          <a:prstGeom prst="rect">
            <a:avLst/>
          </a:prstGeom>
        </p:spPr>
        <p:txBody>
          <a:bodyPr vert="horz" wrap="square" lIns="0" tIns="64769" rIns="0" bIns="0" rtlCol="0">
            <a:spAutoFit/>
          </a:bodyPr>
          <a:lstStyle/>
          <a:p>
            <a:pPr marL="381000" indent="-342900">
              <a:lnSpc>
                <a:spcPct val="100000"/>
              </a:lnSpc>
              <a:spcBef>
                <a:spcPts val="509"/>
              </a:spcBef>
              <a:buClr>
                <a:srgbClr val="00007C"/>
              </a:buClr>
              <a:buSzPct val="75000"/>
              <a:buFont typeface="UnDotum"/>
              <a:buChar char=""/>
              <a:tabLst>
                <a:tab pos="381000" algn="l"/>
              </a:tabLst>
            </a:pPr>
            <a:r>
              <a:rPr sz="3200" spc="-5" dirty="0">
                <a:latin typeface="Arial"/>
                <a:cs typeface="Arial"/>
              </a:rPr>
              <a:t>What is </a:t>
            </a:r>
            <a:r>
              <a:rPr sz="3200" dirty="0">
                <a:latin typeface="Arial"/>
                <a:cs typeface="Arial"/>
              </a:rPr>
              <a:t>Business</a:t>
            </a:r>
            <a:endParaRPr sz="3200">
              <a:latin typeface="Arial"/>
              <a:cs typeface="Arial"/>
            </a:endParaRPr>
          </a:p>
          <a:p>
            <a:pPr marL="381000" indent="-342900">
              <a:lnSpc>
                <a:spcPct val="100000"/>
              </a:lnSpc>
              <a:spcBef>
                <a:spcPts val="409"/>
              </a:spcBef>
              <a:buClr>
                <a:srgbClr val="00007C"/>
              </a:buClr>
              <a:buSzPct val="75000"/>
              <a:buFont typeface="UnDotum"/>
              <a:buChar char=""/>
              <a:tabLst>
                <a:tab pos="381000" algn="l"/>
              </a:tabLst>
            </a:pPr>
            <a:r>
              <a:rPr sz="3200" spc="-5" dirty="0">
                <a:latin typeface="Arial"/>
                <a:cs typeface="Arial"/>
              </a:rPr>
              <a:t>What is </a:t>
            </a:r>
            <a:r>
              <a:rPr sz="3200" dirty="0">
                <a:latin typeface="Arial"/>
                <a:cs typeface="Arial"/>
              </a:rPr>
              <a:t>Environment</a:t>
            </a:r>
            <a:endParaRPr sz="3200">
              <a:latin typeface="Arial"/>
              <a:cs typeface="Arial"/>
            </a:endParaRPr>
          </a:p>
          <a:p>
            <a:pPr marL="381000" indent="-342900">
              <a:lnSpc>
                <a:spcPct val="100000"/>
              </a:lnSpc>
              <a:spcBef>
                <a:spcPts val="409"/>
              </a:spcBef>
              <a:buClr>
                <a:srgbClr val="00007C"/>
              </a:buClr>
              <a:buSzPct val="75000"/>
              <a:buFont typeface="UnDotum"/>
              <a:buChar char=""/>
              <a:tabLst>
                <a:tab pos="381000" algn="l"/>
              </a:tabLst>
            </a:pPr>
            <a:r>
              <a:rPr sz="3200" dirty="0">
                <a:latin typeface="Arial"/>
                <a:cs typeface="Arial"/>
              </a:rPr>
              <a:t>Business Environment- </a:t>
            </a:r>
            <a:r>
              <a:rPr sz="3200" spc="-5" dirty="0">
                <a:latin typeface="Arial"/>
                <a:cs typeface="Arial"/>
              </a:rPr>
              <a:t>Nature,</a:t>
            </a:r>
            <a:r>
              <a:rPr sz="3200" spc="-60" dirty="0">
                <a:latin typeface="Arial"/>
                <a:cs typeface="Arial"/>
              </a:rPr>
              <a:t> </a:t>
            </a:r>
            <a:r>
              <a:rPr sz="3200" spc="-5" dirty="0">
                <a:latin typeface="Arial"/>
                <a:cs typeface="Arial"/>
              </a:rPr>
              <a:t>Objective</a:t>
            </a:r>
            <a:endParaRPr sz="3200">
              <a:latin typeface="Arial"/>
              <a:cs typeface="Arial"/>
            </a:endParaRPr>
          </a:p>
          <a:p>
            <a:pPr marL="381000" indent="-342900">
              <a:lnSpc>
                <a:spcPct val="100000"/>
              </a:lnSpc>
              <a:spcBef>
                <a:spcPts val="420"/>
              </a:spcBef>
              <a:buClr>
                <a:srgbClr val="00007C"/>
              </a:buClr>
              <a:buSzPct val="75000"/>
              <a:buFont typeface="UnDotum"/>
              <a:buChar char=""/>
              <a:tabLst>
                <a:tab pos="381000" algn="l"/>
              </a:tabLst>
            </a:pPr>
            <a:r>
              <a:rPr sz="3200" dirty="0">
                <a:latin typeface="Arial"/>
                <a:cs typeface="Arial"/>
              </a:rPr>
              <a:t>Types of Business</a:t>
            </a:r>
            <a:r>
              <a:rPr sz="3200" spc="-40" dirty="0">
                <a:latin typeface="Arial"/>
                <a:cs typeface="Arial"/>
              </a:rPr>
              <a:t> </a:t>
            </a:r>
            <a:r>
              <a:rPr sz="3200" dirty="0">
                <a:latin typeface="Arial"/>
                <a:cs typeface="Arial"/>
              </a:rPr>
              <a:t>Environment</a:t>
            </a:r>
            <a:endParaRPr sz="3200">
              <a:latin typeface="Arial"/>
              <a:cs typeface="Arial"/>
            </a:endParaRPr>
          </a:p>
          <a:p>
            <a:pPr marL="380365" marR="58419" indent="-342900">
              <a:lnSpc>
                <a:spcPts val="3450"/>
              </a:lnSpc>
              <a:spcBef>
                <a:spcPts val="850"/>
              </a:spcBef>
              <a:buClr>
                <a:srgbClr val="00007C"/>
              </a:buClr>
              <a:buSzPct val="75000"/>
              <a:buFont typeface="UnDotum"/>
              <a:buChar char=""/>
              <a:tabLst>
                <a:tab pos="381000" algn="l"/>
              </a:tabLst>
            </a:pPr>
            <a:r>
              <a:rPr sz="3200" dirty="0">
                <a:latin typeface="Arial"/>
                <a:cs typeface="Arial"/>
              </a:rPr>
              <a:t>Interaction </a:t>
            </a:r>
            <a:r>
              <a:rPr sz="3200" spc="-5" dirty="0">
                <a:latin typeface="Arial"/>
                <a:cs typeface="Arial"/>
              </a:rPr>
              <a:t>between Internal </a:t>
            </a:r>
            <a:r>
              <a:rPr sz="3200" dirty="0">
                <a:latin typeface="Arial"/>
                <a:cs typeface="Arial"/>
              </a:rPr>
              <a:t>and </a:t>
            </a:r>
            <a:r>
              <a:rPr sz="3200" spc="-5" dirty="0">
                <a:latin typeface="Arial"/>
                <a:cs typeface="Arial"/>
              </a:rPr>
              <a:t>External  </a:t>
            </a:r>
            <a:r>
              <a:rPr sz="3200" dirty="0">
                <a:latin typeface="Arial"/>
                <a:cs typeface="Arial"/>
              </a:rPr>
              <a:t>Environment</a:t>
            </a:r>
            <a:endParaRPr sz="3200">
              <a:latin typeface="Arial"/>
              <a:cs typeface="Arial"/>
            </a:endParaRPr>
          </a:p>
          <a:p>
            <a:pPr marL="381000" indent="-342900">
              <a:lnSpc>
                <a:spcPct val="100000"/>
              </a:lnSpc>
              <a:spcBef>
                <a:spcPts val="360"/>
              </a:spcBef>
              <a:buClr>
                <a:srgbClr val="00007C"/>
              </a:buClr>
              <a:buSzPct val="75000"/>
              <a:buFont typeface="UnDotum"/>
              <a:buChar char=""/>
              <a:tabLst>
                <a:tab pos="381000" algn="l"/>
              </a:tabLst>
            </a:pPr>
            <a:r>
              <a:rPr sz="3200" dirty="0">
                <a:latin typeface="Arial"/>
                <a:cs typeface="Arial"/>
              </a:rPr>
              <a:t>Importance </a:t>
            </a:r>
            <a:r>
              <a:rPr sz="3200" spc="-5" dirty="0">
                <a:latin typeface="Arial"/>
                <a:cs typeface="Arial"/>
              </a:rPr>
              <a:t>of </a:t>
            </a:r>
            <a:r>
              <a:rPr sz="3200" dirty="0">
                <a:latin typeface="Arial"/>
                <a:cs typeface="Arial"/>
              </a:rPr>
              <a:t>Business</a:t>
            </a:r>
            <a:r>
              <a:rPr sz="3200" spc="-20" dirty="0">
                <a:latin typeface="Arial"/>
                <a:cs typeface="Arial"/>
              </a:rPr>
              <a:t> </a:t>
            </a:r>
            <a:r>
              <a:rPr sz="3200" dirty="0">
                <a:latin typeface="Arial"/>
                <a:cs typeface="Arial"/>
              </a:rPr>
              <a:t>Environment</a:t>
            </a:r>
            <a:endParaRPr sz="3200">
              <a:latin typeface="Arial"/>
              <a:cs typeface="Aria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69" y="514350"/>
            <a:ext cx="200025" cy="299720"/>
          </a:xfrm>
          <a:prstGeom prst="rect">
            <a:avLst/>
          </a:prstGeom>
        </p:spPr>
        <p:txBody>
          <a:bodyPr vert="horz" wrap="square" lIns="0" tIns="12700" rIns="0" bIns="0" rtlCol="0">
            <a:spAutoFit/>
          </a:bodyPr>
          <a:lstStyle/>
          <a:p>
            <a:pPr marL="12700">
              <a:lnSpc>
                <a:spcPct val="100000"/>
              </a:lnSpc>
              <a:spcBef>
                <a:spcPts val="100"/>
              </a:spcBef>
            </a:pPr>
            <a:r>
              <a:rPr sz="1800" spc="-430" dirty="0">
                <a:solidFill>
                  <a:srgbClr val="00007C"/>
                </a:solidFill>
                <a:latin typeface="UnDotum"/>
                <a:cs typeface="UnDotum"/>
              </a:rPr>
              <a:t></a:t>
            </a:r>
            <a:endParaRPr sz="1800">
              <a:latin typeface="UnDotum"/>
              <a:cs typeface="UnDotum"/>
            </a:endParaRPr>
          </a:p>
        </p:txBody>
      </p:sp>
      <p:sp>
        <p:nvSpPr>
          <p:cNvPr id="3" name="object 3"/>
          <p:cNvSpPr txBox="1">
            <a:spLocks noGrp="1"/>
          </p:cNvSpPr>
          <p:nvPr>
            <p:ph type="title"/>
          </p:nvPr>
        </p:nvSpPr>
        <p:spPr>
          <a:xfrm>
            <a:off x="877569" y="491490"/>
            <a:ext cx="1463040"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B</a:t>
            </a:r>
            <a:r>
              <a:rPr sz="2400" b="1" spc="-10" dirty="0">
                <a:latin typeface="Arial"/>
                <a:cs typeface="Arial"/>
              </a:rPr>
              <a:t>us</a:t>
            </a:r>
            <a:r>
              <a:rPr sz="2400" b="1" dirty="0">
                <a:latin typeface="Arial"/>
                <a:cs typeface="Arial"/>
              </a:rPr>
              <a:t>in</a:t>
            </a:r>
            <a:r>
              <a:rPr sz="2400" b="1" spc="-10" dirty="0">
                <a:latin typeface="Arial"/>
                <a:cs typeface="Arial"/>
              </a:rPr>
              <a:t>es</a:t>
            </a:r>
            <a:r>
              <a:rPr sz="2400" b="1" dirty="0">
                <a:latin typeface="Arial"/>
                <a:cs typeface="Arial"/>
              </a:rPr>
              <a:t>s</a:t>
            </a:r>
            <a:r>
              <a:rPr sz="2400" dirty="0"/>
              <a:t>:</a:t>
            </a:r>
            <a:endParaRPr sz="2400">
              <a:latin typeface="Arial"/>
              <a:cs typeface="Arial"/>
            </a:endParaRPr>
          </a:p>
        </p:txBody>
      </p:sp>
      <p:sp>
        <p:nvSpPr>
          <p:cNvPr id="4" name="object 4"/>
          <p:cNvSpPr txBox="1"/>
          <p:nvPr/>
        </p:nvSpPr>
        <p:spPr>
          <a:xfrm>
            <a:off x="534669" y="933450"/>
            <a:ext cx="8051165" cy="4352290"/>
          </a:xfrm>
          <a:prstGeom prst="rect">
            <a:avLst/>
          </a:prstGeom>
        </p:spPr>
        <p:txBody>
          <a:bodyPr vert="horz" wrap="square" lIns="0" tIns="12700" rIns="0" bIns="0" rtlCol="0">
            <a:spAutoFit/>
          </a:bodyPr>
          <a:lstStyle/>
          <a:p>
            <a:pPr marL="354965" marR="5080" indent="1485900">
              <a:lnSpc>
                <a:spcPct val="100000"/>
              </a:lnSpc>
              <a:spcBef>
                <a:spcPts val="100"/>
              </a:spcBef>
            </a:pPr>
            <a:r>
              <a:rPr sz="2400" spc="-10" dirty="0">
                <a:latin typeface="Arial"/>
                <a:cs typeface="Arial"/>
              </a:rPr>
              <a:t>Business is </a:t>
            </a:r>
            <a:r>
              <a:rPr sz="2400" dirty="0">
                <a:latin typeface="Arial"/>
                <a:cs typeface="Arial"/>
              </a:rPr>
              <a:t>a human </a:t>
            </a:r>
            <a:r>
              <a:rPr sz="2400" spc="-5" dirty="0">
                <a:latin typeface="Arial"/>
                <a:cs typeface="Arial"/>
              </a:rPr>
              <a:t>activity carried </a:t>
            </a:r>
            <a:r>
              <a:rPr sz="2400" spc="-10" dirty="0">
                <a:latin typeface="Arial"/>
                <a:cs typeface="Arial"/>
              </a:rPr>
              <a:t>out </a:t>
            </a:r>
            <a:r>
              <a:rPr sz="2400" dirty="0">
                <a:latin typeface="Arial"/>
                <a:cs typeface="Arial"/>
              </a:rPr>
              <a:t>by  </a:t>
            </a:r>
            <a:r>
              <a:rPr sz="2400" spc="-5" dirty="0">
                <a:latin typeface="Arial"/>
                <a:cs typeface="Arial"/>
              </a:rPr>
              <a:t>the </a:t>
            </a:r>
            <a:r>
              <a:rPr sz="2400" spc="-10" dirty="0">
                <a:latin typeface="Arial"/>
                <a:cs typeface="Arial"/>
              </a:rPr>
              <a:t>unified </a:t>
            </a:r>
            <a:r>
              <a:rPr sz="2400" spc="-5" dirty="0">
                <a:latin typeface="Arial"/>
                <a:cs typeface="Arial"/>
              </a:rPr>
              <a:t>efforts of different categories of </a:t>
            </a:r>
            <a:r>
              <a:rPr sz="2400" spc="-10" dirty="0">
                <a:latin typeface="Arial"/>
                <a:cs typeface="Arial"/>
              </a:rPr>
              <a:t>people, </a:t>
            </a:r>
            <a:r>
              <a:rPr sz="2400" dirty="0">
                <a:latin typeface="Arial"/>
                <a:cs typeface="Arial"/>
              </a:rPr>
              <a:t>to  </a:t>
            </a:r>
            <a:r>
              <a:rPr sz="2400" spc="-5" dirty="0">
                <a:latin typeface="Arial"/>
                <a:cs typeface="Arial"/>
              </a:rPr>
              <a:t>produce </a:t>
            </a:r>
            <a:r>
              <a:rPr sz="2400" dirty="0">
                <a:latin typeface="Arial"/>
                <a:cs typeface="Arial"/>
              </a:rPr>
              <a:t>the </a:t>
            </a:r>
            <a:r>
              <a:rPr sz="2400" spc="-5" dirty="0">
                <a:latin typeface="Arial"/>
                <a:cs typeface="Arial"/>
              </a:rPr>
              <a:t>wealth through production and distribution of  the </a:t>
            </a:r>
            <a:r>
              <a:rPr sz="2400" spc="-10" dirty="0">
                <a:latin typeface="Arial"/>
                <a:cs typeface="Arial"/>
              </a:rPr>
              <a:t>goods and</a:t>
            </a:r>
            <a:r>
              <a:rPr sz="2400" spc="15" dirty="0">
                <a:latin typeface="Arial"/>
                <a:cs typeface="Arial"/>
              </a:rPr>
              <a:t> </a:t>
            </a:r>
            <a:r>
              <a:rPr sz="2400" spc="-5" dirty="0">
                <a:latin typeface="Arial"/>
                <a:cs typeface="Arial"/>
              </a:rPr>
              <a:t>services.</a:t>
            </a:r>
            <a:endParaRPr sz="2400">
              <a:latin typeface="Arial"/>
              <a:cs typeface="Arial"/>
            </a:endParaRPr>
          </a:p>
          <a:p>
            <a:pPr marL="12700">
              <a:lnSpc>
                <a:spcPct val="100000"/>
              </a:lnSpc>
              <a:spcBef>
                <a:spcPts val="600"/>
              </a:spcBef>
            </a:pPr>
            <a:r>
              <a:rPr sz="2400" spc="-5" dirty="0">
                <a:latin typeface="Arial"/>
                <a:cs typeface="Arial"/>
              </a:rPr>
              <a:t>According </a:t>
            </a:r>
            <a:r>
              <a:rPr sz="2400" dirty="0">
                <a:latin typeface="Arial"/>
                <a:cs typeface="Arial"/>
              </a:rPr>
              <a:t>to </a:t>
            </a:r>
            <a:r>
              <a:rPr sz="2400" b="1" spc="-5" dirty="0">
                <a:latin typeface="Arial"/>
                <a:cs typeface="Arial"/>
              </a:rPr>
              <a:t>Malvin Anshen</a:t>
            </a:r>
            <a:r>
              <a:rPr sz="2400" b="1" spc="10" dirty="0">
                <a:latin typeface="Arial"/>
                <a:cs typeface="Arial"/>
              </a:rPr>
              <a:t> </a:t>
            </a:r>
            <a:r>
              <a:rPr sz="2400" b="1" dirty="0">
                <a:latin typeface="Arial"/>
                <a:cs typeface="Arial"/>
              </a:rPr>
              <a:t>:</a:t>
            </a:r>
            <a:endParaRPr sz="2400">
              <a:latin typeface="Arial"/>
              <a:cs typeface="Arial"/>
            </a:endParaRPr>
          </a:p>
          <a:p>
            <a:pPr marL="354965" marR="557530" indent="1485900">
              <a:lnSpc>
                <a:spcPct val="100000"/>
              </a:lnSpc>
              <a:spcBef>
                <a:spcPts val="590"/>
              </a:spcBef>
            </a:pPr>
            <a:r>
              <a:rPr sz="2400" dirty="0">
                <a:latin typeface="Arial"/>
                <a:cs typeface="Arial"/>
              </a:rPr>
              <a:t>“ </a:t>
            </a:r>
            <a:r>
              <a:rPr sz="2400" spc="-5" dirty="0">
                <a:latin typeface="Arial"/>
                <a:cs typeface="Arial"/>
              </a:rPr>
              <a:t>Business is the way by which </a:t>
            </a:r>
            <a:r>
              <a:rPr sz="2400" spc="5" dirty="0">
                <a:latin typeface="Arial"/>
                <a:cs typeface="Arial"/>
              </a:rPr>
              <a:t>men </a:t>
            </a:r>
            <a:r>
              <a:rPr sz="2400" dirty="0">
                <a:latin typeface="Arial"/>
                <a:cs typeface="Arial"/>
              </a:rPr>
              <a:t>make  </a:t>
            </a:r>
            <a:r>
              <a:rPr sz="2400" spc="-5" dirty="0">
                <a:latin typeface="Arial"/>
                <a:cs typeface="Arial"/>
              </a:rPr>
              <a:t>their</a:t>
            </a:r>
            <a:r>
              <a:rPr sz="2400" spc="5" dirty="0">
                <a:latin typeface="Arial"/>
                <a:cs typeface="Arial"/>
              </a:rPr>
              <a:t> </a:t>
            </a:r>
            <a:r>
              <a:rPr sz="2400" spc="-10" dirty="0">
                <a:latin typeface="Arial"/>
                <a:cs typeface="Arial"/>
              </a:rPr>
              <a:t>living.”</a:t>
            </a:r>
            <a:endParaRPr sz="2400">
              <a:latin typeface="Arial"/>
              <a:cs typeface="Arial"/>
            </a:endParaRPr>
          </a:p>
          <a:p>
            <a:pPr marL="12700">
              <a:lnSpc>
                <a:spcPct val="100000"/>
              </a:lnSpc>
              <a:spcBef>
                <a:spcPts val="600"/>
              </a:spcBef>
            </a:pPr>
            <a:r>
              <a:rPr sz="2400" spc="-5" dirty="0">
                <a:latin typeface="Arial"/>
                <a:cs typeface="Arial"/>
              </a:rPr>
              <a:t>According </a:t>
            </a:r>
            <a:r>
              <a:rPr sz="2400" dirty="0">
                <a:latin typeface="Arial"/>
                <a:cs typeface="Arial"/>
              </a:rPr>
              <a:t>to </a:t>
            </a:r>
            <a:r>
              <a:rPr sz="2400" b="1" spc="-10" dirty="0">
                <a:latin typeface="Arial"/>
                <a:cs typeface="Arial"/>
              </a:rPr>
              <a:t>Bayard </a:t>
            </a:r>
            <a:r>
              <a:rPr sz="2400" b="1" spc="-5" dirty="0">
                <a:latin typeface="Arial"/>
                <a:cs typeface="Arial"/>
              </a:rPr>
              <a:t>O’Wheeler</a:t>
            </a:r>
            <a:r>
              <a:rPr sz="2400" b="1" spc="10" dirty="0">
                <a:latin typeface="Arial"/>
                <a:cs typeface="Arial"/>
              </a:rPr>
              <a:t> </a:t>
            </a:r>
            <a:r>
              <a:rPr sz="2400" b="1" dirty="0">
                <a:latin typeface="Arial"/>
                <a:cs typeface="Arial"/>
              </a:rPr>
              <a:t>:</a:t>
            </a:r>
            <a:endParaRPr sz="2400">
              <a:latin typeface="Arial"/>
              <a:cs typeface="Arial"/>
            </a:endParaRPr>
          </a:p>
          <a:p>
            <a:pPr marL="354965" marR="125095" indent="1485900">
              <a:lnSpc>
                <a:spcPct val="100000"/>
              </a:lnSpc>
              <a:spcBef>
                <a:spcPts val="600"/>
              </a:spcBef>
            </a:pPr>
            <a:r>
              <a:rPr sz="2400" dirty="0">
                <a:latin typeface="Arial"/>
                <a:cs typeface="Arial"/>
              </a:rPr>
              <a:t>“ </a:t>
            </a:r>
            <a:r>
              <a:rPr sz="2400" spc="-5" dirty="0">
                <a:latin typeface="Arial"/>
                <a:cs typeface="Arial"/>
              </a:rPr>
              <a:t>Business is an institution organized </a:t>
            </a:r>
            <a:r>
              <a:rPr sz="2400" spc="-10" dirty="0">
                <a:latin typeface="Arial"/>
                <a:cs typeface="Arial"/>
              </a:rPr>
              <a:t>and  operated </a:t>
            </a:r>
            <a:r>
              <a:rPr sz="2400" dirty="0">
                <a:latin typeface="Arial"/>
                <a:cs typeface="Arial"/>
              </a:rPr>
              <a:t>to </a:t>
            </a:r>
            <a:r>
              <a:rPr sz="2400" spc="-10" dirty="0">
                <a:latin typeface="Arial"/>
                <a:cs typeface="Arial"/>
              </a:rPr>
              <a:t>provide goods </a:t>
            </a:r>
            <a:r>
              <a:rPr sz="2400" spc="-5" dirty="0">
                <a:latin typeface="Arial"/>
                <a:cs typeface="Arial"/>
              </a:rPr>
              <a:t>and services </a:t>
            </a:r>
            <a:r>
              <a:rPr sz="2400" dirty="0">
                <a:latin typeface="Arial"/>
                <a:cs typeface="Arial"/>
              </a:rPr>
              <a:t>to </a:t>
            </a:r>
            <a:r>
              <a:rPr sz="2400" spc="-5" dirty="0">
                <a:latin typeface="Arial"/>
                <a:cs typeface="Arial"/>
              </a:rPr>
              <a:t>society </a:t>
            </a:r>
            <a:r>
              <a:rPr sz="2400" spc="-10" dirty="0">
                <a:latin typeface="Arial"/>
                <a:cs typeface="Arial"/>
              </a:rPr>
              <a:t>under  </a:t>
            </a:r>
            <a:r>
              <a:rPr sz="2400" spc="-5" dirty="0">
                <a:latin typeface="Arial"/>
                <a:cs typeface="Arial"/>
              </a:rPr>
              <a:t>the </a:t>
            </a:r>
            <a:r>
              <a:rPr sz="2400" spc="-10" dirty="0">
                <a:latin typeface="Arial"/>
                <a:cs typeface="Arial"/>
              </a:rPr>
              <a:t>incentive </a:t>
            </a:r>
            <a:r>
              <a:rPr sz="2400" spc="-5" dirty="0">
                <a:latin typeface="Arial"/>
                <a:cs typeface="Arial"/>
              </a:rPr>
              <a:t>of private</a:t>
            </a:r>
            <a:r>
              <a:rPr sz="2400" spc="20" dirty="0">
                <a:latin typeface="Arial"/>
                <a:cs typeface="Arial"/>
              </a:rPr>
              <a:t> </a:t>
            </a:r>
            <a:r>
              <a:rPr sz="2400" spc="-10" dirty="0">
                <a:latin typeface="Arial"/>
                <a:cs typeface="Arial"/>
              </a:rPr>
              <a:t>gain.”</a:t>
            </a:r>
            <a:endParaRPr sz="2400">
              <a:latin typeface="Arial"/>
              <a:cs typeface="Aria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969" y="1668779"/>
            <a:ext cx="2791460" cy="513080"/>
          </a:xfrm>
          <a:prstGeom prst="rect">
            <a:avLst/>
          </a:prstGeom>
        </p:spPr>
        <p:txBody>
          <a:bodyPr vert="horz" wrap="square" lIns="0" tIns="12700" rIns="0" bIns="0" rtlCol="0">
            <a:spAutoFit/>
          </a:bodyPr>
          <a:lstStyle/>
          <a:p>
            <a:pPr marL="25400">
              <a:lnSpc>
                <a:spcPct val="100000"/>
              </a:lnSpc>
              <a:spcBef>
                <a:spcPts val="100"/>
              </a:spcBef>
            </a:pPr>
            <a:r>
              <a:rPr sz="3600" spc="-855" baseline="12731" dirty="0">
                <a:solidFill>
                  <a:srgbClr val="00007C"/>
                </a:solidFill>
                <a:latin typeface="UnDotum"/>
                <a:cs typeface="UnDotum"/>
              </a:rPr>
              <a:t></a:t>
            </a:r>
            <a:r>
              <a:rPr sz="3600" spc="-794" baseline="12731" dirty="0">
                <a:solidFill>
                  <a:srgbClr val="00007C"/>
                </a:solidFill>
                <a:latin typeface="UnDotum"/>
                <a:cs typeface="UnDotum"/>
              </a:rPr>
              <a:t> </a:t>
            </a:r>
            <a:r>
              <a:rPr sz="3200" dirty="0"/>
              <a:t>Environment:</a:t>
            </a:r>
            <a:endParaRPr sz="3200">
              <a:latin typeface="UnDotum"/>
              <a:cs typeface="UnDotum"/>
            </a:endParaRPr>
          </a:p>
        </p:txBody>
      </p:sp>
      <p:sp>
        <p:nvSpPr>
          <p:cNvPr id="3" name="object 3"/>
          <p:cNvSpPr txBox="1"/>
          <p:nvPr/>
        </p:nvSpPr>
        <p:spPr>
          <a:xfrm>
            <a:off x="877569" y="2313939"/>
            <a:ext cx="7594600" cy="1529080"/>
          </a:xfrm>
          <a:prstGeom prst="rect">
            <a:avLst/>
          </a:prstGeom>
        </p:spPr>
        <p:txBody>
          <a:bodyPr vert="horz" wrap="square" lIns="0" tIns="26034" rIns="0" bIns="0" rtlCol="0">
            <a:spAutoFit/>
          </a:bodyPr>
          <a:lstStyle/>
          <a:p>
            <a:pPr marL="12700" marR="5080" indent="1485900">
              <a:lnSpc>
                <a:spcPct val="101899"/>
              </a:lnSpc>
              <a:spcBef>
                <a:spcPts val="204"/>
              </a:spcBef>
            </a:pPr>
            <a:r>
              <a:rPr sz="2400" spc="-5" dirty="0">
                <a:latin typeface="Arial"/>
                <a:cs typeface="Arial"/>
              </a:rPr>
              <a:t>The birth, growth and continuous  </a:t>
            </a:r>
            <a:r>
              <a:rPr sz="2400" spc="-10" dirty="0">
                <a:latin typeface="Arial"/>
                <a:cs typeface="Arial"/>
              </a:rPr>
              <a:t>development </a:t>
            </a:r>
            <a:r>
              <a:rPr sz="2400" spc="-5" dirty="0">
                <a:latin typeface="Arial"/>
                <a:cs typeface="Arial"/>
              </a:rPr>
              <a:t>of organization are influenced </a:t>
            </a:r>
            <a:r>
              <a:rPr sz="2400" dirty="0">
                <a:latin typeface="Arial"/>
                <a:cs typeface="Arial"/>
              </a:rPr>
              <a:t>by a </a:t>
            </a:r>
            <a:r>
              <a:rPr sz="2400" spc="-5" dirty="0">
                <a:latin typeface="Arial"/>
                <a:cs typeface="Arial"/>
              </a:rPr>
              <a:t>wide  range of </a:t>
            </a:r>
            <a:r>
              <a:rPr sz="2400" spc="-10" dirty="0">
                <a:latin typeface="Arial"/>
                <a:cs typeface="Arial"/>
              </a:rPr>
              <a:t>variables </a:t>
            </a:r>
            <a:r>
              <a:rPr sz="2400" spc="-5" dirty="0">
                <a:latin typeface="Arial"/>
                <a:cs typeface="Arial"/>
              </a:rPr>
              <a:t>like employees, customers, suppliers,  producers, competition</a:t>
            </a:r>
            <a:r>
              <a:rPr sz="2400" spc="5" dirty="0">
                <a:latin typeface="Arial"/>
                <a:cs typeface="Arial"/>
              </a:rPr>
              <a:t> </a:t>
            </a:r>
            <a:r>
              <a:rPr sz="2400" spc="-5" dirty="0">
                <a:latin typeface="Arial"/>
                <a:cs typeface="Arial"/>
              </a:rPr>
              <a:t>etc.</a:t>
            </a:r>
            <a:endParaRPr sz="2400">
              <a:latin typeface="Arial"/>
              <a:cs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969" y="491490"/>
            <a:ext cx="4556760" cy="513080"/>
          </a:xfrm>
          <a:prstGeom prst="rect">
            <a:avLst/>
          </a:prstGeom>
        </p:spPr>
        <p:txBody>
          <a:bodyPr vert="horz" wrap="square" lIns="0" tIns="12700" rIns="0" bIns="0" rtlCol="0">
            <a:spAutoFit/>
          </a:bodyPr>
          <a:lstStyle/>
          <a:p>
            <a:pPr marL="25400">
              <a:lnSpc>
                <a:spcPct val="100000"/>
              </a:lnSpc>
              <a:spcBef>
                <a:spcPts val="100"/>
              </a:spcBef>
            </a:pPr>
            <a:r>
              <a:rPr sz="3600" spc="-855" baseline="12731" dirty="0">
                <a:solidFill>
                  <a:srgbClr val="00007C"/>
                </a:solidFill>
                <a:latin typeface="UnDotum"/>
                <a:cs typeface="UnDotum"/>
              </a:rPr>
              <a:t> </a:t>
            </a:r>
            <a:r>
              <a:rPr sz="3200" dirty="0"/>
              <a:t>Business</a:t>
            </a:r>
            <a:r>
              <a:rPr sz="3200" spc="-120" dirty="0"/>
              <a:t> </a:t>
            </a:r>
            <a:r>
              <a:rPr sz="3200" dirty="0"/>
              <a:t>Environment:</a:t>
            </a:r>
            <a:endParaRPr sz="3200">
              <a:latin typeface="UnDotum"/>
              <a:cs typeface="UnDotum"/>
            </a:endParaRPr>
          </a:p>
        </p:txBody>
      </p:sp>
      <p:sp>
        <p:nvSpPr>
          <p:cNvPr id="3" name="object 3"/>
          <p:cNvSpPr txBox="1"/>
          <p:nvPr/>
        </p:nvSpPr>
        <p:spPr>
          <a:xfrm>
            <a:off x="534669" y="1137920"/>
            <a:ext cx="8049259" cy="3583940"/>
          </a:xfrm>
          <a:prstGeom prst="rect">
            <a:avLst/>
          </a:prstGeom>
        </p:spPr>
        <p:txBody>
          <a:bodyPr vert="horz" wrap="square" lIns="0" tIns="25400" rIns="0" bIns="0" rtlCol="0">
            <a:spAutoFit/>
          </a:bodyPr>
          <a:lstStyle/>
          <a:p>
            <a:pPr marL="354965" marR="5080" indent="1485900">
              <a:lnSpc>
                <a:spcPct val="101699"/>
              </a:lnSpc>
              <a:spcBef>
                <a:spcPts val="200"/>
              </a:spcBef>
            </a:pPr>
            <a:r>
              <a:rPr sz="2400" spc="-10" dirty="0">
                <a:latin typeface="Arial"/>
                <a:cs typeface="Arial"/>
              </a:rPr>
              <a:t>Business </a:t>
            </a:r>
            <a:r>
              <a:rPr sz="2400" spc="-5" dirty="0">
                <a:latin typeface="Arial"/>
                <a:cs typeface="Arial"/>
              </a:rPr>
              <a:t>Environment refers </a:t>
            </a:r>
            <a:r>
              <a:rPr sz="2400" dirty="0">
                <a:latin typeface="Arial"/>
                <a:cs typeface="Arial"/>
              </a:rPr>
              <a:t>to </a:t>
            </a:r>
            <a:r>
              <a:rPr sz="2400" spc="-5" dirty="0">
                <a:latin typeface="Arial"/>
                <a:cs typeface="Arial"/>
              </a:rPr>
              <a:t>those aspects  of </a:t>
            </a:r>
            <a:r>
              <a:rPr sz="2400" dirty="0">
                <a:latin typeface="Arial"/>
                <a:cs typeface="Arial"/>
              </a:rPr>
              <a:t>the </a:t>
            </a:r>
            <a:r>
              <a:rPr sz="2400" spc="-5" dirty="0">
                <a:latin typeface="Arial"/>
                <a:cs typeface="Arial"/>
              </a:rPr>
              <a:t>surroundings of </a:t>
            </a:r>
            <a:r>
              <a:rPr sz="2400" spc="-10" dirty="0">
                <a:latin typeface="Arial"/>
                <a:cs typeface="Arial"/>
              </a:rPr>
              <a:t>business </a:t>
            </a:r>
            <a:r>
              <a:rPr sz="2400" spc="-5" dirty="0">
                <a:latin typeface="Arial"/>
                <a:cs typeface="Arial"/>
              </a:rPr>
              <a:t>enterprise, which affect  or </a:t>
            </a:r>
            <a:r>
              <a:rPr sz="2400" spc="-10" dirty="0">
                <a:latin typeface="Arial"/>
                <a:cs typeface="Arial"/>
              </a:rPr>
              <a:t>influence </a:t>
            </a:r>
            <a:r>
              <a:rPr sz="2400" spc="-5" dirty="0">
                <a:latin typeface="Arial"/>
                <a:cs typeface="Arial"/>
              </a:rPr>
              <a:t>its </a:t>
            </a:r>
            <a:r>
              <a:rPr sz="2400" spc="-10" dirty="0">
                <a:latin typeface="Arial"/>
                <a:cs typeface="Arial"/>
              </a:rPr>
              <a:t>operations and </a:t>
            </a:r>
            <a:r>
              <a:rPr sz="2400" spc="-5" dirty="0">
                <a:latin typeface="Arial"/>
                <a:cs typeface="Arial"/>
              </a:rPr>
              <a:t>determine its  effectiveness.</a:t>
            </a:r>
            <a:endParaRPr sz="2400">
              <a:latin typeface="Arial"/>
              <a:cs typeface="Arial"/>
            </a:endParaRPr>
          </a:p>
          <a:p>
            <a:pPr>
              <a:lnSpc>
                <a:spcPct val="100000"/>
              </a:lnSpc>
              <a:spcBef>
                <a:spcPts val="55"/>
              </a:spcBef>
            </a:pPr>
            <a:endParaRPr sz="3500">
              <a:latin typeface="Arial"/>
              <a:cs typeface="Arial"/>
            </a:endParaRPr>
          </a:p>
          <a:p>
            <a:pPr marL="12700">
              <a:lnSpc>
                <a:spcPct val="100000"/>
              </a:lnSpc>
            </a:pPr>
            <a:r>
              <a:rPr sz="2400" spc="-5" dirty="0">
                <a:latin typeface="Arial"/>
                <a:cs typeface="Arial"/>
              </a:rPr>
              <a:t>According </a:t>
            </a:r>
            <a:r>
              <a:rPr sz="2400" dirty="0">
                <a:latin typeface="Arial"/>
                <a:cs typeface="Arial"/>
              </a:rPr>
              <a:t>to </a:t>
            </a:r>
            <a:r>
              <a:rPr sz="2400" spc="-5" dirty="0">
                <a:latin typeface="Arial"/>
                <a:cs typeface="Arial"/>
              </a:rPr>
              <a:t>Keith </a:t>
            </a:r>
            <a:r>
              <a:rPr sz="2400" spc="-10" dirty="0">
                <a:latin typeface="Arial"/>
                <a:cs typeface="Arial"/>
              </a:rPr>
              <a:t>Davis:</a:t>
            </a:r>
            <a:endParaRPr sz="2400">
              <a:latin typeface="Arial"/>
              <a:cs typeface="Arial"/>
            </a:endParaRPr>
          </a:p>
          <a:p>
            <a:pPr marL="354965" marR="107314" indent="1485900">
              <a:lnSpc>
                <a:spcPct val="100000"/>
              </a:lnSpc>
              <a:spcBef>
                <a:spcPts val="600"/>
              </a:spcBef>
            </a:pPr>
            <a:r>
              <a:rPr sz="2400" spc="-5" dirty="0">
                <a:latin typeface="Arial"/>
                <a:cs typeface="Arial"/>
              </a:rPr>
              <a:t>“Business environment </a:t>
            </a:r>
            <a:r>
              <a:rPr sz="2400" spc="-10" dirty="0">
                <a:latin typeface="Arial"/>
                <a:cs typeface="Arial"/>
              </a:rPr>
              <a:t>is </a:t>
            </a:r>
            <a:r>
              <a:rPr sz="2400" spc="-5" dirty="0">
                <a:latin typeface="Arial"/>
                <a:cs typeface="Arial"/>
              </a:rPr>
              <a:t>the </a:t>
            </a:r>
            <a:r>
              <a:rPr sz="2400" spc="-10" dirty="0">
                <a:latin typeface="Arial"/>
                <a:cs typeface="Arial"/>
              </a:rPr>
              <a:t>aggregate </a:t>
            </a:r>
            <a:r>
              <a:rPr sz="2400" spc="-5" dirty="0">
                <a:latin typeface="Arial"/>
                <a:cs typeface="Arial"/>
              </a:rPr>
              <a:t>of all  conditions, events </a:t>
            </a:r>
            <a:r>
              <a:rPr sz="2400" spc="-10" dirty="0">
                <a:latin typeface="Arial"/>
                <a:cs typeface="Arial"/>
              </a:rPr>
              <a:t>and influence </a:t>
            </a:r>
            <a:r>
              <a:rPr sz="2400" spc="-5" dirty="0">
                <a:latin typeface="Arial"/>
                <a:cs typeface="Arial"/>
              </a:rPr>
              <a:t>that surrounds </a:t>
            </a:r>
            <a:r>
              <a:rPr sz="2400" spc="-10" dirty="0">
                <a:latin typeface="Arial"/>
                <a:cs typeface="Arial"/>
              </a:rPr>
              <a:t>and  </a:t>
            </a:r>
            <a:r>
              <a:rPr sz="2400" spc="-5" dirty="0">
                <a:latin typeface="Arial"/>
                <a:cs typeface="Arial"/>
              </a:rPr>
              <a:t>affects it”</a:t>
            </a:r>
            <a:endParaRPr sz="2400">
              <a:latin typeface="Arial"/>
              <a:cs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0400" y="415290"/>
            <a:ext cx="5527040" cy="452120"/>
          </a:xfrm>
          <a:prstGeom prst="rect">
            <a:avLst/>
          </a:prstGeom>
        </p:spPr>
        <p:txBody>
          <a:bodyPr vert="horz" wrap="square" lIns="0" tIns="12700" rIns="0" bIns="0" rtlCol="0">
            <a:spAutoFit/>
          </a:bodyPr>
          <a:lstStyle/>
          <a:p>
            <a:pPr marL="12700">
              <a:lnSpc>
                <a:spcPct val="100000"/>
              </a:lnSpc>
              <a:spcBef>
                <a:spcPts val="100"/>
              </a:spcBef>
            </a:pPr>
            <a:r>
              <a:rPr sz="2800" b="1" spc="-10" dirty="0">
                <a:latin typeface="Arial"/>
                <a:cs typeface="Arial"/>
              </a:rPr>
              <a:t>Nature </a:t>
            </a:r>
            <a:r>
              <a:rPr sz="2800" b="1" spc="-5" dirty="0">
                <a:latin typeface="Arial"/>
                <a:cs typeface="Arial"/>
              </a:rPr>
              <a:t>of Business</a:t>
            </a:r>
            <a:r>
              <a:rPr sz="2800" b="1" spc="-30" dirty="0">
                <a:latin typeface="Arial"/>
                <a:cs typeface="Arial"/>
              </a:rPr>
              <a:t> </a:t>
            </a:r>
            <a:r>
              <a:rPr sz="2800" b="1" spc="-10" dirty="0">
                <a:latin typeface="Arial"/>
                <a:cs typeface="Arial"/>
              </a:rPr>
              <a:t>Environment</a:t>
            </a:r>
            <a:endParaRPr sz="2800">
              <a:latin typeface="Arial"/>
              <a:cs typeface="Arial"/>
            </a:endParaRPr>
          </a:p>
        </p:txBody>
      </p:sp>
      <p:sp>
        <p:nvSpPr>
          <p:cNvPr id="3" name="object 3"/>
          <p:cNvSpPr txBox="1"/>
          <p:nvPr/>
        </p:nvSpPr>
        <p:spPr>
          <a:xfrm>
            <a:off x="228600" y="92329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4" name="object 4"/>
          <p:cNvSpPr txBox="1"/>
          <p:nvPr/>
        </p:nvSpPr>
        <p:spPr>
          <a:xfrm>
            <a:off x="571500" y="840740"/>
            <a:ext cx="7783830" cy="137287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Complex:</a:t>
            </a:r>
            <a:endParaRPr sz="2000">
              <a:latin typeface="Arial"/>
              <a:cs typeface="Arial"/>
            </a:endParaRPr>
          </a:p>
          <a:p>
            <a:pPr marL="12700" marR="5080" indent="571500" algn="just">
              <a:lnSpc>
                <a:spcPct val="100000"/>
              </a:lnSpc>
              <a:spcBef>
                <a:spcPts val="500"/>
              </a:spcBef>
            </a:pPr>
            <a:r>
              <a:rPr sz="2000" spc="-5" dirty="0">
                <a:latin typeface="Arial"/>
                <a:cs typeface="Arial"/>
              </a:rPr>
              <a:t>Environment </a:t>
            </a:r>
            <a:r>
              <a:rPr sz="2000" dirty="0">
                <a:latin typeface="Arial"/>
                <a:cs typeface="Arial"/>
              </a:rPr>
              <a:t>consists of a number of factors, </a:t>
            </a:r>
            <a:r>
              <a:rPr sz="2000" spc="-5" dirty="0">
                <a:latin typeface="Arial"/>
                <a:cs typeface="Arial"/>
              </a:rPr>
              <a:t>events, conditions  </a:t>
            </a:r>
            <a:r>
              <a:rPr sz="2000" dirty="0">
                <a:latin typeface="Arial"/>
                <a:cs typeface="Arial"/>
              </a:rPr>
              <a:t>arising </a:t>
            </a:r>
            <a:r>
              <a:rPr sz="2000" spc="-5" dirty="0">
                <a:latin typeface="Arial"/>
                <a:cs typeface="Arial"/>
              </a:rPr>
              <a:t>from different </a:t>
            </a:r>
            <a:r>
              <a:rPr sz="2000" dirty="0">
                <a:latin typeface="Arial"/>
                <a:cs typeface="Arial"/>
              </a:rPr>
              <a:t>sources </a:t>
            </a:r>
            <a:r>
              <a:rPr sz="2000" spc="-5" dirty="0">
                <a:latin typeface="Arial"/>
                <a:cs typeface="Arial"/>
              </a:rPr>
              <a:t>which </a:t>
            </a:r>
            <a:r>
              <a:rPr sz="2000" dirty="0">
                <a:latin typeface="Arial"/>
                <a:cs typeface="Arial"/>
              </a:rPr>
              <a:t>impact business </a:t>
            </a:r>
            <a:r>
              <a:rPr sz="2000" spc="-5" dirty="0">
                <a:latin typeface="Arial"/>
                <a:cs typeface="Arial"/>
              </a:rPr>
              <a:t>thus </a:t>
            </a:r>
            <a:r>
              <a:rPr sz="2000" dirty="0">
                <a:latin typeface="Arial"/>
                <a:cs typeface="Arial"/>
              </a:rPr>
              <a:t>making </a:t>
            </a:r>
            <a:r>
              <a:rPr sz="2000" spc="-5" dirty="0">
                <a:latin typeface="Arial"/>
                <a:cs typeface="Arial"/>
              </a:rPr>
              <a:t>the  </a:t>
            </a:r>
            <a:r>
              <a:rPr sz="2000" dirty="0">
                <a:latin typeface="Arial"/>
                <a:cs typeface="Arial"/>
              </a:rPr>
              <a:t>business</a:t>
            </a:r>
            <a:r>
              <a:rPr sz="2000" spc="-5" dirty="0">
                <a:latin typeface="Arial"/>
                <a:cs typeface="Arial"/>
              </a:rPr>
              <a:t> complex.</a:t>
            </a:r>
            <a:endParaRPr sz="2000">
              <a:latin typeface="Arial"/>
              <a:cs typeface="Arial"/>
            </a:endParaRPr>
          </a:p>
        </p:txBody>
      </p:sp>
      <p:sp>
        <p:nvSpPr>
          <p:cNvPr id="5" name="object 5"/>
          <p:cNvSpPr txBox="1"/>
          <p:nvPr/>
        </p:nvSpPr>
        <p:spPr>
          <a:xfrm>
            <a:off x="228600" y="263779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228600" y="2556509"/>
            <a:ext cx="8517890" cy="1739900"/>
          </a:xfrm>
          <a:prstGeom prst="rect">
            <a:avLst/>
          </a:prstGeom>
        </p:spPr>
        <p:txBody>
          <a:bodyPr vert="horz" wrap="square" lIns="0" tIns="76200" rIns="0" bIns="0" rtlCol="0">
            <a:spAutoFit/>
          </a:bodyPr>
          <a:lstStyle/>
          <a:p>
            <a:pPr marL="355600">
              <a:lnSpc>
                <a:spcPct val="100000"/>
              </a:lnSpc>
              <a:spcBef>
                <a:spcPts val="600"/>
              </a:spcBef>
            </a:pPr>
            <a:r>
              <a:rPr sz="2000" b="1" spc="-5" dirty="0">
                <a:latin typeface="Arial"/>
                <a:cs typeface="Arial"/>
              </a:rPr>
              <a:t>Interdependence</a:t>
            </a:r>
            <a:r>
              <a:rPr sz="2000" b="1" spc="10" dirty="0">
                <a:latin typeface="Arial"/>
                <a:cs typeface="Arial"/>
              </a:rPr>
              <a:t> </a:t>
            </a:r>
            <a:r>
              <a:rPr sz="2000" dirty="0">
                <a:latin typeface="Arial"/>
                <a:cs typeface="Arial"/>
              </a:rPr>
              <a:t>:</a:t>
            </a:r>
            <a:endParaRPr sz="2000">
              <a:latin typeface="Arial"/>
              <a:cs typeface="Arial"/>
            </a:endParaRPr>
          </a:p>
          <a:p>
            <a:pPr marL="355600" marR="5080" indent="571500">
              <a:lnSpc>
                <a:spcPct val="100000"/>
              </a:lnSpc>
              <a:spcBef>
                <a:spcPts val="500"/>
              </a:spcBef>
            </a:pPr>
            <a:r>
              <a:rPr sz="2000" dirty="0">
                <a:latin typeface="Arial"/>
                <a:cs typeface="Arial"/>
              </a:rPr>
              <a:t>Factors </a:t>
            </a:r>
            <a:r>
              <a:rPr sz="2000" spc="-5" dirty="0">
                <a:latin typeface="Arial"/>
                <a:cs typeface="Arial"/>
              </a:rPr>
              <a:t>affecting </a:t>
            </a:r>
            <a:r>
              <a:rPr sz="2000" dirty="0">
                <a:latin typeface="Arial"/>
                <a:cs typeface="Arial"/>
              </a:rPr>
              <a:t>business environment </a:t>
            </a:r>
            <a:r>
              <a:rPr sz="2000" spc="-5" dirty="0">
                <a:latin typeface="Arial"/>
                <a:cs typeface="Arial"/>
              </a:rPr>
              <a:t>like </a:t>
            </a:r>
            <a:r>
              <a:rPr sz="2000" dirty="0">
                <a:latin typeface="Arial"/>
                <a:cs typeface="Arial"/>
              </a:rPr>
              <a:t>social, economic, legal,  cultural </a:t>
            </a:r>
            <a:r>
              <a:rPr sz="2000" spc="-5" dirty="0">
                <a:latin typeface="Arial"/>
                <a:cs typeface="Arial"/>
              </a:rPr>
              <a:t>etc </a:t>
            </a:r>
            <a:r>
              <a:rPr sz="2000" dirty="0">
                <a:latin typeface="Arial"/>
                <a:cs typeface="Arial"/>
              </a:rPr>
              <a:t>are </a:t>
            </a:r>
            <a:r>
              <a:rPr sz="2000" spc="-5" dirty="0">
                <a:latin typeface="Arial"/>
                <a:cs typeface="Arial"/>
              </a:rPr>
              <a:t>inter </a:t>
            </a:r>
            <a:r>
              <a:rPr sz="2000" dirty="0">
                <a:latin typeface="Arial"/>
                <a:cs typeface="Arial"/>
              </a:rPr>
              <a:t>dependent.</a:t>
            </a:r>
            <a:endParaRPr sz="2000">
              <a:latin typeface="Arial"/>
              <a:cs typeface="Arial"/>
            </a:endParaRPr>
          </a:p>
          <a:p>
            <a:pPr marL="355600" marR="441959" indent="-342900">
              <a:lnSpc>
                <a:spcPct val="100000"/>
              </a:lnSpc>
              <a:spcBef>
                <a:spcPts val="500"/>
              </a:spcBef>
            </a:pPr>
            <a:r>
              <a:rPr sz="2000" spc="-5" dirty="0">
                <a:latin typeface="Arial"/>
                <a:cs typeface="Arial"/>
              </a:rPr>
              <a:t>E.g. </a:t>
            </a:r>
            <a:r>
              <a:rPr sz="2000" dirty="0">
                <a:latin typeface="Arial"/>
                <a:cs typeface="Arial"/>
              </a:rPr>
              <a:t>A rich country can make </a:t>
            </a:r>
            <a:r>
              <a:rPr sz="2000" spc="-5" dirty="0">
                <a:latin typeface="Arial"/>
                <a:cs typeface="Arial"/>
              </a:rPr>
              <a:t>sufficient expenditure </a:t>
            </a:r>
            <a:r>
              <a:rPr sz="2000" dirty="0">
                <a:latin typeface="Arial"/>
                <a:cs typeface="Arial"/>
              </a:rPr>
              <a:t>on </a:t>
            </a:r>
            <a:r>
              <a:rPr sz="2000" spc="-5" dirty="0">
                <a:latin typeface="Arial"/>
                <a:cs typeface="Arial"/>
              </a:rPr>
              <a:t>the </a:t>
            </a:r>
            <a:r>
              <a:rPr sz="2000" dirty="0">
                <a:latin typeface="Arial"/>
                <a:cs typeface="Arial"/>
              </a:rPr>
              <a:t>research and  development.</a:t>
            </a:r>
            <a:endParaRPr sz="2000">
              <a:latin typeface="Arial"/>
              <a:cs typeface="Arial"/>
            </a:endParaRPr>
          </a:p>
        </p:txBody>
      </p:sp>
      <p:sp>
        <p:nvSpPr>
          <p:cNvPr id="7" name="object 7"/>
          <p:cNvSpPr txBox="1"/>
          <p:nvPr/>
        </p:nvSpPr>
        <p:spPr>
          <a:xfrm>
            <a:off x="228600" y="472059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8" name="object 8"/>
          <p:cNvSpPr txBox="1"/>
          <p:nvPr/>
        </p:nvSpPr>
        <p:spPr>
          <a:xfrm>
            <a:off x="571500" y="4639309"/>
            <a:ext cx="8370570" cy="13716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Dynamic:</a:t>
            </a:r>
            <a:endParaRPr sz="2000">
              <a:latin typeface="Arial"/>
              <a:cs typeface="Arial"/>
            </a:endParaRPr>
          </a:p>
          <a:p>
            <a:pPr marL="12700" marR="5080" indent="571500">
              <a:lnSpc>
                <a:spcPct val="100000"/>
              </a:lnSpc>
              <a:spcBef>
                <a:spcPts val="500"/>
              </a:spcBef>
            </a:pPr>
            <a:r>
              <a:rPr sz="2000" dirty="0">
                <a:latin typeface="Arial"/>
                <a:cs typeface="Arial"/>
              </a:rPr>
              <a:t>Business environment is </a:t>
            </a:r>
            <a:r>
              <a:rPr sz="2000" spc="-5" dirty="0">
                <a:latin typeface="Arial"/>
                <a:cs typeface="Arial"/>
              </a:rPr>
              <a:t>dynamic </a:t>
            </a:r>
            <a:r>
              <a:rPr sz="2000" dirty="0">
                <a:latin typeface="Arial"/>
                <a:cs typeface="Arial"/>
              </a:rPr>
              <a:t>as </a:t>
            </a:r>
            <a:r>
              <a:rPr sz="2000" spc="-5" dirty="0">
                <a:latin typeface="Arial"/>
                <a:cs typeface="Arial"/>
              </a:rPr>
              <a:t>it </a:t>
            </a:r>
            <a:r>
              <a:rPr sz="2000" dirty="0">
                <a:latin typeface="Arial"/>
                <a:cs typeface="Arial"/>
              </a:rPr>
              <a:t>keeps on changing </a:t>
            </a:r>
            <a:r>
              <a:rPr sz="2000" spc="-5" dirty="0">
                <a:latin typeface="Arial"/>
                <a:cs typeface="Arial"/>
              </a:rPr>
              <a:t>in terms of  </a:t>
            </a:r>
            <a:r>
              <a:rPr sz="2000" dirty="0">
                <a:latin typeface="Arial"/>
                <a:cs typeface="Arial"/>
              </a:rPr>
              <a:t>technological </a:t>
            </a:r>
            <a:r>
              <a:rPr sz="2000" spc="-5" dirty="0">
                <a:latin typeface="Arial"/>
                <a:cs typeface="Arial"/>
              </a:rPr>
              <a:t>improvement, </a:t>
            </a:r>
            <a:r>
              <a:rPr sz="2000" dirty="0">
                <a:latin typeface="Arial"/>
                <a:cs typeface="Arial"/>
              </a:rPr>
              <a:t>changes </a:t>
            </a:r>
            <a:r>
              <a:rPr sz="2000" spc="-5" dirty="0">
                <a:latin typeface="Arial"/>
                <a:cs typeface="Arial"/>
              </a:rPr>
              <a:t>in </a:t>
            </a:r>
            <a:r>
              <a:rPr sz="2000" dirty="0">
                <a:latin typeface="Arial"/>
                <a:cs typeface="Arial"/>
              </a:rPr>
              <a:t>consumer preferences, </a:t>
            </a:r>
            <a:r>
              <a:rPr sz="2000" spc="-5" dirty="0">
                <a:latin typeface="Arial"/>
                <a:cs typeface="Arial"/>
              </a:rPr>
              <a:t>entry </a:t>
            </a:r>
            <a:r>
              <a:rPr sz="2000" dirty="0">
                <a:latin typeface="Arial"/>
                <a:cs typeface="Arial"/>
              </a:rPr>
              <a:t>of  new</a:t>
            </a:r>
            <a:r>
              <a:rPr sz="2000" spc="-20" dirty="0">
                <a:latin typeface="Arial"/>
                <a:cs typeface="Arial"/>
              </a:rPr>
              <a:t> </a:t>
            </a:r>
            <a:r>
              <a:rPr sz="2000" spc="-5" dirty="0">
                <a:latin typeface="Arial"/>
                <a:cs typeface="Arial"/>
              </a:rPr>
              <a:t>competitors.</a:t>
            </a:r>
            <a:endParaRPr sz="2000">
              <a:latin typeface="Arial"/>
              <a:cs typeface="Aria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6070" y="5105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648969" y="491490"/>
            <a:ext cx="150558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Uncertainty:</a:t>
            </a:r>
            <a:endParaRPr sz="2000">
              <a:latin typeface="Arial"/>
              <a:cs typeface="Arial"/>
            </a:endParaRPr>
          </a:p>
        </p:txBody>
      </p:sp>
      <p:sp>
        <p:nvSpPr>
          <p:cNvPr id="4" name="object 4"/>
          <p:cNvSpPr txBox="1"/>
          <p:nvPr/>
        </p:nvSpPr>
        <p:spPr>
          <a:xfrm>
            <a:off x="648969" y="859790"/>
            <a:ext cx="7771130" cy="635000"/>
          </a:xfrm>
          <a:prstGeom prst="rect">
            <a:avLst/>
          </a:prstGeom>
        </p:spPr>
        <p:txBody>
          <a:bodyPr vert="horz" wrap="square" lIns="0" tIns="12700" rIns="0" bIns="0" rtlCol="0">
            <a:spAutoFit/>
          </a:bodyPr>
          <a:lstStyle/>
          <a:p>
            <a:pPr marL="12700" marR="5080" indent="571500">
              <a:lnSpc>
                <a:spcPct val="100000"/>
              </a:lnSpc>
              <a:spcBef>
                <a:spcPts val="100"/>
              </a:spcBef>
            </a:pPr>
            <a:r>
              <a:rPr sz="2000" dirty="0">
                <a:latin typeface="Arial"/>
                <a:cs typeface="Arial"/>
              </a:rPr>
              <a:t>Business </a:t>
            </a:r>
            <a:r>
              <a:rPr sz="2000" spc="-5" dirty="0">
                <a:latin typeface="Arial"/>
                <a:cs typeface="Arial"/>
              </a:rPr>
              <a:t>environment </a:t>
            </a:r>
            <a:r>
              <a:rPr sz="2000" dirty="0">
                <a:latin typeface="Arial"/>
                <a:cs typeface="Arial"/>
              </a:rPr>
              <a:t>is largely </a:t>
            </a:r>
            <a:r>
              <a:rPr sz="2000" spc="-5" dirty="0">
                <a:latin typeface="Arial"/>
                <a:cs typeface="Arial"/>
              </a:rPr>
              <a:t>uncertain </a:t>
            </a:r>
            <a:r>
              <a:rPr sz="2000" dirty="0">
                <a:latin typeface="Arial"/>
                <a:cs typeface="Arial"/>
              </a:rPr>
              <a:t>as </a:t>
            </a:r>
            <a:r>
              <a:rPr sz="2000" spc="-5" dirty="0">
                <a:latin typeface="Arial"/>
                <a:cs typeface="Arial"/>
              </a:rPr>
              <a:t>it is very difficult </a:t>
            </a:r>
            <a:r>
              <a:rPr sz="2000" dirty="0">
                <a:latin typeface="Arial"/>
                <a:cs typeface="Arial"/>
              </a:rPr>
              <a:t>to  predict </a:t>
            </a:r>
            <a:r>
              <a:rPr sz="2000" spc="-5" dirty="0">
                <a:latin typeface="Arial"/>
                <a:cs typeface="Arial"/>
              </a:rPr>
              <a:t>future</a:t>
            </a:r>
            <a:r>
              <a:rPr sz="2000" spc="-20" dirty="0">
                <a:latin typeface="Arial"/>
                <a:cs typeface="Arial"/>
              </a:rPr>
              <a:t> </a:t>
            </a:r>
            <a:r>
              <a:rPr sz="2000" dirty="0">
                <a:latin typeface="Arial"/>
                <a:cs typeface="Arial"/>
              </a:rPr>
              <a:t>happenings.</a:t>
            </a:r>
            <a:endParaRPr sz="2000">
              <a:latin typeface="Arial"/>
              <a:cs typeface="Arial"/>
            </a:endParaRPr>
          </a:p>
        </p:txBody>
      </p:sp>
      <p:sp>
        <p:nvSpPr>
          <p:cNvPr id="5" name="object 5"/>
          <p:cNvSpPr txBox="1"/>
          <p:nvPr/>
        </p:nvSpPr>
        <p:spPr>
          <a:xfrm>
            <a:off x="306070" y="19202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648969" y="1837690"/>
            <a:ext cx="7293609" cy="1066800"/>
          </a:xfrm>
          <a:prstGeom prst="rect">
            <a:avLst/>
          </a:prstGeom>
        </p:spPr>
        <p:txBody>
          <a:bodyPr vert="horz" wrap="square" lIns="0" tIns="76200" rIns="0" bIns="0" rtlCol="0">
            <a:spAutoFit/>
          </a:bodyPr>
          <a:lstStyle/>
          <a:p>
            <a:pPr marL="12700">
              <a:lnSpc>
                <a:spcPct val="100000"/>
              </a:lnSpc>
              <a:spcBef>
                <a:spcPts val="600"/>
              </a:spcBef>
            </a:pPr>
            <a:r>
              <a:rPr sz="2000" b="1" spc="-10" dirty="0">
                <a:latin typeface="Arial"/>
                <a:cs typeface="Arial"/>
              </a:rPr>
              <a:t>Relativity:</a:t>
            </a:r>
            <a:endParaRPr sz="2000">
              <a:latin typeface="Arial"/>
              <a:cs typeface="Arial"/>
            </a:endParaRPr>
          </a:p>
          <a:p>
            <a:pPr marL="12700" marR="5080" indent="571500">
              <a:lnSpc>
                <a:spcPct val="100000"/>
              </a:lnSpc>
              <a:spcBef>
                <a:spcPts val="500"/>
              </a:spcBef>
            </a:pPr>
            <a:r>
              <a:rPr sz="2000" dirty="0">
                <a:latin typeface="Arial"/>
                <a:cs typeface="Arial"/>
              </a:rPr>
              <a:t>Business </a:t>
            </a:r>
            <a:r>
              <a:rPr sz="2000" spc="-5" dirty="0">
                <a:latin typeface="Arial"/>
                <a:cs typeface="Arial"/>
              </a:rPr>
              <a:t>environment </a:t>
            </a:r>
            <a:r>
              <a:rPr sz="2000" dirty="0">
                <a:latin typeface="Arial"/>
                <a:cs typeface="Arial"/>
              </a:rPr>
              <a:t>is a </a:t>
            </a:r>
            <a:r>
              <a:rPr sz="2000" spc="-5" dirty="0">
                <a:latin typeface="Arial"/>
                <a:cs typeface="Arial"/>
              </a:rPr>
              <a:t>relative </a:t>
            </a:r>
            <a:r>
              <a:rPr sz="2000" dirty="0">
                <a:latin typeface="Arial"/>
                <a:cs typeface="Arial"/>
              </a:rPr>
              <a:t>concept as </a:t>
            </a:r>
            <a:r>
              <a:rPr sz="2000" spc="-5" dirty="0">
                <a:latin typeface="Arial"/>
                <a:cs typeface="Arial"/>
              </a:rPr>
              <a:t>it differs from  </a:t>
            </a:r>
            <a:r>
              <a:rPr sz="2000" dirty="0">
                <a:latin typeface="Arial"/>
                <a:cs typeface="Arial"/>
              </a:rPr>
              <a:t>country </a:t>
            </a:r>
            <a:r>
              <a:rPr sz="2000" spc="-5" dirty="0">
                <a:latin typeface="Arial"/>
                <a:cs typeface="Arial"/>
              </a:rPr>
              <a:t>to country </a:t>
            </a:r>
            <a:r>
              <a:rPr sz="2000" dirty="0">
                <a:latin typeface="Arial"/>
                <a:cs typeface="Arial"/>
              </a:rPr>
              <a:t>and region to</a:t>
            </a:r>
            <a:r>
              <a:rPr sz="2000" spc="-35" dirty="0">
                <a:latin typeface="Arial"/>
                <a:cs typeface="Arial"/>
              </a:rPr>
              <a:t> </a:t>
            </a:r>
            <a:r>
              <a:rPr sz="2000" spc="-5" dirty="0">
                <a:latin typeface="Arial"/>
                <a:cs typeface="Arial"/>
              </a:rPr>
              <a:t>region.</a:t>
            </a:r>
            <a:endParaRPr sz="2000">
              <a:latin typeface="Arial"/>
              <a:cs typeface="Arial"/>
            </a:endParaRPr>
          </a:p>
        </p:txBody>
      </p:sp>
      <p:sp>
        <p:nvSpPr>
          <p:cNvPr id="7" name="object 7"/>
          <p:cNvSpPr txBox="1"/>
          <p:nvPr/>
        </p:nvSpPr>
        <p:spPr>
          <a:xfrm>
            <a:off x="306070" y="2942590"/>
            <a:ext cx="7725409"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e.g. Demand </a:t>
            </a:r>
            <a:r>
              <a:rPr sz="2000" dirty="0">
                <a:latin typeface="Arial"/>
                <a:cs typeface="Arial"/>
              </a:rPr>
              <a:t>of saree is </a:t>
            </a:r>
            <a:r>
              <a:rPr sz="2000" spc="-5" dirty="0">
                <a:latin typeface="Arial"/>
                <a:cs typeface="Arial"/>
              </a:rPr>
              <a:t>high </a:t>
            </a:r>
            <a:r>
              <a:rPr sz="2000" dirty="0">
                <a:latin typeface="Arial"/>
                <a:cs typeface="Arial"/>
              </a:rPr>
              <a:t>in </a:t>
            </a:r>
            <a:r>
              <a:rPr sz="2000" spc="-5" dirty="0">
                <a:latin typeface="Arial"/>
                <a:cs typeface="Arial"/>
              </a:rPr>
              <a:t>India comparative to other</a:t>
            </a:r>
            <a:r>
              <a:rPr sz="2000" spc="35" dirty="0">
                <a:latin typeface="Arial"/>
                <a:cs typeface="Arial"/>
              </a:rPr>
              <a:t> </a:t>
            </a:r>
            <a:r>
              <a:rPr sz="2000" dirty="0">
                <a:latin typeface="Arial"/>
                <a:cs typeface="Arial"/>
              </a:rPr>
              <a:t>countries.</a:t>
            </a:r>
            <a:endParaRPr sz="2000">
              <a:latin typeface="Arial"/>
              <a:cs typeface="Arial"/>
            </a:endParaRPr>
          </a:p>
        </p:txBody>
      </p:sp>
      <p:sp>
        <p:nvSpPr>
          <p:cNvPr id="8" name="object 8"/>
          <p:cNvSpPr txBox="1"/>
          <p:nvPr/>
        </p:nvSpPr>
        <p:spPr>
          <a:xfrm>
            <a:off x="306070" y="36982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9" name="object 9"/>
          <p:cNvSpPr txBox="1"/>
          <p:nvPr/>
        </p:nvSpPr>
        <p:spPr>
          <a:xfrm>
            <a:off x="648969" y="3615690"/>
            <a:ext cx="7287259" cy="13716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Specific </a:t>
            </a:r>
            <a:r>
              <a:rPr sz="2000" b="1" dirty="0">
                <a:latin typeface="Arial"/>
                <a:cs typeface="Arial"/>
              </a:rPr>
              <a:t>and General</a:t>
            </a:r>
            <a:r>
              <a:rPr sz="2000" b="1" spc="-25" dirty="0">
                <a:latin typeface="Arial"/>
                <a:cs typeface="Arial"/>
              </a:rPr>
              <a:t> </a:t>
            </a:r>
            <a:r>
              <a:rPr sz="2000" b="1" spc="-5" dirty="0">
                <a:latin typeface="Arial"/>
                <a:cs typeface="Arial"/>
              </a:rPr>
              <a:t>forces:</a:t>
            </a:r>
            <a:endParaRPr sz="2000">
              <a:latin typeface="Arial"/>
              <a:cs typeface="Arial"/>
            </a:endParaRPr>
          </a:p>
          <a:p>
            <a:pPr marL="12700" marR="5080" indent="571500">
              <a:lnSpc>
                <a:spcPct val="100000"/>
              </a:lnSpc>
              <a:spcBef>
                <a:spcPts val="500"/>
              </a:spcBef>
            </a:pPr>
            <a:r>
              <a:rPr sz="2000" spc="-5" dirty="0">
                <a:latin typeface="Arial"/>
                <a:cs typeface="Arial"/>
              </a:rPr>
              <a:t>Specific </a:t>
            </a:r>
            <a:r>
              <a:rPr sz="2000" dirty="0">
                <a:latin typeface="Arial"/>
                <a:cs typeface="Arial"/>
              </a:rPr>
              <a:t>forces </a:t>
            </a:r>
            <a:r>
              <a:rPr sz="2000" spc="-5" dirty="0">
                <a:latin typeface="Arial"/>
                <a:cs typeface="Arial"/>
              </a:rPr>
              <a:t>affects individual </a:t>
            </a:r>
            <a:r>
              <a:rPr sz="2000" dirty="0">
                <a:latin typeface="Arial"/>
                <a:cs typeface="Arial"/>
              </a:rPr>
              <a:t>enterprises </a:t>
            </a:r>
            <a:r>
              <a:rPr sz="2000" spc="-5" dirty="0">
                <a:latin typeface="Arial"/>
                <a:cs typeface="Arial"/>
              </a:rPr>
              <a:t>directly </a:t>
            </a:r>
            <a:r>
              <a:rPr sz="2000" dirty="0">
                <a:latin typeface="Arial"/>
                <a:cs typeface="Arial"/>
              </a:rPr>
              <a:t>and  </a:t>
            </a:r>
            <a:r>
              <a:rPr sz="2000" spc="-5" dirty="0">
                <a:latin typeface="Arial"/>
                <a:cs typeface="Arial"/>
              </a:rPr>
              <a:t>immediately whereas </a:t>
            </a:r>
            <a:r>
              <a:rPr sz="2000" dirty="0">
                <a:latin typeface="Arial"/>
                <a:cs typeface="Arial"/>
              </a:rPr>
              <a:t>general </a:t>
            </a:r>
            <a:r>
              <a:rPr sz="2000" spc="-5" dirty="0">
                <a:latin typeface="Arial"/>
                <a:cs typeface="Arial"/>
              </a:rPr>
              <a:t>forces </a:t>
            </a:r>
            <a:r>
              <a:rPr sz="2000" dirty="0">
                <a:latin typeface="Arial"/>
                <a:cs typeface="Arial"/>
              </a:rPr>
              <a:t>have impact </a:t>
            </a:r>
            <a:r>
              <a:rPr sz="2000" spc="-5" dirty="0">
                <a:latin typeface="Arial"/>
                <a:cs typeface="Arial"/>
              </a:rPr>
              <a:t>on </a:t>
            </a:r>
            <a:r>
              <a:rPr sz="2000" dirty="0">
                <a:latin typeface="Arial"/>
                <a:cs typeface="Arial"/>
              </a:rPr>
              <a:t>all business  enterprises.</a:t>
            </a:r>
            <a:endParaRPr sz="2000">
              <a:latin typeface="Arial"/>
              <a:cs typeface="Arial"/>
            </a:endParaRPr>
          </a:p>
        </p:txBody>
      </p:sp>
      <p:sp>
        <p:nvSpPr>
          <p:cNvPr id="10" name="object 10"/>
          <p:cNvSpPr txBox="1"/>
          <p:nvPr/>
        </p:nvSpPr>
        <p:spPr>
          <a:xfrm>
            <a:off x="306070" y="54127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11" name="object 11"/>
          <p:cNvSpPr txBox="1"/>
          <p:nvPr/>
        </p:nvSpPr>
        <p:spPr>
          <a:xfrm>
            <a:off x="648969" y="5330190"/>
            <a:ext cx="8129905" cy="13716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Forecasting is </a:t>
            </a:r>
            <a:r>
              <a:rPr sz="2000" b="1" dirty="0">
                <a:latin typeface="Arial"/>
                <a:cs typeface="Arial"/>
              </a:rPr>
              <a:t>not </a:t>
            </a:r>
            <a:r>
              <a:rPr sz="2000" b="1" spc="-5" dirty="0">
                <a:latin typeface="Arial"/>
                <a:cs typeface="Arial"/>
              </a:rPr>
              <a:t>possible </a:t>
            </a:r>
            <a:r>
              <a:rPr sz="2000" b="1" dirty="0">
                <a:latin typeface="Arial"/>
                <a:cs typeface="Arial"/>
              </a:rPr>
              <a:t>for </a:t>
            </a:r>
            <a:r>
              <a:rPr sz="2000" b="1" spc="-5" dirty="0">
                <a:latin typeface="Arial"/>
                <a:cs typeface="Arial"/>
              </a:rPr>
              <a:t>all</a:t>
            </a:r>
            <a:r>
              <a:rPr sz="2000" b="1" spc="-30" dirty="0">
                <a:latin typeface="Arial"/>
                <a:cs typeface="Arial"/>
              </a:rPr>
              <a:t> </a:t>
            </a:r>
            <a:r>
              <a:rPr sz="2000" b="1" spc="-5" dirty="0">
                <a:latin typeface="Arial"/>
                <a:cs typeface="Arial"/>
              </a:rPr>
              <a:t>developments:</a:t>
            </a:r>
            <a:endParaRPr sz="2000">
              <a:latin typeface="Arial"/>
              <a:cs typeface="Arial"/>
            </a:endParaRPr>
          </a:p>
          <a:p>
            <a:pPr marL="12700" marR="5080" indent="571500">
              <a:lnSpc>
                <a:spcPct val="100000"/>
              </a:lnSpc>
              <a:spcBef>
                <a:spcPts val="500"/>
              </a:spcBef>
            </a:pPr>
            <a:r>
              <a:rPr sz="2000" spc="-10" dirty="0">
                <a:latin typeface="Arial"/>
                <a:cs typeface="Arial"/>
              </a:rPr>
              <a:t>Many </a:t>
            </a:r>
            <a:r>
              <a:rPr sz="2000" spc="-5" dirty="0">
                <a:latin typeface="Arial"/>
                <a:cs typeface="Arial"/>
              </a:rPr>
              <a:t>developments </a:t>
            </a:r>
            <a:r>
              <a:rPr sz="2000" dirty="0">
                <a:latin typeface="Arial"/>
                <a:cs typeface="Arial"/>
              </a:rPr>
              <a:t>such as </a:t>
            </a:r>
            <a:r>
              <a:rPr sz="2000" spc="-5" dirty="0">
                <a:latin typeface="Arial"/>
                <a:cs typeface="Arial"/>
              </a:rPr>
              <a:t>interest rate fluctuations, the rate </a:t>
            </a:r>
            <a:r>
              <a:rPr sz="2000" dirty="0">
                <a:latin typeface="Arial"/>
                <a:cs typeface="Arial"/>
              </a:rPr>
              <a:t>of  </a:t>
            </a:r>
            <a:r>
              <a:rPr sz="2000" spc="-5" dirty="0">
                <a:latin typeface="Arial"/>
                <a:cs typeface="Arial"/>
              </a:rPr>
              <a:t>inflation etc are difficult to </a:t>
            </a:r>
            <a:r>
              <a:rPr sz="2000" dirty="0">
                <a:latin typeface="Arial"/>
                <a:cs typeface="Arial"/>
              </a:rPr>
              <a:t>predict </a:t>
            </a:r>
            <a:r>
              <a:rPr sz="2000" spc="-5" dirty="0">
                <a:latin typeface="Arial"/>
                <a:cs typeface="Arial"/>
              </a:rPr>
              <a:t>on log term </a:t>
            </a:r>
            <a:r>
              <a:rPr sz="2000" dirty="0">
                <a:latin typeface="Arial"/>
                <a:cs typeface="Arial"/>
              </a:rPr>
              <a:t>basis </a:t>
            </a:r>
            <a:r>
              <a:rPr sz="2000" spc="-5" dirty="0">
                <a:latin typeface="Arial"/>
                <a:cs typeface="Arial"/>
              </a:rPr>
              <a:t>which </a:t>
            </a:r>
            <a:r>
              <a:rPr sz="2000" dirty="0">
                <a:latin typeface="Arial"/>
                <a:cs typeface="Arial"/>
              </a:rPr>
              <a:t>makes </a:t>
            </a:r>
            <a:r>
              <a:rPr sz="2000" spc="-5" dirty="0">
                <a:latin typeface="Arial"/>
                <a:cs typeface="Arial"/>
              </a:rPr>
              <a:t>difficult  to maintain </a:t>
            </a:r>
            <a:r>
              <a:rPr sz="2000" dirty="0">
                <a:latin typeface="Arial"/>
                <a:cs typeface="Arial"/>
              </a:rPr>
              <a:t>business</a:t>
            </a:r>
            <a:r>
              <a:rPr sz="2000" spc="-5" dirty="0">
                <a:latin typeface="Arial"/>
                <a:cs typeface="Arial"/>
              </a:rPr>
              <a:t> environment.</a:t>
            </a:r>
            <a:endParaRPr sz="2000">
              <a:latin typeface="Arial"/>
              <a:cs typeface="Aria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7269" y="491490"/>
            <a:ext cx="7098665" cy="513080"/>
          </a:xfrm>
          <a:prstGeom prst="rect">
            <a:avLst/>
          </a:prstGeom>
        </p:spPr>
        <p:txBody>
          <a:bodyPr vert="horz" wrap="square" lIns="0" tIns="12700" rIns="0" bIns="0" rtlCol="0">
            <a:spAutoFit/>
          </a:bodyPr>
          <a:lstStyle/>
          <a:p>
            <a:pPr marL="12700">
              <a:lnSpc>
                <a:spcPct val="100000"/>
              </a:lnSpc>
              <a:spcBef>
                <a:spcPts val="100"/>
              </a:spcBef>
            </a:pPr>
            <a:r>
              <a:rPr b="1" dirty="0">
                <a:latin typeface="Arial"/>
                <a:cs typeface="Arial"/>
              </a:rPr>
              <a:t>Objectives </a:t>
            </a:r>
            <a:r>
              <a:rPr b="1" spc="-5" dirty="0">
                <a:latin typeface="Arial"/>
                <a:cs typeface="Arial"/>
              </a:rPr>
              <a:t>of </a:t>
            </a:r>
            <a:r>
              <a:rPr b="1" dirty="0">
                <a:latin typeface="Arial"/>
                <a:cs typeface="Arial"/>
              </a:rPr>
              <a:t>Business</a:t>
            </a:r>
            <a:r>
              <a:rPr b="1" spc="-70" dirty="0">
                <a:latin typeface="Arial"/>
                <a:cs typeface="Arial"/>
              </a:rPr>
              <a:t> </a:t>
            </a:r>
            <a:r>
              <a:rPr b="1" spc="-5" dirty="0">
                <a:latin typeface="Arial"/>
                <a:cs typeface="Arial"/>
              </a:rPr>
              <a:t>Environment</a:t>
            </a:r>
          </a:p>
        </p:txBody>
      </p:sp>
      <p:sp>
        <p:nvSpPr>
          <p:cNvPr id="3" name="object 3"/>
          <p:cNvSpPr txBox="1"/>
          <p:nvPr/>
        </p:nvSpPr>
        <p:spPr>
          <a:xfrm>
            <a:off x="306070" y="14287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4" name="object 4"/>
          <p:cNvSpPr txBox="1"/>
          <p:nvPr/>
        </p:nvSpPr>
        <p:spPr>
          <a:xfrm>
            <a:off x="648969" y="1346200"/>
            <a:ext cx="6744334" cy="10668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Knowledge </a:t>
            </a:r>
            <a:r>
              <a:rPr sz="2000" b="1" dirty="0">
                <a:latin typeface="Arial"/>
                <a:cs typeface="Arial"/>
              </a:rPr>
              <a:t>of</a:t>
            </a:r>
            <a:r>
              <a:rPr sz="2000" b="1" spc="-20" dirty="0">
                <a:latin typeface="Arial"/>
                <a:cs typeface="Arial"/>
              </a:rPr>
              <a:t> </a:t>
            </a:r>
            <a:r>
              <a:rPr sz="2000" b="1" spc="-5" dirty="0">
                <a:latin typeface="Arial"/>
                <a:cs typeface="Arial"/>
              </a:rPr>
              <a:t>Information:</a:t>
            </a:r>
            <a:endParaRPr sz="2000">
              <a:latin typeface="Arial"/>
              <a:cs typeface="Arial"/>
            </a:endParaRPr>
          </a:p>
          <a:p>
            <a:pPr marL="12700" marR="5080" indent="571500">
              <a:lnSpc>
                <a:spcPct val="100000"/>
              </a:lnSpc>
              <a:spcBef>
                <a:spcPts val="500"/>
              </a:spcBef>
            </a:pPr>
            <a:r>
              <a:rPr sz="2000" spc="-5" dirty="0">
                <a:latin typeface="Arial"/>
                <a:cs typeface="Arial"/>
              </a:rPr>
              <a:t>Every </a:t>
            </a:r>
            <a:r>
              <a:rPr sz="2000" dirty="0">
                <a:latin typeface="Arial"/>
                <a:cs typeface="Arial"/>
              </a:rPr>
              <a:t>businessman should be </a:t>
            </a:r>
            <a:r>
              <a:rPr sz="2000" spc="-5" dirty="0">
                <a:latin typeface="Arial"/>
                <a:cs typeface="Arial"/>
              </a:rPr>
              <a:t>aware </a:t>
            </a:r>
            <a:r>
              <a:rPr sz="2000" dirty="0">
                <a:latin typeface="Arial"/>
                <a:cs typeface="Arial"/>
              </a:rPr>
              <a:t>about </a:t>
            </a:r>
            <a:r>
              <a:rPr sz="2000" spc="-5" dirty="0">
                <a:latin typeface="Arial"/>
                <a:cs typeface="Arial"/>
              </a:rPr>
              <a:t>the </a:t>
            </a:r>
            <a:r>
              <a:rPr sz="2000" dirty="0">
                <a:latin typeface="Arial"/>
                <a:cs typeface="Arial"/>
              </a:rPr>
              <a:t>current  </a:t>
            </a:r>
            <a:r>
              <a:rPr sz="2000" spc="-5" dirty="0">
                <a:latin typeface="Arial"/>
                <a:cs typeface="Arial"/>
              </a:rPr>
              <a:t>environment of the </a:t>
            </a:r>
            <a:r>
              <a:rPr sz="2000" dirty="0">
                <a:latin typeface="Arial"/>
                <a:cs typeface="Arial"/>
              </a:rPr>
              <a:t>business </a:t>
            </a:r>
            <a:r>
              <a:rPr sz="2000" spc="-5" dirty="0">
                <a:latin typeface="Arial"/>
                <a:cs typeface="Arial"/>
              </a:rPr>
              <a:t>to </a:t>
            </a:r>
            <a:r>
              <a:rPr sz="2000" dirty="0">
                <a:latin typeface="Arial"/>
                <a:cs typeface="Arial"/>
              </a:rPr>
              <a:t>change</a:t>
            </a:r>
            <a:r>
              <a:rPr sz="2000" spc="-5" dirty="0">
                <a:latin typeface="Arial"/>
                <a:cs typeface="Arial"/>
              </a:rPr>
              <a:t> </a:t>
            </a:r>
            <a:r>
              <a:rPr sz="2000" dirty="0">
                <a:latin typeface="Arial"/>
                <a:cs typeface="Arial"/>
              </a:rPr>
              <a:t>accordingly.</a:t>
            </a:r>
            <a:endParaRPr sz="2000">
              <a:latin typeface="Arial"/>
              <a:cs typeface="Arial"/>
            </a:endParaRPr>
          </a:p>
        </p:txBody>
      </p:sp>
      <p:sp>
        <p:nvSpPr>
          <p:cNvPr id="5" name="object 5"/>
          <p:cNvSpPr txBox="1"/>
          <p:nvPr/>
        </p:nvSpPr>
        <p:spPr>
          <a:xfrm>
            <a:off x="306070" y="28384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306070" y="2755900"/>
            <a:ext cx="8051800" cy="1741170"/>
          </a:xfrm>
          <a:prstGeom prst="rect">
            <a:avLst/>
          </a:prstGeom>
        </p:spPr>
        <p:txBody>
          <a:bodyPr vert="horz" wrap="square" lIns="0" tIns="76200" rIns="0" bIns="0" rtlCol="0">
            <a:spAutoFit/>
          </a:bodyPr>
          <a:lstStyle/>
          <a:p>
            <a:pPr marL="355600">
              <a:lnSpc>
                <a:spcPct val="100000"/>
              </a:lnSpc>
              <a:spcBef>
                <a:spcPts val="600"/>
              </a:spcBef>
            </a:pPr>
            <a:r>
              <a:rPr sz="2000" b="1" spc="-5" dirty="0">
                <a:latin typeface="Arial"/>
                <a:cs typeface="Arial"/>
              </a:rPr>
              <a:t>Basis </a:t>
            </a:r>
            <a:r>
              <a:rPr sz="2000" b="1" dirty="0">
                <a:latin typeface="Arial"/>
                <a:cs typeface="Arial"/>
              </a:rPr>
              <a:t>of</a:t>
            </a:r>
            <a:r>
              <a:rPr sz="2000" b="1" spc="-5" dirty="0">
                <a:latin typeface="Arial"/>
                <a:cs typeface="Arial"/>
              </a:rPr>
              <a:t> Decision:</a:t>
            </a:r>
            <a:endParaRPr sz="2000">
              <a:latin typeface="Arial"/>
              <a:cs typeface="Arial"/>
            </a:endParaRPr>
          </a:p>
          <a:p>
            <a:pPr marL="355600" marR="239395" indent="571500">
              <a:lnSpc>
                <a:spcPct val="100400"/>
              </a:lnSpc>
              <a:spcBef>
                <a:spcPts val="490"/>
              </a:spcBef>
            </a:pPr>
            <a:r>
              <a:rPr sz="2000" spc="-5" dirty="0">
                <a:latin typeface="Arial"/>
                <a:cs typeface="Arial"/>
              </a:rPr>
              <a:t>It </a:t>
            </a:r>
            <a:r>
              <a:rPr sz="2000" dirty="0">
                <a:latin typeface="Arial"/>
                <a:cs typeface="Arial"/>
              </a:rPr>
              <a:t>contains all </a:t>
            </a:r>
            <a:r>
              <a:rPr sz="2000" spc="-5" dirty="0">
                <a:latin typeface="Arial"/>
                <a:cs typeface="Arial"/>
              </a:rPr>
              <a:t>the information which is </a:t>
            </a:r>
            <a:r>
              <a:rPr sz="2000" dirty="0">
                <a:latin typeface="Arial"/>
                <a:cs typeface="Arial"/>
              </a:rPr>
              <a:t>needed </a:t>
            </a:r>
            <a:r>
              <a:rPr sz="2000" spc="-5" dirty="0">
                <a:latin typeface="Arial"/>
                <a:cs typeface="Arial"/>
              </a:rPr>
              <a:t>for </a:t>
            </a:r>
            <a:r>
              <a:rPr sz="2000" dirty="0">
                <a:latin typeface="Arial"/>
                <a:cs typeface="Arial"/>
              </a:rPr>
              <a:t>taking good  decision.</a:t>
            </a:r>
            <a:endParaRPr sz="2000">
              <a:latin typeface="Arial"/>
              <a:cs typeface="Arial"/>
            </a:endParaRPr>
          </a:p>
          <a:p>
            <a:pPr marL="355600" marR="5080" indent="-342900">
              <a:lnSpc>
                <a:spcPct val="100400"/>
              </a:lnSpc>
              <a:spcBef>
                <a:spcPts val="480"/>
              </a:spcBef>
            </a:pPr>
            <a:r>
              <a:rPr sz="2000" spc="-5" dirty="0">
                <a:latin typeface="Arial"/>
                <a:cs typeface="Arial"/>
              </a:rPr>
              <a:t>e.g. If </a:t>
            </a:r>
            <a:r>
              <a:rPr sz="2000" dirty="0">
                <a:latin typeface="Arial"/>
                <a:cs typeface="Arial"/>
              </a:rPr>
              <a:t>a business </a:t>
            </a:r>
            <a:r>
              <a:rPr sz="2000" spc="-5" dirty="0">
                <a:latin typeface="Arial"/>
                <a:cs typeface="Arial"/>
              </a:rPr>
              <a:t>knows </a:t>
            </a:r>
            <a:r>
              <a:rPr sz="2000" dirty="0">
                <a:latin typeface="Arial"/>
                <a:cs typeface="Arial"/>
              </a:rPr>
              <a:t>about </a:t>
            </a:r>
            <a:r>
              <a:rPr sz="2000" spc="-5" dirty="0">
                <a:latin typeface="Arial"/>
                <a:cs typeface="Arial"/>
              </a:rPr>
              <a:t>its competitors, </a:t>
            </a:r>
            <a:r>
              <a:rPr sz="2000" dirty="0">
                <a:latin typeface="Arial"/>
                <a:cs typeface="Arial"/>
              </a:rPr>
              <a:t>suppliers and customers  </a:t>
            </a:r>
            <a:r>
              <a:rPr sz="2000" spc="-5" dirty="0">
                <a:latin typeface="Arial"/>
                <a:cs typeface="Arial"/>
              </a:rPr>
              <a:t>they take </a:t>
            </a:r>
            <a:r>
              <a:rPr sz="2000" dirty="0">
                <a:latin typeface="Arial"/>
                <a:cs typeface="Arial"/>
              </a:rPr>
              <a:t>decision about price, purchase, salary</a:t>
            </a:r>
            <a:r>
              <a:rPr sz="2000" spc="-60" dirty="0">
                <a:latin typeface="Arial"/>
                <a:cs typeface="Arial"/>
              </a:rPr>
              <a:t> </a:t>
            </a:r>
            <a:r>
              <a:rPr sz="2000" spc="-5" dirty="0">
                <a:latin typeface="Arial"/>
                <a:cs typeface="Arial"/>
              </a:rPr>
              <a:t>etc.</a:t>
            </a:r>
            <a:endParaRPr sz="2000">
              <a:latin typeface="Arial"/>
              <a:cs typeface="Arial"/>
            </a:endParaRPr>
          </a:p>
        </p:txBody>
      </p:sp>
      <p:sp>
        <p:nvSpPr>
          <p:cNvPr id="7" name="object 7"/>
          <p:cNvSpPr txBox="1"/>
          <p:nvPr/>
        </p:nvSpPr>
        <p:spPr>
          <a:xfrm>
            <a:off x="306070" y="49212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8" name="object 8"/>
          <p:cNvSpPr txBox="1"/>
          <p:nvPr/>
        </p:nvSpPr>
        <p:spPr>
          <a:xfrm>
            <a:off x="648969" y="4839970"/>
            <a:ext cx="7806690" cy="10668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Helpful in making of policies:</a:t>
            </a:r>
            <a:endParaRPr sz="2000">
              <a:latin typeface="Arial"/>
              <a:cs typeface="Arial"/>
            </a:endParaRPr>
          </a:p>
          <a:p>
            <a:pPr marL="12700" marR="5080" indent="571500">
              <a:lnSpc>
                <a:spcPct val="100000"/>
              </a:lnSpc>
              <a:spcBef>
                <a:spcPts val="500"/>
              </a:spcBef>
            </a:pPr>
            <a:r>
              <a:rPr sz="2000" spc="-5" dirty="0">
                <a:latin typeface="Arial"/>
                <a:cs typeface="Arial"/>
              </a:rPr>
              <a:t>For making </a:t>
            </a:r>
            <a:r>
              <a:rPr sz="2000" dirty="0">
                <a:latin typeface="Arial"/>
                <a:cs typeface="Arial"/>
              </a:rPr>
              <a:t>good business policies one needs </a:t>
            </a:r>
            <a:r>
              <a:rPr sz="2000" spc="-5" dirty="0">
                <a:latin typeface="Arial"/>
                <a:cs typeface="Arial"/>
              </a:rPr>
              <a:t>to </a:t>
            </a:r>
            <a:r>
              <a:rPr sz="2000" dirty="0">
                <a:latin typeface="Arial"/>
                <a:cs typeface="Arial"/>
              </a:rPr>
              <a:t>know and scan  business through business</a:t>
            </a:r>
            <a:r>
              <a:rPr sz="2000" spc="-5" dirty="0">
                <a:latin typeface="Arial"/>
                <a:cs typeface="Arial"/>
              </a:rPr>
              <a:t> environment.</a:t>
            </a:r>
            <a:endParaRPr sz="2000">
              <a:latin typeface="Arial"/>
              <a:cs typeface="Aria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5867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571500" y="567690"/>
            <a:ext cx="296037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Technological</a:t>
            </a:r>
            <a:r>
              <a:rPr sz="2000" b="1" spc="-40" dirty="0">
                <a:latin typeface="Arial"/>
                <a:cs typeface="Arial"/>
              </a:rPr>
              <a:t> </a:t>
            </a:r>
            <a:r>
              <a:rPr sz="2000" b="1" spc="-5" dirty="0">
                <a:latin typeface="Arial"/>
                <a:cs typeface="Arial"/>
              </a:rPr>
              <a:t>Planning:</a:t>
            </a:r>
            <a:endParaRPr sz="2000">
              <a:latin typeface="Arial"/>
              <a:cs typeface="Arial"/>
            </a:endParaRPr>
          </a:p>
        </p:txBody>
      </p:sp>
      <p:sp>
        <p:nvSpPr>
          <p:cNvPr id="4" name="object 4"/>
          <p:cNvSpPr txBox="1"/>
          <p:nvPr/>
        </p:nvSpPr>
        <p:spPr>
          <a:xfrm>
            <a:off x="571500" y="935990"/>
            <a:ext cx="7647940" cy="939800"/>
          </a:xfrm>
          <a:prstGeom prst="rect">
            <a:avLst/>
          </a:prstGeom>
        </p:spPr>
        <p:txBody>
          <a:bodyPr vert="horz" wrap="square" lIns="0" tIns="12700" rIns="0" bIns="0" rtlCol="0">
            <a:spAutoFit/>
          </a:bodyPr>
          <a:lstStyle/>
          <a:p>
            <a:pPr marL="12700" marR="5080" indent="571500">
              <a:lnSpc>
                <a:spcPct val="100000"/>
              </a:lnSpc>
              <a:spcBef>
                <a:spcPts val="100"/>
              </a:spcBef>
            </a:pPr>
            <a:r>
              <a:rPr sz="2000" spc="-5" dirty="0">
                <a:latin typeface="Arial"/>
                <a:cs typeface="Arial"/>
              </a:rPr>
              <a:t>In today's </a:t>
            </a:r>
            <a:r>
              <a:rPr sz="2000" dirty="0">
                <a:latin typeface="Arial"/>
                <a:cs typeface="Arial"/>
              </a:rPr>
              <a:t>environment it </a:t>
            </a:r>
            <a:r>
              <a:rPr sz="2000" spc="-5" dirty="0">
                <a:latin typeface="Arial"/>
                <a:cs typeface="Arial"/>
              </a:rPr>
              <a:t>is </a:t>
            </a:r>
            <a:r>
              <a:rPr sz="2000" dirty="0">
                <a:latin typeface="Arial"/>
                <a:cs typeface="Arial"/>
              </a:rPr>
              <a:t>really </a:t>
            </a:r>
            <a:r>
              <a:rPr sz="2000" spc="-5" dirty="0">
                <a:latin typeface="Arial"/>
                <a:cs typeface="Arial"/>
              </a:rPr>
              <a:t>important for the </a:t>
            </a:r>
            <a:r>
              <a:rPr sz="2000" dirty="0">
                <a:latin typeface="Arial"/>
                <a:cs typeface="Arial"/>
              </a:rPr>
              <a:t>business  houses </a:t>
            </a:r>
            <a:r>
              <a:rPr sz="2000" spc="-5" dirty="0">
                <a:latin typeface="Arial"/>
                <a:cs typeface="Arial"/>
              </a:rPr>
              <a:t>to </a:t>
            </a:r>
            <a:r>
              <a:rPr sz="2000" dirty="0">
                <a:latin typeface="Arial"/>
                <a:cs typeface="Arial"/>
              </a:rPr>
              <a:t>keep themselves changing according </a:t>
            </a:r>
            <a:r>
              <a:rPr sz="2000" spc="-5" dirty="0">
                <a:latin typeface="Arial"/>
                <a:cs typeface="Arial"/>
              </a:rPr>
              <a:t>to the technological  </a:t>
            </a:r>
            <a:r>
              <a:rPr sz="2000" dirty="0">
                <a:latin typeface="Arial"/>
                <a:cs typeface="Arial"/>
              </a:rPr>
              <a:t>changes in </a:t>
            </a:r>
            <a:r>
              <a:rPr sz="2000" spc="-5" dirty="0">
                <a:latin typeface="Arial"/>
                <a:cs typeface="Arial"/>
              </a:rPr>
              <a:t>the</a:t>
            </a:r>
            <a:r>
              <a:rPr sz="2000" spc="-15" dirty="0">
                <a:latin typeface="Arial"/>
                <a:cs typeface="Arial"/>
              </a:rPr>
              <a:t> </a:t>
            </a:r>
            <a:r>
              <a:rPr sz="2000" dirty="0">
                <a:latin typeface="Arial"/>
                <a:cs typeface="Arial"/>
              </a:rPr>
              <a:t>market.</a:t>
            </a:r>
            <a:endParaRPr sz="2000">
              <a:latin typeface="Arial"/>
              <a:cs typeface="Arial"/>
            </a:endParaRPr>
          </a:p>
        </p:txBody>
      </p:sp>
      <p:sp>
        <p:nvSpPr>
          <p:cNvPr id="5" name="object 5"/>
          <p:cNvSpPr txBox="1"/>
          <p:nvPr/>
        </p:nvSpPr>
        <p:spPr>
          <a:xfrm>
            <a:off x="228600" y="23012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571500" y="2218690"/>
            <a:ext cx="7677150" cy="1371600"/>
          </a:xfrm>
          <a:prstGeom prst="rect">
            <a:avLst/>
          </a:prstGeom>
        </p:spPr>
        <p:txBody>
          <a:bodyPr vert="horz" wrap="square" lIns="0" tIns="76200" rIns="0" bIns="0" rtlCol="0">
            <a:spAutoFit/>
          </a:bodyPr>
          <a:lstStyle/>
          <a:p>
            <a:pPr marL="12700">
              <a:lnSpc>
                <a:spcPct val="100000"/>
              </a:lnSpc>
              <a:spcBef>
                <a:spcPts val="600"/>
              </a:spcBef>
            </a:pPr>
            <a:r>
              <a:rPr sz="2000" b="1" spc="-10" dirty="0">
                <a:latin typeface="Arial"/>
                <a:cs typeface="Arial"/>
              </a:rPr>
              <a:t>Survive </a:t>
            </a:r>
            <a:r>
              <a:rPr sz="2000" b="1" spc="-5" dirty="0">
                <a:latin typeface="Arial"/>
                <a:cs typeface="Arial"/>
              </a:rPr>
              <a:t>in </a:t>
            </a:r>
            <a:r>
              <a:rPr sz="2000" b="1" dirty="0">
                <a:latin typeface="Arial"/>
                <a:cs typeface="Arial"/>
              </a:rPr>
              <a:t>the </a:t>
            </a:r>
            <a:r>
              <a:rPr sz="2000" b="1" spc="-5" dirty="0">
                <a:latin typeface="Arial"/>
                <a:cs typeface="Arial"/>
              </a:rPr>
              <a:t>business:</a:t>
            </a:r>
            <a:endParaRPr sz="2000">
              <a:latin typeface="Arial"/>
              <a:cs typeface="Arial"/>
            </a:endParaRPr>
          </a:p>
          <a:p>
            <a:pPr marL="12700" marR="5080" indent="571500">
              <a:lnSpc>
                <a:spcPct val="100000"/>
              </a:lnSpc>
              <a:spcBef>
                <a:spcPts val="500"/>
              </a:spcBef>
            </a:pPr>
            <a:r>
              <a:rPr sz="2000" spc="-5" dirty="0">
                <a:latin typeface="Arial"/>
                <a:cs typeface="Arial"/>
              </a:rPr>
              <a:t>Sometimes </a:t>
            </a:r>
            <a:r>
              <a:rPr sz="2000" dirty="0">
                <a:latin typeface="Arial"/>
                <a:cs typeface="Arial"/>
              </a:rPr>
              <a:t>industry </a:t>
            </a:r>
            <a:r>
              <a:rPr sz="2000" spc="-5" dirty="0">
                <a:latin typeface="Arial"/>
                <a:cs typeface="Arial"/>
              </a:rPr>
              <a:t>may face </a:t>
            </a:r>
            <a:r>
              <a:rPr sz="2000" dirty="0">
                <a:latin typeface="Arial"/>
                <a:cs typeface="Arial"/>
              </a:rPr>
              <a:t>recession. </a:t>
            </a:r>
            <a:r>
              <a:rPr sz="2000" spc="-5" dirty="0">
                <a:latin typeface="Arial"/>
                <a:cs typeface="Arial"/>
              </a:rPr>
              <a:t>In </a:t>
            </a:r>
            <a:r>
              <a:rPr sz="2000" dirty="0">
                <a:latin typeface="Arial"/>
                <a:cs typeface="Arial"/>
              </a:rPr>
              <a:t>such </a:t>
            </a:r>
            <a:r>
              <a:rPr sz="2000" spc="-5" dirty="0">
                <a:latin typeface="Arial"/>
                <a:cs typeface="Arial"/>
              </a:rPr>
              <a:t>condition </a:t>
            </a:r>
            <a:r>
              <a:rPr sz="2000" dirty="0">
                <a:latin typeface="Arial"/>
                <a:cs typeface="Arial"/>
              </a:rPr>
              <a:t>only  those business </a:t>
            </a:r>
            <a:r>
              <a:rPr sz="2000" spc="-10" dirty="0">
                <a:latin typeface="Arial"/>
                <a:cs typeface="Arial"/>
              </a:rPr>
              <a:t>will </a:t>
            </a:r>
            <a:r>
              <a:rPr sz="2000" spc="-5" dirty="0">
                <a:latin typeface="Arial"/>
                <a:cs typeface="Arial"/>
              </a:rPr>
              <a:t>survive </a:t>
            </a:r>
            <a:r>
              <a:rPr sz="2000" spc="-10" dirty="0">
                <a:latin typeface="Arial"/>
                <a:cs typeface="Arial"/>
              </a:rPr>
              <a:t>who </a:t>
            </a:r>
            <a:r>
              <a:rPr sz="2000" spc="-5" dirty="0">
                <a:latin typeface="Arial"/>
                <a:cs typeface="Arial"/>
              </a:rPr>
              <a:t>estimate this entire situation </a:t>
            </a:r>
            <a:r>
              <a:rPr sz="2000" dirty="0">
                <a:latin typeface="Arial"/>
                <a:cs typeface="Arial"/>
              </a:rPr>
              <a:t>in  advance through business environment</a:t>
            </a:r>
            <a:r>
              <a:rPr sz="2000" spc="-35" dirty="0">
                <a:latin typeface="Arial"/>
                <a:cs typeface="Arial"/>
              </a:rPr>
              <a:t> </a:t>
            </a:r>
            <a:r>
              <a:rPr sz="2000" spc="-5" dirty="0">
                <a:latin typeface="Arial"/>
                <a:cs typeface="Arial"/>
              </a:rPr>
              <a:t>study.</a:t>
            </a:r>
            <a:endParaRPr sz="2000">
              <a:latin typeface="Arial"/>
              <a:cs typeface="Aria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2079" y="0"/>
            <a:ext cx="8909050" cy="1452880"/>
            <a:chOff x="132079" y="0"/>
            <a:chExt cx="8909050" cy="1452880"/>
          </a:xfrm>
        </p:grpSpPr>
        <p:sp>
          <p:nvSpPr>
            <p:cNvPr id="3" name="object 3"/>
            <p:cNvSpPr/>
            <p:nvPr/>
          </p:nvSpPr>
          <p:spPr>
            <a:xfrm>
              <a:off x="1523999" y="533400"/>
              <a:ext cx="6629400" cy="914400"/>
            </a:xfrm>
            <a:custGeom>
              <a:avLst/>
              <a:gdLst/>
              <a:ahLst/>
              <a:cxnLst/>
              <a:rect l="l" t="t" r="r" b="b"/>
              <a:pathLst>
                <a:path w="6629400" h="914400">
                  <a:moveTo>
                    <a:pt x="6477000" y="0"/>
                  </a:moveTo>
                  <a:lnTo>
                    <a:pt x="152400" y="0"/>
                  </a:lnTo>
                  <a:lnTo>
                    <a:pt x="106801" y="8534"/>
                  </a:lnTo>
                  <a:lnTo>
                    <a:pt x="65288" y="31699"/>
                  </a:lnTo>
                  <a:lnTo>
                    <a:pt x="31333" y="65836"/>
                  </a:lnTo>
                  <a:lnTo>
                    <a:pt x="8412" y="107289"/>
                  </a:lnTo>
                  <a:lnTo>
                    <a:pt x="0" y="152400"/>
                  </a:lnTo>
                  <a:lnTo>
                    <a:pt x="0" y="762000"/>
                  </a:lnTo>
                  <a:lnTo>
                    <a:pt x="8412" y="807110"/>
                  </a:lnTo>
                  <a:lnTo>
                    <a:pt x="31333" y="848563"/>
                  </a:lnTo>
                  <a:lnTo>
                    <a:pt x="65288" y="882700"/>
                  </a:lnTo>
                  <a:lnTo>
                    <a:pt x="106801" y="905865"/>
                  </a:lnTo>
                  <a:lnTo>
                    <a:pt x="152400" y="914400"/>
                  </a:lnTo>
                  <a:lnTo>
                    <a:pt x="6477000" y="914400"/>
                  </a:lnTo>
                  <a:lnTo>
                    <a:pt x="6522110" y="905865"/>
                  </a:lnTo>
                  <a:lnTo>
                    <a:pt x="6563563" y="882700"/>
                  </a:lnTo>
                  <a:lnTo>
                    <a:pt x="6597700" y="848563"/>
                  </a:lnTo>
                  <a:lnTo>
                    <a:pt x="6620865" y="807110"/>
                  </a:lnTo>
                  <a:lnTo>
                    <a:pt x="6629400" y="762000"/>
                  </a:lnTo>
                  <a:lnTo>
                    <a:pt x="6629400" y="152400"/>
                  </a:lnTo>
                  <a:lnTo>
                    <a:pt x="6620865" y="107289"/>
                  </a:lnTo>
                  <a:lnTo>
                    <a:pt x="6597700" y="65836"/>
                  </a:lnTo>
                  <a:lnTo>
                    <a:pt x="6563563" y="31699"/>
                  </a:lnTo>
                  <a:lnTo>
                    <a:pt x="6522110" y="8534"/>
                  </a:lnTo>
                  <a:lnTo>
                    <a:pt x="6477000" y="0"/>
                  </a:lnTo>
                  <a:close/>
                </a:path>
              </a:pathLst>
            </a:custGeom>
            <a:solidFill>
              <a:srgbClr val="9999FF"/>
            </a:solidFill>
          </p:spPr>
          <p:txBody>
            <a:bodyPr wrap="square" lIns="0" tIns="0" rIns="0" bIns="0" rtlCol="0"/>
            <a:lstStyle/>
            <a:p>
              <a:endParaRPr/>
            </a:p>
          </p:txBody>
        </p:sp>
        <p:sp>
          <p:nvSpPr>
            <p:cNvPr id="4" name="object 4"/>
            <p:cNvSpPr/>
            <p:nvPr/>
          </p:nvSpPr>
          <p:spPr>
            <a:xfrm>
              <a:off x="1523999" y="533400"/>
              <a:ext cx="6629400" cy="914400"/>
            </a:xfrm>
            <a:custGeom>
              <a:avLst/>
              <a:gdLst/>
              <a:ahLst/>
              <a:cxnLst/>
              <a:rect l="l" t="t" r="r" b="b"/>
              <a:pathLst>
                <a:path w="6629400" h="914400">
                  <a:moveTo>
                    <a:pt x="152400" y="0"/>
                  </a:moveTo>
                  <a:lnTo>
                    <a:pt x="106801" y="8534"/>
                  </a:lnTo>
                  <a:lnTo>
                    <a:pt x="65288" y="31699"/>
                  </a:lnTo>
                  <a:lnTo>
                    <a:pt x="31333" y="65836"/>
                  </a:lnTo>
                  <a:lnTo>
                    <a:pt x="8412" y="107289"/>
                  </a:lnTo>
                  <a:lnTo>
                    <a:pt x="0" y="152400"/>
                  </a:lnTo>
                  <a:lnTo>
                    <a:pt x="0" y="762000"/>
                  </a:lnTo>
                  <a:lnTo>
                    <a:pt x="8412" y="807110"/>
                  </a:lnTo>
                  <a:lnTo>
                    <a:pt x="31333" y="848563"/>
                  </a:lnTo>
                  <a:lnTo>
                    <a:pt x="65288" y="882700"/>
                  </a:lnTo>
                  <a:lnTo>
                    <a:pt x="106801" y="905865"/>
                  </a:lnTo>
                  <a:lnTo>
                    <a:pt x="152400" y="914400"/>
                  </a:lnTo>
                  <a:lnTo>
                    <a:pt x="6477000" y="914400"/>
                  </a:lnTo>
                  <a:lnTo>
                    <a:pt x="6522110" y="905865"/>
                  </a:lnTo>
                  <a:lnTo>
                    <a:pt x="6563563" y="882700"/>
                  </a:lnTo>
                  <a:lnTo>
                    <a:pt x="6597700" y="848563"/>
                  </a:lnTo>
                  <a:lnTo>
                    <a:pt x="6620865" y="807110"/>
                  </a:lnTo>
                  <a:lnTo>
                    <a:pt x="6629400" y="762000"/>
                  </a:lnTo>
                  <a:lnTo>
                    <a:pt x="6629400" y="152400"/>
                  </a:lnTo>
                  <a:lnTo>
                    <a:pt x="6620865" y="107289"/>
                  </a:lnTo>
                  <a:lnTo>
                    <a:pt x="6597700" y="65836"/>
                  </a:lnTo>
                  <a:lnTo>
                    <a:pt x="6563563" y="31699"/>
                  </a:lnTo>
                  <a:lnTo>
                    <a:pt x="6522110" y="8534"/>
                  </a:lnTo>
                  <a:lnTo>
                    <a:pt x="6477000" y="0"/>
                  </a:lnTo>
                  <a:lnTo>
                    <a:pt x="152400" y="0"/>
                  </a:lnTo>
                  <a:close/>
                </a:path>
                <a:path w="6629400" h="914400">
                  <a:moveTo>
                    <a:pt x="0" y="0"/>
                  </a:moveTo>
                  <a:lnTo>
                    <a:pt x="0" y="0"/>
                  </a:lnTo>
                </a:path>
                <a:path w="6629400" h="914400">
                  <a:moveTo>
                    <a:pt x="6629400" y="914400"/>
                  </a:moveTo>
                  <a:lnTo>
                    <a:pt x="6629400" y="914400"/>
                  </a:lnTo>
                </a:path>
              </a:pathLst>
            </a:custGeom>
            <a:ln w="9344">
              <a:solidFill>
                <a:srgbClr val="000000"/>
              </a:solidFill>
            </a:ln>
          </p:spPr>
          <p:txBody>
            <a:bodyPr wrap="square" lIns="0" tIns="0" rIns="0" bIns="0" rtlCol="0"/>
            <a:lstStyle/>
            <a:p>
              <a:endParaRPr/>
            </a:p>
          </p:txBody>
        </p:sp>
      </p:grpSp>
      <p:sp>
        <p:nvSpPr>
          <p:cNvPr id="5" name="object 5"/>
          <p:cNvSpPr txBox="1">
            <a:spLocks noGrp="1"/>
          </p:cNvSpPr>
          <p:nvPr>
            <p:ph type="title"/>
          </p:nvPr>
        </p:nvSpPr>
        <p:spPr>
          <a:xfrm>
            <a:off x="2893060" y="825500"/>
            <a:ext cx="3886200" cy="330200"/>
          </a:xfrm>
          <a:prstGeom prst="rect">
            <a:avLst/>
          </a:prstGeom>
        </p:spPr>
        <p:txBody>
          <a:bodyPr vert="horz" wrap="square" lIns="0" tIns="12700" rIns="0" bIns="0" rtlCol="0">
            <a:spAutoFit/>
          </a:bodyPr>
          <a:lstStyle/>
          <a:p>
            <a:pPr marL="12700">
              <a:lnSpc>
                <a:spcPct val="100000"/>
              </a:lnSpc>
              <a:spcBef>
                <a:spcPts val="100"/>
              </a:spcBef>
            </a:pPr>
            <a:r>
              <a:rPr sz="2000" b="1" spc="-10" dirty="0">
                <a:latin typeface="Arial"/>
                <a:cs typeface="Arial"/>
              </a:rPr>
              <a:t>Types </a:t>
            </a:r>
            <a:r>
              <a:rPr sz="2000" b="1" spc="-5" dirty="0">
                <a:latin typeface="Arial"/>
                <a:cs typeface="Arial"/>
              </a:rPr>
              <a:t>of Business</a:t>
            </a:r>
            <a:r>
              <a:rPr sz="2000" b="1" spc="-45" dirty="0">
                <a:latin typeface="Arial"/>
                <a:cs typeface="Arial"/>
              </a:rPr>
              <a:t> </a:t>
            </a:r>
            <a:r>
              <a:rPr sz="2000" b="1" spc="-5" dirty="0">
                <a:latin typeface="Arial"/>
                <a:cs typeface="Arial"/>
              </a:rPr>
              <a:t>Environment</a:t>
            </a:r>
            <a:endParaRPr sz="2000">
              <a:latin typeface="Arial"/>
              <a:cs typeface="Arial"/>
            </a:endParaRPr>
          </a:p>
        </p:txBody>
      </p:sp>
      <p:grpSp>
        <p:nvGrpSpPr>
          <p:cNvPr id="6" name="object 6"/>
          <p:cNvGrpSpPr/>
          <p:nvPr/>
        </p:nvGrpSpPr>
        <p:grpSpPr>
          <a:xfrm>
            <a:off x="681037" y="2052637"/>
            <a:ext cx="2905125" cy="695325"/>
            <a:chOff x="681037" y="2052637"/>
            <a:chExt cx="2905125" cy="695325"/>
          </a:xfrm>
        </p:grpSpPr>
        <p:sp>
          <p:nvSpPr>
            <p:cNvPr id="7" name="object 7"/>
            <p:cNvSpPr/>
            <p:nvPr/>
          </p:nvSpPr>
          <p:spPr>
            <a:xfrm>
              <a:off x="685800" y="2057400"/>
              <a:ext cx="2895600" cy="685800"/>
            </a:xfrm>
            <a:custGeom>
              <a:avLst/>
              <a:gdLst/>
              <a:ahLst/>
              <a:cxnLst/>
              <a:rect l="l" t="t" r="r" b="b"/>
              <a:pathLst>
                <a:path w="2895600" h="685800">
                  <a:moveTo>
                    <a:pt x="2781300" y="0"/>
                  </a:moveTo>
                  <a:lnTo>
                    <a:pt x="114300" y="0"/>
                  </a:lnTo>
                  <a:lnTo>
                    <a:pt x="72330" y="9822"/>
                  </a:lnTo>
                  <a:lnTo>
                    <a:pt x="35718" y="35718"/>
                  </a:lnTo>
                  <a:lnTo>
                    <a:pt x="9822" y="72330"/>
                  </a:lnTo>
                  <a:lnTo>
                    <a:pt x="0" y="114300"/>
                  </a:lnTo>
                  <a:lnTo>
                    <a:pt x="0" y="571500"/>
                  </a:lnTo>
                  <a:lnTo>
                    <a:pt x="9822" y="613469"/>
                  </a:lnTo>
                  <a:lnTo>
                    <a:pt x="35718" y="650081"/>
                  </a:lnTo>
                  <a:lnTo>
                    <a:pt x="72330" y="675977"/>
                  </a:lnTo>
                  <a:lnTo>
                    <a:pt x="114300" y="685800"/>
                  </a:lnTo>
                  <a:lnTo>
                    <a:pt x="2781300" y="685800"/>
                  </a:lnTo>
                  <a:lnTo>
                    <a:pt x="2823269" y="675977"/>
                  </a:lnTo>
                  <a:lnTo>
                    <a:pt x="2859881" y="650081"/>
                  </a:lnTo>
                  <a:lnTo>
                    <a:pt x="2885777" y="613469"/>
                  </a:lnTo>
                  <a:lnTo>
                    <a:pt x="2895600" y="571500"/>
                  </a:lnTo>
                  <a:lnTo>
                    <a:pt x="2895600" y="114300"/>
                  </a:lnTo>
                  <a:lnTo>
                    <a:pt x="2885777" y="72330"/>
                  </a:lnTo>
                  <a:lnTo>
                    <a:pt x="2859881" y="35718"/>
                  </a:lnTo>
                  <a:lnTo>
                    <a:pt x="2823269" y="9822"/>
                  </a:lnTo>
                  <a:lnTo>
                    <a:pt x="2781300" y="0"/>
                  </a:lnTo>
                  <a:close/>
                </a:path>
              </a:pathLst>
            </a:custGeom>
            <a:solidFill>
              <a:srgbClr val="9999FF"/>
            </a:solidFill>
          </p:spPr>
          <p:txBody>
            <a:bodyPr wrap="square" lIns="0" tIns="0" rIns="0" bIns="0" rtlCol="0"/>
            <a:lstStyle/>
            <a:p>
              <a:endParaRPr/>
            </a:p>
          </p:txBody>
        </p:sp>
        <p:sp>
          <p:nvSpPr>
            <p:cNvPr id="8" name="object 8"/>
            <p:cNvSpPr/>
            <p:nvPr/>
          </p:nvSpPr>
          <p:spPr>
            <a:xfrm>
              <a:off x="685800" y="2057400"/>
              <a:ext cx="2895600" cy="685800"/>
            </a:xfrm>
            <a:custGeom>
              <a:avLst/>
              <a:gdLst/>
              <a:ahLst/>
              <a:cxnLst/>
              <a:rect l="l" t="t" r="r" b="b"/>
              <a:pathLst>
                <a:path w="2895600" h="685800">
                  <a:moveTo>
                    <a:pt x="114300" y="0"/>
                  </a:moveTo>
                  <a:lnTo>
                    <a:pt x="72330" y="9822"/>
                  </a:lnTo>
                  <a:lnTo>
                    <a:pt x="35718" y="35718"/>
                  </a:lnTo>
                  <a:lnTo>
                    <a:pt x="9822" y="72330"/>
                  </a:lnTo>
                  <a:lnTo>
                    <a:pt x="0" y="114300"/>
                  </a:lnTo>
                  <a:lnTo>
                    <a:pt x="0" y="571500"/>
                  </a:lnTo>
                  <a:lnTo>
                    <a:pt x="9822" y="613469"/>
                  </a:lnTo>
                  <a:lnTo>
                    <a:pt x="35718" y="650081"/>
                  </a:lnTo>
                  <a:lnTo>
                    <a:pt x="72330" y="675977"/>
                  </a:lnTo>
                  <a:lnTo>
                    <a:pt x="114300" y="685800"/>
                  </a:lnTo>
                  <a:lnTo>
                    <a:pt x="2781300" y="685800"/>
                  </a:lnTo>
                  <a:lnTo>
                    <a:pt x="2823269" y="675977"/>
                  </a:lnTo>
                  <a:lnTo>
                    <a:pt x="2859881" y="650081"/>
                  </a:lnTo>
                  <a:lnTo>
                    <a:pt x="2885777" y="613469"/>
                  </a:lnTo>
                  <a:lnTo>
                    <a:pt x="2895600" y="571500"/>
                  </a:lnTo>
                  <a:lnTo>
                    <a:pt x="2895600" y="114300"/>
                  </a:lnTo>
                  <a:lnTo>
                    <a:pt x="2885777" y="72330"/>
                  </a:lnTo>
                  <a:lnTo>
                    <a:pt x="2859881" y="35718"/>
                  </a:lnTo>
                  <a:lnTo>
                    <a:pt x="2823269" y="9822"/>
                  </a:lnTo>
                  <a:lnTo>
                    <a:pt x="2781300" y="0"/>
                  </a:lnTo>
                  <a:lnTo>
                    <a:pt x="114300" y="0"/>
                  </a:lnTo>
                  <a:close/>
                </a:path>
                <a:path w="2895600" h="685800">
                  <a:moveTo>
                    <a:pt x="0" y="0"/>
                  </a:moveTo>
                  <a:lnTo>
                    <a:pt x="0" y="0"/>
                  </a:lnTo>
                </a:path>
                <a:path w="2895600" h="685800">
                  <a:moveTo>
                    <a:pt x="2895600" y="685800"/>
                  </a:moveTo>
                  <a:lnTo>
                    <a:pt x="2895600" y="685800"/>
                  </a:lnTo>
                </a:path>
              </a:pathLst>
            </a:custGeom>
            <a:ln w="9344">
              <a:solidFill>
                <a:srgbClr val="000000"/>
              </a:solidFill>
            </a:ln>
          </p:spPr>
          <p:txBody>
            <a:bodyPr wrap="square" lIns="0" tIns="0" rIns="0" bIns="0" rtlCol="0"/>
            <a:lstStyle/>
            <a:p>
              <a:endParaRPr/>
            </a:p>
          </p:txBody>
        </p:sp>
      </p:grpSp>
      <p:sp>
        <p:nvSpPr>
          <p:cNvPr id="9" name="object 9"/>
          <p:cNvSpPr txBox="1"/>
          <p:nvPr/>
        </p:nvSpPr>
        <p:spPr>
          <a:xfrm>
            <a:off x="947419" y="2235200"/>
            <a:ext cx="237109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Internal</a:t>
            </a:r>
            <a:r>
              <a:rPr sz="2000" spc="-70" dirty="0">
                <a:latin typeface="Arial"/>
                <a:cs typeface="Arial"/>
              </a:rPr>
              <a:t> </a:t>
            </a:r>
            <a:r>
              <a:rPr sz="2000" dirty="0">
                <a:latin typeface="Arial"/>
                <a:cs typeface="Arial"/>
              </a:rPr>
              <a:t>Environment</a:t>
            </a:r>
            <a:endParaRPr sz="2000">
              <a:latin typeface="Arial"/>
              <a:cs typeface="Arial"/>
            </a:endParaRPr>
          </a:p>
        </p:txBody>
      </p:sp>
      <p:grpSp>
        <p:nvGrpSpPr>
          <p:cNvPr id="10" name="object 10"/>
          <p:cNvGrpSpPr/>
          <p:nvPr/>
        </p:nvGrpSpPr>
        <p:grpSpPr>
          <a:xfrm>
            <a:off x="5176837" y="2052637"/>
            <a:ext cx="3057525" cy="695325"/>
            <a:chOff x="5176837" y="2052637"/>
            <a:chExt cx="3057525" cy="695325"/>
          </a:xfrm>
        </p:grpSpPr>
        <p:sp>
          <p:nvSpPr>
            <p:cNvPr id="11" name="object 11"/>
            <p:cNvSpPr/>
            <p:nvPr/>
          </p:nvSpPr>
          <p:spPr>
            <a:xfrm>
              <a:off x="5181600" y="2057400"/>
              <a:ext cx="3048000" cy="685800"/>
            </a:xfrm>
            <a:custGeom>
              <a:avLst/>
              <a:gdLst/>
              <a:ahLst/>
              <a:cxnLst/>
              <a:rect l="l" t="t" r="r" b="b"/>
              <a:pathLst>
                <a:path w="3048000" h="685800">
                  <a:moveTo>
                    <a:pt x="2933700" y="0"/>
                  </a:moveTo>
                  <a:lnTo>
                    <a:pt x="113029" y="0"/>
                  </a:lnTo>
                  <a:lnTo>
                    <a:pt x="71258" y="9822"/>
                  </a:lnTo>
                  <a:lnTo>
                    <a:pt x="35083" y="35718"/>
                  </a:lnTo>
                  <a:lnTo>
                    <a:pt x="9624" y="72330"/>
                  </a:lnTo>
                  <a:lnTo>
                    <a:pt x="0" y="114300"/>
                  </a:lnTo>
                  <a:lnTo>
                    <a:pt x="0" y="571500"/>
                  </a:lnTo>
                  <a:lnTo>
                    <a:pt x="9624" y="613469"/>
                  </a:lnTo>
                  <a:lnTo>
                    <a:pt x="35083" y="650081"/>
                  </a:lnTo>
                  <a:lnTo>
                    <a:pt x="71258" y="675977"/>
                  </a:lnTo>
                  <a:lnTo>
                    <a:pt x="113029" y="685800"/>
                  </a:lnTo>
                  <a:lnTo>
                    <a:pt x="2933700" y="685800"/>
                  </a:lnTo>
                  <a:lnTo>
                    <a:pt x="2975669" y="675977"/>
                  </a:lnTo>
                  <a:lnTo>
                    <a:pt x="3012281" y="650081"/>
                  </a:lnTo>
                  <a:lnTo>
                    <a:pt x="3038177" y="613469"/>
                  </a:lnTo>
                  <a:lnTo>
                    <a:pt x="3048000" y="571500"/>
                  </a:lnTo>
                  <a:lnTo>
                    <a:pt x="3048000" y="114300"/>
                  </a:lnTo>
                  <a:lnTo>
                    <a:pt x="3038177" y="72330"/>
                  </a:lnTo>
                  <a:lnTo>
                    <a:pt x="3012281" y="35718"/>
                  </a:lnTo>
                  <a:lnTo>
                    <a:pt x="2975669" y="9822"/>
                  </a:lnTo>
                  <a:lnTo>
                    <a:pt x="2933700" y="0"/>
                  </a:lnTo>
                  <a:close/>
                </a:path>
              </a:pathLst>
            </a:custGeom>
            <a:solidFill>
              <a:srgbClr val="9999FF"/>
            </a:solidFill>
          </p:spPr>
          <p:txBody>
            <a:bodyPr wrap="square" lIns="0" tIns="0" rIns="0" bIns="0" rtlCol="0"/>
            <a:lstStyle/>
            <a:p>
              <a:endParaRPr/>
            </a:p>
          </p:txBody>
        </p:sp>
        <p:sp>
          <p:nvSpPr>
            <p:cNvPr id="12" name="object 12"/>
            <p:cNvSpPr/>
            <p:nvPr/>
          </p:nvSpPr>
          <p:spPr>
            <a:xfrm>
              <a:off x="5181600" y="2057400"/>
              <a:ext cx="3048000" cy="685800"/>
            </a:xfrm>
            <a:custGeom>
              <a:avLst/>
              <a:gdLst/>
              <a:ahLst/>
              <a:cxnLst/>
              <a:rect l="l" t="t" r="r" b="b"/>
              <a:pathLst>
                <a:path w="3048000" h="685800">
                  <a:moveTo>
                    <a:pt x="113029" y="0"/>
                  </a:moveTo>
                  <a:lnTo>
                    <a:pt x="71258" y="9822"/>
                  </a:lnTo>
                  <a:lnTo>
                    <a:pt x="35083" y="35718"/>
                  </a:lnTo>
                  <a:lnTo>
                    <a:pt x="9624" y="72330"/>
                  </a:lnTo>
                  <a:lnTo>
                    <a:pt x="0" y="114300"/>
                  </a:lnTo>
                  <a:lnTo>
                    <a:pt x="0" y="571500"/>
                  </a:lnTo>
                  <a:lnTo>
                    <a:pt x="9624" y="613469"/>
                  </a:lnTo>
                  <a:lnTo>
                    <a:pt x="35083" y="650081"/>
                  </a:lnTo>
                  <a:lnTo>
                    <a:pt x="71258" y="675977"/>
                  </a:lnTo>
                  <a:lnTo>
                    <a:pt x="113029" y="685800"/>
                  </a:lnTo>
                  <a:lnTo>
                    <a:pt x="2933700" y="685800"/>
                  </a:lnTo>
                  <a:lnTo>
                    <a:pt x="2975669" y="675977"/>
                  </a:lnTo>
                  <a:lnTo>
                    <a:pt x="3012281" y="650081"/>
                  </a:lnTo>
                  <a:lnTo>
                    <a:pt x="3038177" y="613469"/>
                  </a:lnTo>
                  <a:lnTo>
                    <a:pt x="3048000" y="571500"/>
                  </a:lnTo>
                  <a:lnTo>
                    <a:pt x="3048000" y="114300"/>
                  </a:lnTo>
                  <a:lnTo>
                    <a:pt x="3038177" y="72330"/>
                  </a:lnTo>
                  <a:lnTo>
                    <a:pt x="3012281" y="35718"/>
                  </a:lnTo>
                  <a:lnTo>
                    <a:pt x="2975669" y="9822"/>
                  </a:lnTo>
                  <a:lnTo>
                    <a:pt x="2933700" y="0"/>
                  </a:lnTo>
                  <a:lnTo>
                    <a:pt x="113029" y="0"/>
                  </a:lnTo>
                  <a:close/>
                </a:path>
                <a:path w="3048000" h="685800">
                  <a:moveTo>
                    <a:pt x="0" y="0"/>
                  </a:moveTo>
                  <a:lnTo>
                    <a:pt x="0" y="0"/>
                  </a:lnTo>
                </a:path>
                <a:path w="3048000" h="685800">
                  <a:moveTo>
                    <a:pt x="3048000" y="685800"/>
                  </a:moveTo>
                  <a:lnTo>
                    <a:pt x="3048000" y="685800"/>
                  </a:lnTo>
                </a:path>
              </a:pathLst>
            </a:custGeom>
            <a:ln w="9344">
              <a:solidFill>
                <a:srgbClr val="000000"/>
              </a:solidFill>
            </a:ln>
          </p:spPr>
          <p:txBody>
            <a:bodyPr wrap="square" lIns="0" tIns="0" rIns="0" bIns="0" rtlCol="0"/>
            <a:lstStyle/>
            <a:p>
              <a:endParaRPr/>
            </a:p>
          </p:txBody>
        </p:sp>
      </p:grpSp>
      <p:sp>
        <p:nvSpPr>
          <p:cNvPr id="13" name="object 13"/>
          <p:cNvSpPr txBox="1"/>
          <p:nvPr/>
        </p:nvSpPr>
        <p:spPr>
          <a:xfrm>
            <a:off x="5477509" y="2235200"/>
            <a:ext cx="245491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External</a:t>
            </a:r>
            <a:r>
              <a:rPr sz="2000" spc="-20" dirty="0">
                <a:latin typeface="Arial"/>
                <a:cs typeface="Arial"/>
              </a:rPr>
              <a:t> </a:t>
            </a:r>
            <a:r>
              <a:rPr sz="2000" spc="-5" dirty="0">
                <a:latin typeface="Arial"/>
                <a:cs typeface="Arial"/>
              </a:rPr>
              <a:t>Environment</a:t>
            </a:r>
            <a:endParaRPr sz="2000">
              <a:latin typeface="Arial"/>
              <a:cs typeface="Arial"/>
            </a:endParaRPr>
          </a:p>
        </p:txBody>
      </p:sp>
      <p:grpSp>
        <p:nvGrpSpPr>
          <p:cNvPr id="14" name="object 14"/>
          <p:cNvGrpSpPr/>
          <p:nvPr/>
        </p:nvGrpSpPr>
        <p:grpSpPr>
          <a:xfrm>
            <a:off x="223837" y="1426844"/>
            <a:ext cx="6426835" cy="5207635"/>
            <a:chOff x="223837" y="1426844"/>
            <a:chExt cx="6426835" cy="5207635"/>
          </a:xfrm>
        </p:grpSpPr>
        <p:sp>
          <p:nvSpPr>
            <p:cNvPr id="15" name="object 15"/>
            <p:cNvSpPr/>
            <p:nvPr/>
          </p:nvSpPr>
          <p:spPr>
            <a:xfrm>
              <a:off x="3124200" y="1447799"/>
              <a:ext cx="3505200" cy="609600"/>
            </a:xfrm>
            <a:custGeom>
              <a:avLst/>
              <a:gdLst/>
              <a:ahLst/>
              <a:cxnLst/>
              <a:rect l="l" t="t" r="r" b="b"/>
              <a:pathLst>
                <a:path w="3505200" h="609600">
                  <a:moveTo>
                    <a:pt x="0" y="228600"/>
                  </a:moveTo>
                  <a:lnTo>
                    <a:pt x="3505200" y="228600"/>
                  </a:lnTo>
                </a:path>
                <a:path w="3505200" h="609600">
                  <a:moveTo>
                    <a:pt x="1752600" y="0"/>
                  </a:moveTo>
                  <a:lnTo>
                    <a:pt x="1752600" y="228600"/>
                  </a:lnTo>
                </a:path>
                <a:path w="3505200" h="609600">
                  <a:moveTo>
                    <a:pt x="0" y="228600"/>
                  </a:moveTo>
                  <a:lnTo>
                    <a:pt x="0" y="609600"/>
                  </a:lnTo>
                </a:path>
                <a:path w="3505200" h="609600">
                  <a:moveTo>
                    <a:pt x="3505200" y="228600"/>
                  </a:moveTo>
                  <a:lnTo>
                    <a:pt x="3505200" y="609600"/>
                  </a:lnTo>
                </a:path>
              </a:pathLst>
            </a:custGeom>
            <a:ln w="41332">
              <a:solidFill>
                <a:srgbClr val="000000"/>
              </a:solidFill>
            </a:ln>
          </p:spPr>
          <p:txBody>
            <a:bodyPr wrap="square" lIns="0" tIns="0" rIns="0" bIns="0" rtlCol="0"/>
            <a:lstStyle/>
            <a:p>
              <a:endParaRPr/>
            </a:p>
          </p:txBody>
        </p:sp>
        <p:sp>
          <p:nvSpPr>
            <p:cNvPr id="16" name="object 16"/>
            <p:cNvSpPr/>
            <p:nvPr/>
          </p:nvSpPr>
          <p:spPr>
            <a:xfrm>
              <a:off x="228600" y="2971800"/>
              <a:ext cx="3124200" cy="3657600"/>
            </a:xfrm>
            <a:custGeom>
              <a:avLst/>
              <a:gdLst/>
              <a:ahLst/>
              <a:cxnLst/>
              <a:rect l="l" t="t" r="r" b="b"/>
              <a:pathLst>
                <a:path w="3124200" h="3657600">
                  <a:moveTo>
                    <a:pt x="2603500" y="0"/>
                  </a:moveTo>
                  <a:lnTo>
                    <a:pt x="520700" y="0"/>
                  </a:lnTo>
                  <a:lnTo>
                    <a:pt x="474808" y="2649"/>
                  </a:lnTo>
                  <a:lnTo>
                    <a:pt x="429235" y="10386"/>
                  </a:lnTo>
                  <a:lnTo>
                    <a:pt x="384298" y="22892"/>
                  </a:lnTo>
                  <a:lnTo>
                    <a:pt x="340315" y="39850"/>
                  </a:lnTo>
                  <a:lnTo>
                    <a:pt x="297603" y="60940"/>
                  </a:lnTo>
                  <a:lnTo>
                    <a:pt x="256481" y="85847"/>
                  </a:lnTo>
                  <a:lnTo>
                    <a:pt x="217267" y="114250"/>
                  </a:lnTo>
                  <a:lnTo>
                    <a:pt x="180278" y="145834"/>
                  </a:lnTo>
                  <a:lnTo>
                    <a:pt x="145834" y="180278"/>
                  </a:lnTo>
                  <a:lnTo>
                    <a:pt x="114250" y="217267"/>
                  </a:lnTo>
                  <a:lnTo>
                    <a:pt x="85847" y="256481"/>
                  </a:lnTo>
                  <a:lnTo>
                    <a:pt x="60940" y="297603"/>
                  </a:lnTo>
                  <a:lnTo>
                    <a:pt x="39850" y="340315"/>
                  </a:lnTo>
                  <a:lnTo>
                    <a:pt x="22892" y="384298"/>
                  </a:lnTo>
                  <a:lnTo>
                    <a:pt x="10386" y="429235"/>
                  </a:lnTo>
                  <a:lnTo>
                    <a:pt x="2649" y="474808"/>
                  </a:lnTo>
                  <a:lnTo>
                    <a:pt x="0" y="520700"/>
                  </a:lnTo>
                  <a:lnTo>
                    <a:pt x="0" y="3136900"/>
                  </a:lnTo>
                  <a:lnTo>
                    <a:pt x="2649" y="3182791"/>
                  </a:lnTo>
                  <a:lnTo>
                    <a:pt x="10386" y="3228364"/>
                  </a:lnTo>
                  <a:lnTo>
                    <a:pt x="22892" y="3273301"/>
                  </a:lnTo>
                  <a:lnTo>
                    <a:pt x="39850" y="3317284"/>
                  </a:lnTo>
                  <a:lnTo>
                    <a:pt x="60940" y="3359996"/>
                  </a:lnTo>
                  <a:lnTo>
                    <a:pt x="85847" y="3401118"/>
                  </a:lnTo>
                  <a:lnTo>
                    <a:pt x="114250" y="3440332"/>
                  </a:lnTo>
                  <a:lnTo>
                    <a:pt x="145834" y="3477321"/>
                  </a:lnTo>
                  <a:lnTo>
                    <a:pt x="180278" y="3511765"/>
                  </a:lnTo>
                  <a:lnTo>
                    <a:pt x="217267" y="3543349"/>
                  </a:lnTo>
                  <a:lnTo>
                    <a:pt x="256481" y="3571752"/>
                  </a:lnTo>
                  <a:lnTo>
                    <a:pt x="297603" y="3596659"/>
                  </a:lnTo>
                  <a:lnTo>
                    <a:pt x="340315" y="3617749"/>
                  </a:lnTo>
                  <a:lnTo>
                    <a:pt x="384298" y="3634707"/>
                  </a:lnTo>
                  <a:lnTo>
                    <a:pt x="429235" y="3647213"/>
                  </a:lnTo>
                  <a:lnTo>
                    <a:pt x="474808" y="3654950"/>
                  </a:lnTo>
                  <a:lnTo>
                    <a:pt x="520700" y="3657600"/>
                  </a:lnTo>
                  <a:lnTo>
                    <a:pt x="2603500" y="3657600"/>
                  </a:lnTo>
                  <a:lnTo>
                    <a:pt x="2649391" y="3654950"/>
                  </a:lnTo>
                  <a:lnTo>
                    <a:pt x="2694964" y="3647213"/>
                  </a:lnTo>
                  <a:lnTo>
                    <a:pt x="2739901" y="3634707"/>
                  </a:lnTo>
                  <a:lnTo>
                    <a:pt x="2783884" y="3617749"/>
                  </a:lnTo>
                  <a:lnTo>
                    <a:pt x="2826596" y="3596659"/>
                  </a:lnTo>
                  <a:lnTo>
                    <a:pt x="2867718" y="3571752"/>
                  </a:lnTo>
                  <a:lnTo>
                    <a:pt x="2906932" y="3543349"/>
                  </a:lnTo>
                  <a:lnTo>
                    <a:pt x="2943921" y="3511765"/>
                  </a:lnTo>
                  <a:lnTo>
                    <a:pt x="2978365" y="3477321"/>
                  </a:lnTo>
                  <a:lnTo>
                    <a:pt x="3009949" y="3440332"/>
                  </a:lnTo>
                  <a:lnTo>
                    <a:pt x="3038352" y="3401118"/>
                  </a:lnTo>
                  <a:lnTo>
                    <a:pt x="3063259" y="3359996"/>
                  </a:lnTo>
                  <a:lnTo>
                    <a:pt x="3084349" y="3317284"/>
                  </a:lnTo>
                  <a:lnTo>
                    <a:pt x="3101307" y="3273301"/>
                  </a:lnTo>
                  <a:lnTo>
                    <a:pt x="3113813" y="3228364"/>
                  </a:lnTo>
                  <a:lnTo>
                    <a:pt x="3121550" y="3182791"/>
                  </a:lnTo>
                  <a:lnTo>
                    <a:pt x="3124200" y="3136900"/>
                  </a:lnTo>
                  <a:lnTo>
                    <a:pt x="3124200" y="520700"/>
                  </a:lnTo>
                  <a:lnTo>
                    <a:pt x="3121550" y="474808"/>
                  </a:lnTo>
                  <a:lnTo>
                    <a:pt x="3113813" y="429235"/>
                  </a:lnTo>
                  <a:lnTo>
                    <a:pt x="3101307" y="384298"/>
                  </a:lnTo>
                  <a:lnTo>
                    <a:pt x="3084349" y="340315"/>
                  </a:lnTo>
                  <a:lnTo>
                    <a:pt x="3063259" y="297603"/>
                  </a:lnTo>
                  <a:lnTo>
                    <a:pt x="3038352" y="256481"/>
                  </a:lnTo>
                  <a:lnTo>
                    <a:pt x="3009949" y="217267"/>
                  </a:lnTo>
                  <a:lnTo>
                    <a:pt x="2978365" y="180278"/>
                  </a:lnTo>
                  <a:lnTo>
                    <a:pt x="2943921" y="145834"/>
                  </a:lnTo>
                  <a:lnTo>
                    <a:pt x="2906932" y="114250"/>
                  </a:lnTo>
                  <a:lnTo>
                    <a:pt x="2867718" y="85847"/>
                  </a:lnTo>
                  <a:lnTo>
                    <a:pt x="2826596" y="60940"/>
                  </a:lnTo>
                  <a:lnTo>
                    <a:pt x="2783884" y="39850"/>
                  </a:lnTo>
                  <a:lnTo>
                    <a:pt x="2739901" y="22892"/>
                  </a:lnTo>
                  <a:lnTo>
                    <a:pt x="2694964" y="10386"/>
                  </a:lnTo>
                  <a:lnTo>
                    <a:pt x="2649391" y="2649"/>
                  </a:lnTo>
                  <a:lnTo>
                    <a:pt x="2603500" y="0"/>
                  </a:lnTo>
                  <a:close/>
                </a:path>
              </a:pathLst>
            </a:custGeom>
            <a:solidFill>
              <a:srgbClr val="9999FF"/>
            </a:solidFill>
          </p:spPr>
          <p:txBody>
            <a:bodyPr wrap="square" lIns="0" tIns="0" rIns="0" bIns="0" rtlCol="0"/>
            <a:lstStyle/>
            <a:p>
              <a:endParaRPr/>
            </a:p>
          </p:txBody>
        </p:sp>
        <p:sp>
          <p:nvSpPr>
            <p:cNvPr id="17" name="object 17"/>
            <p:cNvSpPr/>
            <p:nvPr/>
          </p:nvSpPr>
          <p:spPr>
            <a:xfrm>
              <a:off x="228600" y="2971800"/>
              <a:ext cx="3124200" cy="3657600"/>
            </a:xfrm>
            <a:custGeom>
              <a:avLst/>
              <a:gdLst/>
              <a:ahLst/>
              <a:cxnLst/>
              <a:rect l="l" t="t" r="r" b="b"/>
              <a:pathLst>
                <a:path w="3124200" h="3657600">
                  <a:moveTo>
                    <a:pt x="520700" y="0"/>
                  </a:moveTo>
                  <a:lnTo>
                    <a:pt x="474808" y="2649"/>
                  </a:lnTo>
                  <a:lnTo>
                    <a:pt x="429235" y="10386"/>
                  </a:lnTo>
                  <a:lnTo>
                    <a:pt x="384298" y="22892"/>
                  </a:lnTo>
                  <a:lnTo>
                    <a:pt x="340315" y="39850"/>
                  </a:lnTo>
                  <a:lnTo>
                    <a:pt x="297603" y="60940"/>
                  </a:lnTo>
                  <a:lnTo>
                    <a:pt x="256481" y="85847"/>
                  </a:lnTo>
                  <a:lnTo>
                    <a:pt x="217267" y="114250"/>
                  </a:lnTo>
                  <a:lnTo>
                    <a:pt x="180278" y="145834"/>
                  </a:lnTo>
                  <a:lnTo>
                    <a:pt x="145834" y="180278"/>
                  </a:lnTo>
                  <a:lnTo>
                    <a:pt x="114250" y="217267"/>
                  </a:lnTo>
                  <a:lnTo>
                    <a:pt x="85847" y="256481"/>
                  </a:lnTo>
                  <a:lnTo>
                    <a:pt x="60940" y="297603"/>
                  </a:lnTo>
                  <a:lnTo>
                    <a:pt x="39850" y="340315"/>
                  </a:lnTo>
                  <a:lnTo>
                    <a:pt x="22892" y="384298"/>
                  </a:lnTo>
                  <a:lnTo>
                    <a:pt x="10386" y="429235"/>
                  </a:lnTo>
                  <a:lnTo>
                    <a:pt x="2649" y="474808"/>
                  </a:lnTo>
                  <a:lnTo>
                    <a:pt x="0" y="520700"/>
                  </a:lnTo>
                  <a:lnTo>
                    <a:pt x="0" y="3136900"/>
                  </a:lnTo>
                  <a:lnTo>
                    <a:pt x="2649" y="3182791"/>
                  </a:lnTo>
                  <a:lnTo>
                    <a:pt x="10386" y="3228364"/>
                  </a:lnTo>
                  <a:lnTo>
                    <a:pt x="22892" y="3273301"/>
                  </a:lnTo>
                  <a:lnTo>
                    <a:pt x="39850" y="3317284"/>
                  </a:lnTo>
                  <a:lnTo>
                    <a:pt x="60940" y="3359996"/>
                  </a:lnTo>
                  <a:lnTo>
                    <a:pt x="85847" y="3401118"/>
                  </a:lnTo>
                  <a:lnTo>
                    <a:pt x="114250" y="3440332"/>
                  </a:lnTo>
                  <a:lnTo>
                    <a:pt x="145834" y="3477321"/>
                  </a:lnTo>
                  <a:lnTo>
                    <a:pt x="180278" y="3511765"/>
                  </a:lnTo>
                  <a:lnTo>
                    <a:pt x="217267" y="3543349"/>
                  </a:lnTo>
                  <a:lnTo>
                    <a:pt x="256481" y="3571752"/>
                  </a:lnTo>
                  <a:lnTo>
                    <a:pt x="297603" y="3596659"/>
                  </a:lnTo>
                  <a:lnTo>
                    <a:pt x="340315" y="3617749"/>
                  </a:lnTo>
                  <a:lnTo>
                    <a:pt x="384298" y="3634707"/>
                  </a:lnTo>
                  <a:lnTo>
                    <a:pt x="429235" y="3647213"/>
                  </a:lnTo>
                  <a:lnTo>
                    <a:pt x="474808" y="3654950"/>
                  </a:lnTo>
                  <a:lnTo>
                    <a:pt x="520700" y="3657600"/>
                  </a:lnTo>
                  <a:lnTo>
                    <a:pt x="2603500" y="3657600"/>
                  </a:lnTo>
                  <a:lnTo>
                    <a:pt x="2649391" y="3654950"/>
                  </a:lnTo>
                  <a:lnTo>
                    <a:pt x="2694964" y="3647213"/>
                  </a:lnTo>
                  <a:lnTo>
                    <a:pt x="2739901" y="3634707"/>
                  </a:lnTo>
                  <a:lnTo>
                    <a:pt x="2783884" y="3617749"/>
                  </a:lnTo>
                  <a:lnTo>
                    <a:pt x="2826596" y="3596659"/>
                  </a:lnTo>
                  <a:lnTo>
                    <a:pt x="2867718" y="3571752"/>
                  </a:lnTo>
                  <a:lnTo>
                    <a:pt x="2906932" y="3543349"/>
                  </a:lnTo>
                  <a:lnTo>
                    <a:pt x="2943921" y="3511765"/>
                  </a:lnTo>
                  <a:lnTo>
                    <a:pt x="2978365" y="3477321"/>
                  </a:lnTo>
                  <a:lnTo>
                    <a:pt x="3009949" y="3440332"/>
                  </a:lnTo>
                  <a:lnTo>
                    <a:pt x="3038352" y="3401118"/>
                  </a:lnTo>
                  <a:lnTo>
                    <a:pt x="3063259" y="3359996"/>
                  </a:lnTo>
                  <a:lnTo>
                    <a:pt x="3084349" y="3317284"/>
                  </a:lnTo>
                  <a:lnTo>
                    <a:pt x="3101307" y="3273301"/>
                  </a:lnTo>
                  <a:lnTo>
                    <a:pt x="3113813" y="3228364"/>
                  </a:lnTo>
                  <a:lnTo>
                    <a:pt x="3121550" y="3182791"/>
                  </a:lnTo>
                  <a:lnTo>
                    <a:pt x="3124200" y="3136900"/>
                  </a:lnTo>
                  <a:lnTo>
                    <a:pt x="3124200" y="520700"/>
                  </a:lnTo>
                  <a:lnTo>
                    <a:pt x="3121550" y="474808"/>
                  </a:lnTo>
                  <a:lnTo>
                    <a:pt x="3113813" y="429235"/>
                  </a:lnTo>
                  <a:lnTo>
                    <a:pt x="3101307" y="384298"/>
                  </a:lnTo>
                  <a:lnTo>
                    <a:pt x="3084349" y="340315"/>
                  </a:lnTo>
                  <a:lnTo>
                    <a:pt x="3063259" y="297603"/>
                  </a:lnTo>
                  <a:lnTo>
                    <a:pt x="3038352" y="256481"/>
                  </a:lnTo>
                  <a:lnTo>
                    <a:pt x="3009949" y="217267"/>
                  </a:lnTo>
                  <a:lnTo>
                    <a:pt x="2978365" y="180278"/>
                  </a:lnTo>
                  <a:lnTo>
                    <a:pt x="2943921" y="145834"/>
                  </a:lnTo>
                  <a:lnTo>
                    <a:pt x="2906932" y="114250"/>
                  </a:lnTo>
                  <a:lnTo>
                    <a:pt x="2867718" y="85847"/>
                  </a:lnTo>
                  <a:lnTo>
                    <a:pt x="2826596" y="60940"/>
                  </a:lnTo>
                  <a:lnTo>
                    <a:pt x="2783884" y="39850"/>
                  </a:lnTo>
                  <a:lnTo>
                    <a:pt x="2739901" y="22892"/>
                  </a:lnTo>
                  <a:lnTo>
                    <a:pt x="2694964" y="10386"/>
                  </a:lnTo>
                  <a:lnTo>
                    <a:pt x="2649391" y="2649"/>
                  </a:lnTo>
                  <a:lnTo>
                    <a:pt x="2603500" y="0"/>
                  </a:lnTo>
                  <a:lnTo>
                    <a:pt x="520700" y="0"/>
                  </a:lnTo>
                  <a:close/>
                </a:path>
                <a:path w="3124200" h="3657600">
                  <a:moveTo>
                    <a:pt x="0" y="0"/>
                  </a:moveTo>
                  <a:lnTo>
                    <a:pt x="0" y="0"/>
                  </a:lnTo>
                </a:path>
                <a:path w="3124200" h="3657600">
                  <a:moveTo>
                    <a:pt x="3124200" y="3657600"/>
                  </a:moveTo>
                  <a:lnTo>
                    <a:pt x="3124200" y="3657600"/>
                  </a:lnTo>
                </a:path>
              </a:pathLst>
            </a:custGeom>
            <a:ln w="9344">
              <a:solidFill>
                <a:srgbClr val="000000"/>
              </a:solidFill>
            </a:ln>
          </p:spPr>
          <p:txBody>
            <a:bodyPr wrap="square" lIns="0" tIns="0" rIns="0" bIns="0" rtlCol="0"/>
            <a:lstStyle/>
            <a:p>
              <a:endParaRPr/>
            </a:p>
          </p:txBody>
        </p:sp>
      </p:grpSp>
      <p:sp>
        <p:nvSpPr>
          <p:cNvPr id="18" name="object 18"/>
          <p:cNvSpPr txBox="1"/>
          <p:nvPr/>
        </p:nvSpPr>
        <p:spPr>
          <a:xfrm>
            <a:off x="307340" y="3558540"/>
            <a:ext cx="97155" cy="51308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a:p>
            <a:pPr marL="12700">
              <a:lnSpc>
                <a:spcPct val="100000"/>
              </a:lnSpc>
            </a:pPr>
            <a:r>
              <a:rPr sz="1600" dirty="0">
                <a:latin typeface="Arial"/>
                <a:cs typeface="Arial"/>
              </a:rPr>
              <a:t>•</a:t>
            </a:r>
            <a:endParaRPr sz="1600">
              <a:latin typeface="Arial"/>
              <a:cs typeface="Arial"/>
            </a:endParaRPr>
          </a:p>
        </p:txBody>
      </p:sp>
      <p:sp>
        <p:nvSpPr>
          <p:cNvPr id="19" name="object 19"/>
          <p:cNvSpPr txBox="1"/>
          <p:nvPr/>
        </p:nvSpPr>
        <p:spPr>
          <a:xfrm>
            <a:off x="307340" y="5505450"/>
            <a:ext cx="97155" cy="269240"/>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a:t>
            </a:r>
            <a:endParaRPr sz="1600">
              <a:latin typeface="Arial"/>
              <a:cs typeface="Arial"/>
            </a:endParaRPr>
          </a:p>
        </p:txBody>
      </p:sp>
      <p:sp>
        <p:nvSpPr>
          <p:cNvPr id="20" name="object 20"/>
          <p:cNvSpPr txBox="1"/>
          <p:nvPr/>
        </p:nvSpPr>
        <p:spPr>
          <a:xfrm>
            <a:off x="307340" y="3571240"/>
            <a:ext cx="2962910" cy="2216150"/>
          </a:xfrm>
          <a:prstGeom prst="rect">
            <a:avLst/>
          </a:prstGeom>
        </p:spPr>
        <p:txBody>
          <a:bodyPr vert="horz" wrap="square" lIns="0" tIns="12700" rIns="0" bIns="0" rtlCol="0">
            <a:spAutoFit/>
          </a:bodyPr>
          <a:lstStyle/>
          <a:p>
            <a:pPr marL="349885" marR="760095" indent="5080" algn="just">
              <a:lnSpc>
                <a:spcPct val="100000"/>
              </a:lnSpc>
              <a:spcBef>
                <a:spcPts val="100"/>
              </a:spcBef>
            </a:pPr>
            <a:r>
              <a:rPr sz="1600" spc="-5" dirty="0">
                <a:latin typeface="Arial"/>
                <a:cs typeface="Arial"/>
              </a:rPr>
              <a:t>Financial</a:t>
            </a:r>
            <a:r>
              <a:rPr sz="1600" spc="-70" dirty="0">
                <a:latin typeface="Arial"/>
                <a:cs typeface="Arial"/>
              </a:rPr>
              <a:t> </a:t>
            </a:r>
            <a:r>
              <a:rPr sz="1600" spc="-5" dirty="0">
                <a:latin typeface="Arial"/>
                <a:cs typeface="Arial"/>
              </a:rPr>
              <a:t>Resources  Physical and human  Resources</a:t>
            </a:r>
            <a:endParaRPr sz="1600">
              <a:latin typeface="Arial"/>
              <a:cs typeface="Arial"/>
            </a:endParaRPr>
          </a:p>
          <a:p>
            <a:pPr marL="355600" indent="-342900">
              <a:lnSpc>
                <a:spcPts val="1905"/>
              </a:lnSpc>
              <a:buChar char="•"/>
              <a:tabLst>
                <a:tab pos="354965" algn="l"/>
                <a:tab pos="355600" algn="l"/>
              </a:tabLst>
            </a:pPr>
            <a:r>
              <a:rPr sz="1600" spc="-5" dirty="0">
                <a:latin typeface="Arial"/>
                <a:cs typeface="Arial"/>
              </a:rPr>
              <a:t>Objectives of</a:t>
            </a:r>
            <a:r>
              <a:rPr sz="1600" spc="-10" dirty="0">
                <a:latin typeface="Arial"/>
                <a:cs typeface="Arial"/>
              </a:rPr>
              <a:t> </a:t>
            </a:r>
            <a:r>
              <a:rPr sz="1600" spc="-5" dirty="0">
                <a:latin typeface="Arial"/>
                <a:cs typeface="Arial"/>
              </a:rPr>
              <a:t>Business</a:t>
            </a:r>
            <a:endParaRPr sz="1600">
              <a:latin typeface="Arial"/>
              <a:cs typeface="Arial"/>
            </a:endParaRPr>
          </a:p>
          <a:p>
            <a:pPr marL="355600" indent="-342900">
              <a:lnSpc>
                <a:spcPts val="1914"/>
              </a:lnSpc>
              <a:buChar char="•"/>
              <a:tabLst>
                <a:tab pos="354965" algn="l"/>
                <a:tab pos="355600" algn="l"/>
              </a:tabLst>
            </a:pPr>
            <a:r>
              <a:rPr sz="1600" spc="-5" dirty="0">
                <a:latin typeface="Arial"/>
                <a:cs typeface="Arial"/>
              </a:rPr>
              <a:t>Work Environment</a:t>
            </a:r>
            <a:endParaRPr sz="1600">
              <a:latin typeface="Arial"/>
              <a:cs typeface="Arial"/>
            </a:endParaRPr>
          </a:p>
          <a:p>
            <a:pPr marL="355600" indent="-342900">
              <a:lnSpc>
                <a:spcPts val="1914"/>
              </a:lnSpc>
              <a:buChar char="•"/>
              <a:tabLst>
                <a:tab pos="354965" algn="l"/>
                <a:tab pos="355600" algn="l"/>
              </a:tabLst>
            </a:pPr>
            <a:r>
              <a:rPr sz="1600" spc="-10" dirty="0">
                <a:latin typeface="Arial"/>
                <a:cs typeface="Arial"/>
              </a:rPr>
              <a:t>Corporate</a:t>
            </a:r>
            <a:r>
              <a:rPr sz="1600" spc="-5" dirty="0">
                <a:latin typeface="Arial"/>
                <a:cs typeface="Arial"/>
              </a:rPr>
              <a:t> Image</a:t>
            </a:r>
            <a:endParaRPr sz="1600">
              <a:latin typeface="Arial"/>
              <a:cs typeface="Arial"/>
            </a:endParaRPr>
          </a:p>
          <a:p>
            <a:pPr marL="349885" marR="726440" indent="-337820">
              <a:lnSpc>
                <a:spcPts val="1920"/>
              </a:lnSpc>
              <a:spcBef>
                <a:spcPts val="55"/>
              </a:spcBef>
              <a:buChar char="•"/>
              <a:tabLst>
                <a:tab pos="354965" algn="l"/>
                <a:tab pos="355600" algn="l"/>
              </a:tabLst>
            </a:pPr>
            <a:r>
              <a:rPr sz="1600" spc="-5" dirty="0">
                <a:latin typeface="Arial"/>
                <a:cs typeface="Arial"/>
              </a:rPr>
              <a:t>Labour</a:t>
            </a:r>
            <a:r>
              <a:rPr sz="1600" spc="-80" dirty="0">
                <a:latin typeface="Arial"/>
                <a:cs typeface="Arial"/>
              </a:rPr>
              <a:t> </a:t>
            </a:r>
            <a:r>
              <a:rPr sz="1600" spc="-5" dirty="0">
                <a:latin typeface="Arial"/>
                <a:cs typeface="Arial"/>
              </a:rPr>
              <a:t>management  Relationship</a:t>
            </a:r>
            <a:endParaRPr sz="1600">
              <a:latin typeface="Arial"/>
              <a:cs typeface="Arial"/>
            </a:endParaRPr>
          </a:p>
          <a:p>
            <a:pPr marL="355600">
              <a:lnSpc>
                <a:spcPts val="1855"/>
              </a:lnSpc>
            </a:pPr>
            <a:r>
              <a:rPr sz="1600" spc="-5" smtClean="0">
                <a:latin typeface="Arial"/>
                <a:cs typeface="Arial"/>
              </a:rPr>
              <a:t>Technological</a:t>
            </a:r>
            <a:r>
              <a:rPr sz="1600" spc="-60" smtClean="0">
                <a:latin typeface="Arial"/>
                <a:cs typeface="Arial"/>
              </a:rPr>
              <a:t> </a:t>
            </a:r>
            <a:r>
              <a:rPr sz="1600" spc="-5" dirty="0">
                <a:latin typeface="Arial"/>
                <a:cs typeface="Arial"/>
              </a:rPr>
              <a:t>Capabilities</a:t>
            </a:r>
            <a:endParaRPr sz="1600">
              <a:latin typeface="Arial"/>
              <a:cs typeface="Arial"/>
            </a:endParaRPr>
          </a:p>
        </p:txBody>
      </p:sp>
      <p:grpSp>
        <p:nvGrpSpPr>
          <p:cNvPr id="21" name="object 21"/>
          <p:cNvGrpSpPr/>
          <p:nvPr/>
        </p:nvGrpSpPr>
        <p:grpSpPr>
          <a:xfrm>
            <a:off x="2071370" y="2722245"/>
            <a:ext cx="4029710" cy="1626235"/>
            <a:chOff x="2071370" y="2722245"/>
            <a:chExt cx="4029710" cy="1626235"/>
          </a:xfrm>
        </p:grpSpPr>
        <p:sp>
          <p:nvSpPr>
            <p:cNvPr id="22" name="object 22"/>
            <p:cNvSpPr/>
            <p:nvPr/>
          </p:nvSpPr>
          <p:spPr>
            <a:xfrm>
              <a:off x="2133600" y="2743200"/>
              <a:ext cx="0" cy="113030"/>
            </a:xfrm>
            <a:custGeom>
              <a:avLst/>
              <a:gdLst/>
              <a:ahLst/>
              <a:cxnLst/>
              <a:rect l="l" t="t" r="r" b="b"/>
              <a:pathLst>
                <a:path h="113030">
                  <a:moveTo>
                    <a:pt x="0" y="0"/>
                  </a:moveTo>
                  <a:lnTo>
                    <a:pt x="0" y="113029"/>
                  </a:lnTo>
                </a:path>
              </a:pathLst>
            </a:custGeom>
            <a:ln w="41910">
              <a:solidFill>
                <a:srgbClr val="000000"/>
              </a:solidFill>
            </a:ln>
          </p:spPr>
          <p:txBody>
            <a:bodyPr wrap="square" lIns="0" tIns="0" rIns="0" bIns="0" rtlCol="0"/>
            <a:lstStyle/>
            <a:p>
              <a:endParaRPr/>
            </a:p>
          </p:txBody>
        </p:sp>
        <p:sp>
          <p:nvSpPr>
            <p:cNvPr id="23" name="object 23"/>
            <p:cNvSpPr/>
            <p:nvPr/>
          </p:nvSpPr>
          <p:spPr>
            <a:xfrm>
              <a:off x="2071370" y="2847340"/>
              <a:ext cx="124460" cy="124460"/>
            </a:xfrm>
            <a:custGeom>
              <a:avLst/>
              <a:gdLst/>
              <a:ahLst/>
              <a:cxnLst/>
              <a:rect l="l" t="t" r="r" b="b"/>
              <a:pathLst>
                <a:path w="124460" h="124460">
                  <a:moveTo>
                    <a:pt x="124460" y="0"/>
                  </a:moveTo>
                  <a:lnTo>
                    <a:pt x="0" y="0"/>
                  </a:lnTo>
                  <a:lnTo>
                    <a:pt x="62230" y="124460"/>
                  </a:lnTo>
                  <a:lnTo>
                    <a:pt x="124460" y="0"/>
                  </a:lnTo>
                  <a:close/>
                </a:path>
              </a:pathLst>
            </a:custGeom>
            <a:solidFill>
              <a:srgbClr val="000000"/>
            </a:solidFill>
          </p:spPr>
          <p:txBody>
            <a:bodyPr wrap="square" lIns="0" tIns="0" rIns="0" bIns="0" rtlCol="0"/>
            <a:lstStyle/>
            <a:p>
              <a:endParaRPr/>
            </a:p>
          </p:txBody>
        </p:sp>
        <p:sp>
          <p:nvSpPr>
            <p:cNvPr id="24" name="object 24"/>
            <p:cNvSpPr/>
            <p:nvPr/>
          </p:nvSpPr>
          <p:spPr>
            <a:xfrm>
              <a:off x="3505200" y="3581400"/>
              <a:ext cx="2590800" cy="762000"/>
            </a:xfrm>
            <a:custGeom>
              <a:avLst/>
              <a:gdLst/>
              <a:ahLst/>
              <a:cxnLst/>
              <a:rect l="l" t="t" r="r" b="b"/>
              <a:pathLst>
                <a:path w="2590800" h="762000">
                  <a:moveTo>
                    <a:pt x="2463800" y="0"/>
                  </a:moveTo>
                  <a:lnTo>
                    <a:pt x="127000" y="0"/>
                  </a:lnTo>
                  <a:lnTo>
                    <a:pt x="80367" y="10914"/>
                  </a:lnTo>
                  <a:lnTo>
                    <a:pt x="39687" y="39687"/>
                  </a:lnTo>
                  <a:lnTo>
                    <a:pt x="10914" y="80367"/>
                  </a:lnTo>
                  <a:lnTo>
                    <a:pt x="0" y="127000"/>
                  </a:lnTo>
                  <a:lnTo>
                    <a:pt x="0" y="635000"/>
                  </a:lnTo>
                  <a:lnTo>
                    <a:pt x="10914" y="681632"/>
                  </a:lnTo>
                  <a:lnTo>
                    <a:pt x="39687" y="722312"/>
                  </a:lnTo>
                  <a:lnTo>
                    <a:pt x="80367" y="751085"/>
                  </a:lnTo>
                  <a:lnTo>
                    <a:pt x="127000" y="762000"/>
                  </a:lnTo>
                  <a:lnTo>
                    <a:pt x="2463800" y="762000"/>
                  </a:lnTo>
                  <a:lnTo>
                    <a:pt x="2510432" y="751085"/>
                  </a:lnTo>
                  <a:lnTo>
                    <a:pt x="2551112" y="722312"/>
                  </a:lnTo>
                  <a:lnTo>
                    <a:pt x="2579885" y="681632"/>
                  </a:lnTo>
                  <a:lnTo>
                    <a:pt x="2590800" y="635000"/>
                  </a:lnTo>
                  <a:lnTo>
                    <a:pt x="2590800" y="127000"/>
                  </a:lnTo>
                  <a:lnTo>
                    <a:pt x="2579885" y="80367"/>
                  </a:lnTo>
                  <a:lnTo>
                    <a:pt x="2551112" y="39687"/>
                  </a:lnTo>
                  <a:lnTo>
                    <a:pt x="2510432" y="10914"/>
                  </a:lnTo>
                  <a:lnTo>
                    <a:pt x="2463800" y="0"/>
                  </a:lnTo>
                  <a:close/>
                </a:path>
              </a:pathLst>
            </a:custGeom>
            <a:solidFill>
              <a:srgbClr val="9999FF"/>
            </a:solidFill>
          </p:spPr>
          <p:txBody>
            <a:bodyPr wrap="square" lIns="0" tIns="0" rIns="0" bIns="0" rtlCol="0"/>
            <a:lstStyle/>
            <a:p>
              <a:endParaRPr/>
            </a:p>
          </p:txBody>
        </p:sp>
        <p:sp>
          <p:nvSpPr>
            <p:cNvPr id="25" name="object 25"/>
            <p:cNvSpPr/>
            <p:nvPr/>
          </p:nvSpPr>
          <p:spPr>
            <a:xfrm>
              <a:off x="3505200" y="3581400"/>
              <a:ext cx="2590800" cy="762000"/>
            </a:xfrm>
            <a:custGeom>
              <a:avLst/>
              <a:gdLst/>
              <a:ahLst/>
              <a:cxnLst/>
              <a:rect l="l" t="t" r="r" b="b"/>
              <a:pathLst>
                <a:path w="2590800" h="762000">
                  <a:moveTo>
                    <a:pt x="127000" y="0"/>
                  </a:moveTo>
                  <a:lnTo>
                    <a:pt x="80367" y="10914"/>
                  </a:lnTo>
                  <a:lnTo>
                    <a:pt x="39687" y="39687"/>
                  </a:lnTo>
                  <a:lnTo>
                    <a:pt x="10914" y="80367"/>
                  </a:lnTo>
                  <a:lnTo>
                    <a:pt x="0" y="127000"/>
                  </a:lnTo>
                  <a:lnTo>
                    <a:pt x="0" y="635000"/>
                  </a:lnTo>
                  <a:lnTo>
                    <a:pt x="10914" y="681632"/>
                  </a:lnTo>
                  <a:lnTo>
                    <a:pt x="39687" y="722312"/>
                  </a:lnTo>
                  <a:lnTo>
                    <a:pt x="80367" y="751085"/>
                  </a:lnTo>
                  <a:lnTo>
                    <a:pt x="127000" y="762000"/>
                  </a:lnTo>
                  <a:lnTo>
                    <a:pt x="2463800" y="762000"/>
                  </a:lnTo>
                  <a:lnTo>
                    <a:pt x="2510432" y="751085"/>
                  </a:lnTo>
                  <a:lnTo>
                    <a:pt x="2551112" y="722312"/>
                  </a:lnTo>
                  <a:lnTo>
                    <a:pt x="2579885" y="681632"/>
                  </a:lnTo>
                  <a:lnTo>
                    <a:pt x="2590800" y="635000"/>
                  </a:lnTo>
                  <a:lnTo>
                    <a:pt x="2590800" y="127000"/>
                  </a:lnTo>
                  <a:lnTo>
                    <a:pt x="2579885" y="80367"/>
                  </a:lnTo>
                  <a:lnTo>
                    <a:pt x="2551112" y="39687"/>
                  </a:lnTo>
                  <a:lnTo>
                    <a:pt x="2510432" y="10914"/>
                  </a:lnTo>
                  <a:lnTo>
                    <a:pt x="2463800" y="0"/>
                  </a:lnTo>
                  <a:lnTo>
                    <a:pt x="127000" y="0"/>
                  </a:lnTo>
                  <a:close/>
                </a:path>
                <a:path w="2590800" h="762000">
                  <a:moveTo>
                    <a:pt x="0" y="0"/>
                  </a:moveTo>
                  <a:lnTo>
                    <a:pt x="0" y="0"/>
                  </a:lnTo>
                </a:path>
                <a:path w="2590800" h="762000">
                  <a:moveTo>
                    <a:pt x="2590800" y="762000"/>
                  </a:moveTo>
                  <a:lnTo>
                    <a:pt x="2590800" y="762000"/>
                  </a:lnTo>
                </a:path>
              </a:pathLst>
            </a:custGeom>
            <a:ln w="9344">
              <a:solidFill>
                <a:srgbClr val="000000"/>
              </a:solidFill>
            </a:ln>
          </p:spPr>
          <p:txBody>
            <a:bodyPr wrap="square" lIns="0" tIns="0" rIns="0" bIns="0" rtlCol="0"/>
            <a:lstStyle/>
            <a:p>
              <a:endParaRPr/>
            </a:p>
          </p:txBody>
        </p:sp>
      </p:grpSp>
      <p:sp>
        <p:nvSpPr>
          <p:cNvPr id="26" name="object 26"/>
          <p:cNvSpPr txBox="1"/>
          <p:nvPr/>
        </p:nvSpPr>
        <p:spPr>
          <a:xfrm>
            <a:off x="3728720" y="3797300"/>
            <a:ext cx="214249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Micro</a:t>
            </a:r>
            <a:r>
              <a:rPr sz="2000" spc="-45" dirty="0">
                <a:latin typeface="Arial"/>
                <a:cs typeface="Arial"/>
              </a:rPr>
              <a:t> </a:t>
            </a:r>
            <a:r>
              <a:rPr sz="2000" spc="-5" dirty="0">
                <a:latin typeface="Arial"/>
                <a:cs typeface="Arial"/>
              </a:rPr>
              <a:t>Environment</a:t>
            </a:r>
            <a:endParaRPr sz="2000">
              <a:latin typeface="Arial"/>
              <a:cs typeface="Arial"/>
            </a:endParaRPr>
          </a:p>
        </p:txBody>
      </p:sp>
      <p:grpSp>
        <p:nvGrpSpPr>
          <p:cNvPr id="27" name="object 27"/>
          <p:cNvGrpSpPr/>
          <p:nvPr/>
        </p:nvGrpSpPr>
        <p:grpSpPr>
          <a:xfrm>
            <a:off x="6396037" y="3576637"/>
            <a:ext cx="2600325" cy="771525"/>
            <a:chOff x="6396037" y="3576637"/>
            <a:chExt cx="2600325" cy="771525"/>
          </a:xfrm>
        </p:grpSpPr>
        <p:sp>
          <p:nvSpPr>
            <p:cNvPr id="28" name="object 28"/>
            <p:cNvSpPr/>
            <p:nvPr/>
          </p:nvSpPr>
          <p:spPr>
            <a:xfrm>
              <a:off x="6400800" y="3581400"/>
              <a:ext cx="2590800" cy="762000"/>
            </a:xfrm>
            <a:custGeom>
              <a:avLst/>
              <a:gdLst/>
              <a:ahLst/>
              <a:cxnLst/>
              <a:rect l="l" t="t" r="r" b="b"/>
              <a:pathLst>
                <a:path w="2590800" h="762000">
                  <a:moveTo>
                    <a:pt x="2463800" y="0"/>
                  </a:moveTo>
                  <a:lnTo>
                    <a:pt x="127000" y="0"/>
                  </a:lnTo>
                  <a:lnTo>
                    <a:pt x="80367" y="10914"/>
                  </a:lnTo>
                  <a:lnTo>
                    <a:pt x="39687" y="39687"/>
                  </a:lnTo>
                  <a:lnTo>
                    <a:pt x="10914" y="80367"/>
                  </a:lnTo>
                  <a:lnTo>
                    <a:pt x="0" y="127000"/>
                  </a:lnTo>
                  <a:lnTo>
                    <a:pt x="0" y="635000"/>
                  </a:lnTo>
                  <a:lnTo>
                    <a:pt x="10914" y="681632"/>
                  </a:lnTo>
                  <a:lnTo>
                    <a:pt x="39687" y="722312"/>
                  </a:lnTo>
                  <a:lnTo>
                    <a:pt x="80367" y="751085"/>
                  </a:lnTo>
                  <a:lnTo>
                    <a:pt x="127000" y="762000"/>
                  </a:lnTo>
                  <a:lnTo>
                    <a:pt x="2463800" y="762000"/>
                  </a:lnTo>
                  <a:lnTo>
                    <a:pt x="2510432" y="751085"/>
                  </a:lnTo>
                  <a:lnTo>
                    <a:pt x="2551112" y="722312"/>
                  </a:lnTo>
                  <a:lnTo>
                    <a:pt x="2579885" y="681632"/>
                  </a:lnTo>
                  <a:lnTo>
                    <a:pt x="2590800" y="635000"/>
                  </a:lnTo>
                  <a:lnTo>
                    <a:pt x="2590800" y="127000"/>
                  </a:lnTo>
                  <a:lnTo>
                    <a:pt x="2579885" y="80367"/>
                  </a:lnTo>
                  <a:lnTo>
                    <a:pt x="2551112" y="39687"/>
                  </a:lnTo>
                  <a:lnTo>
                    <a:pt x="2510432" y="10914"/>
                  </a:lnTo>
                  <a:lnTo>
                    <a:pt x="2463800" y="0"/>
                  </a:lnTo>
                  <a:close/>
                </a:path>
              </a:pathLst>
            </a:custGeom>
            <a:solidFill>
              <a:srgbClr val="9999FF"/>
            </a:solidFill>
          </p:spPr>
          <p:txBody>
            <a:bodyPr wrap="square" lIns="0" tIns="0" rIns="0" bIns="0" rtlCol="0"/>
            <a:lstStyle/>
            <a:p>
              <a:endParaRPr/>
            </a:p>
          </p:txBody>
        </p:sp>
        <p:sp>
          <p:nvSpPr>
            <p:cNvPr id="29" name="object 29"/>
            <p:cNvSpPr/>
            <p:nvPr/>
          </p:nvSpPr>
          <p:spPr>
            <a:xfrm>
              <a:off x="6400800" y="3581400"/>
              <a:ext cx="2590800" cy="762000"/>
            </a:xfrm>
            <a:custGeom>
              <a:avLst/>
              <a:gdLst/>
              <a:ahLst/>
              <a:cxnLst/>
              <a:rect l="l" t="t" r="r" b="b"/>
              <a:pathLst>
                <a:path w="2590800" h="762000">
                  <a:moveTo>
                    <a:pt x="127000" y="0"/>
                  </a:moveTo>
                  <a:lnTo>
                    <a:pt x="80367" y="10914"/>
                  </a:lnTo>
                  <a:lnTo>
                    <a:pt x="39687" y="39687"/>
                  </a:lnTo>
                  <a:lnTo>
                    <a:pt x="10914" y="80367"/>
                  </a:lnTo>
                  <a:lnTo>
                    <a:pt x="0" y="127000"/>
                  </a:lnTo>
                  <a:lnTo>
                    <a:pt x="0" y="635000"/>
                  </a:lnTo>
                  <a:lnTo>
                    <a:pt x="10914" y="681632"/>
                  </a:lnTo>
                  <a:lnTo>
                    <a:pt x="39687" y="722312"/>
                  </a:lnTo>
                  <a:lnTo>
                    <a:pt x="80367" y="751085"/>
                  </a:lnTo>
                  <a:lnTo>
                    <a:pt x="127000" y="762000"/>
                  </a:lnTo>
                  <a:lnTo>
                    <a:pt x="2463800" y="762000"/>
                  </a:lnTo>
                  <a:lnTo>
                    <a:pt x="2510432" y="751085"/>
                  </a:lnTo>
                  <a:lnTo>
                    <a:pt x="2551112" y="722312"/>
                  </a:lnTo>
                  <a:lnTo>
                    <a:pt x="2579885" y="681632"/>
                  </a:lnTo>
                  <a:lnTo>
                    <a:pt x="2590800" y="635000"/>
                  </a:lnTo>
                  <a:lnTo>
                    <a:pt x="2590800" y="127000"/>
                  </a:lnTo>
                  <a:lnTo>
                    <a:pt x="2579885" y="80367"/>
                  </a:lnTo>
                  <a:lnTo>
                    <a:pt x="2551112" y="39687"/>
                  </a:lnTo>
                  <a:lnTo>
                    <a:pt x="2510432" y="10914"/>
                  </a:lnTo>
                  <a:lnTo>
                    <a:pt x="2463800" y="0"/>
                  </a:lnTo>
                  <a:lnTo>
                    <a:pt x="127000" y="0"/>
                  </a:lnTo>
                  <a:close/>
                </a:path>
                <a:path w="2590800" h="762000">
                  <a:moveTo>
                    <a:pt x="0" y="0"/>
                  </a:moveTo>
                  <a:lnTo>
                    <a:pt x="0" y="0"/>
                  </a:lnTo>
                </a:path>
                <a:path w="2590800" h="762000">
                  <a:moveTo>
                    <a:pt x="2590800" y="762000"/>
                  </a:moveTo>
                  <a:lnTo>
                    <a:pt x="2590800" y="762000"/>
                  </a:lnTo>
                </a:path>
              </a:pathLst>
            </a:custGeom>
            <a:ln w="9344">
              <a:solidFill>
                <a:srgbClr val="000000"/>
              </a:solidFill>
            </a:ln>
          </p:spPr>
          <p:txBody>
            <a:bodyPr wrap="square" lIns="0" tIns="0" rIns="0" bIns="0" rtlCol="0"/>
            <a:lstStyle/>
            <a:p>
              <a:endParaRPr/>
            </a:p>
          </p:txBody>
        </p:sp>
      </p:grpSp>
      <p:sp>
        <p:nvSpPr>
          <p:cNvPr id="30" name="object 30"/>
          <p:cNvSpPr txBox="1"/>
          <p:nvPr/>
        </p:nvSpPr>
        <p:spPr>
          <a:xfrm>
            <a:off x="6581140" y="3797300"/>
            <a:ext cx="222758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Macro</a:t>
            </a:r>
            <a:r>
              <a:rPr sz="2000" spc="-45" dirty="0">
                <a:latin typeface="Arial"/>
                <a:cs typeface="Arial"/>
              </a:rPr>
              <a:t> </a:t>
            </a:r>
            <a:r>
              <a:rPr sz="2000" spc="-5" dirty="0">
                <a:latin typeface="Arial"/>
                <a:cs typeface="Arial"/>
              </a:rPr>
              <a:t>Environment</a:t>
            </a:r>
            <a:endParaRPr sz="2000">
              <a:latin typeface="Arial"/>
              <a:cs typeface="Arial"/>
            </a:endParaRPr>
          </a:p>
        </p:txBody>
      </p:sp>
      <p:grpSp>
        <p:nvGrpSpPr>
          <p:cNvPr id="31" name="object 31"/>
          <p:cNvGrpSpPr/>
          <p:nvPr/>
        </p:nvGrpSpPr>
        <p:grpSpPr>
          <a:xfrm>
            <a:off x="4890770" y="2743200"/>
            <a:ext cx="3172460" cy="838200"/>
            <a:chOff x="4890770" y="2743200"/>
            <a:chExt cx="3172460" cy="838200"/>
          </a:xfrm>
        </p:grpSpPr>
        <p:sp>
          <p:nvSpPr>
            <p:cNvPr id="32" name="object 32"/>
            <p:cNvSpPr/>
            <p:nvPr/>
          </p:nvSpPr>
          <p:spPr>
            <a:xfrm>
              <a:off x="4953000" y="2971800"/>
              <a:ext cx="3048000" cy="0"/>
            </a:xfrm>
            <a:custGeom>
              <a:avLst/>
              <a:gdLst/>
              <a:ahLst/>
              <a:cxnLst/>
              <a:rect l="l" t="t" r="r" b="b"/>
              <a:pathLst>
                <a:path w="3048000">
                  <a:moveTo>
                    <a:pt x="0" y="0"/>
                  </a:moveTo>
                  <a:lnTo>
                    <a:pt x="3048000" y="0"/>
                  </a:lnTo>
                </a:path>
              </a:pathLst>
            </a:custGeom>
            <a:ln w="41332">
              <a:solidFill>
                <a:srgbClr val="000000"/>
              </a:solidFill>
            </a:ln>
          </p:spPr>
          <p:txBody>
            <a:bodyPr wrap="square" lIns="0" tIns="0" rIns="0" bIns="0" rtlCol="0"/>
            <a:lstStyle/>
            <a:p>
              <a:endParaRPr/>
            </a:p>
          </p:txBody>
        </p:sp>
        <p:sp>
          <p:nvSpPr>
            <p:cNvPr id="33" name="object 33"/>
            <p:cNvSpPr/>
            <p:nvPr/>
          </p:nvSpPr>
          <p:spPr>
            <a:xfrm>
              <a:off x="6629400" y="2743200"/>
              <a:ext cx="0" cy="113030"/>
            </a:xfrm>
            <a:custGeom>
              <a:avLst/>
              <a:gdLst/>
              <a:ahLst/>
              <a:cxnLst/>
              <a:rect l="l" t="t" r="r" b="b"/>
              <a:pathLst>
                <a:path h="113030">
                  <a:moveTo>
                    <a:pt x="0" y="0"/>
                  </a:moveTo>
                  <a:lnTo>
                    <a:pt x="0" y="113029"/>
                  </a:lnTo>
                </a:path>
              </a:pathLst>
            </a:custGeom>
            <a:ln w="41910">
              <a:solidFill>
                <a:srgbClr val="000000"/>
              </a:solidFill>
            </a:ln>
          </p:spPr>
          <p:txBody>
            <a:bodyPr wrap="square" lIns="0" tIns="0" rIns="0" bIns="0" rtlCol="0"/>
            <a:lstStyle/>
            <a:p>
              <a:endParaRPr/>
            </a:p>
          </p:txBody>
        </p:sp>
        <p:sp>
          <p:nvSpPr>
            <p:cNvPr id="34" name="object 34"/>
            <p:cNvSpPr/>
            <p:nvPr/>
          </p:nvSpPr>
          <p:spPr>
            <a:xfrm>
              <a:off x="6567170" y="2847339"/>
              <a:ext cx="124460" cy="124460"/>
            </a:xfrm>
            <a:custGeom>
              <a:avLst/>
              <a:gdLst/>
              <a:ahLst/>
              <a:cxnLst/>
              <a:rect l="l" t="t" r="r" b="b"/>
              <a:pathLst>
                <a:path w="124459" h="124460">
                  <a:moveTo>
                    <a:pt x="124459" y="0"/>
                  </a:moveTo>
                  <a:lnTo>
                    <a:pt x="0" y="0"/>
                  </a:lnTo>
                  <a:lnTo>
                    <a:pt x="62229" y="124460"/>
                  </a:lnTo>
                  <a:lnTo>
                    <a:pt x="124459" y="0"/>
                  </a:lnTo>
                  <a:close/>
                </a:path>
              </a:pathLst>
            </a:custGeom>
            <a:solidFill>
              <a:srgbClr val="000000"/>
            </a:solidFill>
          </p:spPr>
          <p:txBody>
            <a:bodyPr wrap="square" lIns="0" tIns="0" rIns="0" bIns="0" rtlCol="0"/>
            <a:lstStyle/>
            <a:p>
              <a:endParaRPr/>
            </a:p>
          </p:txBody>
        </p:sp>
        <p:sp>
          <p:nvSpPr>
            <p:cNvPr id="35" name="object 35"/>
            <p:cNvSpPr/>
            <p:nvPr/>
          </p:nvSpPr>
          <p:spPr>
            <a:xfrm>
              <a:off x="4953000" y="2971800"/>
              <a:ext cx="0" cy="494030"/>
            </a:xfrm>
            <a:custGeom>
              <a:avLst/>
              <a:gdLst/>
              <a:ahLst/>
              <a:cxnLst/>
              <a:rect l="l" t="t" r="r" b="b"/>
              <a:pathLst>
                <a:path h="494029">
                  <a:moveTo>
                    <a:pt x="0" y="0"/>
                  </a:moveTo>
                  <a:lnTo>
                    <a:pt x="0" y="494029"/>
                  </a:lnTo>
                </a:path>
              </a:pathLst>
            </a:custGeom>
            <a:ln w="41910">
              <a:solidFill>
                <a:srgbClr val="000000"/>
              </a:solidFill>
            </a:ln>
          </p:spPr>
          <p:txBody>
            <a:bodyPr wrap="square" lIns="0" tIns="0" rIns="0" bIns="0" rtlCol="0"/>
            <a:lstStyle/>
            <a:p>
              <a:endParaRPr/>
            </a:p>
          </p:txBody>
        </p:sp>
        <p:sp>
          <p:nvSpPr>
            <p:cNvPr id="36" name="object 36"/>
            <p:cNvSpPr/>
            <p:nvPr/>
          </p:nvSpPr>
          <p:spPr>
            <a:xfrm>
              <a:off x="4890770" y="3456940"/>
              <a:ext cx="124460" cy="124460"/>
            </a:xfrm>
            <a:custGeom>
              <a:avLst/>
              <a:gdLst/>
              <a:ahLst/>
              <a:cxnLst/>
              <a:rect l="l" t="t" r="r" b="b"/>
              <a:pathLst>
                <a:path w="124460" h="124460">
                  <a:moveTo>
                    <a:pt x="124459" y="0"/>
                  </a:moveTo>
                  <a:lnTo>
                    <a:pt x="0" y="0"/>
                  </a:lnTo>
                  <a:lnTo>
                    <a:pt x="62229" y="124460"/>
                  </a:lnTo>
                  <a:lnTo>
                    <a:pt x="124459" y="0"/>
                  </a:lnTo>
                  <a:close/>
                </a:path>
              </a:pathLst>
            </a:custGeom>
            <a:solidFill>
              <a:srgbClr val="000000"/>
            </a:solidFill>
          </p:spPr>
          <p:txBody>
            <a:bodyPr wrap="square" lIns="0" tIns="0" rIns="0" bIns="0" rtlCol="0"/>
            <a:lstStyle/>
            <a:p>
              <a:endParaRPr/>
            </a:p>
          </p:txBody>
        </p:sp>
        <p:sp>
          <p:nvSpPr>
            <p:cNvPr id="37" name="object 37"/>
            <p:cNvSpPr/>
            <p:nvPr/>
          </p:nvSpPr>
          <p:spPr>
            <a:xfrm>
              <a:off x="8001000" y="2971800"/>
              <a:ext cx="0" cy="494030"/>
            </a:xfrm>
            <a:custGeom>
              <a:avLst/>
              <a:gdLst/>
              <a:ahLst/>
              <a:cxnLst/>
              <a:rect l="l" t="t" r="r" b="b"/>
              <a:pathLst>
                <a:path h="494029">
                  <a:moveTo>
                    <a:pt x="0" y="0"/>
                  </a:moveTo>
                  <a:lnTo>
                    <a:pt x="0" y="494029"/>
                  </a:lnTo>
                </a:path>
              </a:pathLst>
            </a:custGeom>
            <a:ln w="41910">
              <a:solidFill>
                <a:srgbClr val="000000"/>
              </a:solidFill>
            </a:ln>
          </p:spPr>
          <p:txBody>
            <a:bodyPr wrap="square" lIns="0" tIns="0" rIns="0" bIns="0" rtlCol="0"/>
            <a:lstStyle/>
            <a:p>
              <a:endParaRPr/>
            </a:p>
          </p:txBody>
        </p:sp>
        <p:sp>
          <p:nvSpPr>
            <p:cNvPr id="38" name="object 38"/>
            <p:cNvSpPr/>
            <p:nvPr/>
          </p:nvSpPr>
          <p:spPr>
            <a:xfrm>
              <a:off x="7938770" y="3456940"/>
              <a:ext cx="124460" cy="124460"/>
            </a:xfrm>
            <a:custGeom>
              <a:avLst/>
              <a:gdLst/>
              <a:ahLst/>
              <a:cxnLst/>
              <a:rect l="l" t="t" r="r" b="b"/>
              <a:pathLst>
                <a:path w="124459" h="124460">
                  <a:moveTo>
                    <a:pt x="124459" y="0"/>
                  </a:moveTo>
                  <a:lnTo>
                    <a:pt x="0" y="0"/>
                  </a:lnTo>
                  <a:lnTo>
                    <a:pt x="62229" y="124460"/>
                  </a:lnTo>
                  <a:lnTo>
                    <a:pt x="124459" y="0"/>
                  </a:lnTo>
                  <a:close/>
                </a:path>
              </a:pathLst>
            </a:custGeom>
            <a:solidFill>
              <a:srgbClr val="000000"/>
            </a:solidFill>
          </p:spPr>
          <p:txBody>
            <a:bodyPr wrap="square" lIns="0" tIns="0" rIns="0" bIns="0" rtlCol="0"/>
            <a:lstStyle/>
            <a:p>
              <a:endParaRPr/>
            </a:p>
          </p:txBody>
        </p:sp>
      </p:gr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4080" y="402871"/>
            <a:ext cx="7526020" cy="1294130"/>
          </a:xfrm>
          <a:prstGeom prst="rect">
            <a:avLst/>
          </a:prstGeom>
        </p:spPr>
        <p:txBody>
          <a:bodyPr vert="horz" wrap="square" lIns="0" tIns="57785" rIns="0" bIns="0" rtlCol="0">
            <a:spAutoFit/>
          </a:bodyPr>
          <a:lstStyle/>
          <a:p>
            <a:pPr marR="319405" algn="ctr">
              <a:lnSpc>
                <a:spcPct val="100000"/>
              </a:lnSpc>
              <a:spcBef>
                <a:spcPts val="455"/>
              </a:spcBef>
            </a:pPr>
            <a:r>
              <a:rPr sz="2800" spc="-5" dirty="0"/>
              <a:t>Internal</a:t>
            </a:r>
            <a:r>
              <a:rPr sz="2800" spc="-10" dirty="0"/>
              <a:t> </a:t>
            </a:r>
            <a:r>
              <a:rPr sz="2800" spc="-5" dirty="0"/>
              <a:t>Environment:</a:t>
            </a:r>
            <a:endParaRPr sz="2800"/>
          </a:p>
          <a:p>
            <a:pPr marL="109855" marR="5080" indent="-97790">
              <a:lnSpc>
                <a:spcPts val="1939"/>
              </a:lnSpc>
              <a:spcBef>
                <a:spcPts val="480"/>
              </a:spcBef>
            </a:pPr>
            <a:r>
              <a:rPr sz="1800" spc="-10" dirty="0"/>
              <a:t>Internal environment </a:t>
            </a:r>
            <a:r>
              <a:rPr sz="1800" spc="-5" dirty="0"/>
              <a:t>refers to factors </a:t>
            </a:r>
            <a:r>
              <a:rPr sz="1800" spc="-10" dirty="0"/>
              <a:t>existing within </a:t>
            </a:r>
            <a:r>
              <a:rPr sz="1800" dirty="0"/>
              <a:t>a </a:t>
            </a:r>
            <a:r>
              <a:rPr sz="1800" spc="-10" dirty="0"/>
              <a:t>business </a:t>
            </a:r>
            <a:r>
              <a:rPr sz="1800" spc="-5" dirty="0"/>
              <a:t>firm.These  factors are </a:t>
            </a:r>
            <a:r>
              <a:rPr sz="1800" spc="-10" dirty="0"/>
              <a:t>generally regarded as controllable </a:t>
            </a:r>
            <a:r>
              <a:rPr sz="1800" spc="-5" dirty="0"/>
              <a:t>factors </a:t>
            </a:r>
            <a:r>
              <a:rPr sz="1800" spc="-10" dirty="0"/>
              <a:t>because </a:t>
            </a:r>
            <a:r>
              <a:rPr sz="1800" spc="-5" dirty="0"/>
              <a:t>the  company </a:t>
            </a:r>
            <a:r>
              <a:rPr sz="1800" spc="-10" dirty="0"/>
              <a:t>has </a:t>
            </a:r>
            <a:r>
              <a:rPr sz="1800" spc="-5" dirty="0"/>
              <a:t>control over these</a:t>
            </a:r>
            <a:r>
              <a:rPr sz="1800" spc="-20" dirty="0"/>
              <a:t> </a:t>
            </a:r>
            <a:r>
              <a:rPr sz="1800" spc="-5" dirty="0"/>
              <a:t>factors.</a:t>
            </a:r>
            <a:endParaRPr sz="1800"/>
          </a:p>
        </p:txBody>
      </p:sp>
      <p:sp>
        <p:nvSpPr>
          <p:cNvPr id="3" name="object 3"/>
          <p:cNvSpPr txBox="1"/>
          <p:nvPr/>
        </p:nvSpPr>
        <p:spPr>
          <a:xfrm>
            <a:off x="382270" y="2020570"/>
            <a:ext cx="156210" cy="231140"/>
          </a:xfrm>
          <a:prstGeom prst="rect">
            <a:avLst/>
          </a:prstGeom>
        </p:spPr>
        <p:txBody>
          <a:bodyPr vert="horz" wrap="square" lIns="0" tIns="12700" rIns="0" bIns="0" rtlCol="0">
            <a:spAutoFit/>
          </a:bodyPr>
          <a:lstStyle/>
          <a:p>
            <a:pPr marL="12700">
              <a:lnSpc>
                <a:spcPct val="100000"/>
              </a:lnSpc>
              <a:spcBef>
                <a:spcPts val="100"/>
              </a:spcBef>
            </a:pPr>
            <a:r>
              <a:rPr sz="1350" spc="-325" dirty="0">
                <a:solidFill>
                  <a:srgbClr val="00007C"/>
                </a:solidFill>
                <a:latin typeface="UnDotum"/>
                <a:cs typeface="UnDotum"/>
              </a:rPr>
              <a:t></a:t>
            </a:r>
            <a:endParaRPr sz="1350">
              <a:latin typeface="UnDotum"/>
              <a:cs typeface="UnDotum"/>
            </a:endParaRPr>
          </a:p>
        </p:txBody>
      </p:sp>
      <p:sp>
        <p:nvSpPr>
          <p:cNvPr id="4" name="object 4"/>
          <p:cNvSpPr txBox="1"/>
          <p:nvPr/>
        </p:nvSpPr>
        <p:spPr>
          <a:xfrm>
            <a:off x="991869" y="1974849"/>
            <a:ext cx="7501890" cy="1126490"/>
          </a:xfrm>
          <a:prstGeom prst="rect">
            <a:avLst/>
          </a:prstGeom>
        </p:spPr>
        <p:txBody>
          <a:bodyPr vert="horz" wrap="square" lIns="0" tIns="41910" rIns="0" bIns="0" rtlCol="0">
            <a:spAutoFit/>
          </a:bodyPr>
          <a:lstStyle/>
          <a:p>
            <a:pPr marL="12700">
              <a:lnSpc>
                <a:spcPct val="100000"/>
              </a:lnSpc>
              <a:spcBef>
                <a:spcPts val="330"/>
              </a:spcBef>
            </a:pPr>
            <a:r>
              <a:rPr sz="1800" b="1" spc="-5" dirty="0">
                <a:latin typeface="Arial"/>
                <a:cs typeface="Arial"/>
              </a:rPr>
              <a:t>Financial</a:t>
            </a:r>
            <a:r>
              <a:rPr sz="1800" b="1" dirty="0">
                <a:latin typeface="Arial"/>
                <a:cs typeface="Arial"/>
              </a:rPr>
              <a:t> </a:t>
            </a:r>
            <a:r>
              <a:rPr sz="1800" b="1" spc="-10" dirty="0">
                <a:latin typeface="Arial"/>
                <a:cs typeface="Arial"/>
              </a:rPr>
              <a:t>Factors:</a:t>
            </a:r>
            <a:endParaRPr sz="1800">
              <a:latin typeface="Arial"/>
              <a:cs typeface="Arial"/>
            </a:endParaRPr>
          </a:p>
          <a:p>
            <a:pPr marL="12700" marR="5080" indent="303530">
              <a:lnSpc>
                <a:spcPct val="90000"/>
              </a:lnSpc>
              <a:spcBef>
                <a:spcPts val="445"/>
              </a:spcBef>
            </a:pPr>
            <a:r>
              <a:rPr sz="1800" spc="-5" dirty="0">
                <a:latin typeface="Arial"/>
                <a:cs typeface="Arial"/>
              </a:rPr>
              <a:t>Factors like </a:t>
            </a:r>
            <a:r>
              <a:rPr sz="1800" spc="-10" dirty="0">
                <a:latin typeface="Arial"/>
                <a:cs typeface="Arial"/>
              </a:rPr>
              <a:t>financial policies, financial procedures </a:t>
            </a:r>
            <a:r>
              <a:rPr sz="1800" spc="-5" dirty="0">
                <a:latin typeface="Arial"/>
                <a:cs typeface="Arial"/>
              </a:rPr>
              <a:t>and </a:t>
            </a:r>
            <a:r>
              <a:rPr sz="1800" spc="-10" dirty="0">
                <a:latin typeface="Arial"/>
                <a:cs typeface="Arial"/>
              </a:rPr>
              <a:t>capital </a:t>
            </a:r>
            <a:r>
              <a:rPr sz="1800" spc="-5" dirty="0">
                <a:latin typeface="Arial"/>
                <a:cs typeface="Arial"/>
              </a:rPr>
              <a:t>structure  are also important </a:t>
            </a:r>
            <a:r>
              <a:rPr sz="1800" spc="-10" dirty="0">
                <a:latin typeface="Arial"/>
                <a:cs typeface="Arial"/>
              </a:rPr>
              <a:t>internal environment </a:t>
            </a:r>
            <a:r>
              <a:rPr sz="1800" spc="-5" dirty="0">
                <a:latin typeface="Arial"/>
                <a:cs typeface="Arial"/>
              </a:rPr>
              <a:t>affecting </a:t>
            </a:r>
            <a:r>
              <a:rPr sz="1800" spc="-10" dirty="0">
                <a:latin typeface="Arial"/>
                <a:cs typeface="Arial"/>
              </a:rPr>
              <a:t>business </a:t>
            </a:r>
            <a:r>
              <a:rPr sz="1800" spc="-5" dirty="0">
                <a:latin typeface="Arial"/>
                <a:cs typeface="Arial"/>
              </a:rPr>
              <a:t>performance,  strategies </a:t>
            </a:r>
            <a:r>
              <a:rPr sz="1800" spc="-10" dirty="0">
                <a:latin typeface="Arial"/>
                <a:cs typeface="Arial"/>
              </a:rPr>
              <a:t>and</a:t>
            </a:r>
            <a:r>
              <a:rPr sz="1800" dirty="0">
                <a:latin typeface="Arial"/>
                <a:cs typeface="Arial"/>
              </a:rPr>
              <a:t> </a:t>
            </a:r>
            <a:r>
              <a:rPr sz="1800" spc="-5" dirty="0">
                <a:latin typeface="Arial"/>
                <a:cs typeface="Arial"/>
              </a:rPr>
              <a:t>decisions.</a:t>
            </a:r>
            <a:endParaRPr sz="1800">
              <a:latin typeface="Arial"/>
              <a:cs typeface="Arial"/>
            </a:endParaRPr>
          </a:p>
        </p:txBody>
      </p:sp>
      <p:sp>
        <p:nvSpPr>
          <p:cNvPr id="5" name="object 5"/>
          <p:cNvSpPr txBox="1"/>
          <p:nvPr/>
        </p:nvSpPr>
        <p:spPr>
          <a:xfrm>
            <a:off x="382270" y="3423920"/>
            <a:ext cx="156210" cy="231140"/>
          </a:xfrm>
          <a:prstGeom prst="rect">
            <a:avLst/>
          </a:prstGeom>
        </p:spPr>
        <p:txBody>
          <a:bodyPr vert="horz" wrap="square" lIns="0" tIns="12700" rIns="0" bIns="0" rtlCol="0">
            <a:spAutoFit/>
          </a:bodyPr>
          <a:lstStyle/>
          <a:p>
            <a:pPr marL="12700">
              <a:lnSpc>
                <a:spcPct val="100000"/>
              </a:lnSpc>
              <a:spcBef>
                <a:spcPts val="100"/>
              </a:spcBef>
            </a:pPr>
            <a:r>
              <a:rPr sz="1350" spc="-325" dirty="0">
                <a:solidFill>
                  <a:srgbClr val="00007C"/>
                </a:solidFill>
                <a:latin typeface="UnDotum"/>
                <a:cs typeface="UnDotum"/>
              </a:rPr>
              <a:t></a:t>
            </a:r>
            <a:endParaRPr sz="1350">
              <a:latin typeface="UnDotum"/>
              <a:cs typeface="UnDotum"/>
            </a:endParaRPr>
          </a:p>
        </p:txBody>
      </p:sp>
      <p:sp>
        <p:nvSpPr>
          <p:cNvPr id="6" name="object 6"/>
          <p:cNvSpPr txBox="1"/>
          <p:nvPr/>
        </p:nvSpPr>
        <p:spPr>
          <a:xfrm>
            <a:off x="991869" y="3378200"/>
            <a:ext cx="7098030" cy="1126490"/>
          </a:xfrm>
          <a:prstGeom prst="rect">
            <a:avLst/>
          </a:prstGeom>
        </p:spPr>
        <p:txBody>
          <a:bodyPr vert="horz" wrap="square" lIns="0" tIns="41910" rIns="0" bIns="0" rtlCol="0">
            <a:spAutoFit/>
          </a:bodyPr>
          <a:lstStyle/>
          <a:p>
            <a:pPr marL="12700">
              <a:lnSpc>
                <a:spcPct val="100000"/>
              </a:lnSpc>
              <a:spcBef>
                <a:spcPts val="330"/>
              </a:spcBef>
            </a:pPr>
            <a:r>
              <a:rPr sz="1800" b="1" spc="-10" dirty="0">
                <a:latin typeface="Arial"/>
                <a:cs typeface="Arial"/>
              </a:rPr>
              <a:t>Physical </a:t>
            </a:r>
            <a:r>
              <a:rPr sz="1800" b="1" spc="-5" dirty="0">
                <a:latin typeface="Arial"/>
                <a:cs typeface="Arial"/>
              </a:rPr>
              <a:t>and </a:t>
            </a:r>
            <a:r>
              <a:rPr sz="1800" b="1" spc="-10" dirty="0">
                <a:latin typeface="Arial"/>
                <a:cs typeface="Arial"/>
              </a:rPr>
              <a:t>Human</a:t>
            </a:r>
            <a:r>
              <a:rPr sz="1800" b="1" spc="15" dirty="0">
                <a:latin typeface="Arial"/>
                <a:cs typeface="Arial"/>
              </a:rPr>
              <a:t> </a:t>
            </a:r>
            <a:r>
              <a:rPr sz="1800" b="1" spc="-10" dirty="0">
                <a:latin typeface="Arial"/>
                <a:cs typeface="Arial"/>
              </a:rPr>
              <a:t>Resources:</a:t>
            </a:r>
            <a:endParaRPr sz="1800">
              <a:latin typeface="Arial"/>
              <a:cs typeface="Arial"/>
            </a:endParaRPr>
          </a:p>
          <a:p>
            <a:pPr marL="12700" marR="5080" indent="303530">
              <a:lnSpc>
                <a:spcPct val="90000"/>
              </a:lnSpc>
              <a:spcBef>
                <a:spcPts val="445"/>
              </a:spcBef>
            </a:pPr>
            <a:r>
              <a:rPr sz="1800" dirty="0">
                <a:latin typeface="Arial"/>
                <a:cs typeface="Arial"/>
              </a:rPr>
              <a:t>The </a:t>
            </a:r>
            <a:r>
              <a:rPr sz="1800" spc="-5" dirty="0">
                <a:latin typeface="Arial"/>
                <a:cs typeface="Arial"/>
              </a:rPr>
              <a:t>characteristics of the </a:t>
            </a:r>
            <a:r>
              <a:rPr sz="1800" spc="-10" dirty="0">
                <a:latin typeface="Arial"/>
                <a:cs typeface="Arial"/>
              </a:rPr>
              <a:t>human </a:t>
            </a:r>
            <a:r>
              <a:rPr sz="1800" spc="-5" dirty="0">
                <a:latin typeface="Arial"/>
                <a:cs typeface="Arial"/>
              </a:rPr>
              <a:t>resources like skill, </a:t>
            </a:r>
            <a:r>
              <a:rPr sz="1800" spc="-10" dirty="0">
                <a:latin typeface="Arial"/>
                <a:cs typeface="Arial"/>
              </a:rPr>
              <a:t>quality, moral,  </a:t>
            </a:r>
            <a:r>
              <a:rPr sz="1800" spc="-5" dirty="0">
                <a:latin typeface="Arial"/>
                <a:cs typeface="Arial"/>
              </a:rPr>
              <a:t>commitment etc., contribute </a:t>
            </a:r>
            <a:r>
              <a:rPr sz="1800" dirty="0">
                <a:latin typeface="Arial"/>
                <a:cs typeface="Arial"/>
              </a:rPr>
              <a:t>to the </a:t>
            </a:r>
            <a:r>
              <a:rPr sz="1800" spc="-5" dirty="0">
                <a:latin typeface="Arial"/>
                <a:cs typeface="Arial"/>
              </a:rPr>
              <a:t>strength </a:t>
            </a:r>
            <a:r>
              <a:rPr sz="1800" spc="-10" dirty="0">
                <a:latin typeface="Arial"/>
                <a:cs typeface="Arial"/>
              </a:rPr>
              <a:t>and weakness </a:t>
            </a:r>
            <a:r>
              <a:rPr sz="1800" spc="-5" dirty="0">
                <a:latin typeface="Arial"/>
                <a:cs typeface="Arial"/>
              </a:rPr>
              <a:t>of </a:t>
            </a:r>
            <a:r>
              <a:rPr sz="1800" spc="-10" dirty="0">
                <a:latin typeface="Arial"/>
                <a:cs typeface="Arial"/>
              </a:rPr>
              <a:t>an  organization.</a:t>
            </a:r>
            <a:endParaRPr sz="1800">
              <a:latin typeface="Arial"/>
              <a:cs typeface="Arial"/>
            </a:endParaRPr>
          </a:p>
        </p:txBody>
      </p:sp>
      <p:sp>
        <p:nvSpPr>
          <p:cNvPr id="7" name="object 7"/>
          <p:cNvSpPr txBox="1"/>
          <p:nvPr/>
        </p:nvSpPr>
        <p:spPr>
          <a:xfrm>
            <a:off x="382270" y="4828540"/>
            <a:ext cx="156210" cy="231140"/>
          </a:xfrm>
          <a:prstGeom prst="rect">
            <a:avLst/>
          </a:prstGeom>
        </p:spPr>
        <p:txBody>
          <a:bodyPr vert="horz" wrap="square" lIns="0" tIns="12700" rIns="0" bIns="0" rtlCol="0">
            <a:spAutoFit/>
          </a:bodyPr>
          <a:lstStyle/>
          <a:p>
            <a:pPr marL="12700">
              <a:lnSpc>
                <a:spcPct val="100000"/>
              </a:lnSpc>
              <a:spcBef>
                <a:spcPts val="100"/>
              </a:spcBef>
            </a:pPr>
            <a:r>
              <a:rPr sz="1350" spc="-325" dirty="0">
                <a:solidFill>
                  <a:srgbClr val="00007C"/>
                </a:solidFill>
                <a:latin typeface="UnDotum"/>
                <a:cs typeface="UnDotum"/>
              </a:rPr>
              <a:t></a:t>
            </a:r>
            <a:endParaRPr sz="1350">
              <a:latin typeface="UnDotum"/>
              <a:cs typeface="UnDotum"/>
            </a:endParaRPr>
          </a:p>
        </p:txBody>
      </p:sp>
      <p:sp>
        <p:nvSpPr>
          <p:cNvPr id="8" name="object 8"/>
          <p:cNvSpPr txBox="1"/>
          <p:nvPr/>
        </p:nvSpPr>
        <p:spPr>
          <a:xfrm>
            <a:off x="991869" y="4782819"/>
            <a:ext cx="6793230" cy="878840"/>
          </a:xfrm>
          <a:prstGeom prst="rect">
            <a:avLst/>
          </a:prstGeom>
        </p:spPr>
        <p:txBody>
          <a:bodyPr vert="horz" wrap="square" lIns="0" tIns="41910" rIns="0" bIns="0" rtlCol="0">
            <a:spAutoFit/>
          </a:bodyPr>
          <a:lstStyle/>
          <a:p>
            <a:pPr marL="12700">
              <a:lnSpc>
                <a:spcPct val="100000"/>
              </a:lnSpc>
              <a:spcBef>
                <a:spcPts val="330"/>
              </a:spcBef>
            </a:pPr>
            <a:r>
              <a:rPr sz="1800" b="1" spc="-10" dirty="0">
                <a:latin typeface="Arial"/>
                <a:cs typeface="Arial"/>
              </a:rPr>
              <a:t>Objectives </a:t>
            </a:r>
            <a:r>
              <a:rPr sz="1800" b="1" spc="-5" dirty="0">
                <a:latin typeface="Arial"/>
                <a:cs typeface="Arial"/>
              </a:rPr>
              <a:t>of</a:t>
            </a:r>
            <a:r>
              <a:rPr sz="1800" b="1" dirty="0">
                <a:latin typeface="Arial"/>
                <a:cs typeface="Arial"/>
              </a:rPr>
              <a:t> </a:t>
            </a:r>
            <a:r>
              <a:rPr sz="1800" b="1" spc="-10" dirty="0">
                <a:latin typeface="Arial"/>
                <a:cs typeface="Arial"/>
              </a:rPr>
              <a:t>Business:</a:t>
            </a:r>
            <a:endParaRPr sz="1800">
              <a:latin typeface="Arial"/>
              <a:cs typeface="Arial"/>
            </a:endParaRPr>
          </a:p>
          <a:p>
            <a:pPr marL="12700" marR="5080" indent="303530">
              <a:lnSpc>
                <a:spcPts val="1939"/>
              </a:lnSpc>
              <a:spcBef>
                <a:spcPts val="475"/>
              </a:spcBef>
            </a:pPr>
            <a:r>
              <a:rPr sz="1800" dirty="0">
                <a:latin typeface="Arial"/>
                <a:cs typeface="Arial"/>
              </a:rPr>
              <a:t>The </a:t>
            </a:r>
            <a:r>
              <a:rPr sz="1800" spc="-10" dirty="0">
                <a:latin typeface="Arial"/>
                <a:cs typeface="Arial"/>
              </a:rPr>
              <a:t>business </a:t>
            </a:r>
            <a:r>
              <a:rPr sz="1800" spc="-5" dirty="0">
                <a:latin typeface="Arial"/>
                <a:cs typeface="Arial"/>
              </a:rPr>
              <a:t>domain of the </a:t>
            </a:r>
            <a:r>
              <a:rPr sz="1800" spc="-10" dirty="0">
                <a:latin typeface="Arial"/>
                <a:cs typeface="Arial"/>
              </a:rPr>
              <a:t>company, direction </a:t>
            </a:r>
            <a:r>
              <a:rPr sz="1800" spc="-5" dirty="0">
                <a:latin typeface="Arial"/>
                <a:cs typeface="Arial"/>
              </a:rPr>
              <a:t>of </a:t>
            </a:r>
            <a:r>
              <a:rPr sz="1800" spc="-10" dirty="0">
                <a:latin typeface="Arial"/>
                <a:cs typeface="Arial"/>
              </a:rPr>
              <a:t>development,  business policy </a:t>
            </a:r>
            <a:r>
              <a:rPr sz="1800" spc="-5" dirty="0">
                <a:latin typeface="Arial"/>
                <a:cs typeface="Arial"/>
              </a:rPr>
              <a:t>etc., are </a:t>
            </a:r>
            <a:r>
              <a:rPr sz="1800" spc="-10" dirty="0">
                <a:latin typeface="Arial"/>
                <a:cs typeface="Arial"/>
              </a:rPr>
              <a:t>guided </a:t>
            </a:r>
            <a:r>
              <a:rPr sz="1800" spc="-5" dirty="0">
                <a:latin typeface="Arial"/>
                <a:cs typeface="Arial"/>
              </a:rPr>
              <a:t>by the objectives of the</a:t>
            </a:r>
            <a:r>
              <a:rPr sz="1800" spc="-20" dirty="0">
                <a:latin typeface="Arial"/>
                <a:cs typeface="Arial"/>
              </a:rPr>
              <a:t> </a:t>
            </a:r>
            <a:r>
              <a:rPr sz="1800" spc="-5" dirty="0">
                <a:latin typeface="Arial"/>
                <a:cs typeface="Arial"/>
              </a:rPr>
              <a:t>company</a:t>
            </a:r>
            <a:endParaRPr sz="1800">
              <a:latin typeface="Arial"/>
              <a:cs typeface="Aria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2270" y="5105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725169" y="491490"/>
            <a:ext cx="2366010" cy="330200"/>
          </a:xfrm>
          <a:prstGeom prst="rect">
            <a:avLst/>
          </a:prstGeom>
        </p:spPr>
        <p:txBody>
          <a:bodyPr vert="horz" wrap="square" lIns="0" tIns="12700" rIns="0" bIns="0" rtlCol="0">
            <a:spAutoFit/>
          </a:bodyPr>
          <a:lstStyle/>
          <a:p>
            <a:pPr marL="12700">
              <a:lnSpc>
                <a:spcPct val="100000"/>
              </a:lnSpc>
              <a:spcBef>
                <a:spcPts val="100"/>
              </a:spcBef>
            </a:pPr>
            <a:r>
              <a:rPr sz="2000" b="1" dirty="0">
                <a:latin typeface="Arial"/>
                <a:cs typeface="Arial"/>
              </a:rPr>
              <a:t>Work</a:t>
            </a:r>
            <a:r>
              <a:rPr sz="2000" b="1" spc="-75" dirty="0">
                <a:latin typeface="Arial"/>
                <a:cs typeface="Arial"/>
              </a:rPr>
              <a:t> </a:t>
            </a:r>
            <a:r>
              <a:rPr sz="2000" b="1" spc="-5" dirty="0">
                <a:latin typeface="Arial"/>
                <a:cs typeface="Arial"/>
              </a:rPr>
              <a:t>Environment:</a:t>
            </a:r>
            <a:endParaRPr sz="2000">
              <a:latin typeface="Arial"/>
              <a:cs typeface="Arial"/>
            </a:endParaRPr>
          </a:p>
        </p:txBody>
      </p:sp>
      <p:sp>
        <p:nvSpPr>
          <p:cNvPr id="4" name="object 4"/>
          <p:cNvSpPr txBox="1"/>
          <p:nvPr/>
        </p:nvSpPr>
        <p:spPr>
          <a:xfrm>
            <a:off x="725169" y="859790"/>
            <a:ext cx="7853680" cy="939800"/>
          </a:xfrm>
          <a:prstGeom prst="rect">
            <a:avLst/>
          </a:prstGeom>
        </p:spPr>
        <p:txBody>
          <a:bodyPr vert="horz" wrap="square" lIns="0" tIns="12700" rIns="0" bIns="0" rtlCol="0">
            <a:spAutoFit/>
          </a:bodyPr>
          <a:lstStyle/>
          <a:p>
            <a:pPr marL="12700" marR="5080" indent="571500">
              <a:lnSpc>
                <a:spcPct val="100000"/>
              </a:lnSpc>
              <a:spcBef>
                <a:spcPts val="100"/>
              </a:spcBef>
            </a:pPr>
            <a:r>
              <a:rPr sz="2000" spc="-5" dirty="0">
                <a:latin typeface="Arial"/>
                <a:cs typeface="Arial"/>
              </a:rPr>
              <a:t>The </a:t>
            </a:r>
            <a:r>
              <a:rPr sz="2000" dirty="0">
                <a:latin typeface="Arial"/>
                <a:cs typeface="Arial"/>
              </a:rPr>
              <a:t>organisational structure, company policies, extent of  professionalism in management </a:t>
            </a:r>
            <a:r>
              <a:rPr sz="2000" spc="-5" dirty="0">
                <a:latin typeface="Arial"/>
                <a:cs typeface="Arial"/>
              </a:rPr>
              <a:t>etc., </a:t>
            </a:r>
            <a:r>
              <a:rPr sz="2000" dirty="0">
                <a:latin typeface="Arial"/>
                <a:cs typeface="Arial"/>
              </a:rPr>
              <a:t>are </a:t>
            </a:r>
            <a:r>
              <a:rPr sz="2000" spc="-5" dirty="0">
                <a:latin typeface="Arial"/>
                <a:cs typeface="Arial"/>
              </a:rPr>
              <a:t>important factors influencing  </a:t>
            </a:r>
            <a:r>
              <a:rPr sz="2000" dirty="0">
                <a:latin typeface="Arial"/>
                <a:cs typeface="Arial"/>
              </a:rPr>
              <a:t>business</a:t>
            </a:r>
            <a:r>
              <a:rPr sz="2000" spc="-5" dirty="0">
                <a:latin typeface="Arial"/>
                <a:cs typeface="Arial"/>
              </a:rPr>
              <a:t> </a:t>
            </a:r>
            <a:r>
              <a:rPr sz="2000" dirty="0">
                <a:latin typeface="Arial"/>
                <a:cs typeface="Arial"/>
              </a:rPr>
              <a:t>decisions.</a:t>
            </a:r>
            <a:endParaRPr sz="2000">
              <a:latin typeface="Arial"/>
              <a:cs typeface="Arial"/>
            </a:endParaRPr>
          </a:p>
        </p:txBody>
      </p:sp>
      <p:sp>
        <p:nvSpPr>
          <p:cNvPr id="5" name="object 5"/>
          <p:cNvSpPr txBox="1"/>
          <p:nvPr/>
        </p:nvSpPr>
        <p:spPr>
          <a:xfrm>
            <a:off x="382270" y="22250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725169" y="2142490"/>
            <a:ext cx="7868284" cy="10668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Company Image </a:t>
            </a:r>
            <a:r>
              <a:rPr sz="2000" b="1" dirty="0">
                <a:latin typeface="Arial"/>
                <a:cs typeface="Arial"/>
              </a:rPr>
              <a:t>and</a:t>
            </a:r>
            <a:r>
              <a:rPr sz="2000" b="1" spc="-35" dirty="0">
                <a:latin typeface="Arial"/>
                <a:cs typeface="Arial"/>
              </a:rPr>
              <a:t> </a:t>
            </a:r>
            <a:r>
              <a:rPr sz="2000" b="1" dirty="0">
                <a:latin typeface="Arial"/>
                <a:cs typeface="Arial"/>
              </a:rPr>
              <a:t>Brand:</a:t>
            </a:r>
            <a:endParaRPr sz="2000">
              <a:latin typeface="Arial"/>
              <a:cs typeface="Arial"/>
            </a:endParaRPr>
          </a:p>
          <a:p>
            <a:pPr marL="12700" marR="5080" indent="571500">
              <a:lnSpc>
                <a:spcPct val="100000"/>
              </a:lnSpc>
              <a:spcBef>
                <a:spcPts val="500"/>
              </a:spcBef>
            </a:pPr>
            <a:r>
              <a:rPr sz="2000" spc="-5" dirty="0">
                <a:latin typeface="Arial"/>
                <a:cs typeface="Arial"/>
              </a:rPr>
              <a:t>The </a:t>
            </a:r>
            <a:r>
              <a:rPr sz="2000" dirty="0">
                <a:latin typeface="Arial"/>
                <a:cs typeface="Arial"/>
              </a:rPr>
              <a:t>image </a:t>
            </a:r>
            <a:r>
              <a:rPr sz="2000" spc="-5" dirty="0">
                <a:latin typeface="Arial"/>
                <a:cs typeface="Arial"/>
              </a:rPr>
              <a:t>of the </a:t>
            </a:r>
            <a:r>
              <a:rPr sz="2000" dirty="0">
                <a:latin typeface="Arial"/>
                <a:cs typeface="Arial"/>
              </a:rPr>
              <a:t>company </a:t>
            </a:r>
            <a:r>
              <a:rPr sz="2000" spc="-5" dirty="0">
                <a:latin typeface="Arial"/>
                <a:cs typeface="Arial"/>
              </a:rPr>
              <a:t>matters while </a:t>
            </a:r>
            <a:r>
              <a:rPr sz="2000" dirty="0">
                <a:latin typeface="Arial"/>
                <a:cs typeface="Arial"/>
              </a:rPr>
              <a:t>raising finance, </a:t>
            </a:r>
            <a:r>
              <a:rPr sz="2000" spc="-5" dirty="0">
                <a:latin typeface="Arial"/>
                <a:cs typeface="Arial"/>
              </a:rPr>
              <a:t>forming  </a:t>
            </a:r>
            <a:r>
              <a:rPr sz="2000" dirty="0">
                <a:latin typeface="Arial"/>
                <a:cs typeface="Arial"/>
              </a:rPr>
              <a:t>joint ventures, </a:t>
            </a:r>
            <a:r>
              <a:rPr sz="2000" spc="-5" dirty="0">
                <a:latin typeface="Arial"/>
                <a:cs typeface="Arial"/>
              </a:rPr>
              <a:t>entering </a:t>
            </a:r>
            <a:r>
              <a:rPr sz="2000" dirty="0">
                <a:latin typeface="Arial"/>
                <a:cs typeface="Arial"/>
              </a:rPr>
              <a:t>purchase </a:t>
            </a:r>
            <a:r>
              <a:rPr sz="2000" spc="-5" dirty="0">
                <a:latin typeface="Arial"/>
                <a:cs typeface="Arial"/>
              </a:rPr>
              <a:t>or </a:t>
            </a:r>
            <a:r>
              <a:rPr sz="2000" dirty="0">
                <a:latin typeface="Arial"/>
                <a:cs typeface="Arial"/>
              </a:rPr>
              <a:t>sales contract</a:t>
            </a:r>
            <a:r>
              <a:rPr sz="2000" spc="-40" dirty="0">
                <a:latin typeface="Arial"/>
                <a:cs typeface="Arial"/>
              </a:rPr>
              <a:t> </a:t>
            </a:r>
            <a:r>
              <a:rPr sz="2000" dirty="0">
                <a:latin typeface="Arial"/>
                <a:cs typeface="Arial"/>
              </a:rPr>
              <a:t>etc.</a:t>
            </a:r>
            <a:endParaRPr sz="2000">
              <a:latin typeface="Arial"/>
              <a:cs typeface="Arial"/>
            </a:endParaRPr>
          </a:p>
        </p:txBody>
      </p:sp>
      <p:sp>
        <p:nvSpPr>
          <p:cNvPr id="7" name="object 7"/>
          <p:cNvSpPr txBox="1"/>
          <p:nvPr/>
        </p:nvSpPr>
        <p:spPr>
          <a:xfrm>
            <a:off x="382270" y="36347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8" name="object 8"/>
          <p:cNvSpPr txBox="1"/>
          <p:nvPr/>
        </p:nvSpPr>
        <p:spPr>
          <a:xfrm>
            <a:off x="725169" y="3552190"/>
            <a:ext cx="8022590" cy="13716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Labour </a:t>
            </a:r>
            <a:r>
              <a:rPr sz="2000" b="1" dirty="0">
                <a:latin typeface="Arial"/>
                <a:cs typeface="Arial"/>
              </a:rPr>
              <a:t>Management</a:t>
            </a:r>
            <a:r>
              <a:rPr sz="2000" b="1" spc="-10" dirty="0">
                <a:latin typeface="Arial"/>
                <a:cs typeface="Arial"/>
              </a:rPr>
              <a:t> </a:t>
            </a:r>
            <a:r>
              <a:rPr sz="2000" b="1" spc="-5" dirty="0">
                <a:latin typeface="Arial"/>
                <a:cs typeface="Arial"/>
              </a:rPr>
              <a:t>Relationship:</a:t>
            </a:r>
            <a:endParaRPr sz="2000">
              <a:latin typeface="Arial"/>
              <a:cs typeface="Arial"/>
            </a:endParaRPr>
          </a:p>
          <a:p>
            <a:pPr marL="12700" marR="5080" indent="571500">
              <a:lnSpc>
                <a:spcPct val="100000"/>
              </a:lnSpc>
              <a:spcBef>
                <a:spcPts val="500"/>
              </a:spcBef>
            </a:pPr>
            <a:r>
              <a:rPr sz="2000" dirty="0">
                <a:latin typeface="Arial"/>
                <a:cs typeface="Arial"/>
              </a:rPr>
              <a:t>Factors like </a:t>
            </a:r>
            <a:r>
              <a:rPr sz="2000" spc="-5" dirty="0">
                <a:latin typeface="Arial"/>
                <a:cs typeface="Arial"/>
              </a:rPr>
              <a:t>the </a:t>
            </a:r>
            <a:r>
              <a:rPr sz="2000" dirty="0">
                <a:latin typeface="Arial"/>
                <a:cs typeface="Arial"/>
              </a:rPr>
              <a:t>amount of support </a:t>
            </a:r>
            <a:r>
              <a:rPr sz="2000" spc="-5" dirty="0">
                <a:latin typeface="Arial"/>
                <a:cs typeface="Arial"/>
              </a:rPr>
              <a:t>top management enjoys from  different </a:t>
            </a:r>
            <a:r>
              <a:rPr sz="2000" dirty="0">
                <a:latin typeface="Arial"/>
                <a:cs typeface="Arial"/>
              </a:rPr>
              <a:t>level of employees, and </a:t>
            </a:r>
            <a:r>
              <a:rPr sz="2000" spc="-5" dirty="0">
                <a:latin typeface="Arial"/>
                <a:cs typeface="Arial"/>
              </a:rPr>
              <a:t>other participants influences </a:t>
            </a:r>
            <a:r>
              <a:rPr sz="2000" dirty="0">
                <a:latin typeface="Arial"/>
                <a:cs typeface="Arial"/>
              </a:rPr>
              <a:t>company  decisions and </a:t>
            </a:r>
            <a:r>
              <a:rPr sz="2000" spc="-5" dirty="0">
                <a:latin typeface="Arial"/>
                <a:cs typeface="Arial"/>
              </a:rPr>
              <a:t>their</a:t>
            </a:r>
            <a:r>
              <a:rPr sz="2000" spc="-10" dirty="0">
                <a:latin typeface="Arial"/>
                <a:cs typeface="Arial"/>
              </a:rPr>
              <a:t> </a:t>
            </a:r>
            <a:r>
              <a:rPr sz="2000" spc="-5" dirty="0">
                <a:latin typeface="Arial"/>
                <a:cs typeface="Arial"/>
              </a:rPr>
              <a:t>implementations.</a:t>
            </a:r>
            <a:endParaRPr sz="2000">
              <a:latin typeface="Arial"/>
              <a:cs typeface="Arial"/>
            </a:endParaRPr>
          </a:p>
        </p:txBody>
      </p:sp>
      <p:sp>
        <p:nvSpPr>
          <p:cNvPr id="9" name="object 9"/>
          <p:cNvSpPr txBox="1"/>
          <p:nvPr/>
        </p:nvSpPr>
        <p:spPr>
          <a:xfrm>
            <a:off x="382270" y="53492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10" name="object 10"/>
          <p:cNvSpPr txBox="1"/>
          <p:nvPr/>
        </p:nvSpPr>
        <p:spPr>
          <a:xfrm>
            <a:off x="725169" y="5266690"/>
            <a:ext cx="7206615" cy="762000"/>
          </a:xfrm>
          <a:prstGeom prst="rect">
            <a:avLst/>
          </a:prstGeom>
        </p:spPr>
        <p:txBody>
          <a:bodyPr vert="horz" wrap="square" lIns="0" tIns="76200" rIns="0" bIns="0" rtlCol="0">
            <a:spAutoFit/>
          </a:bodyPr>
          <a:lstStyle/>
          <a:p>
            <a:pPr marL="12700">
              <a:lnSpc>
                <a:spcPct val="100000"/>
              </a:lnSpc>
              <a:spcBef>
                <a:spcPts val="600"/>
              </a:spcBef>
            </a:pPr>
            <a:r>
              <a:rPr sz="2000" b="1" dirty="0">
                <a:latin typeface="Arial"/>
                <a:cs typeface="Arial"/>
              </a:rPr>
              <a:t>R&amp;D and </a:t>
            </a:r>
            <a:r>
              <a:rPr sz="2000" b="1" spc="-5" dirty="0">
                <a:latin typeface="Arial"/>
                <a:cs typeface="Arial"/>
              </a:rPr>
              <a:t>Technological</a:t>
            </a:r>
            <a:r>
              <a:rPr sz="2000" b="1" spc="-25" dirty="0">
                <a:latin typeface="Arial"/>
                <a:cs typeface="Arial"/>
              </a:rPr>
              <a:t> </a:t>
            </a:r>
            <a:r>
              <a:rPr sz="2000" b="1" spc="-5" dirty="0">
                <a:latin typeface="Arial"/>
                <a:cs typeface="Arial"/>
              </a:rPr>
              <a:t>Capabilities:</a:t>
            </a:r>
            <a:endParaRPr sz="2000">
              <a:latin typeface="Arial"/>
              <a:cs typeface="Arial"/>
            </a:endParaRPr>
          </a:p>
          <a:p>
            <a:pPr marL="583565">
              <a:lnSpc>
                <a:spcPct val="100000"/>
              </a:lnSpc>
              <a:spcBef>
                <a:spcPts val="500"/>
              </a:spcBef>
            </a:pPr>
            <a:r>
              <a:rPr sz="2000" spc="-5" dirty="0">
                <a:latin typeface="Arial"/>
                <a:cs typeface="Arial"/>
              </a:rPr>
              <a:t>It determines </a:t>
            </a:r>
            <a:r>
              <a:rPr sz="2000" dirty="0">
                <a:latin typeface="Arial"/>
                <a:cs typeface="Arial"/>
              </a:rPr>
              <a:t>a company’s </a:t>
            </a:r>
            <a:r>
              <a:rPr sz="2000" spc="-5" dirty="0">
                <a:latin typeface="Arial"/>
                <a:cs typeface="Arial"/>
              </a:rPr>
              <a:t>ability to innovate </a:t>
            </a:r>
            <a:r>
              <a:rPr sz="2000" dirty="0">
                <a:latin typeface="Arial"/>
                <a:cs typeface="Arial"/>
              </a:rPr>
              <a:t>and</a:t>
            </a:r>
            <a:r>
              <a:rPr sz="2000" spc="-5" dirty="0">
                <a:latin typeface="Arial"/>
                <a:cs typeface="Arial"/>
              </a:rPr>
              <a:t> </a:t>
            </a:r>
            <a:r>
              <a:rPr sz="2000" dirty="0">
                <a:latin typeface="Arial"/>
                <a:cs typeface="Arial"/>
              </a:rPr>
              <a:t>compete.</a:t>
            </a:r>
            <a:endParaRPr sz="20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839" y="1405890"/>
            <a:ext cx="4279900" cy="513080"/>
          </a:xfrm>
          <a:prstGeom prst="rect">
            <a:avLst/>
          </a:prstGeom>
        </p:spPr>
        <p:txBody>
          <a:bodyPr vert="horz" wrap="square" lIns="0" tIns="12700" rIns="0" bIns="0" rtlCol="0">
            <a:spAutoFit/>
          </a:bodyPr>
          <a:lstStyle/>
          <a:p>
            <a:pPr marL="25400">
              <a:lnSpc>
                <a:spcPct val="100000"/>
              </a:lnSpc>
              <a:spcBef>
                <a:spcPts val="100"/>
              </a:spcBef>
            </a:pPr>
            <a:r>
              <a:rPr sz="3600" spc="-855" baseline="12731" dirty="0">
                <a:solidFill>
                  <a:srgbClr val="00007C"/>
                </a:solidFill>
                <a:latin typeface="UnDotum"/>
                <a:cs typeface="UnDotum"/>
              </a:rPr>
              <a:t> </a:t>
            </a:r>
            <a:r>
              <a:rPr sz="3200" spc="-5" dirty="0"/>
              <a:t>External</a:t>
            </a:r>
            <a:r>
              <a:rPr sz="3200" spc="-120" dirty="0"/>
              <a:t> </a:t>
            </a:r>
            <a:r>
              <a:rPr sz="3200" dirty="0"/>
              <a:t>Environment</a:t>
            </a:r>
            <a:endParaRPr sz="3200">
              <a:latin typeface="UnDotum"/>
              <a:cs typeface="UnDotum"/>
            </a:endParaRPr>
          </a:p>
        </p:txBody>
      </p:sp>
      <p:sp>
        <p:nvSpPr>
          <p:cNvPr id="3" name="object 3"/>
          <p:cNvSpPr txBox="1"/>
          <p:nvPr/>
        </p:nvSpPr>
        <p:spPr>
          <a:xfrm>
            <a:off x="571500" y="2077720"/>
            <a:ext cx="7412990" cy="2778760"/>
          </a:xfrm>
          <a:prstGeom prst="rect">
            <a:avLst/>
          </a:prstGeom>
        </p:spPr>
        <p:txBody>
          <a:bodyPr vert="horz" wrap="square" lIns="0" tIns="33020" rIns="0" bIns="0" rtlCol="0">
            <a:spAutoFit/>
          </a:bodyPr>
          <a:lstStyle/>
          <a:p>
            <a:pPr marL="12700" marR="5080">
              <a:lnSpc>
                <a:spcPct val="103299"/>
              </a:lnSpc>
              <a:spcBef>
                <a:spcPts val="260"/>
              </a:spcBef>
            </a:pPr>
            <a:r>
              <a:rPr sz="2000" dirty="0">
                <a:latin typeface="Arial"/>
                <a:cs typeface="Arial"/>
              </a:rPr>
              <a:t>The external environment refers </a:t>
            </a:r>
            <a:r>
              <a:rPr sz="2000" spc="-5" dirty="0">
                <a:latin typeface="Arial"/>
                <a:cs typeface="Arial"/>
              </a:rPr>
              <a:t>to the factors existing outside the  </a:t>
            </a:r>
            <a:r>
              <a:rPr sz="2000" dirty="0">
                <a:latin typeface="Arial"/>
                <a:cs typeface="Arial"/>
              </a:rPr>
              <a:t>business </a:t>
            </a:r>
            <a:r>
              <a:rPr sz="2000" spc="-5" dirty="0">
                <a:latin typeface="Arial"/>
                <a:cs typeface="Arial"/>
              </a:rPr>
              <a:t>firm. The </a:t>
            </a:r>
            <a:r>
              <a:rPr sz="2000" dirty="0">
                <a:latin typeface="Arial"/>
                <a:cs typeface="Arial"/>
              </a:rPr>
              <a:t>external </a:t>
            </a:r>
            <a:r>
              <a:rPr sz="2000" spc="-5" dirty="0">
                <a:latin typeface="Arial"/>
                <a:cs typeface="Arial"/>
              </a:rPr>
              <a:t>factors </a:t>
            </a:r>
            <a:r>
              <a:rPr sz="2000" dirty="0">
                <a:latin typeface="Arial"/>
                <a:cs typeface="Arial"/>
              </a:rPr>
              <a:t>are beyond </a:t>
            </a:r>
            <a:r>
              <a:rPr sz="2000" spc="-5" dirty="0">
                <a:latin typeface="Arial"/>
                <a:cs typeface="Arial"/>
              </a:rPr>
              <a:t>the </a:t>
            </a:r>
            <a:r>
              <a:rPr sz="2000" dirty="0">
                <a:latin typeface="Arial"/>
                <a:cs typeface="Arial"/>
              </a:rPr>
              <a:t>control </a:t>
            </a:r>
            <a:r>
              <a:rPr sz="2000" spc="-5" dirty="0">
                <a:latin typeface="Arial"/>
                <a:cs typeface="Arial"/>
              </a:rPr>
              <a:t>of </a:t>
            </a:r>
            <a:r>
              <a:rPr sz="2000" dirty="0">
                <a:latin typeface="Arial"/>
                <a:cs typeface="Arial"/>
              </a:rPr>
              <a:t>a  company, hence </a:t>
            </a:r>
            <a:r>
              <a:rPr sz="2000" spc="-5" dirty="0">
                <a:latin typeface="Arial"/>
                <a:cs typeface="Arial"/>
              </a:rPr>
              <a:t>its </a:t>
            </a:r>
            <a:r>
              <a:rPr sz="2000" dirty="0">
                <a:latin typeface="Arial"/>
                <a:cs typeface="Arial"/>
              </a:rPr>
              <a:t>success depends to </a:t>
            </a:r>
            <a:r>
              <a:rPr sz="2000" spc="-5" dirty="0">
                <a:latin typeface="Arial"/>
                <a:cs typeface="Arial"/>
              </a:rPr>
              <a:t>the adaptability </a:t>
            </a:r>
            <a:r>
              <a:rPr sz="2000" dirty="0">
                <a:latin typeface="Arial"/>
                <a:cs typeface="Arial"/>
              </a:rPr>
              <a:t>of </a:t>
            </a:r>
            <a:r>
              <a:rPr sz="2000" spc="-5" dirty="0">
                <a:latin typeface="Arial"/>
                <a:cs typeface="Arial"/>
              </a:rPr>
              <a:t>the  environment.</a:t>
            </a:r>
            <a:endParaRPr sz="2000">
              <a:latin typeface="Arial"/>
              <a:cs typeface="Arial"/>
            </a:endParaRPr>
          </a:p>
          <a:p>
            <a:pPr>
              <a:lnSpc>
                <a:spcPct val="100000"/>
              </a:lnSpc>
              <a:spcBef>
                <a:spcPts val="5"/>
              </a:spcBef>
            </a:pPr>
            <a:endParaRPr sz="2950">
              <a:latin typeface="Arial"/>
              <a:cs typeface="Arial"/>
            </a:endParaRPr>
          </a:p>
          <a:p>
            <a:pPr marL="12700">
              <a:lnSpc>
                <a:spcPct val="100000"/>
              </a:lnSpc>
            </a:pPr>
            <a:r>
              <a:rPr sz="2000" spc="-5" dirty="0">
                <a:latin typeface="Arial"/>
                <a:cs typeface="Arial"/>
              </a:rPr>
              <a:t>Again external environment is </a:t>
            </a:r>
            <a:r>
              <a:rPr sz="2000" dirty="0">
                <a:latin typeface="Arial"/>
                <a:cs typeface="Arial"/>
              </a:rPr>
              <a:t>divided in </a:t>
            </a:r>
            <a:r>
              <a:rPr sz="2000" spc="-10" dirty="0">
                <a:latin typeface="Arial"/>
                <a:cs typeface="Arial"/>
              </a:rPr>
              <a:t>two </a:t>
            </a:r>
            <a:r>
              <a:rPr sz="2000" dirty="0">
                <a:latin typeface="Arial"/>
                <a:cs typeface="Arial"/>
              </a:rPr>
              <a:t>parts:</a:t>
            </a:r>
            <a:endParaRPr sz="2000">
              <a:latin typeface="Arial"/>
              <a:cs typeface="Arial"/>
            </a:endParaRPr>
          </a:p>
          <a:p>
            <a:pPr marL="2632710" marR="2343150" indent="41910">
              <a:lnSpc>
                <a:spcPct val="120800"/>
              </a:lnSpc>
              <a:spcBef>
                <a:spcPts val="5"/>
              </a:spcBef>
            </a:pPr>
            <a:r>
              <a:rPr sz="2000" spc="-5" dirty="0">
                <a:latin typeface="Arial"/>
                <a:cs typeface="Arial"/>
              </a:rPr>
              <a:t>1)Micro Environment  2)Macro</a:t>
            </a:r>
            <a:r>
              <a:rPr sz="2000" spc="-25" dirty="0">
                <a:latin typeface="Arial"/>
                <a:cs typeface="Arial"/>
              </a:rPr>
              <a:t> </a:t>
            </a:r>
            <a:r>
              <a:rPr sz="2000" spc="-5" dirty="0">
                <a:latin typeface="Arial"/>
                <a:cs typeface="Arial"/>
              </a:rPr>
              <a:t>Environment</a:t>
            </a:r>
            <a:endParaRPr sz="200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7289" y="491490"/>
            <a:ext cx="3787140" cy="513080"/>
          </a:xfrm>
          <a:prstGeom prst="rect">
            <a:avLst/>
          </a:prstGeom>
        </p:spPr>
        <p:txBody>
          <a:bodyPr vert="horz" wrap="square" lIns="0" tIns="12700" rIns="0" bIns="0" rtlCol="0">
            <a:spAutoFit/>
          </a:bodyPr>
          <a:lstStyle/>
          <a:p>
            <a:pPr marL="25400">
              <a:lnSpc>
                <a:spcPct val="100000"/>
              </a:lnSpc>
              <a:spcBef>
                <a:spcPts val="100"/>
              </a:spcBef>
            </a:pPr>
            <a:r>
              <a:rPr sz="3600" spc="-855" baseline="12731" dirty="0">
                <a:solidFill>
                  <a:srgbClr val="00007C"/>
                </a:solidFill>
                <a:latin typeface="UnDotum"/>
                <a:cs typeface="UnDotum"/>
              </a:rPr>
              <a:t> </a:t>
            </a:r>
            <a:r>
              <a:rPr sz="3200" dirty="0"/>
              <a:t>Micro</a:t>
            </a:r>
            <a:r>
              <a:rPr sz="3200" spc="-110" dirty="0"/>
              <a:t> </a:t>
            </a:r>
            <a:r>
              <a:rPr sz="3200" dirty="0"/>
              <a:t>Environment</a:t>
            </a:r>
            <a:endParaRPr sz="3200">
              <a:latin typeface="UnDotum"/>
              <a:cs typeface="UnDotum"/>
            </a:endParaRPr>
          </a:p>
        </p:txBody>
      </p:sp>
      <p:sp>
        <p:nvSpPr>
          <p:cNvPr id="3" name="object 3"/>
          <p:cNvSpPr txBox="1"/>
          <p:nvPr/>
        </p:nvSpPr>
        <p:spPr>
          <a:xfrm>
            <a:off x="420369" y="1041400"/>
            <a:ext cx="8170545" cy="4916170"/>
          </a:xfrm>
          <a:prstGeom prst="rect">
            <a:avLst/>
          </a:prstGeom>
        </p:spPr>
        <p:txBody>
          <a:bodyPr vert="horz" wrap="square" lIns="0" tIns="12065" rIns="0" bIns="0" rtlCol="0">
            <a:spAutoFit/>
          </a:bodyPr>
          <a:lstStyle/>
          <a:p>
            <a:pPr marL="12700" marR="5080" algn="just">
              <a:lnSpc>
                <a:spcPct val="100200"/>
              </a:lnSpc>
              <a:spcBef>
                <a:spcPts val="95"/>
              </a:spcBef>
            </a:pPr>
            <a:r>
              <a:rPr sz="2000" spc="-5" dirty="0">
                <a:latin typeface="Arial"/>
                <a:cs typeface="Arial"/>
              </a:rPr>
              <a:t>The factors which are </a:t>
            </a:r>
            <a:r>
              <a:rPr sz="2000" dirty="0">
                <a:latin typeface="Arial"/>
                <a:cs typeface="Arial"/>
              </a:rPr>
              <a:t>close to </a:t>
            </a:r>
            <a:r>
              <a:rPr sz="2000" spc="-5" dirty="0">
                <a:latin typeface="Arial"/>
                <a:cs typeface="Arial"/>
              </a:rPr>
              <a:t>the </a:t>
            </a:r>
            <a:r>
              <a:rPr sz="2000" dirty="0">
                <a:latin typeface="Arial"/>
                <a:cs typeface="Arial"/>
              </a:rPr>
              <a:t>company and </a:t>
            </a:r>
            <a:r>
              <a:rPr sz="2000" spc="-5" dirty="0">
                <a:latin typeface="Arial"/>
                <a:cs typeface="Arial"/>
              </a:rPr>
              <a:t>affects its ability </a:t>
            </a:r>
            <a:r>
              <a:rPr sz="2000" dirty="0">
                <a:latin typeface="Arial"/>
                <a:cs typeface="Arial"/>
              </a:rPr>
              <a:t>to </a:t>
            </a:r>
            <a:r>
              <a:rPr sz="2000" spc="-5" dirty="0">
                <a:latin typeface="Arial"/>
                <a:cs typeface="Arial"/>
              </a:rPr>
              <a:t>work  constitutes </a:t>
            </a:r>
            <a:r>
              <a:rPr sz="2000" dirty="0">
                <a:latin typeface="Arial"/>
                <a:cs typeface="Arial"/>
              </a:rPr>
              <a:t>micro </a:t>
            </a:r>
            <a:r>
              <a:rPr sz="2000" spc="-5" dirty="0">
                <a:latin typeface="Arial"/>
                <a:cs typeface="Arial"/>
              </a:rPr>
              <a:t>environment. It </a:t>
            </a:r>
            <a:r>
              <a:rPr sz="2000" dirty="0">
                <a:latin typeface="Arial"/>
                <a:cs typeface="Arial"/>
              </a:rPr>
              <a:t>is </a:t>
            </a:r>
            <a:r>
              <a:rPr sz="2000" spc="-5" dirty="0">
                <a:latin typeface="Arial"/>
                <a:cs typeface="Arial"/>
              </a:rPr>
              <a:t>known as the operating </a:t>
            </a:r>
            <a:r>
              <a:rPr sz="2000" dirty="0">
                <a:latin typeface="Arial"/>
                <a:cs typeface="Arial"/>
              </a:rPr>
              <a:t>environment  </a:t>
            </a:r>
            <a:r>
              <a:rPr sz="2000" spc="-5" dirty="0">
                <a:latin typeface="Arial"/>
                <a:cs typeface="Arial"/>
              </a:rPr>
              <a:t>of</a:t>
            </a:r>
            <a:r>
              <a:rPr sz="2000" spc="-10" dirty="0">
                <a:latin typeface="Arial"/>
                <a:cs typeface="Arial"/>
              </a:rPr>
              <a:t> </a:t>
            </a:r>
            <a:r>
              <a:rPr sz="2000" dirty="0">
                <a:latin typeface="Arial"/>
                <a:cs typeface="Arial"/>
              </a:rPr>
              <a:t>business.</a:t>
            </a:r>
            <a:endParaRPr sz="2000">
              <a:latin typeface="Arial"/>
              <a:cs typeface="Arial"/>
            </a:endParaRPr>
          </a:p>
          <a:p>
            <a:pPr marL="12700" marR="39370">
              <a:lnSpc>
                <a:spcPct val="100000"/>
              </a:lnSpc>
              <a:spcBef>
                <a:spcPts val="500"/>
              </a:spcBef>
            </a:pPr>
            <a:r>
              <a:rPr sz="2000" spc="-5" dirty="0">
                <a:latin typeface="Arial"/>
                <a:cs typeface="Arial"/>
              </a:rPr>
              <a:t>When </a:t>
            </a:r>
            <a:r>
              <a:rPr sz="2000" dirty="0">
                <a:latin typeface="Arial"/>
                <a:cs typeface="Arial"/>
              </a:rPr>
              <a:t>competing form </a:t>
            </a:r>
            <a:r>
              <a:rPr sz="2000" spc="-5" dirty="0">
                <a:latin typeface="Arial"/>
                <a:cs typeface="Arial"/>
              </a:rPr>
              <a:t>in the </a:t>
            </a:r>
            <a:r>
              <a:rPr sz="2000" dirty="0">
                <a:latin typeface="Arial"/>
                <a:cs typeface="Arial"/>
              </a:rPr>
              <a:t>industry </a:t>
            </a:r>
            <a:r>
              <a:rPr sz="2000" spc="-5" dirty="0">
                <a:latin typeface="Arial"/>
                <a:cs typeface="Arial"/>
              </a:rPr>
              <a:t>have the </a:t>
            </a:r>
            <a:r>
              <a:rPr sz="2000" dirty="0">
                <a:latin typeface="Arial"/>
                <a:cs typeface="Arial"/>
              </a:rPr>
              <a:t>same micro </a:t>
            </a:r>
            <a:r>
              <a:rPr sz="2000" spc="-5" dirty="0">
                <a:latin typeface="Arial"/>
                <a:cs typeface="Arial"/>
              </a:rPr>
              <a:t>elements,  the </a:t>
            </a:r>
            <a:r>
              <a:rPr sz="2000" dirty="0">
                <a:latin typeface="Arial"/>
                <a:cs typeface="Arial"/>
              </a:rPr>
              <a:t>success </a:t>
            </a:r>
            <a:r>
              <a:rPr sz="2000" spc="-5" dirty="0">
                <a:latin typeface="Arial"/>
                <a:cs typeface="Arial"/>
              </a:rPr>
              <a:t>of the firm </a:t>
            </a:r>
            <a:r>
              <a:rPr sz="2000" dirty="0">
                <a:latin typeface="Arial"/>
                <a:cs typeface="Arial"/>
              </a:rPr>
              <a:t>depends </a:t>
            </a:r>
            <a:r>
              <a:rPr sz="2000" spc="-5" dirty="0">
                <a:latin typeface="Arial"/>
                <a:cs typeface="Arial"/>
              </a:rPr>
              <a:t>on their relative effectiveness </a:t>
            </a:r>
            <a:r>
              <a:rPr sz="2000" dirty="0">
                <a:latin typeface="Arial"/>
                <a:cs typeface="Arial"/>
              </a:rPr>
              <a:t>in dealing  </a:t>
            </a:r>
            <a:r>
              <a:rPr sz="2000" spc="-10" dirty="0">
                <a:latin typeface="Arial"/>
                <a:cs typeface="Arial"/>
              </a:rPr>
              <a:t>with </a:t>
            </a:r>
            <a:r>
              <a:rPr sz="2000" spc="-5" dirty="0">
                <a:latin typeface="Arial"/>
                <a:cs typeface="Arial"/>
              </a:rPr>
              <a:t>these</a:t>
            </a:r>
            <a:r>
              <a:rPr sz="2000" spc="5" dirty="0">
                <a:latin typeface="Arial"/>
                <a:cs typeface="Arial"/>
              </a:rPr>
              <a:t> </a:t>
            </a:r>
            <a:r>
              <a:rPr sz="2000" spc="-5" dirty="0">
                <a:latin typeface="Arial"/>
                <a:cs typeface="Arial"/>
              </a:rPr>
              <a:t>elements.</a:t>
            </a:r>
            <a:endParaRPr sz="2000">
              <a:latin typeface="Arial"/>
              <a:cs typeface="Arial"/>
            </a:endParaRPr>
          </a:p>
          <a:p>
            <a:pPr marL="12700">
              <a:lnSpc>
                <a:spcPct val="100000"/>
              </a:lnSpc>
              <a:spcBef>
                <a:spcPts val="500"/>
              </a:spcBef>
            </a:pPr>
            <a:r>
              <a:rPr sz="2000" b="1" spc="-5" dirty="0">
                <a:latin typeface="Arial"/>
                <a:cs typeface="Arial"/>
              </a:rPr>
              <a:t>Suppliers:</a:t>
            </a:r>
            <a:endParaRPr sz="2000">
              <a:latin typeface="Arial"/>
              <a:cs typeface="Arial"/>
            </a:endParaRPr>
          </a:p>
          <a:p>
            <a:pPr marL="12700" marR="743585">
              <a:lnSpc>
                <a:spcPct val="100000"/>
              </a:lnSpc>
              <a:spcBef>
                <a:spcPts val="500"/>
              </a:spcBef>
            </a:pPr>
            <a:r>
              <a:rPr sz="2000" spc="-5" dirty="0">
                <a:latin typeface="Arial"/>
                <a:cs typeface="Arial"/>
              </a:rPr>
              <a:t>Suppliers </a:t>
            </a:r>
            <a:r>
              <a:rPr sz="2000" dirty="0">
                <a:latin typeface="Arial"/>
                <a:cs typeface="Arial"/>
              </a:rPr>
              <a:t>are </a:t>
            </a:r>
            <a:r>
              <a:rPr sz="2000" spc="-5" dirty="0">
                <a:latin typeface="Arial"/>
                <a:cs typeface="Arial"/>
              </a:rPr>
              <a:t>those </a:t>
            </a:r>
            <a:r>
              <a:rPr sz="2000" spc="-10" dirty="0">
                <a:latin typeface="Arial"/>
                <a:cs typeface="Arial"/>
              </a:rPr>
              <a:t>who </a:t>
            </a:r>
            <a:r>
              <a:rPr sz="2000" dirty="0">
                <a:latin typeface="Arial"/>
                <a:cs typeface="Arial"/>
              </a:rPr>
              <a:t>supply </a:t>
            </a:r>
            <a:r>
              <a:rPr sz="2000" spc="-5" dirty="0">
                <a:latin typeface="Arial"/>
                <a:cs typeface="Arial"/>
              </a:rPr>
              <a:t>the inputs </a:t>
            </a:r>
            <a:r>
              <a:rPr sz="2000" dirty="0">
                <a:latin typeface="Arial"/>
                <a:cs typeface="Arial"/>
              </a:rPr>
              <a:t>like raw </a:t>
            </a:r>
            <a:r>
              <a:rPr sz="2000" spc="-5" dirty="0">
                <a:latin typeface="Arial"/>
                <a:cs typeface="Arial"/>
              </a:rPr>
              <a:t>material </a:t>
            </a:r>
            <a:r>
              <a:rPr sz="2000" dirty="0">
                <a:latin typeface="Arial"/>
                <a:cs typeface="Arial"/>
              </a:rPr>
              <a:t>and  </a:t>
            </a:r>
            <a:r>
              <a:rPr sz="2000" spc="-5" dirty="0">
                <a:latin typeface="Arial"/>
                <a:cs typeface="Arial"/>
              </a:rPr>
              <a:t>components to the company. Uncertainties </a:t>
            </a:r>
            <a:r>
              <a:rPr sz="2000" dirty="0">
                <a:latin typeface="Arial"/>
                <a:cs typeface="Arial"/>
              </a:rPr>
              <a:t>regarding </a:t>
            </a:r>
            <a:r>
              <a:rPr sz="2000" spc="-5" dirty="0">
                <a:latin typeface="Arial"/>
                <a:cs typeface="Arial"/>
              </a:rPr>
              <a:t>the </a:t>
            </a:r>
            <a:r>
              <a:rPr sz="2000" dirty="0">
                <a:latin typeface="Arial"/>
                <a:cs typeface="Arial"/>
              </a:rPr>
              <a:t>supply  </a:t>
            </a:r>
            <a:r>
              <a:rPr sz="2000" spc="-5" dirty="0">
                <a:latin typeface="Arial"/>
                <a:cs typeface="Arial"/>
              </a:rPr>
              <a:t>constraints the </a:t>
            </a:r>
            <a:r>
              <a:rPr sz="2000" dirty="0">
                <a:latin typeface="Arial"/>
                <a:cs typeface="Arial"/>
              </a:rPr>
              <a:t>company </a:t>
            </a:r>
            <a:r>
              <a:rPr sz="2000" spc="-5" dirty="0">
                <a:latin typeface="Arial"/>
                <a:cs typeface="Arial"/>
              </a:rPr>
              <a:t>to maintain </a:t>
            </a:r>
            <a:r>
              <a:rPr sz="2000" dirty="0">
                <a:latin typeface="Arial"/>
                <a:cs typeface="Arial"/>
              </a:rPr>
              <a:t>high </a:t>
            </a:r>
            <a:r>
              <a:rPr sz="2000" spc="-5" dirty="0">
                <a:latin typeface="Arial"/>
                <a:cs typeface="Arial"/>
              </a:rPr>
              <a:t>inventories </a:t>
            </a:r>
            <a:r>
              <a:rPr sz="2000" dirty="0">
                <a:latin typeface="Arial"/>
                <a:cs typeface="Arial"/>
              </a:rPr>
              <a:t>causing cost  increase.</a:t>
            </a:r>
            <a:endParaRPr sz="2000">
              <a:latin typeface="Arial"/>
              <a:cs typeface="Arial"/>
            </a:endParaRPr>
          </a:p>
          <a:p>
            <a:pPr marL="12700">
              <a:lnSpc>
                <a:spcPct val="100000"/>
              </a:lnSpc>
              <a:spcBef>
                <a:spcPts val="500"/>
              </a:spcBef>
            </a:pPr>
            <a:r>
              <a:rPr sz="2000" b="1" spc="-5" dirty="0">
                <a:latin typeface="Arial"/>
                <a:cs typeface="Arial"/>
              </a:rPr>
              <a:t>Customers:</a:t>
            </a:r>
            <a:endParaRPr sz="2000">
              <a:latin typeface="Arial"/>
              <a:cs typeface="Arial"/>
            </a:endParaRPr>
          </a:p>
          <a:p>
            <a:pPr marL="12700" marR="181610">
              <a:lnSpc>
                <a:spcPct val="100000"/>
              </a:lnSpc>
              <a:spcBef>
                <a:spcPts val="500"/>
              </a:spcBef>
            </a:pPr>
            <a:r>
              <a:rPr sz="2000" dirty="0">
                <a:latin typeface="Arial"/>
                <a:cs typeface="Arial"/>
              </a:rPr>
              <a:t>Success of any business depends </a:t>
            </a:r>
            <a:r>
              <a:rPr sz="2000" spc="-5" dirty="0">
                <a:latin typeface="Arial"/>
                <a:cs typeface="Arial"/>
              </a:rPr>
              <a:t>upon identifying </a:t>
            </a:r>
            <a:r>
              <a:rPr sz="2000" dirty="0">
                <a:latin typeface="Arial"/>
                <a:cs typeface="Arial"/>
              </a:rPr>
              <a:t>customers, </a:t>
            </a:r>
            <a:r>
              <a:rPr sz="2000" spc="-5" dirty="0">
                <a:latin typeface="Arial"/>
                <a:cs typeface="Arial"/>
              </a:rPr>
              <a:t>their  </a:t>
            </a:r>
            <a:r>
              <a:rPr sz="2000" dirty="0">
                <a:latin typeface="Arial"/>
                <a:cs typeface="Arial"/>
              </a:rPr>
              <a:t>needs, </a:t>
            </a:r>
            <a:r>
              <a:rPr sz="2000" spc="-5" dirty="0">
                <a:latin typeface="Arial"/>
                <a:cs typeface="Arial"/>
              </a:rPr>
              <a:t>likes etc., </a:t>
            </a:r>
            <a:r>
              <a:rPr sz="2000" dirty="0">
                <a:latin typeface="Arial"/>
                <a:cs typeface="Arial"/>
              </a:rPr>
              <a:t>and enhancing </a:t>
            </a:r>
            <a:r>
              <a:rPr sz="2000" spc="-5" dirty="0">
                <a:latin typeface="Arial"/>
                <a:cs typeface="Arial"/>
              </a:rPr>
              <a:t>the level of </a:t>
            </a:r>
            <a:r>
              <a:rPr sz="2000" dirty="0">
                <a:latin typeface="Arial"/>
                <a:cs typeface="Arial"/>
              </a:rPr>
              <a:t>customer </a:t>
            </a:r>
            <a:r>
              <a:rPr sz="2000" spc="-5" dirty="0">
                <a:latin typeface="Arial"/>
                <a:cs typeface="Arial"/>
              </a:rPr>
              <a:t>satisfaction. The  major </a:t>
            </a:r>
            <a:r>
              <a:rPr sz="2000" dirty="0">
                <a:latin typeface="Arial"/>
                <a:cs typeface="Arial"/>
              </a:rPr>
              <a:t>task of a business is </a:t>
            </a:r>
            <a:r>
              <a:rPr sz="2000" spc="-5" dirty="0">
                <a:latin typeface="Arial"/>
                <a:cs typeface="Arial"/>
              </a:rPr>
              <a:t>to create </a:t>
            </a:r>
            <a:r>
              <a:rPr sz="2000" dirty="0">
                <a:latin typeface="Arial"/>
                <a:cs typeface="Arial"/>
              </a:rPr>
              <a:t>and </a:t>
            </a:r>
            <a:r>
              <a:rPr sz="2000" spc="-5" dirty="0">
                <a:latin typeface="Arial"/>
                <a:cs typeface="Arial"/>
              </a:rPr>
              <a:t>sustain</a:t>
            </a:r>
            <a:r>
              <a:rPr sz="2000" spc="-10" dirty="0">
                <a:latin typeface="Arial"/>
                <a:cs typeface="Arial"/>
              </a:rPr>
              <a:t> </a:t>
            </a:r>
            <a:r>
              <a:rPr sz="2000" dirty="0">
                <a:latin typeface="Arial"/>
                <a:cs typeface="Arial"/>
              </a:rPr>
              <a:t>customers.</a:t>
            </a:r>
            <a:endParaRPr sz="2000">
              <a:latin typeface="Arial"/>
              <a:cs typeface="Arial"/>
            </a:endParaRPr>
          </a:p>
        </p:txBody>
      </p:sp>
      <p:sp>
        <p:nvSpPr>
          <p:cNvPr id="4" name="object 4"/>
          <p:cNvSpPr txBox="1"/>
          <p:nvPr/>
        </p:nvSpPr>
        <p:spPr>
          <a:xfrm>
            <a:off x="77469" y="30162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5" name="object 5"/>
          <p:cNvSpPr txBox="1"/>
          <p:nvPr/>
        </p:nvSpPr>
        <p:spPr>
          <a:xfrm>
            <a:off x="77469" y="466852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7469" y="66167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420369" y="643890"/>
            <a:ext cx="160782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Competitors:</a:t>
            </a:r>
            <a:endParaRPr sz="2000">
              <a:latin typeface="Arial"/>
              <a:cs typeface="Arial"/>
            </a:endParaRPr>
          </a:p>
        </p:txBody>
      </p:sp>
      <p:sp>
        <p:nvSpPr>
          <p:cNvPr id="4" name="object 4"/>
          <p:cNvSpPr txBox="1"/>
          <p:nvPr/>
        </p:nvSpPr>
        <p:spPr>
          <a:xfrm>
            <a:off x="420369" y="1012190"/>
            <a:ext cx="7953375" cy="1244600"/>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Arial"/>
                <a:cs typeface="Arial"/>
              </a:rPr>
              <a:t>Competitors </a:t>
            </a:r>
            <a:r>
              <a:rPr sz="2000" dirty="0">
                <a:latin typeface="Arial"/>
                <a:cs typeface="Arial"/>
              </a:rPr>
              <a:t>mans </a:t>
            </a:r>
            <a:r>
              <a:rPr sz="2000" spc="-5" dirty="0">
                <a:latin typeface="Arial"/>
                <a:cs typeface="Arial"/>
              </a:rPr>
              <a:t>other </a:t>
            </a:r>
            <a:r>
              <a:rPr sz="2000" dirty="0">
                <a:latin typeface="Arial"/>
                <a:cs typeface="Arial"/>
              </a:rPr>
              <a:t>business </a:t>
            </a:r>
            <a:r>
              <a:rPr sz="2000" spc="-5" dirty="0">
                <a:latin typeface="Arial"/>
                <a:cs typeface="Arial"/>
              </a:rPr>
              <a:t>units which </a:t>
            </a:r>
            <a:r>
              <a:rPr sz="2000" dirty="0">
                <a:latin typeface="Arial"/>
                <a:cs typeface="Arial"/>
              </a:rPr>
              <a:t>are </a:t>
            </a:r>
            <a:r>
              <a:rPr sz="2000" spc="-5" dirty="0">
                <a:latin typeface="Arial"/>
                <a:cs typeface="Arial"/>
              </a:rPr>
              <a:t>marketing or  </a:t>
            </a:r>
            <a:r>
              <a:rPr sz="2000" dirty="0">
                <a:latin typeface="Arial"/>
                <a:cs typeface="Arial"/>
              </a:rPr>
              <a:t>producing </a:t>
            </a:r>
            <a:r>
              <a:rPr sz="2000" spc="-5" dirty="0">
                <a:latin typeface="Arial"/>
                <a:cs typeface="Arial"/>
              </a:rPr>
              <a:t>similar products </a:t>
            </a:r>
            <a:r>
              <a:rPr sz="2000" dirty="0">
                <a:latin typeface="Arial"/>
                <a:cs typeface="Arial"/>
              </a:rPr>
              <a:t>or a </a:t>
            </a:r>
            <a:r>
              <a:rPr sz="2000" spc="-5" dirty="0">
                <a:latin typeface="Arial"/>
                <a:cs typeface="Arial"/>
              </a:rPr>
              <a:t>very </a:t>
            </a:r>
            <a:r>
              <a:rPr sz="2000" dirty="0">
                <a:latin typeface="Arial"/>
                <a:cs typeface="Arial"/>
              </a:rPr>
              <a:t>close </a:t>
            </a:r>
            <a:r>
              <a:rPr sz="2000" spc="-5" dirty="0">
                <a:latin typeface="Arial"/>
                <a:cs typeface="Arial"/>
              </a:rPr>
              <a:t>substitute </a:t>
            </a:r>
            <a:r>
              <a:rPr sz="2000" dirty="0">
                <a:latin typeface="Arial"/>
                <a:cs typeface="Arial"/>
              </a:rPr>
              <a:t>of our product.  Business has </a:t>
            </a:r>
            <a:r>
              <a:rPr sz="2000" spc="-5" dirty="0">
                <a:latin typeface="Arial"/>
                <a:cs typeface="Arial"/>
              </a:rPr>
              <a:t>to </a:t>
            </a:r>
            <a:r>
              <a:rPr sz="2000" dirty="0">
                <a:latin typeface="Arial"/>
                <a:cs typeface="Arial"/>
              </a:rPr>
              <a:t>adjust </a:t>
            </a:r>
            <a:r>
              <a:rPr sz="2000" spc="-5" dirty="0">
                <a:latin typeface="Arial"/>
                <a:cs typeface="Arial"/>
              </a:rPr>
              <a:t>its various activities </a:t>
            </a:r>
            <a:r>
              <a:rPr sz="2000" dirty="0">
                <a:latin typeface="Arial"/>
                <a:cs typeface="Arial"/>
              </a:rPr>
              <a:t>according to </a:t>
            </a:r>
            <a:r>
              <a:rPr sz="2000" spc="-5" dirty="0">
                <a:latin typeface="Arial"/>
                <a:cs typeface="Arial"/>
              </a:rPr>
              <a:t>the </a:t>
            </a:r>
            <a:r>
              <a:rPr sz="2000" dirty="0">
                <a:latin typeface="Arial"/>
                <a:cs typeface="Arial"/>
              </a:rPr>
              <a:t>action and  reactions </a:t>
            </a:r>
            <a:r>
              <a:rPr sz="2000" spc="-5" dirty="0">
                <a:latin typeface="Arial"/>
                <a:cs typeface="Arial"/>
              </a:rPr>
              <a:t>of</a:t>
            </a:r>
            <a:r>
              <a:rPr sz="2000" spc="-10" dirty="0">
                <a:latin typeface="Arial"/>
                <a:cs typeface="Arial"/>
              </a:rPr>
              <a:t> </a:t>
            </a:r>
            <a:r>
              <a:rPr sz="2000" spc="-5" dirty="0">
                <a:latin typeface="Arial"/>
                <a:cs typeface="Arial"/>
              </a:rPr>
              <a:t>competitors.</a:t>
            </a:r>
            <a:endParaRPr sz="2000">
              <a:latin typeface="Arial"/>
              <a:cs typeface="Arial"/>
            </a:endParaRPr>
          </a:p>
        </p:txBody>
      </p:sp>
      <p:sp>
        <p:nvSpPr>
          <p:cNvPr id="5" name="object 5"/>
          <p:cNvSpPr txBox="1"/>
          <p:nvPr/>
        </p:nvSpPr>
        <p:spPr>
          <a:xfrm>
            <a:off x="77469" y="26822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420369" y="2599690"/>
            <a:ext cx="8115300" cy="1371600"/>
          </a:xfrm>
          <a:prstGeom prst="rect">
            <a:avLst/>
          </a:prstGeom>
        </p:spPr>
        <p:txBody>
          <a:bodyPr vert="horz" wrap="square" lIns="0" tIns="76200" rIns="0" bIns="0" rtlCol="0">
            <a:spAutoFit/>
          </a:bodyPr>
          <a:lstStyle/>
          <a:p>
            <a:pPr marL="12700">
              <a:lnSpc>
                <a:spcPct val="100000"/>
              </a:lnSpc>
              <a:spcBef>
                <a:spcPts val="600"/>
              </a:spcBef>
            </a:pPr>
            <a:r>
              <a:rPr sz="2000" b="1" dirty="0">
                <a:latin typeface="Arial"/>
                <a:cs typeface="Arial"/>
              </a:rPr>
              <a:t>Marketing</a:t>
            </a:r>
            <a:r>
              <a:rPr sz="2000" b="1" spc="-15" dirty="0">
                <a:latin typeface="Arial"/>
                <a:cs typeface="Arial"/>
              </a:rPr>
              <a:t> </a:t>
            </a:r>
            <a:r>
              <a:rPr sz="2000" b="1" spc="-5" dirty="0">
                <a:latin typeface="Arial"/>
                <a:cs typeface="Arial"/>
              </a:rPr>
              <a:t>Intermediaries:</a:t>
            </a:r>
            <a:endParaRPr sz="2000">
              <a:latin typeface="Arial"/>
              <a:cs typeface="Arial"/>
            </a:endParaRPr>
          </a:p>
          <a:p>
            <a:pPr marL="12700" marR="5080">
              <a:lnSpc>
                <a:spcPct val="100000"/>
              </a:lnSpc>
              <a:spcBef>
                <a:spcPts val="500"/>
              </a:spcBef>
            </a:pPr>
            <a:r>
              <a:rPr sz="2000" spc="-5" dirty="0">
                <a:latin typeface="Arial"/>
                <a:cs typeface="Arial"/>
              </a:rPr>
              <a:t>These </a:t>
            </a:r>
            <a:r>
              <a:rPr sz="2000" dirty="0">
                <a:latin typeface="Arial"/>
                <a:cs typeface="Arial"/>
              </a:rPr>
              <a:t>are </a:t>
            </a:r>
            <a:r>
              <a:rPr sz="2000" spc="-5" dirty="0">
                <a:latin typeface="Arial"/>
                <a:cs typeface="Arial"/>
              </a:rPr>
              <a:t>the firms that </a:t>
            </a:r>
            <a:r>
              <a:rPr sz="2000" dirty="0">
                <a:latin typeface="Arial"/>
                <a:cs typeface="Arial"/>
              </a:rPr>
              <a:t>aid </a:t>
            </a:r>
            <a:r>
              <a:rPr sz="2000" spc="-5" dirty="0">
                <a:latin typeface="Arial"/>
                <a:cs typeface="Arial"/>
              </a:rPr>
              <a:t>the </a:t>
            </a:r>
            <a:r>
              <a:rPr sz="2000" dirty="0">
                <a:latin typeface="Arial"/>
                <a:cs typeface="Arial"/>
              </a:rPr>
              <a:t>company </a:t>
            </a:r>
            <a:r>
              <a:rPr sz="2000" spc="-5" dirty="0">
                <a:latin typeface="Arial"/>
                <a:cs typeface="Arial"/>
              </a:rPr>
              <a:t>in promoting </a:t>
            </a:r>
            <a:r>
              <a:rPr sz="2000" dirty="0">
                <a:latin typeface="Arial"/>
                <a:cs typeface="Arial"/>
              </a:rPr>
              <a:t>, </a:t>
            </a:r>
            <a:r>
              <a:rPr sz="2000" spc="-5" dirty="0">
                <a:latin typeface="Arial"/>
                <a:cs typeface="Arial"/>
              </a:rPr>
              <a:t>selling </a:t>
            </a:r>
            <a:r>
              <a:rPr sz="2000" dirty="0">
                <a:latin typeface="Arial"/>
                <a:cs typeface="Arial"/>
              </a:rPr>
              <a:t>and  </a:t>
            </a:r>
            <a:r>
              <a:rPr sz="2000" spc="-5" dirty="0">
                <a:latin typeface="Arial"/>
                <a:cs typeface="Arial"/>
              </a:rPr>
              <a:t>distributing its </a:t>
            </a:r>
            <a:r>
              <a:rPr sz="2000" dirty="0">
                <a:latin typeface="Arial"/>
                <a:cs typeface="Arial"/>
              </a:rPr>
              <a:t>goods to </a:t>
            </a:r>
            <a:r>
              <a:rPr sz="2000" spc="-5" dirty="0">
                <a:latin typeface="Arial"/>
                <a:cs typeface="Arial"/>
              </a:rPr>
              <a:t>final </a:t>
            </a:r>
            <a:r>
              <a:rPr sz="2000" dirty="0">
                <a:latin typeface="Arial"/>
                <a:cs typeface="Arial"/>
              </a:rPr>
              <a:t>buyers. </a:t>
            </a:r>
            <a:r>
              <a:rPr sz="2000" spc="-5" dirty="0">
                <a:latin typeface="Arial"/>
                <a:cs typeface="Arial"/>
              </a:rPr>
              <a:t>They </a:t>
            </a:r>
            <a:r>
              <a:rPr sz="2000" dirty="0">
                <a:latin typeface="Arial"/>
                <a:cs typeface="Arial"/>
              </a:rPr>
              <a:t>are </a:t>
            </a:r>
            <a:r>
              <a:rPr sz="2000" spc="-5" dirty="0">
                <a:latin typeface="Arial"/>
                <a:cs typeface="Arial"/>
              </a:rPr>
              <a:t>the vital </a:t>
            </a:r>
            <a:r>
              <a:rPr sz="2000" dirty="0">
                <a:latin typeface="Arial"/>
                <a:cs typeface="Arial"/>
              </a:rPr>
              <a:t>links </a:t>
            </a:r>
            <a:r>
              <a:rPr sz="2000" spc="-5" dirty="0">
                <a:latin typeface="Arial"/>
                <a:cs typeface="Arial"/>
              </a:rPr>
              <a:t>between the  </a:t>
            </a:r>
            <a:r>
              <a:rPr sz="2000" dirty="0">
                <a:latin typeface="Arial"/>
                <a:cs typeface="Arial"/>
              </a:rPr>
              <a:t>company and </a:t>
            </a:r>
            <a:r>
              <a:rPr sz="2000" spc="-5" dirty="0">
                <a:latin typeface="Arial"/>
                <a:cs typeface="Arial"/>
              </a:rPr>
              <a:t>the final</a:t>
            </a:r>
            <a:r>
              <a:rPr sz="2000" spc="-15" dirty="0">
                <a:latin typeface="Arial"/>
                <a:cs typeface="Arial"/>
              </a:rPr>
              <a:t> </a:t>
            </a:r>
            <a:r>
              <a:rPr sz="2000" dirty="0">
                <a:latin typeface="Arial"/>
                <a:cs typeface="Arial"/>
              </a:rPr>
              <a:t>consumers.</a:t>
            </a:r>
            <a:endParaRPr sz="2000">
              <a:latin typeface="Arial"/>
              <a:cs typeface="Arial"/>
            </a:endParaRPr>
          </a:p>
        </p:txBody>
      </p:sp>
      <p:sp>
        <p:nvSpPr>
          <p:cNvPr id="7" name="object 7"/>
          <p:cNvSpPr txBox="1"/>
          <p:nvPr/>
        </p:nvSpPr>
        <p:spPr>
          <a:xfrm>
            <a:off x="77469" y="4314190"/>
            <a:ext cx="8489950" cy="1739900"/>
          </a:xfrm>
          <a:prstGeom prst="rect">
            <a:avLst/>
          </a:prstGeom>
        </p:spPr>
        <p:txBody>
          <a:bodyPr vert="horz" wrap="square" lIns="0" tIns="76200" rIns="0" bIns="0" rtlCol="0">
            <a:spAutoFit/>
          </a:bodyPr>
          <a:lstStyle/>
          <a:p>
            <a:pPr marL="12700">
              <a:lnSpc>
                <a:spcPct val="100000"/>
              </a:lnSpc>
              <a:spcBef>
                <a:spcPts val="600"/>
              </a:spcBef>
            </a:pPr>
            <a:r>
              <a:rPr lang="en-IN" sz="2000" b="1" spc="-5" dirty="0" smtClean="0">
                <a:latin typeface="Arial"/>
                <a:cs typeface="Arial"/>
              </a:rPr>
              <a:t>     </a:t>
            </a:r>
            <a:r>
              <a:rPr sz="2000" b="1" spc="-5" smtClean="0">
                <a:latin typeface="Arial"/>
                <a:cs typeface="Arial"/>
              </a:rPr>
              <a:t>Public</a:t>
            </a:r>
            <a:r>
              <a:rPr sz="2000" b="1" spc="-5" dirty="0">
                <a:latin typeface="Arial"/>
                <a:cs typeface="Arial"/>
              </a:rPr>
              <a:t>:</a:t>
            </a:r>
            <a:endParaRPr sz="2000" b="1">
              <a:latin typeface="Arial"/>
              <a:cs typeface="Arial"/>
            </a:endParaRPr>
          </a:p>
          <a:p>
            <a:pPr marL="355600" marR="5080">
              <a:lnSpc>
                <a:spcPct val="100000"/>
              </a:lnSpc>
              <a:spcBef>
                <a:spcPts val="500"/>
              </a:spcBef>
              <a:tabLst>
                <a:tab pos="3829050" algn="l"/>
              </a:tabLst>
            </a:pPr>
            <a:r>
              <a:rPr sz="2000" dirty="0">
                <a:latin typeface="Arial"/>
                <a:cs typeface="Arial"/>
              </a:rPr>
              <a:t>A public </a:t>
            </a:r>
            <a:r>
              <a:rPr sz="2000" spc="-5" dirty="0">
                <a:latin typeface="Arial"/>
                <a:cs typeface="Arial"/>
              </a:rPr>
              <a:t>is </a:t>
            </a:r>
            <a:r>
              <a:rPr sz="2000" dirty="0">
                <a:latin typeface="Arial"/>
                <a:cs typeface="Arial"/>
              </a:rPr>
              <a:t>any group</a:t>
            </a:r>
            <a:r>
              <a:rPr sz="2000" spc="-5" dirty="0">
                <a:latin typeface="Arial"/>
                <a:cs typeface="Arial"/>
              </a:rPr>
              <a:t> that </a:t>
            </a:r>
            <a:r>
              <a:rPr sz="2000" dirty="0">
                <a:latin typeface="Arial"/>
                <a:cs typeface="Arial"/>
              </a:rPr>
              <a:t>has	an </a:t>
            </a:r>
            <a:r>
              <a:rPr sz="2000" spc="-5" dirty="0">
                <a:latin typeface="Arial"/>
                <a:cs typeface="Arial"/>
              </a:rPr>
              <a:t>actual or potential </a:t>
            </a:r>
            <a:r>
              <a:rPr sz="2000" dirty="0">
                <a:latin typeface="Arial"/>
                <a:cs typeface="Arial"/>
              </a:rPr>
              <a:t>interest </a:t>
            </a:r>
            <a:r>
              <a:rPr sz="2000" spc="-5" dirty="0">
                <a:latin typeface="Arial"/>
                <a:cs typeface="Arial"/>
              </a:rPr>
              <a:t>in </a:t>
            </a:r>
            <a:r>
              <a:rPr sz="2000" dirty="0">
                <a:latin typeface="Arial"/>
                <a:cs typeface="Arial"/>
              </a:rPr>
              <a:t>or impact  </a:t>
            </a:r>
            <a:r>
              <a:rPr sz="2000" spc="-5" dirty="0">
                <a:latin typeface="Arial"/>
                <a:cs typeface="Arial"/>
              </a:rPr>
              <a:t>on </a:t>
            </a:r>
            <a:r>
              <a:rPr sz="2000" dirty="0">
                <a:latin typeface="Arial"/>
                <a:cs typeface="Arial"/>
              </a:rPr>
              <a:t>an organization's </a:t>
            </a:r>
            <a:r>
              <a:rPr sz="2000" spc="-5" dirty="0">
                <a:latin typeface="Arial"/>
                <a:cs typeface="Arial"/>
              </a:rPr>
              <a:t>ability to achieve its interest. Some </a:t>
            </a:r>
            <a:r>
              <a:rPr sz="2000" dirty="0">
                <a:latin typeface="Arial"/>
                <a:cs typeface="Arial"/>
              </a:rPr>
              <a:t>companies are  seriously </a:t>
            </a:r>
            <a:r>
              <a:rPr sz="2000" spc="-5" dirty="0">
                <a:latin typeface="Arial"/>
                <a:cs typeface="Arial"/>
              </a:rPr>
              <a:t>affected </a:t>
            </a:r>
            <a:r>
              <a:rPr sz="2000" dirty="0">
                <a:latin typeface="Arial"/>
                <a:cs typeface="Arial"/>
              </a:rPr>
              <a:t>by such</a:t>
            </a:r>
            <a:r>
              <a:rPr sz="2000" spc="-40" dirty="0">
                <a:latin typeface="Arial"/>
                <a:cs typeface="Arial"/>
              </a:rPr>
              <a:t> </a:t>
            </a:r>
            <a:r>
              <a:rPr sz="2000" dirty="0">
                <a:latin typeface="Arial"/>
                <a:cs typeface="Arial"/>
              </a:rPr>
              <a:t>public.</a:t>
            </a:r>
            <a:endParaRPr sz="2000">
              <a:latin typeface="Arial"/>
              <a:cs typeface="Arial"/>
            </a:endParaRPr>
          </a:p>
          <a:p>
            <a:pPr marL="355600">
              <a:lnSpc>
                <a:spcPct val="100000"/>
              </a:lnSpc>
              <a:spcBef>
                <a:spcPts val="500"/>
              </a:spcBef>
            </a:pPr>
            <a:r>
              <a:rPr sz="2000" spc="-5" dirty="0">
                <a:latin typeface="Arial"/>
                <a:cs typeface="Arial"/>
              </a:rPr>
              <a:t>E.g.</a:t>
            </a:r>
            <a:r>
              <a:rPr sz="2000" spc="-20" dirty="0">
                <a:latin typeface="Arial"/>
                <a:cs typeface="Arial"/>
              </a:rPr>
              <a:t> </a:t>
            </a:r>
            <a:r>
              <a:rPr sz="2000" spc="-5" dirty="0">
                <a:latin typeface="Arial"/>
                <a:cs typeface="Arial"/>
              </a:rPr>
              <a:t>Media</a:t>
            </a:r>
            <a:endParaRPr sz="20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30779" y="491490"/>
            <a:ext cx="3820795" cy="513080"/>
          </a:xfrm>
          <a:prstGeom prst="rect">
            <a:avLst/>
          </a:prstGeom>
        </p:spPr>
        <p:txBody>
          <a:bodyPr vert="horz" wrap="square" lIns="0" tIns="12700" rIns="0" bIns="0" rtlCol="0">
            <a:spAutoFit/>
          </a:bodyPr>
          <a:lstStyle/>
          <a:p>
            <a:pPr marL="12700">
              <a:lnSpc>
                <a:spcPct val="100000"/>
              </a:lnSpc>
              <a:spcBef>
                <a:spcPts val="100"/>
              </a:spcBef>
            </a:pPr>
            <a:r>
              <a:rPr b="1" dirty="0">
                <a:latin typeface="Arial"/>
                <a:cs typeface="Arial"/>
              </a:rPr>
              <a:t>Macro</a:t>
            </a:r>
            <a:r>
              <a:rPr b="1" spc="-65" dirty="0">
                <a:latin typeface="Arial"/>
                <a:cs typeface="Arial"/>
              </a:rPr>
              <a:t> </a:t>
            </a:r>
            <a:r>
              <a:rPr b="1" spc="-5" dirty="0">
                <a:latin typeface="Arial"/>
                <a:cs typeface="Arial"/>
              </a:rPr>
              <a:t>Environment</a:t>
            </a:r>
          </a:p>
        </p:txBody>
      </p:sp>
      <p:sp>
        <p:nvSpPr>
          <p:cNvPr id="3" name="object 3"/>
          <p:cNvSpPr txBox="1"/>
          <p:nvPr/>
        </p:nvSpPr>
        <p:spPr>
          <a:xfrm>
            <a:off x="420369" y="1042670"/>
            <a:ext cx="7625715" cy="2349500"/>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Arial"/>
                <a:cs typeface="Arial"/>
              </a:rPr>
              <a:t>Macro environment means </a:t>
            </a:r>
            <a:r>
              <a:rPr sz="2000" dirty="0">
                <a:latin typeface="Arial"/>
                <a:cs typeface="Arial"/>
              </a:rPr>
              <a:t>general </a:t>
            </a:r>
            <a:r>
              <a:rPr sz="2000" spc="-5" dirty="0">
                <a:latin typeface="Arial"/>
                <a:cs typeface="Arial"/>
              </a:rPr>
              <a:t>environment </a:t>
            </a:r>
            <a:r>
              <a:rPr sz="2000" dirty="0">
                <a:latin typeface="Arial"/>
                <a:cs typeface="Arial"/>
              </a:rPr>
              <a:t>of business. </a:t>
            </a:r>
            <a:r>
              <a:rPr sz="2000" spc="-10" dirty="0">
                <a:latin typeface="Arial"/>
                <a:cs typeface="Arial"/>
              </a:rPr>
              <a:t>Macro  </a:t>
            </a:r>
            <a:r>
              <a:rPr sz="2000" dirty="0">
                <a:latin typeface="Arial"/>
                <a:cs typeface="Arial"/>
              </a:rPr>
              <a:t>forces are </a:t>
            </a:r>
            <a:r>
              <a:rPr sz="2000" spc="-5" dirty="0">
                <a:latin typeface="Arial"/>
                <a:cs typeface="Arial"/>
              </a:rPr>
              <a:t>uncontrollable </a:t>
            </a:r>
            <a:r>
              <a:rPr sz="2000" dirty="0">
                <a:latin typeface="Arial"/>
                <a:cs typeface="Arial"/>
              </a:rPr>
              <a:t>in comparison </a:t>
            </a:r>
            <a:r>
              <a:rPr sz="2000" spc="-5" dirty="0">
                <a:latin typeface="Arial"/>
                <a:cs typeface="Arial"/>
              </a:rPr>
              <a:t>to the </a:t>
            </a:r>
            <a:r>
              <a:rPr sz="2000" dirty="0">
                <a:latin typeface="Arial"/>
                <a:cs typeface="Arial"/>
              </a:rPr>
              <a:t>micro forces </a:t>
            </a:r>
            <a:r>
              <a:rPr sz="2000" spc="-5" dirty="0">
                <a:latin typeface="Arial"/>
                <a:cs typeface="Arial"/>
              </a:rPr>
              <a:t>of  environment. The growth </a:t>
            </a:r>
            <a:r>
              <a:rPr sz="2000" dirty="0">
                <a:latin typeface="Arial"/>
                <a:cs typeface="Arial"/>
              </a:rPr>
              <a:t>and survival of business depends upon </a:t>
            </a:r>
            <a:r>
              <a:rPr sz="2000" spc="-5" dirty="0">
                <a:latin typeface="Arial"/>
                <a:cs typeface="Arial"/>
              </a:rPr>
              <a:t>its  adaptability to </a:t>
            </a:r>
            <a:r>
              <a:rPr sz="2000" dirty="0">
                <a:latin typeface="Arial"/>
                <a:cs typeface="Arial"/>
              </a:rPr>
              <a:t>macro </a:t>
            </a:r>
            <a:r>
              <a:rPr sz="2000" spc="-5" dirty="0">
                <a:latin typeface="Arial"/>
                <a:cs typeface="Arial"/>
              </a:rPr>
              <a:t>environmental factors.</a:t>
            </a:r>
            <a:endParaRPr sz="2000">
              <a:latin typeface="Arial"/>
              <a:cs typeface="Arial"/>
            </a:endParaRPr>
          </a:p>
          <a:p>
            <a:pPr marL="12700" marR="3281679">
              <a:lnSpc>
                <a:spcPct val="120800"/>
              </a:lnSpc>
            </a:pPr>
            <a:r>
              <a:rPr sz="2000" spc="-5" dirty="0">
                <a:latin typeface="Arial"/>
                <a:cs typeface="Arial"/>
              </a:rPr>
              <a:t>The important </a:t>
            </a:r>
            <a:r>
              <a:rPr sz="2000" dirty="0">
                <a:latin typeface="Arial"/>
                <a:cs typeface="Arial"/>
              </a:rPr>
              <a:t>macro environment are:  1)Economic</a:t>
            </a:r>
            <a:r>
              <a:rPr sz="2000" spc="5" dirty="0">
                <a:latin typeface="Arial"/>
                <a:cs typeface="Arial"/>
              </a:rPr>
              <a:t> </a:t>
            </a:r>
            <a:r>
              <a:rPr sz="2000" spc="-5" dirty="0">
                <a:latin typeface="Arial"/>
                <a:cs typeface="Arial"/>
              </a:rPr>
              <a:t>Environment</a:t>
            </a:r>
            <a:endParaRPr sz="2000">
              <a:latin typeface="Arial"/>
              <a:cs typeface="Arial"/>
            </a:endParaRPr>
          </a:p>
          <a:p>
            <a:pPr marL="12700">
              <a:lnSpc>
                <a:spcPct val="100000"/>
              </a:lnSpc>
              <a:spcBef>
                <a:spcPts val="500"/>
              </a:spcBef>
            </a:pPr>
            <a:r>
              <a:rPr sz="2000" spc="-5" dirty="0">
                <a:latin typeface="Arial"/>
                <a:cs typeface="Arial"/>
              </a:rPr>
              <a:t>2) Non </a:t>
            </a:r>
            <a:r>
              <a:rPr sz="2000" dirty="0">
                <a:latin typeface="Arial"/>
                <a:cs typeface="Arial"/>
              </a:rPr>
              <a:t>Economic</a:t>
            </a:r>
            <a:r>
              <a:rPr sz="2000" spc="10" dirty="0">
                <a:latin typeface="Arial"/>
                <a:cs typeface="Arial"/>
              </a:rPr>
              <a:t> </a:t>
            </a:r>
            <a:r>
              <a:rPr sz="2000" dirty="0">
                <a:latin typeface="Arial"/>
                <a:cs typeface="Arial"/>
              </a:rPr>
              <a:t>Environment</a:t>
            </a:r>
            <a:endParaRPr sz="2000">
              <a:latin typeface="Arial"/>
              <a:cs typeface="Arial"/>
            </a:endParaRPr>
          </a:p>
        </p:txBody>
      </p:sp>
      <p:sp>
        <p:nvSpPr>
          <p:cNvPr id="4" name="object 4"/>
          <p:cNvSpPr txBox="1"/>
          <p:nvPr/>
        </p:nvSpPr>
        <p:spPr>
          <a:xfrm>
            <a:off x="77469" y="38163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5" name="object 5"/>
          <p:cNvSpPr txBox="1"/>
          <p:nvPr/>
        </p:nvSpPr>
        <p:spPr>
          <a:xfrm>
            <a:off x="420369" y="3735070"/>
            <a:ext cx="7994015" cy="22860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Economic Environment:</a:t>
            </a:r>
            <a:endParaRPr sz="2000">
              <a:latin typeface="Arial"/>
              <a:cs typeface="Arial"/>
            </a:endParaRPr>
          </a:p>
          <a:p>
            <a:pPr marL="12700" marR="5080">
              <a:lnSpc>
                <a:spcPct val="100000"/>
              </a:lnSpc>
              <a:spcBef>
                <a:spcPts val="500"/>
              </a:spcBef>
            </a:pPr>
            <a:r>
              <a:rPr sz="2000" spc="-5" dirty="0">
                <a:latin typeface="Arial"/>
                <a:cs typeface="Arial"/>
              </a:rPr>
              <a:t>To </a:t>
            </a:r>
            <a:r>
              <a:rPr sz="2000" dirty="0">
                <a:latin typeface="Arial"/>
                <a:cs typeface="Arial"/>
              </a:rPr>
              <a:t>know </a:t>
            </a:r>
            <a:r>
              <a:rPr sz="2000" spc="-5" dirty="0">
                <a:latin typeface="Arial"/>
                <a:cs typeface="Arial"/>
              </a:rPr>
              <a:t>the economic environment of </a:t>
            </a:r>
            <a:r>
              <a:rPr sz="2000" dirty="0">
                <a:latin typeface="Arial"/>
                <a:cs typeface="Arial"/>
              </a:rPr>
              <a:t>a country </a:t>
            </a:r>
            <a:r>
              <a:rPr sz="2000" spc="-5" dirty="0">
                <a:latin typeface="Arial"/>
                <a:cs typeface="Arial"/>
              </a:rPr>
              <a:t>or </a:t>
            </a:r>
            <a:r>
              <a:rPr sz="2000" dirty="0">
                <a:latin typeface="Arial"/>
                <a:cs typeface="Arial"/>
              </a:rPr>
              <a:t>a business one has  </a:t>
            </a:r>
            <a:r>
              <a:rPr sz="2000" spc="-5" dirty="0">
                <a:latin typeface="Arial"/>
                <a:cs typeface="Arial"/>
              </a:rPr>
              <a:t>to </a:t>
            </a:r>
            <a:r>
              <a:rPr sz="2000" dirty="0">
                <a:latin typeface="Arial"/>
                <a:cs typeface="Arial"/>
              </a:rPr>
              <a:t>understand </a:t>
            </a:r>
            <a:r>
              <a:rPr sz="2000" spc="-5" dirty="0">
                <a:latin typeface="Arial"/>
                <a:cs typeface="Arial"/>
              </a:rPr>
              <a:t>the </a:t>
            </a:r>
            <a:r>
              <a:rPr sz="2000" dirty="0">
                <a:latin typeface="Arial"/>
                <a:cs typeface="Arial"/>
              </a:rPr>
              <a:t>economic </a:t>
            </a:r>
            <a:r>
              <a:rPr sz="2000" spc="-5" dirty="0">
                <a:latin typeface="Arial"/>
                <a:cs typeface="Arial"/>
              </a:rPr>
              <a:t>policies </a:t>
            </a:r>
            <a:r>
              <a:rPr sz="2000" dirty="0">
                <a:latin typeface="Arial"/>
                <a:cs typeface="Arial"/>
              </a:rPr>
              <a:t>of </a:t>
            </a:r>
            <a:r>
              <a:rPr sz="2000" spc="-5" dirty="0">
                <a:latin typeface="Arial"/>
                <a:cs typeface="Arial"/>
              </a:rPr>
              <a:t>the nation. </a:t>
            </a:r>
            <a:r>
              <a:rPr sz="2000" dirty="0">
                <a:latin typeface="Arial"/>
                <a:cs typeface="Arial"/>
              </a:rPr>
              <a:t>These </a:t>
            </a:r>
            <a:r>
              <a:rPr sz="2000" spc="-5" dirty="0">
                <a:latin typeface="Arial"/>
                <a:cs typeface="Arial"/>
              </a:rPr>
              <a:t>policies </a:t>
            </a:r>
            <a:r>
              <a:rPr sz="2000" dirty="0">
                <a:latin typeface="Arial"/>
                <a:cs typeface="Arial"/>
              </a:rPr>
              <a:t>put  </a:t>
            </a:r>
            <a:r>
              <a:rPr sz="2000" spc="-5" dirty="0">
                <a:latin typeface="Arial"/>
                <a:cs typeface="Arial"/>
              </a:rPr>
              <a:t>direct </a:t>
            </a:r>
            <a:r>
              <a:rPr sz="2000" dirty="0">
                <a:latin typeface="Arial"/>
                <a:cs typeface="Arial"/>
              </a:rPr>
              <a:t>impact on </a:t>
            </a:r>
            <a:r>
              <a:rPr sz="2000" spc="-5" dirty="0">
                <a:latin typeface="Arial"/>
                <a:cs typeface="Arial"/>
              </a:rPr>
              <a:t>the working </a:t>
            </a:r>
            <a:r>
              <a:rPr sz="2000" dirty="0">
                <a:latin typeface="Arial"/>
                <a:cs typeface="Arial"/>
              </a:rPr>
              <a:t>and success </a:t>
            </a:r>
            <a:r>
              <a:rPr sz="2000" spc="-5" dirty="0">
                <a:latin typeface="Arial"/>
                <a:cs typeface="Arial"/>
              </a:rPr>
              <a:t>of the </a:t>
            </a:r>
            <a:r>
              <a:rPr sz="2000" dirty="0">
                <a:latin typeface="Arial"/>
                <a:cs typeface="Arial"/>
              </a:rPr>
              <a:t>business. Economic  </a:t>
            </a:r>
            <a:r>
              <a:rPr sz="2000" spc="-5" dirty="0">
                <a:latin typeface="Arial"/>
                <a:cs typeface="Arial"/>
              </a:rPr>
              <a:t>conditions, </a:t>
            </a:r>
            <a:r>
              <a:rPr sz="2000" dirty="0">
                <a:latin typeface="Arial"/>
                <a:cs typeface="Arial"/>
              </a:rPr>
              <a:t>economic policies </a:t>
            </a:r>
            <a:r>
              <a:rPr sz="2000" spc="-5" dirty="0">
                <a:latin typeface="Arial"/>
                <a:cs typeface="Arial"/>
              </a:rPr>
              <a:t>(Industrial </a:t>
            </a:r>
            <a:r>
              <a:rPr sz="2000" dirty="0">
                <a:latin typeface="Arial"/>
                <a:cs typeface="Arial"/>
              </a:rPr>
              <a:t>policies, monetary and fiscal  </a:t>
            </a:r>
            <a:r>
              <a:rPr sz="2000" spc="-5" dirty="0">
                <a:latin typeface="Arial"/>
                <a:cs typeface="Arial"/>
              </a:rPr>
              <a:t>policy </a:t>
            </a:r>
            <a:r>
              <a:rPr sz="2000" dirty="0">
                <a:latin typeface="Arial"/>
                <a:cs typeface="Arial"/>
              </a:rPr>
              <a:t>etc) and </a:t>
            </a:r>
            <a:r>
              <a:rPr sz="2000" spc="-5" dirty="0">
                <a:latin typeface="Arial"/>
                <a:cs typeface="Arial"/>
              </a:rPr>
              <a:t>the </a:t>
            </a:r>
            <a:r>
              <a:rPr sz="2000" dirty="0">
                <a:latin typeface="Arial"/>
                <a:cs typeface="Arial"/>
              </a:rPr>
              <a:t>economic system are </a:t>
            </a:r>
            <a:r>
              <a:rPr sz="2000" spc="-5" dirty="0">
                <a:latin typeface="Arial"/>
                <a:cs typeface="Arial"/>
              </a:rPr>
              <a:t>the important </a:t>
            </a:r>
            <a:r>
              <a:rPr sz="2000" dirty="0">
                <a:latin typeface="Arial"/>
                <a:cs typeface="Arial"/>
              </a:rPr>
              <a:t>factors </a:t>
            </a:r>
            <a:r>
              <a:rPr sz="2000" spc="-5" dirty="0">
                <a:latin typeface="Arial"/>
                <a:cs typeface="Arial"/>
              </a:rPr>
              <a:t>that  constitute </a:t>
            </a:r>
            <a:r>
              <a:rPr sz="2000" dirty="0">
                <a:latin typeface="Arial"/>
                <a:cs typeface="Arial"/>
              </a:rPr>
              <a:t>economic environment of </a:t>
            </a:r>
            <a:r>
              <a:rPr sz="2000" spc="-5" dirty="0">
                <a:latin typeface="Arial"/>
                <a:cs typeface="Arial"/>
              </a:rPr>
              <a:t>the</a:t>
            </a:r>
            <a:r>
              <a:rPr sz="2000" spc="-35" dirty="0">
                <a:latin typeface="Arial"/>
                <a:cs typeface="Arial"/>
              </a:rPr>
              <a:t> </a:t>
            </a:r>
            <a:r>
              <a:rPr sz="2000" dirty="0">
                <a:latin typeface="Arial"/>
                <a:cs typeface="Arial"/>
              </a:rPr>
              <a:t>business.</a:t>
            </a:r>
            <a:endParaRPr sz="20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11120" y="47879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2954020" y="461009"/>
            <a:ext cx="342328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Non Economic</a:t>
            </a:r>
            <a:r>
              <a:rPr sz="2000" b="1" spc="-70" dirty="0">
                <a:latin typeface="Arial"/>
                <a:cs typeface="Arial"/>
              </a:rPr>
              <a:t> </a:t>
            </a:r>
            <a:r>
              <a:rPr sz="2000" b="1" spc="-5" dirty="0">
                <a:latin typeface="Arial"/>
                <a:cs typeface="Arial"/>
              </a:rPr>
              <a:t>Environment</a:t>
            </a:r>
            <a:endParaRPr sz="2000">
              <a:latin typeface="Arial"/>
              <a:cs typeface="Arial"/>
            </a:endParaRPr>
          </a:p>
        </p:txBody>
      </p:sp>
      <p:sp>
        <p:nvSpPr>
          <p:cNvPr id="4" name="object 4"/>
          <p:cNvSpPr txBox="1"/>
          <p:nvPr/>
        </p:nvSpPr>
        <p:spPr>
          <a:xfrm>
            <a:off x="229870" y="816609"/>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5" name="object 5"/>
          <p:cNvSpPr txBox="1"/>
          <p:nvPr/>
        </p:nvSpPr>
        <p:spPr>
          <a:xfrm>
            <a:off x="572769" y="764539"/>
            <a:ext cx="7900034" cy="1798320"/>
          </a:xfrm>
          <a:prstGeom prst="rect">
            <a:avLst/>
          </a:prstGeom>
        </p:spPr>
        <p:txBody>
          <a:bodyPr vert="horz" wrap="square" lIns="0" tIns="45720" rIns="0" bIns="0" rtlCol="0">
            <a:spAutoFit/>
          </a:bodyPr>
          <a:lstStyle/>
          <a:p>
            <a:pPr marL="12700">
              <a:lnSpc>
                <a:spcPct val="100000"/>
              </a:lnSpc>
              <a:spcBef>
                <a:spcPts val="360"/>
              </a:spcBef>
            </a:pPr>
            <a:r>
              <a:rPr sz="2000" b="1" spc="-5" dirty="0">
                <a:latin typeface="Arial"/>
                <a:cs typeface="Arial"/>
              </a:rPr>
              <a:t>Socio cultural</a:t>
            </a:r>
            <a:r>
              <a:rPr sz="2000" b="1" spc="-20" dirty="0">
                <a:latin typeface="Arial"/>
                <a:cs typeface="Arial"/>
              </a:rPr>
              <a:t> </a:t>
            </a:r>
            <a:r>
              <a:rPr sz="2000" b="1" spc="-5" dirty="0">
                <a:latin typeface="Arial"/>
                <a:cs typeface="Arial"/>
              </a:rPr>
              <a:t>Environment:</a:t>
            </a:r>
            <a:endParaRPr sz="2000">
              <a:latin typeface="Arial"/>
              <a:cs typeface="Arial"/>
            </a:endParaRPr>
          </a:p>
          <a:p>
            <a:pPr marL="12700" marR="5080">
              <a:lnSpc>
                <a:spcPts val="2160"/>
              </a:lnSpc>
              <a:spcBef>
                <a:spcPts val="530"/>
              </a:spcBef>
            </a:pPr>
            <a:r>
              <a:rPr sz="2000" spc="-5" dirty="0">
                <a:latin typeface="Arial"/>
                <a:cs typeface="Arial"/>
              </a:rPr>
              <a:t>The </a:t>
            </a:r>
            <a:r>
              <a:rPr sz="2000" dirty="0">
                <a:latin typeface="Arial"/>
                <a:cs typeface="Arial"/>
              </a:rPr>
              <a:t>socio-cultural </a:t>
            </a:r>
            <a:r>
              <a:rPr sz="2000" spc="-5" dirty="0">
                <a:latin typeface="Arial"/>
                <a:cs typeface="Arial"/>
              </a:rPr>
              <a:t>environmental factors </a:t>
            </a:r>
            <a:r>
              <a:rPr sz="2000" dirty="0">
                <a:latin typeface="Arial"/>
                <a:cs typeface="Arial"/>
              </a:rPr>
              <a:t>consist </a:t>
            </a:r>
            <a:r>
              <a:rPr sz="2000" spc="-5" dirty="0">
                <a:latin typeface="Arial"/>
                <a:cs typeface="Arial"/>
              </a:rPr>
              <a:t>of human relationship  </a:t>
            </a:r>
            <a:r>
              <a:rPr sz="2000" dirty="0">
                <a:latin typeface="Arial"/>
                <a:cs typeface="Arial"/>
              </a:rPr>
              <a:t>and </a:t>
            </a:r>
            <a:r>
              <a:rPr sz="2000" spc="-5" dirty="0">
                <a:latin typeface="Arial"/>
                <a:cs typeface="Arial"/>
              </a:rPr>
              <a:t>the development. Some </a:t>
            </a:r>
            <a:r>
              <a:rPr sz="2000" dirty="0">
                <a:latin typeface="Arial"/>
                <a:cs typeface="Arial"/>
              </a:rPr>
              <a:t>of </a:t>
            </a:r>
            <a:r>
              <a:rPr sz="2000" spc="-5" dirty="0">
                <a:latin typeface="Arial"/>
                <a:cs typeface="Arial"/>
              </a:rPr>
              <a:t>the important factors in the </a:t>
            </a:r>
            <a:r>
              <a:rPr sz="2000" dirty="0">
                <a:latin typeface="Arial"/>
                <a:cs typeface="Arial"/>
              </a:rPr>
              <a:t>social  </a:t>
            </a:r>
            <a:r>
              <a:rPr sz="2000" spc="-5" dirty="0">
                <a:latin typeface="Arial"/>
                <a:cs typeface="Arial"/>
              </a:rPr>
              <a:t>environment are the </a:t>
            </a:r>
            <a:r>
              <a:rPr sz="2000" dirty="0">
                <a:latin typeface="Arial"/>
                <a:cs typeface="Arial"/>
              </a:rPr>
              <a:t>buying and </a:t>
            </a:r>
            <a:r>
              <a:rPr sz="2000" spc="-5" dirty="0">
                <a:latin typeface="Arial"/>
                <a:cs typeface="Arial"/>
              </a:rPr>
              <a:t>consumption </a:t>
            </a:r>
            <a:r>
              <a:rPr sz="2000" dirty="0">
                <a:latin typeface="Arial"/>
                <a:cs typeface="Arial"/>
              </a:rPr>
              <a:t>habit </a:t>
            </a:r>
            <a:r>
              <a:rPr sz="2000" spc="-5" dirty="0">
                <a:latin typeface="Arial"/>
                <a:cs typeface="Arial"/>
              </a:rPr>
              <a:t>of people, their  </a:t>
            </a:r>
            <a:r>
              <a:rPr sz="2000" dirty="0">
                <a:latin typeface="Arial"/>
                <a:cs typeface="Arial"/>
              </a:rPr>
              <a:t>languages, </a:t>
            </a:r>
            <a:r>
              <a:rPr sz="2000" spc="-5" dirty="0">
                <a:latin typeface="Arial"/>
                <a:cs typeface="Arial"/>
              </a:rPr>
              <a:t>beliefs </a:t>
            </a:r>
            <a:r>
              <a:rPr sz="2000" dirty="0">
                <a:latin typeface="Arial"/>
                <a:cs typeface="Arial"/>
              </a:rPr>
              <a:t>and values, custom and </a:t>
            </a:r>
            <a:r>
              <a:rPr sz="2000" spc="-5" dirty="0">
                <a:latin typeface="Arial"/>
                <a:cs typeface="Arial"/>
              </a:rPr>
              <a:t>traditions, etc that effeccts  the </a:t>
            </a:r>
            <a:r>
              <a:rPr sz="2000" dirty="0">
                <a:latin typeface="Arial"/>
                <a:cs typeface="Arial"/>
              </a:rPr>
              <a:t>business.</a:t>
            </a:r>
            <a:endParaRPr sz="2000">
              <a:latin typeface="Arial"/>
              <a:cs typeface="Arial"/>
            </a:endParaRPr>
          </a:p>
        </p:txBody>
      </p:sp>
      <p:sp>
        <p:nvSpPr>
          <p:cNvPr id="6" name="object 6"/>
          <p:cNvSpPr txBox="1"/>
          <p:nvPr/>
        </p:nvSpPr>
        <p:spPr>
          <a:xfrm>
            <a:off x="229870" y="29273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7" name="object 7"/>
          <p:cNvSpPr txBox="1"/>
          <p:nvPr/>
        </p:nvSpPr>
        <p:spPr>
          <a:xfrm>
            <a:off x="572769" y="2875279"/>
            <a:ext cx="8065770" cy="1798320"/>
          </a:xfrm>
          <a:prstGeom prst="rect">
            <a:avLst/>
          </a:prstGeom>
        </p:spPr>
        <p:txBody>
          <a:bodyPr vert="horz" wrap="square" lIns="0" tIns="45720" rIns="0" bIns="0" rtlCol="0">
            <a:spAutoFit/>
          </a:bodyPr>
          <a:lstStyle/>
          <a:p>
            <a:pPr marL="12700">
              <a:lnSpc>
                <a:spcPct val="100000"/>
              </a:lnSpc>
              <a:spcBef>
                <a:spcPts val="360"/>
              </a:spcBef>
            </a:pPr>
            <a:r>
              <a:rPr sz="2000" b="1" spc="-5" dirty="0">
                <a:latin typeface="Arial"/>
                <a:cs typeface="Arial"/>
              </a:rPr>
              <a:t>Legal</a:t>
            </a:r>
            <a:r>
              <a:rPr sz="2000" b="1" spc="-20" dirty="0">
                <a:latin typeface="Arial"/>
                <a:cs typeface="Arial"/>
              </a:rPr>
              <a:t> </a:t>
            </a:r>
            <a:r>
              <a:rPr sz="2000" b="1" spc="-5" dirty="0">
                <a:latin typeface="Arial"/>
                <a:cs typeface="Arial"/>
              </a:rPr>
              <a:t>Environment:</a:t>
            </a:r>
            <a:endParaRPr sz="2000">
              <a:latin typeface="Arial"/>
              <a:cs typeface="Arial"/>
            </a:endParaRPr>
          </a:p>
          <a:p>
            <a:pPr marL="12700" marR="5080">
              <a:lnSpc>
                <a:spcPts val="2160"/>
              </a:lnSpc>
              <a:spcBef>
                <a:spcPts val="530"/>
              </a:spcBef>
            </a:pPr>
            <a:r>
              <a:rPr sz="2000" spc="-5" dirty="0">
                <a:latin typeface="Arial"/>
                <a:cs typeface="Arial"/>
              </a:rPr>
              <a:t>Every </a:t>
            </a:r>
            <a:r>
              <a:rPr sz="2000" dirty="0">
                <a:latin typeface="Arial"/>
                <a:cs typeface="Arial"/>
              </a:rPr>
              <a:t>country </a:t>
            </a:r>
            <a:r>
              <a:rPr sz="2000" spc="-5" dirty="0">
                <a:latin typeface="Arial"/>
                <a:cs typeface="Arial"/>
              </a:rPr>
              <a:t>follows its own </a:t>
            </a:r>
            <a:r>
              <a:rPr sz="2000" dirty="0">
                <a:latin typeface="Arial"/>
                <a:cs typeface="Arial"/>
              </a:rPr>
              <a:t>system </a:t>
            </a:r>
            <a:r>
              <a:rPr sz="2000" spc="-5" dirty="0">
                <a:latin typeface="Arial"/>
                <a:cs typeface="Arial"/>
              </a:rPr>
              <a:t>of </a:t>
            </a:r>
            <a:r>
              <a:rPr sz="2000" spc="-10" dirty="0">
                <a:latin typeface="Arial"/>
                <a:cs typeface="Arial"/>
              </a:rPr>
              <a:t>law. </a:t>
            </a:r>
            <a:r>
              <a:rPr sz="2000" spc="-5" dirty="0">
                <a:latin typeface="Arial"/>
                <a:cs typeface="Arial"/>
              </a:rPr>
              <a:t>The </a:t>
            </a:r>
            <a:r>
              <a:rPr sz="2000" dirty="0">
                <a:latin typeface="Arial"/>
                <a:cs typeface="Arial"/>
              </a:rPr>
              <a:t>companies </a:t>
            </a:r>
            <a:r>
              <a:rPr sz="2000" spc="-5" dirty="0">
                <a:latin typeface="Arial"/>
                <a:cs typeface="Arial"/>
              </a:rPr>
              <a:t>operatiing  in the </a:t>
            </a:r>
            <a:r>
              <a:rPr sz="2000" dirty="0">
                <a:latin typeface="Arial"/>
                <a:cs typeface="Arial"/>
              </a:rPr>
              <a:t>global market have </a:t>
            </a:r>
            <a:r>
              <a:rPr sz="2000" spc="-5" dirty="0">
                <a:latin typeface="Arial"/>
                <a:cs typeface="Arial"/>
              </a:rPr>
              <a:t>to take into </a:t>
            </a:r>
            <a:r>
              <a:rPr sz="2000" dirty="0">
                <a:latin typeface="Arial"/>
                <a:cs typeface="Arial"/>
              </a:rPr>
              <a:t>account </a:t>
            </a:r>
            <a:r>
              <a:rPr sz="2000" spc="-5" dirty="0">
                <a:latin typeface="Arial"/>
                <a:cs typeface="Arial"/>
              </a:rPr>
              <a:t>the </a:t>
            </a:r>
            <a:r>
              <a:rPr sz="2000" dirty="0">
                <a:latin typeface="Arial"/>
                <a:cs typeface="Arial"/>
              </a:rPr>
              <a:t>provisions </a:t>
            </a:r>
            <a:r>
              <a:rPr sz="2000" spc="-10" dirty="0">
                <a:latin typeface="Arial"/>
                <a:cs typeface="Arial"/>
              </a:rPr>
              <a:t>with </a:t>
            </a:r>
            <a:r>
              <a:rPr sz="2000" dirty="0">
                <a:latin typeface="Arial"/>
                <a:cs typeface="Arial"/>
              </a:rPr>
              <a:t>rspect  </a:t>
            </a:r>
            <a:r>
              <a:rPr sz="2000" spc="-5" dirty="0">
                <a:latin typeface="Arial"/>
                <a:cs typeface="Arial"/>
              </a:rPr>
              <a:t>to the legal </a:t>
            </a:r>
            <a:r>
              <a:rPr sz="2000" dirty="0">
                <a:latin typeface="Arial"/>
                <a:cs typeface="Arial"/>
              </a:rPr>
              <a:t>environment prevalent </a:t>
            </a:r>
            <a:r>
              <a:rPr sz="2000" spc="-5" dirty="0">
                <a:latin typeface="Arial"/>
                <a:cs typeface="Arial"/>
              </a:rPr>
              <a:t>in the countries which thy </a:t>
            </a:r>
            <a:r>
              <a:rPr sz="2000" dirty="0">
                <a:latin typeface="Arial"/>
                <a:cs typeface="Arial"/>
              </a:rPr>
              <a:t>do  business. These </a:t>
            </a:r>
            <a:r>
              <a:rPr sz="2000" spc="-5" dirty="0">
                <a:latin typeface="Arial"/>
                <a:cs typeface="Arial"/>
              </a:rPr>
              <a:t>law </a:t>
            </a:r>
            <a:r>
              <a:rPr sz="2000" dirty="0">
                <a:latin typeface="Arial"/>
                <a:cs typeface="Arial"/>
              </a:rPr>
              <a:t>and </a:t>
            </a:r>
            <a:r>
              <a:rPr sz="2000" spc="-5" dirty="0">
                <a:latin typeface="Arial"/>
                <a:cs typeface="Arial"/>
              </a:rPr>
              <a:t>regulations affect the day-to-day operations </a:t>
            </a:r>
            <a:r>
              <a:rPr sz="2000" dirty="0">
                <a:latin typeface="Arial"/>
                <a:cs typeface="Arial"/>
              </a:rPr>
              <a:t>of  business.</a:t>
            </a:r>
            <a:endParaRPr sz="2000">
              <a:latin typeface="Arial"/>
              <a:cs typeface="Arial"/>
            </a:endParaRPr>
          </a:p>
        </p:txBody>
      </p:sp>
      <p:sp>
        <p:nvSpPr>
          <p:cNvPr id="8" name="object 8"/>
          <p:cNvSpPr txBox="1"/>
          <p:nvPr/>
        </p:nvSpPr>
        <p:spPr>
          <a:xfrm>
            <a:off x="229870" y="503682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9" name="object 9"/>
          <p:cNvSpPr txBox="1"/>
          <p:nvPr/>
        </p:nvSpPr>
        <p:spPr>
          <a:xfrm>
            <a:off x="572769" y="4986019"/>
            <a:ext cx="7597140" cy="1313180"/>
          </a:xfrm>
          <a:prstGeom prst="rect">
            <a:avLst/>
          </a:prstGeom>
        </p:spPr>
        <p:txBody>
          <a:bodyPr vert="horz" wrap="square" lIns="0" tIns="45720" rIns="0" bIns="0" rtlCol="0">
            <a:spAutoFit/>
          </a:bodyPr>
          <a:lstStyle/>
          <a:p>
            <a:pPr marL="12700">
              <a:lnSpc>
                <a:spcPct val="100000"/>
              </a:lnSpc>
              <a:spcBef>
                <a:spcPts val="360"/>
              </a:spcBef>
            </a:pPr>
            <a:r>
              <a:rPr sz="2000" b="1" spc="-5" dirty="0">
                <a:latin typeface="Arial"/>
                <a:cs typeface="Arial"/>
              </a:rPr>
              <a:t>International</a:t>
            </a:r>
            <a:r>
              <a:rPr sz="2000" b="1" spc="-20" dirty="0">
                <a:latin typeface="Arial"/>
                <a:cs typeface="Arial"/>
              </a:rPr>
              <a:t> </a:t>
            </a:r>
            <a:r>
              <a:rPr sz="2000" b="1" spc="-5" dirty="0">
                <a:latin typeface="Arial"/>
                <a:cs typeface="Arial"/>
              </a:rPr>
              <a:t>Environment:</a:t>
            </a:r>
            <a:endParaRPr sz="2000">
              <a:latin typeface="Arial"/>
              <a:cs typeface="Arial"/>
            </a:endParaRPr>
          </a:p>
          <a:p>
            <a:pPr marL="12700" marR="5080">
              <a:lnSpc>
                <a:spcPts val="2160"/>
              </a:lnSpc>
              <a:spcBef>
                <a:spcPts val="530"/>
              </a:spcBef>
            </a:pPr>
            <a:r>
              <a:rPr sz="2000" spc="-5" dirty="0">
                <a:latin typeface="Arial"/>
                <a:cs typeface="Arial"/>
              </a:rPr>
              <a:t>The international environment is particularly important for </a:t>
            </a:r>
            <a:r>
              <a:rPr sz="2000" dirty="0">
                <a:latin typeface="Arial"/>
                <a:cs typeface="Arial"/>
              </a:rPr>
              <a:t>industries  </a:t>
            </a:r>
            <a:r>
              <a:rPr sz="2000" spc="-5" dirty="0">
                <a:latin typeface="Arial"/>
                <a:cs typeface="Arial"/>
              </a:rPr>
              <a:t>directly depending </a:t>
            </a:r>
            <a:r>
              <a:rPr sz="2000" dirty="0">
                <a:latin typeface="Arial"/>
                <a:cs typeface="Arial"/>
              </a:rPr>
              <a:t>on </a:t>
            </a:r>
            <a:r>
              <a:rPr sz="2000" spc="-5" dirty="0">
                <a:latin typeface="Arial"/>
                <a:cs typeface="Arial"/>
              </a:rPr>
              <a:t>imports </a:t>
            </a:r>
            <a:r>
              <a:rPr sz="2000" dirty="0">
                <a:latin typeface="Arial"/>
                <a:cs typeface="Arial"/>
              </a:rPr>
              <a:t>or</a:t>
            </a:r>
            <a:r>
              <a:rPr sz="2000" spc="-10" dirty="0">
                <a:latin typeface="Arial"/>
                <a:cs typeface="Arial"/>
              </a:rPr>
              <a:t> </a:t>
            </a:r>
            <a:r>
              <a:rPr sz="2000" dirty="0">
                <a:latin typeface="Arial"/>
                <a:cs typeface="Arial"/>
              </a:rPr>
              <a:t>exports.</a:t>
            </a:r>
            <a:endParaRPr sz="2000">
              <a:latin typeface="Arial"/>
              <a:cs typeface="Arial"/>
            </a:endParaRPr>
          </a:p>
          <a:p>
            <a:pPr marL="12700">
              <a:lnSpc>
                <a:spcPct val="100000"/>
              </a:lnSpc>
              <a:spcBef>
                <a:spcPts val="229"/>
              </a:spcBef>
            </a:pPr>
            <a:r>
              <a:rPr sz="2000" spc="-5" dirty="0">
                <a:latin typeface="Arial"/>
                <a:cs typeface="Arial"/>
              </a:rPr>
              <a:t>E.g. Import export </a:t>
            </a:r>
            <a:r>
              <a:rPr sz="2000" dirty="0">
                <a:latin typeface="Arial"/>
                <a:cs typeface="Arial"/>
              </a:rPr>
              <a:t>policies </a:t>
            </a:r>
            <a:r>
              <a:rPr sz="2000" spc="-5" dirty="0">
                <a:latin typeface="Arial"/>
                <a:cs typeface="Arial"/>
              </a:rPr>
              <a:t>of </a:t>
            </a:r>
            <a:r>
              <a:rPr sz="2000" dirty="0">
                <a:latin typeface="Arial"/>
                <a:cs typeface="Arial"/>
              </a:rPr>
              <a:t>various</a:t>
            </a:r>
            <a:r>
              <a:rPr sz="2000" spc="-20" dirty="0">
                <a:latin typeface="Arial"/>
                <a:cs typeface="Arial"/>
              </a:rPr>
              <a:t> </a:t>
            </a:r>
            <a:r>
              <a:rPr sz="2000" dirty="0">
                <a:latin typeface="Arial"/>
                <a:cs typeface="Arial"/>
              </a:rPr>
              <a:t>countries.</a:t>
            </a:r>
            <a:endParaRPr sz="20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2270" y="5867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725169" y="567690"/>
            <a:ext cx="270256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Political</a:t>
            </a:r>
            <a:r>
              <a:rPr sz="2000" b="1" spc="-70" dirty="0">
                <a:latin typeface="Arial"/>
                <a:cs typeface="Arial"/>
              </a:rPr>
              <a:t> </a:t>
            </a:r>
            <a:r>
              <a:rPr sz="2000" b="1" spc="-5" dirty="0">
                <a:latin typeface="Arial"/>
                <a:cs typeface="Arial"/>
              </a:rPr>
              <a:t>Environment:</a:t>
            </a:r>
            <a:endParaRPr sz="2000">
              <a:latin typeface="Arial"/>
              <a:cs typeface="Arial"/>
            </a:endParaRPr>
          </a:p>
        </p:txBody>
      </p:sp>
      <p:sp>
        <p:nvSpPr>
          <p:cNvPr id="4" name="object 4"/>
          <p:cNvSpPr txBox="1"/>
          <p:nvPr/>
        </p:nvSpPr>
        <p:spPr>
          <a:xfrm>
            <a:off x="725169" y="935990"/>
            <a:ext cx="8347075" cy="1244600"/>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Arial"/>
                <a:cs typeface="Arial"/>
              </a:rPr>
              <a:t>The political environment </a:t>
            </a:r>
            <a:r>
              <a:rPr sz="2000" dirty="0">
                <a:latin typeface="Arial"/>
                <a:cs typeface="Arial"/>
              </a:rPr>
              <a:t>consists of </a:t>
            </a:r>
            <a:r>
              <a:rPr sz="2000" spc="-5" dirty="0">
                <a:latin typeface="Arial"/>
                <a:cs typeface="Arial"/>
              </a:rPr>
              <a:t>factors related to the </a:t>
            </a:r>
            <a:r>
              <a:rPr sz="2000" dirty="0">
                <a:latin typeface="Arial"/>
                <a:cs typeface="Arial"/>
              </a:rPr>
              <a:t>management of  </a:t>
            </a:r>
            <a:r>
              <a:rPr sz="2000" spc="-5" dirty="0">
                <a:latin typeface="Arial"/>
                <a:cs typeface="Arial"/>
              </a:rPr>
              <a:t>public affairs </a:t>
            </a:r>
            <a:r>
              <a:rPr sz="2000" dirty="0">
                <a:latin typeface="Arial"/>
                <a:cs typeface="Arial"/>
              </a:rPr>
              <a:t>that have a considerable impact on </a:t>
            </a:r>
            <a:r>
              <a:rPr sz="2000" spc="-5" dirty="0">
                <a:latin typeface="Arial"/>
                <a:cs typeface="Arial"/>
              </a:rPr>
              <a:t>the </a:t>
            </a:r>
            <a:r>
              <a:rPr sz="2000" dirty="0">
                <a:latin typeface="Arial"/>
                <a:cs typeface="Arial"/>
              </a:rPr>
              <a:t>business </a:t>
            </a:r>
            <a:r>
              <a:rPr sz="2000" spc="-5" dirty="0">
                <a:latin typeface="Arial"/>
                <a:cs typeface="Arial"/>
              </a:rPr>
              <a:t>of an  </a:t>
            </a:r>
            <a:r>
              <a:rPr sz="2000" dirty="0">
                <a:latin typeface="Arial"/>
                <a:cs typeface="Arial"/>
              </a:rPr>
              <a:t>organization. </a:t>
            </a:r>
            <a:r>
              <a:rPr sz="2000" spc="-5" dirty="0">
                <a:latin typeface="Arial"/>
                <a:cs typeface="Arial"/>
              </a:rPr>
              <a:t>It impacts the legislations </a:t>
            </a:r>
            <a:r>
              <a:rPr sz="2000" dirty="0">
                <a:latin typeface="Arial"/>
                <a:cs typeface="Arial"/>
              </a:rPr>
              <a:t>and government rules and  </a:t>
            </a:r>
            <a:r>
              <a:rPr sz="2000" spc="-5" dirty="0">
                <a:latin typeface="Arial"/>
                <a:cs typeface="Arial"/>
              </a:rPr>
              <a:t>regulations </a:t>
            </a:r>
            <a:r>
              <a:rPr sz="2000" dirty="0">
                <a:latin typeface="Arial"/>
                <a:cs typeface="Arial"/>
              </a:rPr>
              <a:t>under </a:t>
            </a:r>
            <a:r>
              <a:rPr sz="2000" spc="-5" dirty="0">
                <a:latin typeface="Arial"/>
                <a:cs typeface="Arial"/>
              </a:rPr>
              <a:t>which </a:t>
            </a:r>
            <a:r>
              <a:rPr sz="2000" dirty="0">
                <a:latin typeface="Arial"/>
                <a:cs typeface="Arial"/>
              </a:rPr>
              <a:t>business </a:t>
            </a:r>
            <a:r>
              <a:rPr sz="2000" spc="-5" dirty="0">
                <a:latin typeface="Arial"/>
                <a:cs typeface="Arial"/>
              </a:rPr>
              <a:t>organizations </a:t>
            </a:r>
            <a:r>
              <a:rPr sz="2000" dirty="0">
                <a:latin typeface="Arial"/>
                <a:cs typeface="Arial"/>
              </a:rPr>
              <a:t>operates </a:t>
            </a:r>
            <a:r>
              <a:rPr sz="2000" spc="-5" dirty="0">
                <a:latin typeface="Arial"/>
                <a:cs typeface="Arial"/>
              </a:rPr>
              <a:t>in </a:t>
            </a:r>
            <a:r>
              <a:rPr sz="2000" dirty="0">
                <a:latin typeface="Arial"/>
                <a:cs typeface="Arial"/>
              </a:rPr>
              <a:t>a</a:t>
            </a:r>
            <a:r>
              <a:rPr sz="2000" spc="20" dirty="0">
                <a:latin typeface="Arial"/>
                <a:cs typeface="Arial"/>
              </a:rPr>
              <a:t> </a:t>
            </a:r>
            <a:r>
              <a:rPr sz="2000" dirty="0">
                <a:latin typeface="Arial"/>
                <a:cs typeface="Arial"/>
              </a:rPr>
              <a:t>country.</a:t>
            </a:r>
            <a:endParaRPr sz="2000">
              <a:latin typeface="Arial"/>
              <a:cs typeface="Arial"/>
            </a:endParaRPr>
          </a:p>
        </p:txBody>
      </p:sp>
      <p:sp>
        <p:nvSpPr>
          <p:cNvPr id="5" name="object 5"/>
          <p:cNvSpPr txBox="1"/>
          <p:nvPr/>
        </p:nvSpPr>
        <p:spPr>
          <a:xfrm>
            <a:off x="382270" y="26060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725169" y="2523490"/>
            <a:ext cx="8322309" cy="167767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Technological</a:t>
            </a:r>
            <a:r>
              <a:rPr sz="2000" b="1" spc="-20" dirty="0">
                <a:latin typeface="Arial"/>
                <a:cs typeface="Arial"/>
              </a:rPr>
              <a:t> </a:t>
            </a:r>
            <a:r>
              <a:rPr sz="2000" b="1" spc="-5" dirty="0">
                <a:latin typeface="Arial"/>
                <a:cs typeface="Arial"/>
              </a:rPr>
              <a:t>Environment:</a:t>
            </a:r>
            <a:endParaRPr sz="2000">
              <a:latin typeface="Arial"/>
              <a:cs typeface="Arial"/>
            </a:endParaRPr>
          </a:p>
          <a:p>
            <a:pPr marL="12700" marR="5080">
              <a:lnSpc>
                <a:spcPct val="100099"/>
              </a:lnSpc>
              <a:spcBef>
                <a:spcPts val="495"/>
              </a:spcBef>
            </a:pPr>
            <a:r>
              <a:rPr sz="2000" spc="-5" dirty="0">
                <a:latin typeface="Arial"/>
                <a:cs typeface="Arial"/>
              </a:rPr>
              <a:t>Technological </a:t>
            </a:r>
            <a:r>
              <a:rPr sz="2000" dirty="0">
                <a:latin typeface="Arial"/>
                <a:cs typeface="Arial"/>
              </a:rPr>
              <a:t>environment comprises </a:t>
            </a:r>
            <a:r>
              <a:rPr sz="2000" spc="-5" dirty="0">
                <a:latin typeface="Arial"/>
                <a:cs typeface="Arial"/>
              </a:rPr>
              <a:t>both </a:t>
            </a:r>
            <a:r>
              <a:rPr sz="2000" dirty="0">
                <a:latin typeface="Arial"/>
                <a:cs typeface="Arial"/>
              </a:rPr>
              <a:t>machines (hard </a:t>
            </a:r>
            <a:r>
              <a:rPr sz="2000" spc="-5" dirty="0">
                <a:latin typeface="Arial"/>
                <a:cs typeface="Arial"/>
              </a:rPr>
              <a:t>technology)  </a:t>
            </a:r>
            <a:r>
              <a:rPr sz="2000" dirty="0">
                <a:latin typeface="Arial"/>
                <a:cs typeface="Arial"/>
              </a:rPr>
              <a:t>and </a:t>
            </a:r>
            <a:r>
              <a:rPr sz="2000" spc="-5" dirty="0">
                <a:latin typeface="Arial"/>
                <a:cs typeface="Arial"/>
              </a:rPr>
              <a:t>scientific </a:t>
            </a:r>
            <a:r>
              <a:rPr sz="2000" dirty="0">
                <a:latin typeface="Arial"/>
                <a:cs typeface="Arial"/>
              </a:rPr>
              <a:t>thinking (soft </a:t>
            </a:r>
            <a:r>
              <a:rPr sz="2000" spc="-5" dirty="0">
                <a:latin typeface="Arial"/>
                <a:cs typeface="Arial"/>
              </a:rPr>
              <a:t>technology) </a:t>
            </a:r>
            <a:r>
              <a:rPr sz="2000" dirty="0">
                <a:latin typeface="Arial"/>
                <a:cs typeface="Arial"/>
              </a:rPr>
              <a:t>used </a:t>
            </a:r>
            <a:r>
              <a:rPr sz="2000" spc="-5" dirty="0">
                <a:latin typeface="Arial"/>
                <a:cs typeface="Arial"/>
              </a:rPr>
              <a:t>to </a:t>
            </a:r>
            <a:r>
              <a:rPr sz="2000" dirty="0">
                <a:latin typeface="Arial"/>
                <a:cs typeface="Arial"/>
              </a:rPr>
              <a:t>solve </a:t>
            </a:r>
            <a:r>
              <a:rPr sz="2000" spc="-5" dirty="0">
                <a:latin typeface="Arial"/>
                <a:cs typeface="Arial"/>
              </a:rPr>
              <a:t>problems </a:t>
            </a:r>
            <a:r>
              <a:rPr sz="2000" dirty="0">
                <a:latin typeface="Arial"/>
                <a:cs typeface="Arial"/>
              </a:rPr>
              <a:t>and  </a:t>
            </a:r>
            <a:r>
              <a:rPr sz="2000" spc="-5" dirty="0">
                <a:latin typeface="Arial"/>
                <a:cs typeface="Arial"/>
              </a:rPr>
              <a:t>promote </a:t>
            </a:r>
            <a:r>
              <a:rPr sz="2000" dirty="0">
                <a:latin typeface="Arial"/>
                <a:cs typeface="Arial"/>
              </a:rPr>
              <a:t>progress. </a:t>
            </a:r>
            <a:r>
              <a:rPr sz="2000" spc="-5" dirty="0">
                <a:latin typeface="Arial"/>
                <a:cs typeface="Arial"/>
              </a:rPr>
              <a:t>It </a:t>
            </a:r>
            <a:r>
              <a:rPr sz="2000" dirty="0">
                <a:latin typeface="Arial"/>
                <a:cs typeface="Arial"/>
              </a:rPr>
              <a:t>also represents </a:t>
            </a:r>
            <a:r>
              <a:rPr sz="2000" spc="-5" dirty="0">
                <a:latin typeface="Arial"/>
                <a:cs typeface="Arial"/>
              </a:rPr>
              <a:t>the </a:t>
            </a:r>
            <a:r>
              <a:rPr sz="2000" dirty="0">
                <a:latin typeface="Arial"/>
                <a:cs typeface="Arial"/>
              </a:rPr>
              <a:t>degree </a:t>
            </a:r>
            <a:r>
              <a:rPr sz="2000" spc="-5" dirty="0">
                <a:latin typeface="Arial"/>
                <a:cs typeface="Arial"/>
              </a:rPr>
              <a:t>of </a:t>
            </a:r>
            <a:r>
              <a:rPr sz="2000" dirty="0">
                <a:latin typeface="Arial"/>
                <a:cs typeface="Arial"/>
              </a:rPr>
              <a:t>advancement of goods  and services </a:t>
            </a:r>
            <a:r>
              <a:rPr sz="2000" spc="-5" dirty="0">
                <a:latin typeface="Arial"/>
                <a:cs typeface="Arial"/>
              </a:rPr>
              <a:t>that </a:t>
            </a:r>
            <a:r>
              <a:rPr sz="2000" dirty="0">
                <a:latin typeface="Arial"/>
                <a:cs typeface="Arial"/>
              </a:rPr>
              <a:t>are </a:t>
            </a:r>
            <a:r>
              <a:rPr sz="2000" spc="-5" dirty="0">
                <a:latin typeface="Arial"/>
                <a:cs typeface="Arial"/>
              </a:rPr>
              <a:t>prevalent in </a:t>
            </a:r>
            <a:r>
              <a:rPr sz="2000" dirty="0">
                <a:latin typeface="Arial"/>
                <a:cs typeface="Arial"/>
              </a:rPr>
              <a:t>a country or a</a:t>
            </a:r>
            <a:r>
              <a:rPr sz="2000" spc="-45" dirty="0">
                <a:latin typeface="Arial"/>
                <a:cs typeface="Arial"/>
              </a:rPr>
              <a:t> </a:t>
            </a:r>
            <a:r>
              <a:rPr sz="2000" dirty="0">
                <a:latin typeface="Arial"/>
                <a:cs typeface="Arial"/>
              </a:rPr>
              <a:t>region.</a:t>
            </a:r>
            <a:endParaRPr sz="2000">
              <a:latin typeface="Arial"/>
              <a:cs typeface="Arial"/>
            </a:endParaRPr>
          </a:p>
        </p:txBody>
      </p:sp>
      <p:sp>
        <p:nvSpPr>
          <p:cNvPr id="7" name="object 7"/>
          <p:cNvSpPr txBox="1"/>
          <p:nvPr/>
        </p:nvSpPr>
        <p:spPr>
          <a:xfrm>
            <a:off x="382270" y="46253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8" name="object 8"/>
          <p:cNvSpPr txBox="1"/>
          <p:nvPr/>
        </p:nvSpPr>
        <p:spPr>
          <a:xfrm>
            <a:off x="725169" y="4544059"/>
            <a:ext cx="8407400" cy="13716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Natural</a:t>
            </a:r>
            <a:r>
              <a:rPr sz="2000" b="1" spc="-20" dirty="0">
                <a:latin typeface="Arial"/>
                <a:cs typeface="Arial"/>
              </a:rPr>
              <a:t> </a:t>
            </a:r>
            <a:r>
              <a:rPr sz="2000" b="1" spc="-5" dirty="0">
                <a:latin typeface="Arial"/>
                <a:cs typeface="Arial"/>
              </a:rPr>
              <a:t>Environment:</a:t>
            </a:r>
            <a:endParaRPr sz="2000">
              <a:latin typeface="Arial"/>
              <a:cs typeface="Arial"/>
            </a:endParaRPr>
          </a:p>
          <a:p>
            <a:pPr marL="12700" marR="5080">
              <a:lnSpc>
                <a:spcPct val="100000"/>
              </a:lnSpc>
              <a:spcBef>
                <a:spcPts val="500"/>
              </a:spcBef>
            </a:pPr>
            <a:r>
              <a:rPr sz="2000" dirty="0">
                <a:latin typeface="Arial"/>
                <a:cs typeface="Arial"/>
              </a:rPr>
              <a:t>Geographical </a:t>
            </a:r>
            <a:r>
              <a:rPr sz="2000" spc="-5" dirty="0">
                <a:latin typeface="Arial"/>
                <a:cs typeface="Arial"/>
              </a:rPr>
              <a:t>factors </a:t>
            </a:r>
            <a:r>
              <a:rPr sz="2000" dirty="0">
                <a:latin typeface="Arial"/>
                <a:cs typeface="Arial"/>
              </a:rPr>
              <a:t>such as natural resources </a:t>
            </a:r>
            <a:r>
              <a:rPr sz="2000" spc="-5" dirty="0">
                <a:latin typeface="Arial"/>
                <a:cs typeface="Arial"/>
              </a:rPr>
              <a:t>endowments, weather </a:t>
            </a:r>
            <a:r>
              <a:rPr sz="2000" dirty="0">
                <a:latin typeface="Arial"/>
                <a:cs typeface="Arial"/>
              </a:rPr>
              <a:t>and  </a:t>
            </a:r>
            <a:r>
              <a:rPr sz="2000" spc="-5" dirty="0">
                <a:latin typeface="Arial"/>
                <a:cs typeface="Arial"/>
              </a:rPr>
              <a:t>climatic </a:t>
            </a:r>
            <a:r>
              <a:rPr sz="2000" dirty="0">
                <a:latin typeface="Arial"/>
                <a:cs typeface="Arial"/>
              </a:rPr>
              <a:t>conditions, </a:t>
            </a:r>
            <a:r>
              <a:rPr sz="2000" spc="-5" dirty="0">
                <a:latin typeface="Arial"/>
                <a:cs typeface="Arial"/>
              </a:rPr>
              <a:t>location aspects </a:t>
            </a:r>
            <a:r>
              <a:rPr sz="2000" dirty="0">
                <a:latin typeface="Arial"/>
                <a:cs typeface="Arial"/>
              </a:rPr>
              <a:t>in </a:t>
            </a:r>
            <a:r>
              <a:rPr sz="2000" spc="-5" dirty="0">
                <a:latin typeface="Arial"/>
                <a:cs typeface="Arial"/>
              </a:rPr>
              <a:t>the </a:t>
            </a:r>
            <a:r>
              <a:rPr sz="2000" dirty="0">
                <a:latin typeface="Arial"/>
                <a:cs typeface="Arial"/>
              </a:rPr>
              <a:t>global </a:t>
            </a:r>
            <a:r>
              <a:rPr sz="2000" spc="-5" dirty="0">
                <a:latin typeface="Arial"/>
                <a:cs typeface="Arial"/>
              </a:rPr>
              <a:t>context, </a:t>
            </a:r>
            <a:r>
              <a:rPr sz="2000" dirty="0">
                <a:latin typeface="Arial"/>
                <a:cs typeface="Arial"/>
              </a:rPr>
              <a:t>port </a:t>
            </a:r>
            <a:r>
              <a:rPr sz="2000" spc="-5" dirty="0">
                <a:latin typeface="Arial"/>
                <a:cs typeface="Arial"/>
              </a:rPr>
              <a:t>facilities  etc., </a:t>
            </a:r>
            <a:r>
              <a:rPr sz="2000" dirty="0">
                <a:latin typeface="Arial"/>
                <a:cs typeface="Arial"/>
              </a:rPr>
              <a:t>are all relevant </a:t>
            </a:r>
            <a:r>
              <a:rPr sz="2000" spc="-5" dirty="0">
                <a:latin typeface="Arial"/>
                <a:cs typeface="Arial"/>
              </a:rPr>
              <a:t>to</a:t>
            </a:r>
            <a:r>
              <a:rPr sz="2000" spc="-35" dirty="0">
                <a:latin typeface="Arial"/>
                <a:cs typeface="Arial"/>
              </a:rPr>
              <a:t> </a:t>
            </a:r>
            <a:r>
              <a:rPr sz="2000" dirty="0">
                <a:latin typeface="Arial"/>
                <a:cs typeface="Arial"/>
              </a:rPr>
              <a:t>business.</a:t>
            </a:r>
            <a:endParaRPr sz="20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25400">
              <a:lnSpc>
                <a:spcPct val="100000"/>
              </a:lnSpc>
              <a:spcBef>
                <a:spcPts val="100"/>
              </a:spcBef>
            </a:pPr>
            <a:r>
              <a:rPr sz="3600" spc="-855" baseline="12731" dirty="0">
                <a:solidFill>
                  <a:srgbClr val="00007C"/>
                </a:solidFill>
                <a:latin typeface="UnDotum"/>
                <a:cs typeface="UnDotum"/>
              </a:rPr>
              <a:t> </a:t>
            </a:r>
            <a:r>
              <a:rPr sz="3200" spc="-5" dirty="0"/>
              <a:t>Significance </a:t>
            </a:r>
            <a:r>
              <a:rPr sz="3200" dirty="0"/>
              <a:t>of Business</a:t>
            </a:r>
            <a:r>
              <a:rPr sz="3200" spc="-75" dirty="0"/>
              <a:t> </a:t>
            </a:r>
            <a:r>
              <a:rPr sz="3200" dirty="0"/>
              <a:t>Environment</a:t>
            </a:r>
            <a:endParaRPr sz="3200">
              <a:latin typeface="UnDotum"/>
              <a:cs typeface="UnDotum"/>
            </a:endParaRPr>
          </a:p>
        </p:txBody>
      </p:sp>
      <p:sp>
        <p:nvSpPr>
          <p:cNvPr id="3" name="object 3"/>
          <p:cNvSpPr txBox="1"/>
          <p:nvPr/>
        </p:nvSpPr>
        <p:spPr>
          <a:xfrm>
            <a:off x="458469" y="12128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4" name="object 4"/>
          <p:cNvSpPr txBox="1"/>
          <p:nvPr/>
        </p:nvSpPr>
        <p:spPr>
          <a:xfrm>
            <a:off x="801369" y="1130300"/>
            <a:ext cx="8261984" cy="10668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First </a:t>
            </a:r>
            <a:r>
              <a:rPr sz="2000" b="1" dirty="0">
                <a:latin typeface="Arial"/>
                <a:cs typeface="Arial"/>
              </a:rPr>
              <a:t>Mover</a:t>
            </a:r>
            <a:r>
              <a:rPr sz="2000" b="1" spc="-15" dirty="0">
                <a:latin typeface="Arial"/>
                <a:cs typeface="Arial"/>
              </a:rPr>
              <a:t> </a:t>
            </a:r>
            <a:r>
              <a:rPr sz="2000" b="1" spc="-5" dirty="0">
                <a:latin typeface="Arial"/>
                <a:cs typeface="Arial"/>
              </a:rPr>
              <a:t>Advantage:</a:t>
            </a:r>
            <a:endParaRPr sz="2000">
              <a:latin typeface="Arial"/>
              <a:cs typeface="Arial"/>
            </a:endParaRPr>
          </a:p>
          <a:p>
            <a:pPr marL="12700" marR="5080">
              <a:lnSpc>
                <a:spcPct val="100000"/>
              </a:lnSpc>
              <a:spcBef>
                <a:spcPts val="500"/>
              </a:spcBef>
            </a:pPr>
            <a:r>
              <a:rPr sz="2000" spc="-5" dirty="0">
                <a:latin typeface="Arial"/>
                <a:cs typeface="Arial"/>
              </a:rPr>
              <a:t>Awareness </a:t>
            </a:r>
            <a:r>
              <a:rPr sz="2000" dirty="0">
                <a:latin typeface="Arial"/>
                <a:cs typeface="Arial"/>
              </a:rPr>
              <a:t>of environment </a:t>
            </a:r>
            <a:r>
              <a:rPr sz="2000" spc="-5" dirty="0">
                <a:latin typeface="Arial"/>
                <a:cs typeface="Arial"/>
              </a:rPr>
              <a:t>helps </a:t>
            </a:r>
            <a:r>
              <a:rPr sz="2000" dirty="0">
                <a:latin typeface="Arial"/>
                <a:cs typeface="Arial"/>
              </a:rPr>
              <a:t>an enterprise </a:t>
            </a:r>
            <a:r>
              <a:rPr sz="2000" spc="-5" dirty="0">
                <a:latin typeface="Arial"/>
                <a:cs typeface="Arial"/>
              </a:rPr>
              <a:t>to take advantage </a:t>
            </a:r>
            <a:r>
              <a:rPr sz="2000" dirty="0">
                <a:latin typeface="Arial"/>
                <a:cs typeface="Arial"/>
              </a:rPr>
              <a:t>of early  </a:t>
            </a:r>
            <a:r>
              <a:rPr sz="2000" spc="-5" dirty="0">
                <a:latin typeface="Arial"/>
                <a:cs typeface="Arial"/>
              </a:rPr>
              <a:t>opportunities instead </a:t>
            </a:r>
            <a:r>
              <a:rPr sz="2000" dirty="0">
                <a:latin typeface="Arial"/>
                <a:cs typeface="Arial"/>
              </a:rPr>
              <a:t>of loosing them </a:t>
            </a:r>
            <a:r>
              <a:rPr sz="2000" spc="-5" dirty="0">
                <a:latin typeface="Arial"/>
                <a:cs typeface="Arial"/>
              </a:rPr>
              <a:t>to</a:t>
            </a:r>
            <a:r>
              <a:rPr sz="2000" spc="-20" dirty="0">
                <a:latin typeface="Arial"/>
                <a:cs typeface="Arial"/>
              </a:rPr>
              <a:t> </a:t>
            </a:r>
            <a:r>
              <a:rPr sz="2000" spc="-5" dirty="0">
                <a:latin typeface="Arial"/>
                <a:cs typeface="Arial"/>
              </a:rPr>
              <a:t>competitors.</a:t>
            </a:r>
            <a:endParaRPr sz="2000">
              <a:latin typeface="Arial"/>
              <a:cs typeface="Arial"/>
            </a:endParaRPr>
          </a:p>
        </p:txBody>
      </p:sp>
      <p:sp>
        <p:nvSpPr>
          <p:cNvPr id="5" name="object 5"/>
          <p:cNvSpPr txBox="1"/>
          <p:nvPr/>
        </p:nvSpPr>
        <p:spPr>
          <a:xfrm>
            <a:off x="458469" y="2235200"/>
            <a:ext cx="5165090" cy="330200"/>
          </a:xfrm>
          <a:prstGeom prst="rect">
            <a:avLst/>
          </a:prstGeom>
        </p:spPr>
        <p:txBody>
          <a:bodyPr vert="horz" wrap="square" lIns="0" tIns="12700" rIns="0" bIns="0" rtlCol="0">
            <a:spAutoFit/>
          </a:bodyPr>
          <a:lstStyle/>
          <a:p>
            <a:pPr marL="12700">
              <a:lnSpc>
                <a:spcPct val="100000"/>
              </a:lnSpc>
              <a:spcBef>
                <a:spcPts val="100"/>
              </a:spcBef>
            </a:pPr>
            <a:r>
              <a:rPr sz="2000" spc="-5" dirty="0">
                <a:latin typeface="Arial"/>
                <a:cs typeface="Arial"/>
              </a:rPr>
              <a:t>E.g. Maruti </a:t>
            </a:r>
            <a:r>
              <a:rPr sz="2000" dirty="0">
                <a:latin typeface="Arial"/>
                <a:cs typeface="Arial"/>
              </a:rPr>
              <a:t>Udyog became leader </a:t>
            </a:r>
            <a:r>
              <a:rPr sz="2000" spc="-5" dirty="0">
                <a:latin typeface="Arial"/>
                <a:cs typeface="Arial"/>
              </a:rPr>
              <a:t>in </a:t>
            </a:r>
            <a:r>
              <a:rPr sz="2000" dirty="0">
                <a:latin typeface="Arial"/>
                <a:cs typeface="Arial"/>
              </a:rPr>
              <a:t>small</a:t>
            </a:r>
            <a:r>
              <a:rPr sz="2000" spc="-90" dirty="0">
                <a:latin typeface="Arial"/>
                <a:cs typeface="Arial"/>
              </a:rPr>
              <a:t> </a:t>
            </a:r>
            <a:r>
              <a:rPr sz="2000" dirty="0">
                <a:latin typeface="Arial"/>
                <a:cs typeface="Arial"/>
              </a:rPr>
              <a:t>car</a:t>
            </a:r>
            <a:endParaRPr sz="2000">
              <a:latin typeface="Arial"/>
              <a:cs typeface="Arial"/>
            </a:endParaRPr>
          </a:p>
        </p:txBody>
      </p:sp>
      <p:sp>
        <p:nvSpPr>
          <p:cNvPr id="6" name="object 6"/>
          <p:cNvSpPr txBox="1"/>
          <p:nvPr/>
        </p:nvSpPr>
        <p:spPr>
          <a:xfrm>
            <a:off x="458469" y="29908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7" name="object 7"/>
          <p:cNvSpPr txBox="1"/>
          <p:nvPr/>
        </p:nvSpPr>
        <p:spPr>
          <a:xfrm>
            <a:off x="801369" y="2908300"/>
            <a:ext cx="8090534" cy="137287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Early Warning</a:t>
            </a:r>
            <a:r>
              <a:rPr sz="2000" b="1" spc="-45" dirty="0">
                <a:latin typeface="Arial"/>
                <a:cs typeface="Arial"/>
              </a:rPr>
              <a:t> </a:t>
            </a:r>
            <a:r>
              <a:rPr sz="2000" b="1" spc="-5" dirty="0">
                <a:latin typeface="Arial"/>
                <a:cs typeface="Arial"/>
              </a:rPr>
              <a:t>Signal:</a:t>
            </a:r>
            <a:endParaRPr sz="2000">
              <a:latin typeface="Arial"/>
              <a:cs typeface="Arial"/>
            </a:endParaRPr>
          </a:p>
          <a:p>
            <a:pPr marL="12700" marR="5080">
              <a:lnSpc>
                <a:spcPct val="100200"/>
              </a:lnSpc>
              <a:spcBef>
                <a:spcPts val="495"/>
              </a:spcBef>
            </a:pPr>
            <a:r>
              <a:rPr sz="2000" spc="-5" dirty="0">
                <a:latin typeface="Arial"/>
                <a:cs typeface="Arial"/>
              </a:rPr>
              <a:t>Environmental awareness </a:t>
            </a:r>
            <a:r>
              <a:rPr sz="2000" dirty="0">
                <a:latin typeface="Arial"/>
                <a:cs typeface="Arial"/>
              </a:rPr>
              <a:t>serves </a:t>
            </a:r>
            <a:r>
              <a:rPr sz="2000" spc="-5" dirty="0">
                <a:latin typeface="Arial"/>
                <a:cs typeface="Arial"/>
              </a:rPr>
              <a:t>as </a:t>
            </a:r>
            <a:r>
              <a:rPr sz="2000" dirty="0">
                <a:latin typeface="Arial"/>
                <a:cs typeface="Arial"/>
              </a:rPr>
              <a:t>an early </a:t>
            </a:r>
            <a:r>
              <a:rPr sz="2000" spc="-5" dirty="0">
                <a:latin typeface="Arial"/>
                <a:cs typeface="Arial"/>
              </a:rPr>
              <a:t>warning </a:t>
            </a:r>
            <a:r>
              <a:rPr sz="2000" dirty="0">
                <a:latin typeface="Arial"/>
                <a:cs typeface="Arial"/>
              </a:rPr>
              <a:t>signal. </a:t>
            </a:r>
            <a:r>
              <a:rPr sz="2000" spc="-5" dirty="0">
                <a:latin typeface="Arial"/>
                <a:cs typeface="Arial"/>
              </a:rPr>
              <a:t>It </a:t>
            </a:r>
            <a:r>
              <a:rPr sz="2000" dirty="0">
                <a:latin typeface="Arial"/>
                <a:cs typeface="Arial"/>
              </a:rPr>
              <a:t>makes a  </a:t>
            </a:r>
            <a:r>
              <a:rPr sz="2000" spc="-5" dirty="0">
                <a:latin typeface="Arial"/>
                <a:cs typeface="Arial"/>
              </a:rPr>
              <a:t>firm aware </a:t>
            </a:r>
            <a:r>
              <a:rPr sz="2000" dirty="0">
                <a:latin typeface="Arial"/>
                <a:cs typeface="Arial"/>
              </a:rPr>
              <a:t>of </a:t>
            </a:r>
            <a:r>
              <a:rPr sz="2000" spc="-5" dirty="0">
                <a:latin typeface="Arial"/>
                <a:cs typeface="Arial"/>
              </a:rPr>
              <a:t>the future threats </a:t>
            </a:r>
            <a:r>
              <a:rPr sz="2000" dirty="0">
                <a:latin typeface="Arial"/>
                <a:cs typeface="Arial"/>
              </a:rPr>
              <a:t>or crisis so that </a:t>
            </a:r>
            <a:r>
              <a:rPr sz="2000" spc="-5" dirty="0">
                <a:latin typeface="Arial"/>
                <a:cs typeface="Arial"/>
              </a:rPr>
              <a:t>the firm </a:t>
            </a:r>
            <a:r>
              <a:rPr sz="2000" dirty="0">
                <a:latin typeface="Arial"/>
                <a:cs typeface="Arial"/>
              </a:rPr>
              <a:t>can </a:t>
            </a:r>
            <a:r>
              <a:rPr sz="2000" spc="-5" dirty="0">
                <a:latin typeface="Arial"/>
                <a:cs typeface="Arial"/>
              </a:rPr>
              <a:t>take timely  action to minimize the </a:t>
            </a:r>
            <a:r>
              <a:rPr sz="2000" dirty="0">
                <a:latin typeface="Arial"/>
                <a:cs typeface="Arial"/>
              </a:rPr>
              <a:t>adverse</a:t>
            </a:r>
            <a:r>
              <a:rPr sz="2000" spc="15" dirty="0">
                <a:latin typeface="Arial"/>
                <a:cs typeface="Arial"/>
              </a:rPr>
              <a:t> </a:t>
            </a:r>
            <a:r>
              <a:rPr sz="2000" spc="-5" dirty="0">
                <a:latin typeface="Arial"/>
                <a:cs typeface="Arial"/>
              </a:rPr>
              <a:t>effects.</a:t>
            </a:r>
            <a:endParaRPr sz="2000">
              <a:latin typeface="Arial"/>
              <a:cs typeface="Arial"/>
            </a:endParaRPr>
          </a:p>
        </p:txBody>
      </p:sp>
      <p:sp>
        <p:nvSpPr>
          <p:cNvPr id="8" name="object 8"/>
          <p:cNvSpPr txBox="1"/>
          <p:nvPr/>
        </p:nvSpPr>
        <p:spPr>
          <a:xfrm>
            <a:off x="458469" y="47053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9" name="object 9"/>
          <p:cNvSpPr txBox="1"/>
          <p:nvPr/>
        </p:nvSpPr>
        <p:spPr>
          <a:xfrm>
            <a:off x="801369" y="4622800"/>
            <a:ext cx="7895590" cy="143637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Customer</a:t>
            </a:r>
            <a:r>
              <a:rPr sz="2000" b="1" spc="-15" dirty="0">
                <a:latin typeface="Arial"/>
                <a:cs typeface="Arial"/>
              </a:rPr>
              <a:t> </a:t>
            </a:r>
            <a:r>
              <a:rPr sz="2000" b="1" spc="-5" dirty="0">
                <a:latin typeface="Arial"/>
                <a:cs typeface="Arial"/>
              </a:rPr>
              <a:t>Focus:</a:t>
            </a:r>
            <a:endParaRPr sz="2000">
              <a:latin typeface="Arial"/>
              <a:cs typeface="Arial"/>
            </a:endParaRPr>
          </a:p>
          <a:p>
            <a:pPr marL="12700" marR="5080">
              <a:lnSpc>
                <a:spcPct val="100000"/>
              </a:lnSpc>
              <a:spcBef>
                <a:spcPts val="500"/>
              </a:spcBef>
            </a:pPr>
            <a:r>
              <a:rPr sz="2000" spc="-5" dirty="0">
                <a:latin typeface="Arial"/>
                <a:cs typeface="Arial"/>
              </a:rPr>
              <a:t>Environmental </a:t>
            </a:r>
            <a:r>
              <a:rPr sz="2000" dirty="0">
                <a:latin typeface="Arial"/>
                <a:cs typeface="Arial"/>
              </a:rPr>
              <a:t>understanding makes </a:t>
            </a:r>
            <a:r>
              <a:rPr sz="2000" spc="-5" dirty="0">
                <a:latin typeface="Arial"/>
                <a:cs typeface="Arial"/>
              </a:rPr>
              <a:t>the </a:t>
            </a:r>
            <a:r>
              <a:rPr sz="2000" dirty="0">
                <a:latin typeface="Arial"/>
                <a:cs typeface="Arial"/>
              </a:rPr>
              <a:t>management sensitive </a:t>
            </a:r>
            <a:r>
              <a:rPr sz="2000" spc="-5" dirty="0">
                <a:latin typeface="Arial"/>
                <a:cs typeface="Arial"/>
              </a:rPr>
              <a:t>to the  </a:t>
            </a:r>
            <a:r>
              <a:rPr sz="2000" dirty="0">
                <a:latin typeface="Arial"/>
                <a:cs typeface="Arial"/>
              </a:rPr>
              <a:t>changing needs and </a:t>
            </a:r>
            <a:r>
              <a:rPr sz="2000" spc="-5" dirty="0">
                <a:latin typeface="Arial"/>
                <a:cs typeface="Arial"/>
              </a:rPr>
              <a:t>expectations of the</a:t>
            </a:r>
            <a:r>
              <a:rPr sz="2000" spc="-10" dirty="0">
                <a:latin typeface="Arial"/>
                <a:cs typeface="Arial"/>
              </a:rPr>
              <a:t> </a:t>
            </a:r>
            <a:r>
              <a:rPr sz="2000" dirty="0">
                <a:latin typeface="Arial"/>
                <a:cs typeface="Arial"/>
              </a:rPr>
              <a:t>consumers.</a:t>
            </a:r>
            <a:endParaRPr sz="2000">
              <a:latin typeface="Arial"/>
              <a:cs typeface="Arial"/>
            </a:endParaRPr>
          </a:p>
          <a:p>
            <a:pPr marL="12700">
              <a:lnSpc>
                <a:spcPct val="100000"/>
              </a:lnSpc>
              <a:spcBef>
                <a:spcPts val="509"/>
              </a:spcBef>
            </a:pPr>
            <a:r>
              <a:rPr sz="2000" spc="-5" dirty="0">
                <a:latin typeface="Arial"/>
                <a:cs typeface="Arial"/>
              </a:rPr>
              <a:t>E.g. Apps </a:t>
            </a:r>
            <a:r>
              <a:rPr sz="2000" dirty="0">
                <a:latin typeface="Arial"/>
                <a:cs typeface="Arial"/>
              </a:rPr>
              <a:t>in</a:t>
            </a:r>
            <a:r>
              <a:rPr sz="2000" spc="-10" dirty="0">
                <a:latin typeface="Arial"/>
                <a:cs typeface="Arial"/>
              </a:rPr>
              <a:t> </a:t>
            </a:r>
            <a:r>
              <a:rPr sz="2000" spc="-5" dirty="0">
                <a:latin typeface="Arial"/>
                <a:cs typeface="Arial"/>
              </a:rPr>
              <a:t>mobile</a:t>
            </a:r>
            <a:endParaRPr sz="200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8469" y="5867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801369" y="567690"/>
            <a:ext cx="266128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Strategy</a:t>
            </a:r>
            <a:r>
              <a:rPr sz="2000" b="1" spc="-65" dirty="0">
                <a:latin typeface="Arial"/>
                <a:cs typeface="Arial"/>
              </a:rPr>
              <a:t> </a:t>
            </a:r>
            <a:r>
              <a:rPr sz="2000" b="1" spc="-5" dirty="0">
                <a:latin typeface="Arial"/>
                <a:cs typeface="Arial"/>
              </a:rPr>
              <a:t>Formulation:</a:t>
            </a:r>
            <a:endParaRPr sz="2000">
              <a:latin typeface="Arial"/>
              <a:cs typeface="Arial"/>
            </a:endParaRPr>
          </a:p>
        </p:txBody>
      </p:sp>
      <p:sp>
        <p:nvSpPr>
          <p:cNvPr id="4" name="object 4"/>
          <p:cNvSpPr txBox="1"/>
          <p:nvPr/>
        </p:nvSpPr>
        <p:spPr>
          <a:xfrm>
            <a:off x="458469" y="935990"/>
            <a:ext cx="7712075" cy="1308100"/>
          </a:xfrm>
          <a:prstGeom prst="rect">
            <a:avLst/>
          </a:prstGeom>
        </p:spPr>
        <p:txBody>
          <a:bodyPr vert="horz" wrap="square" lIns="0" tIns="12700" rIns="0" bIns="0" rtlCol="0">
            <a:spAutoFit/>
          </a:bodyPr>
          <a:lstStyle/>
          <a:p>
            <a:pPr marL="354965" marR="5080">
              <a:lnSpc>
                <a:spcPct val="100000"/>
              </a:lnSpc>
              <a:spcBef>
                <a:spcPts val="100"/>
              </a:spcBef>
            </a:pPr>
            <a:r>
              <a:rPr sz="2000" spc="-5" dirty="0">
                <a:latin typeface="Arial"/>
                <a:cs typeface="Arial"/>
              </a:rPr>
              <a:t>Environmental monitoring </a:t>
            </a:r>
            <a:r>
              <a:rPr sz="2000" dirty="0">
                <a:latin typeface="Arial"/>
                <a:cs typeface="Arial"/>
              </a:rPr>
              <a:t>provieds relevant </a:t>
            </a:r>
            <a:r>
              <a:rPr sz="2000" spc="-5" dirty="0">
                <a:latin typeface="Arial"/>
                <a:cs typeface="Arial"/>
              </a:rPr>
              <a:t>information </a:t>
            </a:r>
            <a:r>
              <a:rPr sz="2000" dirty="0">
                <a:latin typeface="Arial"/>
                <a:cs typeface="Arial"/>
              </a:rPr>
              <a:t>about </a:t>
            </a:r>
            <a:r>
              <a:rPr sz="2000" spc="-5" dirty="0">
                <a:latin typeface="Arial"/>
                <a:cs typeface="Arial"/>
              </a:rPr>
              <a:t>the  </a:t>
            </a:r>
            <a:r>
              <a:rPr sz="2000" dirty="0">
                <a:latin typeface="Arial"/>
                <a:cs typeface="Arial"/>
              </a:rPr>
              <a:t>business </a:t>
            </a:r>
            <a:r>
              <a:rPr sz="2000" spc="-5" dirty="0">
                <a:latin typeface="Arial"/>
                <a:cs typeface="Arial"/>
              </a:rPr>
              <a:t>opportunities on the </a:t>
            </a:r>
            <a:r>
              <a:rPr sz="2000" dirty="0">
                <a:latin typeface="Arial"/>
                <a:cs typeface="Arial"/>
              </a:rPr>
              <a:t>basis of </a:t>
            </a:r>
            <a:r>
              <a:rPr sz="2000" spc="-5" dirty="0">
                <a:latin typeface="Arial"/>
                <a:cs typeface="Arial"/>
              </a:rPr>
              <a:t>which firms </a:t>
            </a:r>
            <a:r>
              <a:rPr sz="2000" dirty="0">
                <a:latin typeface="Arial"/>
                <a:cs typeface="Arial"/>
              </a:rPr>
              <a:t>makes </a:t>
            </a:r>
            <a:r>
              <a:rPr sz="2000" spc="-5" dirty="0">
                <a:latin typeface="Arial"/>
                <a:cs typeface="Arial"/>
              </a:rPr>
              <a:t>their  stratrgies.</a:t>
            </a:r>
            <a:endParaRPr sz="2000">
              <a:latin typeface="Arial"/>
              <a:cs typeface="Arial"/>
            </a:endParaRPr>
          </a:p>
          <a:p>
            <a:pPr marL="12700">
              <a:lnSpc>
                <a:spcPct val="100000"/>
              </a:lnSpc>
              <a:spcBef>
                <a:spcPts val="500"/>
              </a:spcBef>
            </a:pPr>
            <a:r>
              <a:rPr sz="2000" spc="-5" dirty="0">
                <a:latin typeface="Arial"/>
                <a:cs typeface="Arial"/>
              </a:rPr>
              <a:t>e.g. ITC in travel </a:t>
            </a:r>
            <a:r>
              <a:rPr sz="2000" dirty="0">
                <a:latin typeface="Arial"/>
                <a:cs typeface="Arial"/>
              </a:rPr>
              <a:t>and </a:t>
            </a:r>
            <a:r>
              <a:rPr sz="2000" spc="-5" dirty="0">
                <a:latin typeface="Arial"/>
                <a:cs typeface="Arial"/>
              </a:rPr>
              <a:t>tourism</a:t>
            </a:r>
            <a:r>
              <a:rPr sz="2000" spc="5" dirty="0">
                <a:latin typeface="Arial"/>
                <a:cs typeface="Arial"/>
              </a:rPr>
              <a:t> </a:t>
            </a:r>
            <a:r>
              <a:rPr sz="2000" dirty="0">
                <a:latin typeface="Arial"/>
                <a:cs typeface="Arial"/>
              </a:rPr>
              <a:t>sector</a:t>
            </a:r>
            <a:endParaRPr sz="2000">
              <a:latin typeface="Arial"/>
              <a:cs typeface="Arial"/>
            </a:endParaRPr>
          </a:p>
        </p:txBody>
      </p:sp>
      <p:sp>
        <p:nvSpPr>
          <p:cNvPr id="5" name="object 5"/>
          <p:cNvSpPr txBox="1"/>
          <p:nvPr/>
        </p:nvSpPr>
        <p:spPr>
          <a:xfrm>
            <a:off x="458469" y="26695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801369" y="2586990"/>
            <a:ext cx="7860030" cy="10668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Public Image:</a:t>
            </a:r>
            <a:endParaRPr sz="2000">
              <a:latin typeface="Arial"/>
              <a:cs typeface="Arial"/>
            </a:endParaRPr>
          </a:p>
          <a:p>
            <a:pPr marL="12700" marR="5080">
              <a:lnSpc>
                <a:spcPct val="100000"/>
              </a:lnSpc>
              <a:spcBef>
                <a:spcPts val="500"/>
              </a:spcBef>
            </a:pPr>
            <a:r>
              <a:rPr sz="2000" dirty="0">
                <a:latin typeface="Arial"/>
                <a:cs typeface="Arial"/>
              </a:rPr>
              <a:t>A business </a:t>
            </a:r>
            <a:r>
              <a:rPr sz="2000" spc="-5" dirty="0">
                <a:latin typeface="Arial"/>
                <a:cs typeface="Arial"/>
              </a:rPr>
              <a:t>firm </a:t>
            </a:r>
            <a:r>
              <a:rPr sz="2000" dirty="0">
                <a:latin typeface="Arial"/>
                <a:cs typeface="Arial"/>
              </a:rPr>
              <a:t>can improve </a:t>
            </a:r>
            <a:r>
              <a:rPr sz="2000" spc="-5" dirty="0">
                <a:latin typeface="Arial"/>
                <a:cs typeface="Arial"/>
              </a:rPr>
              <a:t>its </a:t>
            </a:r>
            <a:r>
              <a:rPr sz="2000" dirty="0">
                <a:latin typeface="Arial"/>
                <a:cs typeface="Arial"/>
              </a:rPr>
              <a:t>imageby </a:t>
            </a:r>
            <a:r>
              <a:rPr sz="2000" spc="-5" dirty="0">
                <a:latin typeface="Arial"/>
                <a:cs typeface="Arial"/>
              </a:rPr>
              <a:t>showing </a:t>
            </a:r>
            <a:r>
              <a:rPr sz="2000" dirty="0">
                <a:latin typeface="Arial"/>
                <a:cs typeface="Arial"/>
              </a:rPr>
              <a:t>that </a:t>
            </a:r>
            <a:r>
              <a:rPr sz="2000" spc="-5" dirty="0">
                <a:latin typeface="Arial"/>
                <a:cs typeface="Arial"/>
              </a:rPr>
              <a:t>it is sensitive to  its </a:t>
            </a:r>
            <a:r>
              <a:rPr sz="2000" dirty="0">
                <a:latin typeface="Arial"/>
                <a:cs typeface="Arial"/>
              </a:rPr>
              <a:t>environment and responsiveas per </a:t>
            </a:r>
            <a:r>
              <a:rPr sz="2000" spc="-5" dirty="0">
                <a:latin typeface="Arial"/>
                <a:cs typeface="Arial"/>
              </a:rPr>
              <a:t>the </a:t>
            </a:r>
            <a:r>
              <a:rPr sz="2000" dirty="0">
                <a:latin typeface="Arial"/>
                <a:cs typeface="Arial"/>
              </a:rPr>
              <a:t>need of</a:t>
            </a:r>
            <a:r>
              <a:rPr sz="2000" spc="-55" dirty="0">
                <a:latin typeface="Arial"/>
                <a:cs typeface="Arial"/>
              </a:rPr>
              <a:t> </a:t>
            </a:r>
            <a:r>
              <a:rPr sz="2000" dirty="0">
                <a:latin typeface="Arial"/>
                <a:cs typeface="Arial"/>
              </a:rPr>
              <a:t>customers.</a:t>
            </a:r>
            <a:endParaRPr sz="2000">
              <a:latin typeface="Arial"/>
              <a:cs typeface="Arial"/>
            </a:endParaRPr>
          </a:p>
        </p:txBody>
      </p:sp>
      <p:sp>
        <p:nvSpPr>
          <p:cNvPr id="7" name="object 7"/>
          <p:cNvSpPr txBox="1"/>
          <p:nvPr/>
        </p:nvSpPr>
        <p:spPr>
          <a:xfrm>
            <a:off x="458469" y="40792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8" name="object 8"/>
          <p:cNvSpPr txBox="1"/>
          <p:nvPr/>
        </p:nvSpPr>
        <p:spPr>
          <a:xfrm>
            <a:off x="801369" y="3996690"/>
            <a:ext cx="7867015" cy="167767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Continuous</a:t>
            </a:r>
            <a:r>
              <a:rPr sz="2000" b="1" spc="-15" dirty="0">
                <a:latin typeface="Arial"/>
                <a:cs typeface="Arial"/>
              </a:rPr>
              <a:t> </a:t>
            </a:r>
            <a:r>
              <a:rPr sz="2000" b="1" spc="-5" dirty="0">
                <a:latin typeface="Arial"/>
                <a:cs typeface="Arial"/>
              </a:rPr>
              <a:t>Learning:</a:t>
            </a:r>
            <a:endParaRPr sz="2000">
              <a:latin typeface="Arial"/>
              <a:cs typeface="Arial"/>
            </a:endParaRPr>
          </a:p>
          <a:p>
            <a:pPr marL="12700" marR="5080">
              <a:lnSpc>
                <a:spcPct val="100099"/>
              </a:lnSpc>
              <a:spcBef>
                <a:spcPts val="495"/>
              </a:spcBef>
            </a:pPr>
            <a:r>
              <a:rPr sz="2000" spc="-5" dirty="0">
                <a:latin typeface="Arial"/>
                <a:cs typeface="Arial"/>
              </a:rPr>
              <a:t>Environmental </a:t>
            </a:r>
            <a:r>
              <a:rPr sz="2000" dirty="0">
                <a:latin typeface="Arial"/>
                <a:cs typeface="Arial"/>
              </a:rPr>
              <a:t>analysis serves as broad and ongoing </a:t>
            </a:r>
            <a:r>
              <a:rPr sz="2000" spc="-5" dirty="0">
                <a:latin typeface="Arial"/>
                <a:cs typeface="Arial"/>
              </a:rPr>
              <a:t>education for  </a:t>
            </a:r>
            <a:r>
              <a:rPr sz="2000" dirty="0">
                <a:latin typeface="Arial"/>
                <a:cs typeface="Arial"/>
              </a:rPr>
              <a:t>business </a:t>
            </a:r>
            <a:r>
              <a:rPr sz="2000" spc="-5" dirty="0">
                <a:latin typeface="Arial"/>
                <a:cs typeface="Arial"/>
              </a:rPr>
              <a:t>executive </a:t>
            </a:r>
            <a:r>
              <a:rPr sz="2000" dirty="0">
                <a:latin typeface="Arial"/>
                <a:cs typeface="Arial"/>
              </a:rPr>
              <a:t>so </a:t>
            </a:r>
            <a:r>
              <a:rPr sz="2000" spc="-5" dirty="0">
                <a:latin typeface="Arial"/>
                <a:cs typeface="Arial"/>
              </a:rPr>
              <a:t>that they </a:t>
            </a:r>
            <a:r>
              <a:rPr sz="2000" dirty="0">
                <a:latin typeface="Arial"/>
                <a:cs typeface="Arial"/>
              </a:rPr>
              <a:t>can react </a:t>
            </a:r>
            <a:r>
              <a:rPr sz="2000" spc="-5" dirty="0">
                <a:latin typeface="Arial"/>
                <a:cs typeface="Arial"/>
              </a:rPr>
              <a:t>in an </a:t>
            </a:r>
            <a:r>
              <a:rPr sz="2000" dirty="0">
                <a:latin typeface="Arial"/>
                <a:cs typeface="Arial"/>
              </a:rPr>
              <a:t>appropriate manner </a:t>
            </a:r>
            <a:r>
              <a:rPr sz="2000" spc="-5" dirty="0">
                <a:latin typeface="Arial"/>
                <a:cs typeface="Arial"/>
              </a:rPr>
              <a:t>to  the </a:t>
            </a:r>
            <a:r>
              <a:rPr sz="2000" dirty="0">
                <a:latin typeface="Arial"/>
                <a:cs typeface="Arial"/>
              </a:rPr>
              <a:t>changing scenario and </a:t>
            </a:r>
            <a:r>
              <a:rPr sz="2000" spc="-5" dirty="0">
                <a:latin typeface="Arial"/>
                <a:cs typeface="Arial"/>
              </a:rPr>
              <a:t>therby </a:t>
            </a:r>
            <a:r>
              <a:rPr sz="2000" dirty="0">
                <a:latin typeface="Arial"/>
                <a:cs typeface="Arial"/>
              </a:rPr>
              <a:t>increase </a:t>
            </a:r>
            <a:r>
              <a:rPr sz="2000" spc="-5" dirty="0">
                <a:latin typeface="Arial"/>
                <a:cs typeface="Arial"/>
              </a:rPr>
              <a:t>the </a:t>
            </a:r>
            <a:r>
              <a:rPr sz="2000" dirty="0">
                <a:latin typeface="Arial"/>
                <a:cs typeface="Arial"/>
              </a:rPr>
              <a:t>success </a:t>
            </a:r>
            <a:r>
              <a:rPr sz="2000" spc="-5" dirty="0">
                <a:latin typeface="Arial"/>
                <a:cs typeface="Arial"/>
              </a:rPr>
              <a:t>of their  organization.</a:t>
            </a:r>
            <a:endParaRPr sz="20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72639" y="474979"/>
            <a:ext cx="4994910" cy="574040"/>
          </a:xfrm>
          <a:prstGeom prst="rect">
            <a:avLst/>
          </a:prstGeom>
        </p:spPr>
        <p:txBody>
          <a:bodyPr vert="horz" wrap="square" lIns="0" tIns="12700" rIns="0" bIns="0" rtlCol="0">
            <a:spAutoFit/>
          </a:bodyPr>
          <a:lstStyle/>
          <a:p>
            <a:pPr marL="12700">
              <a:lnSpc>
                <a:spcPct val="100000"/>
              </a:lnSpc>
              <a:spcBef>
                <a:spcPts val="100"/>
              </a:spcBef>
            </a:pPr>
            <a:r>
              <a:rPr sz="3600" b="1" spc="-10" dirty="0">
                <a:latin typeface="Arial"/>
                <a:cs typeface="Arial"/>
              </a:rPr>
              <a:t>Environment</a:t>
            </a:r>
            <a:r>
              <a:rPr sz="3600" b="1" spc="-35" dirty="0">
                <a:latin typeface="Arial"/>
                <a:cs typeface="Arial"/>
              </a:rPr>
              <a:t> </a:t>
            </a:r>
            <a:r>
              <a:rPr sz="3600" b="1" spc="-10" dirty="0">
                <a:latin typeface="Arial"/>
                <a:cs typeface="Arial"/>
              </a:rPr>
              <a:t>Scanning</a:t>
            </a:r>
            <a:endParaRPr sz="3600">
              <a:latin typeface="Arial"/>
              <a:cs typeface="Arial"/>
            </a:endParaRPr>
          </a:p>
        </p:txBody>
      </p:sp>
      <p:sp>
        <p:nvSpPr>
          <p:cNvPr id="3" name="object 3"/>
          <p:cNvSpPr txBox="1"/>
          <p:nvPr/>
        </p:nvSpPr>
        <p:spPr>
          <a:xfrm>
            <a:off x="534669" y="134747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4" name="object 4"/>
          <p:cNvSpPr txBox="1"/>
          <p:nvPr/>
        </p:nvSpPr>
        <p:spPr>
          <a:xfrm>
            <a:off x="877569" y="1329690"/>
            <a:ext cx="7510780" cy="939800"/>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Arial"/>
                <a:cs typeface="Arial"/>
              </a:rPr>
              <a:t>The word </a:t>
            </a:r>
            <a:r>
              <a:rPr sz="2000" dirty="0">
                <a:latin typeface="Arial"/>
                <a:cs typeface="Arial"/>
              </a:rPr>
              <a:t>scanning means </a:t>
            </a:r>
            <a:r>
              <a:rPr sz="2000" spc="-5" dirty="0">
                <a:latin typeface="Arial"/>
                <a:cs typeface="Arial"/>
              </a:rPr>
              <a:t>to look carefully into or to examine. </a:t>
            </a:r>
            <a:r>
              <a:rPr sz="2000" dirty="0">
                <a:latin typeface="Arial"/>
                <a:cs typeface="Arial"/>
              </a:rPr>
              <a:t>The  </a:t>
            </a:r>
            <a:r>
              <a:rPr sz="2000" spc="-5" dirty="0">
                <a:latin typeface="Arial"/>
                <a:cs typeface="Arial"/>
              </a:rPr>
              <a:t>term Environmental </a:t>
            </a:r>
            <a:r>
              <a:rPr sz="2000" dirty="0">
                <a:latin typeface="Arial"/>
                <a:cs typeface="Arial"/>
              </a:rPr>
              <a:t>Scanning </a:t>
            </a:r>
            <a:r>
              <a:rPr sz="2000" spc="-5" dirty="0">
                <a:latin typeface="Arial"/>
                <a:cs typeface="Arial"/>
              </a:rPr>
              <a:t>in </a:t>
            </a:r>
            <a:r>
              <a:rPr sz="2000" dirty="0">
                <a:latin typeface="Arial"/>
                <a:cs typeface="Arial"/>
              </a:rPr>
              <a:t>business </a:t>
            </a:r>
            <a:r>
              <a:rPr sz="2000" spc="-5" dirty="0">
                <a:latin typeface="Arial"/>
                <a:cs typeface="Arial"/>
              </a:rPr>
              <a:t>means to “Carefully  analyze the various factors influencing the</a:t>
            </a:r>
            <a:r>
              <a:rPr sz="2000" spc="35" dirty="0">
                <a:latin typeface="Arial"/>
                <a:cs typeface="Arial"/>
              </a:rPr>
              <a:t> </a:t>
            </a:r>
            <a:r>
              <a:rPr sz="2000" dirty="0">
                <a:latin typeface="Arial"/>
                <a:cs typeface="Arial"/>
              </a:rPr>
              <a:t>business”.</a:t>
            </a:r>
            <a:endParaRPr sz="2000">
              <a:latin typeface="Arial"/>
              <a:cs typeface="Arial"/>
            </a:endParaRPr>
          </a:p>
        </p:txBody>
      </p:sp>
      <p:sp>
        <p:nvSpPr>
          <p:cNvPr id="5" name="object 5"/>
          <p:cNvSpPr txBox="1"/>
          <p:nvPr/>
        </p:nvSpPr>
        <p:spPr>
          <a:xfrm>
            <a:off x="534669" y="269367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877569" y="2675890"/>
            <a:ext cx="7559675" cy="939800"/>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Arial"/>
                <a:cs typeface="Arial"/>
              </a:rPr>
              <a:t>Environmental </a:t>
            </a:r>
            <a:r>
              <a:rPr sz="2000" dirty="0">
                <a:latin typeface="Arial"/>
                <a:cs typeface="Arial"/>
              </a:rPr>
              <a:t>Scanning </a:t>
            </a:r>
            <a:r>
              <a:rPr sz="2000" spc="-5" dirty="0">
                <a:latin typeface="Arial"/>
                <a:cs typeface="Arial"/>
              </a:rPr>
              <a:t>is </a:t>
            </a:r>
            <a:r>
              <a:rPr sz="2000" dirty="0">
                <a:latin typeface="Arial"/>
                <a:cs typeface="Arial"/>
              </a:rPr>
              <a:t>a </a:t>
            </a:r>
            <a:r>
              <a:rPr sz="2000" spc="-5" dirty="0">
                <a:latin typeface="Arial"/>
                <a:cs typeface="Arial"/>
              </a:rPr>
              <a:t>continuous </a:t>
            </a:r>
            <a:r>
              <a:rPr sz="2000" dirty="0">
                <a:latin typeface="Arial"/>
                <a:cs typeface="Arial"/>
              </a:rPr>
              <a:t>process. </a:t>
            </a:r>
            <a:r>
              <a:rPr sz="2000" spc="-5" dirty="0">
                <a:latin typeface="Arial"/>
                <a:cs typeface="Arial"/>
              </a:rPr>
              <a:t>It is </a:t>
            </a:r>
            <a:r>
              <a:rPr sz="2000" dirty="0">
                <a:latin typeface="Arial"/>
                <a:cs typeface="Arial"/>
              </a:rPr>
              <a:t>a process by  </a:t>
            </a:r>
            <a:r>
              <a:rPr sz="2000" spc="-5" dirty="0">
                <a:latin typeface="Arial"/>
                <a:cs typeface="Arial"/>
              </a:rPr>
              <a:t>which the organizations monitor their relevant environment to  identify opportunities </a:t>
            </a:r>
            <a:r>
              <a:rPr sz="2000" dirty="0">
                <a:latin typeface="Arial"/>
                <a:cs typeface="Arial"/>
              </a:rPr>
              <a:t>and </a:t>
            </a:r>
            <a:r>
              <a:rPr sz="2000" spc="-5" dirty="0">
                <a:latin typeface="Arial"/>
                <a:cs typeface="Arial"/>
              </a:rPr>
              <a:t>threats affecting their</a:t>
            </a:r>
            <a:r>
              <a:rPr sz="2000" spc="20" dirty="0">
                <a:latin typeface="Arial"/>
                <a:cs typeface="Arial"/>
              </a:rPr>
              <a:t> </a:t>
            </a:r>
            <a:r>
              <a:rPr sz="2000" dirty="0">
                <a:latin typeface="Arial"/>
                <a:cs typeface="Arial"/>
              </a:rPr>
              <a:t>business.</a:t>
            </a:r>
            <a:endParaRPr sz="2000">
              <a:latin typeface="Arial"/>
              <a:cs typeface="Arial"/>
            </a:endParaRPr>
          </a:p>
        </p:txBody>
      </p:sp>
      <p:sp>
        <p:nvSpPr>
          <p:cNvPr id="7" name="object 7"/>
          <p:cNvSpPr txBox="1"/>
          <p:nvPr/>
        </p:nvSpPr>
        <p:spPr>
          <a:xfrm>
            <a:off x="760730" y="4390390"/>
            <a:ext cx="7618730" cy="1549400"/>
          </a:xfrm>
          <a:prstGeom prst="rect">
            <a:avLst/>
          </a:prstGeom>
        </p:spPr>
        <p:txBody>
          <a:bodyPr vert="horz" wrap="square" lIns="0" tIns="12700" rIns="0" bIns="0" rtlCol="0">
            <a:spAutoFit/>
          </a:bodyPr>
          <a:lstStyle/>
          <a:p>
            <a:pPr marL="350520" marR="5080" indent="-337820">
              <a:lnSpc>
                <a:spcPct val="100000"/>
              </a:lnSpc>
              <a:spcBef>
                <a:spcPts val="100"/>
              </a:spcBef>
            </a:pPr>
            <a:r>
              <a:rPr sz="2000" dirty="0">
                <a:latin typeface="Arial"/>
                <a:cs typeface="Arial"/>
              </a:rPr>
              <a:t>According </a:t>
            </a:r>
            <a:r>
              <a:rPr sz="2000" spc="-5" dirty="0">
                <a:latin typeface="Arial"/>
                <a:cs typeface="Arial"/>
              </a:rPr>
              <a:t>to </a:t>
            </a:r>
            <a:r>
              <a:rPr sz="2000" b="1" spc="-5" dirty="0">
                <a:latin typeface="Arial"/>
                <a:cs typeface="Arial"/>
              </a:rPr>
              <a:t>B.W.Denning </a:t>
            </a:r>
            <a:r>
              <a:rPr sz="2000" dirty="0">
                <a:latin typeface="Arial"/>
                <a:cs typeface="Arial"/>
              </a:rPr>
              <a:t>“The advocates </a:t>
            </a:r>
            <a:r>
              <a:rPr sz="2000" spc="-5" dirty="0">
                <a:latin typeface="Arial"/>
                <a:cs typeface="Arial"/>
              </a:rPr>
              <a:t>of systematic </a:t>
            </a:r>
            <a:r>
              <a:rPr sz="2000" dirty="0">
                <a:latin typeface="Arial"/>
                <a:cs typeface="Arial"/>
              </a:rPr>
              <a:t>corporate  planning </a:t>
            </a:r>
            <a:r>
              <a:rPr sz="2000" spc="-5" dirty="0">
                <a:latin typeface="Arial"/>
                <a:cs typeface="Arial"/>
              </a:rPr>
              <a:t>(strategic management </a:t>
            </a:r>
            <a:r>
              <a:rPr sz="2000" dirty="0">
                <a:latin typeface="Arial"/>
                <a:cs typeface="Arial"/>
              </a:rPr>
              <a:t>process) base </a:t>
            </a:r>
            <a:r>
              <a:rPr sz="2000" spc="-5" dirty="0">
                <a:latin typeface="Arial"/>
                <a:cs typeface="Arial"/>
              </a:rPr>
              <a:t>their </a:t>
            </a:r>
            <a:r>
              <a:rPr sz="2000" dirty="0">
                <a:latin typeface="Arial"/>
                <a:cs typeface="Arial"/>
              </a:rPr>
              <a:t>case </a:t>
            </a:r>
            <a:r>
              <a:rPr sz="2000" spc="-5" dirty="0">
                <a:latin typeface="Arial"/>
                <a:cs typeface="Arial"/>
              </a:rPr>
              <a:t>on the  view that the determination of the future </a:t>
            </a:r>
            <a:r>
              <a:rPr sz="2000" dirty="0">
                <a:latin typeface="Arial"/>
                <a:cs typeface="Arial"/>
              </a:rPr>
              <a:t>can </a:t>
            </a:r>
            <a:r>
              <a:rPr sz="2000" spc="-5" dirty="0">
                <a:latin typeface="Arial"/>
                <a:cs typeface="Arial"/>
              </a:rPr>
              <a:t>be improved </a:t>
            </a:r>
            <a:r>
              <a:rPr sz="2000" dirty="0">
                <a:latin typeface="Arial"/>
                <a:cs typeface="Arial"/>
              </a:rPr>
              <a:t>by a  </a:t>
            </a:r>
            <a:r>
              <a:rPr sz="2000" spc="-5" dirty="0">
                <a:latin typeface="Arial"/>
                <a:cs typeface="Arial"/>
              </a:rPr>
              <a:t>systematic </a:t>
            </a:r>
            <a:r>
              <a:rPr sz="2000" dirty="0">
                <a:latin typeface="Arial"/>
                <a:cs typeface="Arial"/>
              </a:rPr>
              <a:t>analytical approach </a:t>
            </a:r>
            <a:r>
              <a:rPr sz="2000" spc="-5" dirty="0">
                <a:latin typeface="Arial"/>
                <a:cs typeface="Arial"/>
              </a:rPr>
              <a:t>which reviews the </a:t>
            </a:r>
            <a:r>
              <a:rPr sz="2000" dirty="0">
                <a:latin typeface="Arial"/>
                <a:cs typeface="Arial"/>
              </a:rPr>
              <a:t>business </a:t>
            </a:r>
            <a:r>
              <a:rPr sz="2000" spc="-5" dirty="0">
                <a:latin typeface="Arial"/>
                <a:cs typeface="Arial"/>
              </a:rPr>
              <a:t>as</a:t>
            </a:r>
            <a:r>
              <a:rPr sz="2000" dirty="0">
                <a:latin typeface="Arial"/>
                <a:cs typeface="Arial"/>
              </a:rPr>
              <a:t> a</a:t>
            </a:r>
            <a:endParaRPr sz="2000">
              <a:latin typeface="Arial"/>
              <a:cs typeface="Arial"/>
            </a:endParaRPr>
          </a:p>
          <a:p>
            <a:pPr marL="1898650">
              <a:lnSpc>
                <a:spcPct val="100000"/>
              </a:lnSpc>
            </a:pPr>
            <a:r>
              <a:rPr sz="2000" spc="-5" dirty="0">
                <a:latin typeface="Arial"/>
                <a:cs typeface="Arial"/>
              </a:rPr>
              <a:t>whole </a:t>
            </a:r>
            <a:r>
              <a:rPr sz="2000" dirty="0">
                <a:latin typeface="Arial"/>
                <a:cs typeface="Arial"/>
              </a:rPr>
              <a:t>in </a:t>
            </a:r>
            <a:r>
              <a:rPr sz="2000" spc="-5" dirty="0">
                <a:latin typeface="Arial"/>
                <a:cs typeface="Arial"/>
              </a:rPr>
              <a:t>relation to the</a:t>
            </a:r>
            <a:r>
              <a:rPr sz="2000" dirty="0">
                <a:latin typeface="Arial"/>
                <a:cs typeface="Arial"/>
              </a:rPr>
              <a:t> </a:t>
            </a:r>
            <a:r>
              <a:rPr sz="2000" spc="-5" dirty="0">
                <a:latin typeface="Arial"/>
                <a:cs typeface="Arial"/>
              </a:rPr>
              <a:t>environment.”</a:t>
            </a:r>
            <a:endParaRPr sz="200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0939" y="474979"/>
            <a:ext cx="6795770"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Arial"/>
                <a:cs typeface="Arial"/>
              </a:rPr>
              <a:t>Need of </a:t>
            </a:r>
            <a:r>
              <a:rPr sz="3600" b="1" spc="-10" dirty="0">
                <a:latin typeface="Arial"/>
                <a:cs typeface="Arial"/>
              </a:rPr>
              <a:t>Environment</a:t>
            </a:r>
            <a:r>
              <a:rPr sz="3600" b="1" spc="-80" dirty="0">
                <a:latin typeface="Arial"/>
                <a:cs typeface="Arial"/>
              </a:rPr>
              <a:t> </a:t>
            </a:r>
            <a:r>
              <a:rPr sz="3600" b="1" spc="-5" dirty="0">
                <a:latin typeface="Arial"/>
                <a:cs typeface="Arial"/>
              </a:rPr>
              <a:t>Scanning</a:t>
            </a:r>
            <a:endParaRPr sz="3600">
              <a:latin typeface="Arial"/>
              <a:cs typeface="Arial"/>
            </a:endParaRPr>
          </a:p>
        </p:txBody>
      </p:sp>
      <p:sp>
        <p:nvSpPr>
          <p:cNvPr id="3" name="object 3"/>
          <p:cNvSpPr txBox="1"/>
          <p:nvPr/>
        </p:nvSpPr>
        <p:spPr>
          <a:xfrm>
            <a:off x="306070" y="119507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4" name="object 4"/>
          <p:cNvSpPr txBox="1"/>
          <p:nvPr/>
        </p:nvSpPr>
        <p:spPr>
          <a:xfrm>
            <a:off x="647700" y="1113790"/>
            <a:ext cx="7331709" cy="106680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Effective Utilization </a:t>
            </a:r>
            <a:r>
              <a:rPr sz="2000" b="1" dirty="0">
                <a:latin typeface="Arial"/>
                <a:cs typeface="Arial"/>
              </a:rPr>
              <a:t>of</a:t>
            </a:r>
            <a:r>
              <a:rPr sz="2000" b="1" spc="-10" dirty="0">
                <a:latin typeface="Arial"/>
                <a:cs typeface="Arial"/>
              </a:rPr>
              <a:t> </a:t>
            </a:r>
            <a:r>
              <a:rPr sz="2000" b="1" dirty="0">
                <a:latin typeface="Arial"/>
                <a:cs typeface="Arial"/>
              </a:rPr>
              <a:t>Resources:</a:t>
            </a:r>
            <a:endParaRPr sz="2000">
              <a:latin typeface="Arial"/>
              <a:cs typeface="Arial"/>
            </a:endParaRPr>
          </a:p>
          <a:p>
            <a:pPr marL="12700" marR="5080">
              <a:lnSpc>
                <a:spcPct val="100000"/>
              </a:lnSpc>
              <a:spcBef>
                <a:spcPts val="500"/>
              </a:spcBef>
            </a:pPr>
            <a:r>
              <a:rPr sz="2000" dirty="0">
                <a:latin typeface="Arial"/>
                <a:cs typeface="Arial"/>
              </a:rPr>
              <a:t>The key to business success is </a:t>
            </a:r>
            <a:r>
              <a:rPr sz="2000" spc="-5" dirty="0">
                <a:latin typeface="Arial"/>
                <a:cs typeface="Arial"/>
              </a:rPr>
              <a:t>the </a:t>
            </a:r>
            <a:r>
              <a:rPr sz="2000" dirty="0">
                <a:latin typeface="Arial"/>
                <a:cs typeface="Arial"/>
              </a:rPr>
              <a:t>most </a:t>
            </a:r>
            <a:r>
              <a:rPr sz="2000" spc="-5" dirty="0">
                <a:latin typeface="Arial"/>
                <a:cs typeface="Arial"/>
              </a:rPr>
              <a:t>effective utilization of  </a:t>
            </a:r>
            <a:r>
              <a:rPr sz="2000" dirty="0">
                <a:latin typeface="Arial"/>
                <a:cs typeface="Arial"/>
              </a:rPr>
              <a:t>resources. Companies </a:t>
            </a:r>
            <a:r>
              <a:rPr sz="2000" spc="-5" dirty="0">
                <a:latin typeface="Arial"/>
                <a:cs typeface="Arial"/>
              </a:rPr>
              <a:t>which fails to do </a:t>
            </a:r>
            <a:r>
              <a:rPr sz="2000" dirty="0">
                <a:latin typeface="Arial"/>
                <a:cs typeface="Arial"/>
              </a:rPr>
              <a:t>so are doomed </a:t>
            </a:r>
            <a:r>
              <a:rPr sz="2000" spc="-5" dirty="0">
                <a:latin typeface="Arial"/>
                <a:cs typeface="Arial"/>
              </a:rPr>
              <a:t>to</a:t>
            </a:r>
            <a:r>
              <a:rPr sz="2000" dirty="0">
                <a:latin typeface="Arial"/>
                <a:cs typeface="Arial"/>
              </a:rPr>
              <a:t> </a:t>
            </a:r>
            <a:r>
              <a:rPr sz="2000" spc="-5" dirty="0">
                <a:latin typeface="Arial"/>
                <a:cs typeface="Arial"/>
              </a:rPr>
              <a:t>failure.</a:t>
            </a:r>
            <a:endParaRPr sz="2000">
              <a:latin typeface="Arial"/>
              <a:cs typeface="Arial"/>
            </a:endParaRPr>
          </a:p>
        </p:txBody>
      </p:sp>
      <p:sp>
        <p:nvSpPr>
          <p:cNvPr id="5" name="object 5"/>
          <p:cNvSpPr txBox="1"/>
          <p:nvPr/>
        </p:nvSpPr>
        <p:spPr>
          <a:xfrm>
            <a:off x="306070" y="260477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647700" y="2523490"/>
            <a:ext cx="7588884" cy="2286000"/>
          </a:xfrm>
          <a:prstGeom prst="rect">
            <a:avLst/>
          </a:prstGeom>
        </p:spPr>
        <p:txBody>
          <a:bodyPr vert="horz" wrap="square" lIns="0" tIns="76200" rIns="0" bIns="0" rtlCol="0">
            <a:spAutoFit/>
          </a:bodyPr>
          <a:lstStyle/>
          <a:p>
            <a:pPr marL="12700">
              <a:lnSpc>
                <a:spcPct val="100000"/>
              </a:lnSpc>
              <a:spcBef>
                <a:spcPts val="600"/>
              </a:spcBef>
            </a:pPr>
            <a:r>
              <a:rPr sz="2000" b="1" dirty="0">
                <a:latin typeface="Arial"/>
                <a:cs typeface="Arial"/>
              </a:rPr>
              <a:t>Helps </a:t>
            </a:r>
            <a:r>
              <a:rPr sz="2000" b="1" spc="-5" dirty="0">
                <a:latin typeface="Arial"/>
                <a:cs typeface="Arial"/>
              </a:rPr>
              <a:t>in Converting threats into</a:t>
            </a:r>
            <a:r>
              <a:rPr sz="2000" b="1" spc="-10" dirty="0">
                <a:latin typeface="Arial"/>
                <a:cs typeface="Arial"/>
              </a:rPr>
              <a:t> </a:t>
            </a:r>
            <a:r>
              <a:rPr sz="2000" b="1" spc="-5" dirty="0">
                <a:latin typeface="Arial"/>
                <a:cs typeface="Arial"/>
              </a:rPr>
              <a:t>Opportunities:</a:t>
            </a:r>
            <a:endParaRPr sz="2000">
              <a:latin typeface="Arial"/>
              <a:cs typeface="Arial"/>
            </a:endParaRPr>
          </a:p>
          <a:p>
            <a:pPr marL="12700" marR="5080">
              <a:lnSpc>
                <a:spcPct val="100000"/>
              </a:lnSpc>
              <a:spcBef>
                <a:spcPts val="500"/>
              </a:spcBef>
              <a:tabLst>
                <a:tab pos="3587115" algn="l"/>
              </a:tabLst>
            </a:pPr>
            <a:r>
              <a:rPr sz="2000" spc="-5" dirty="0">
                <a:latin typeface="Arial"/>
                <a:cs typeface="Arial"/>
              </a:rPr>
              <a:t>Environmental </a:t>
            </a:r>
            <a:r>
              <a:rPr sz="2000" dirty="0">
                <a:latin typeface="Arial"/>
                <a:cs typeface="Arial"/>
              </a:rPr>
              <a:t>scanning </a:t>
            </a:r>
            <a:r>
              <a:rPr sz="2000" spc="-5" dirty="0">
                <a:latin typeface="Arial"/>
                <a:cs typeface="Arial"/>
              </a:rPr>
              <a:t>allows the strategies to anticipate  opportunities </a:t>
            </a:r>
            <a:r>
              <a:rPr sz="2000" dirty="0">
                <a:latin typeface="Arial"/>
                <a:cs typeface="Arial"/>
              </a:rPr>
              <a:t>and plan </a:t>
            </a:r>
            <a:r>
              <a:rPr sz="2000" spc="-5" dirty="0">
                <a:latin typeface="Arial"/>
                <a:cs typeface="Arial"/>
              </a:rPr>
              <a:t>alternative </a:t>
            </a:r>
            <a:r>
              <a:rPr sz="2000" dirty="0">
                <a:latin typeface="Arial"/>
                <a:cs typeface="Arial"/>
              </a:rPr>
              <a:t>responses to these </a:t>
            </a:r>
            <a:r>
              <a:rPr sz="2000" spc="-5" dirty="0">
                <a:latin typeface="Arial"/>
                <a:cs typeface="Arial"/>
              </a:rPr>
              <a:t>opportunities.  Environmental </a:t>
            </a:r>
            <a:r>
              <a:rPr sz="2000" dirty="0">
                <a:latin typeface="Arial"/>
                <a:cs typeface="Arial"/>
              </a:rPr>
              <a:t>scanning helps in </a:t>
            </a:r>
            <a:r>
              <a:rPr sz="2000" spc="-5" dirty="0">
                <a:latin typeface="Arial"/>
                <a:cs typeface="Arial"/>
              </a:rPr>
              <a:t>preventing the threats or develop  </a:t>
            </a:r>
            <a:r>
              <a:rPr sz="2000" dirty="0">
                <a:latin typeface="Arial"/>
                <a:cs typeface="Arial"/>
              </a:rPr>
              <a:t>strategies </a:t>
            </a:r>
            <a:r>
              <a:rPr sz="2000" spc="-5" dirty="0">
                <a:latin typeface="Arial"/>
                <a:cs typeface="Arial"/>
              </a:rPr>
              <a:t>that </a:t>
            </a:r>
            <a:r>
              <a:rPr sz="2000" dirty="0">
                <a:latin typeface="Arial"/>
                <a:cs typeface="Arial"/>
              </a:rPr>
              <a:t>can</a:t>
            </a:r>
            <a:r>
              <a:rPr sz="2000" spc="25" dirty="0">
                <a:latin typeface="Arial"/>
                <a:cs typeface="Arial"/>
              </a:rPr>
              <a:t> </a:t>
            </a:r>
            <a:r>
              <a:rPr sz="2000" spc="-5" dirty="0">
                <a:latin typeface="Arial"/>
                <a:cs typeface="Arial"/>
              </a:rPr>
              <a:t>turn</a:t>
            </a:r>
            <a:r>
              <a:rPr sz="2000" dirty="0">
                <a:latin typeface="Arial"/>
                <a:cs typeface="Arial"/>
              </a:rPr>
              <a:t> </a:t>
            </a:r>
            <a:r>
              <a:rPr sz="2000" spc="-5" dirty="0">
                <a:latin typeface="Arial"/>
                <a:cs typeface="Arial"/>
              </a:rPr>
              <a:t>threats	to opportunities for the benefits of  </a:t>
            </a:r>
            <a:r>
              <a:rPr sz="2000" dirty="0">
                <a:latin typeface="Arial"/>
                <a:cs typeface="Arial"/>
              </a:rPr>
              <a:t>organization. </a:t>
            </a:r>
            <a:r>
              <a:rPr sz="2000" spc="-5" dirty="0">
                <a:latin typeface="Arial"/>
                <a:cs typeface="Arial"/>
              </a:rPr>
              <a:t>If all the </a:t>
            </a:r>
            <a:r>
              <a:rPr sz="2000" dirty="0">
                <a:latin typeface="Arial"/>
                <a:cs typeface="Arial"/>
              </a:rPr>
              <a:t>companies </a:t>
            </a:r>
            <a:r>
              <a:rPr sz="2000" spc="-5" dirty="0">
                <a:latin typeface="Arial"/>
                <a:cs typeface="Arial"/>
              </a:rPr>
              <a:t>were </a:t>
            </a:r>
            <a:r>
              <a:rPr sz="2000" dirty="0">
                <a:latin typeface="Arial"/>
                <a:cs typeface="Arial"/>
              </a:rPr>
              <a:t>able </a:t>
            </a:r>
            <a:r>
              <a:rPr sz="2000" spc="-5" dirty="0">
                <a:latin typeface="Arial"/>
                <a:cs typeface="Arial"/>
              </a:rPr>
              <a:t>to do that, </a:t>
            </a:r>
            <a:r>
              <a:rPr sz="2000" dirty="0">
                <a:latin typeface="Arial"/>
                <a:cs typeface="Arial"/>
              </a:rPr>
              <a:t>then every  company </a:t>
            </a:r>
            <a:r>
              <a:rPr sz="2000" spc="-5" dirty="0">
                <a:latin typeface="Arial"/>
                <a:cs typeface="Arial"/>
              </a:rPr>
              <a:t>would </a:t>
            </a:r>
            <a:r>
              <a:rPr sz="2000" dirty="0">
                <a:latin typeface="Arial"/>
                <a:cs typeface="Arial"/>
              </a:rPr>
              <a:t>have earned </a:t>
            </a:r>
            <a:r>
              <a:rPr sz="2000" spc="-5" dirty="0">
                <a:latin typeface="Arial"/>
                <a:cs typeface="Arial"/>
              </a:rPr>
              <a:t>good profits, growth </a:t>
            </a:r>
            <a:r>
              <a:rPr sz="2000" dirty="0">
                <a:latin typeface="Arial"/>
                <a:cs typeface="Arial"/>
              </a:rPr>
              <a:t>and </a:t>
            </a:r>
            <a:r>
              <a:rPr sz="2000" spc="-5" dirty="0">
                <a:latin typeface="Arial"/>
                <a:cs typeface="Arial"/>
              </a:rPr>
              <a:t>reputation.</a:t>
            </a:r>
            <a:endParaRPr sz="2000">
              <a:latin typeface="Arial"/>
              <a:cs typeface="Arial"/>
            </a:endParaRPr>
          </a:p>
        </p:txBody>
      </p:sp>
      <p:sp>
        <p:nvSpPr>
          <p:cNvPr id="7" name="object 7"/>
          <p:cNvSpPr txBox="1"/>
          <p:nvPr/>
        </p:nvSpPr>
        <p:spPr>
          <a:xfrm>
            <a:off x="306070" y="52349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8" name="object 8"/>
          <p:cNvSpPr txBox="1"/>
          <p:nvPr/>
        </p:nvSpPr>
        <p:spPr>
          <a:xfrm>
            <a:off x="647700" y="5152390"/>
            <a:ext cx="7757795" cy="1066800"/>
          </a:xfrm>
          <a:prstGeom prst="rect">
            <a:avLst/>
          </a:prstGeom>
        </p:spPr>
        <p:txBody>
          <a:bodyPr vert="horz" wrap="square" lIns="0" tIns="76200" rIns="0" bIns="0" rtlCol="0">
            <a:spAutoFit/>
          </a:bodyPr>
          <a:lstStyle/>
          <a:p>
            <a:pPr marL="12700">
              <a:lnSpc>
                <a:spcPct val="100000"/>
              </a:lnSpc>
              <a:spcBef>
                <a:spcPts val="600"/>
              </a:spcBef>
            </a:pPr>
            <a:r>
              <a:rPr sz="2000" b="1" dirty="0">
                <a:latin typeface="Arial"/>
                <a:cs typeface="Arial"/>
              </a:rPr>
              <a:t>Useful </a:t>
            </a:r>
            <a:r>
              <a:rPr sz="2000" b="1" spc="-5" dirty="0">
                <a:latin typeface="Arial"/>
                <a:cs typeface="Arial"/>
              </a:rPr>
              <a:t>for the</a:t>
            </a:r>
            <a:r>
              <a:rPr sz="2000" b="1" spc="-25" dirty="0">
                <a:latin typeface="Arial"/>
                <a:cs typeface="Arial"/>
              </a:rPr>
              <a:t> </a:t>
            </a:r>
            <a:r>
              <a:rPr sz="2000" b="1" spc="-5" dirty="0">
                <a:latin typeface="Arial"/>
                <a:cs typeface="Arial"/>
              </a:rPr>
              <a:t>managers:</a:t>
            </a:r>
            <a:endParaRPr sz="2000">
              <a:latin typeface="Arial"/>
              <a:cs typeface="Arial"/>
            </a:endParaRPr>
          </a:p>
          <a:p>
            <a:pPr marL="12700" marR="5080">
              <a:lnSpc>
                <a:spcPct val="100000"/>
              </a:lnSpc>
              <a:spcBef>
                <a:spcPts val="500"/>
              </a:spcBef>
            </a:pPr>
            <a:r>
              <a:rPr sz="2000" dirty="0">
                <a:latin typeface="Arial"/>
                <a:cs typeface="Arial"/>
              </a:rPr>
              <a:t>A business manger should </a:t>
            </a:r>
            <a:r>
              <a:rPr sz="2000" spc="-5" dirty="0">
                <a:latin typeface="Arial"/>
                <a:cs typeface="Arial"/>
              </a:rPr>
              <a:t>be </a:t>
            </a:r>
            <a:r>
              <a:rPr sz="2000" dirty="0">
                <a:latin typeface="Arial"/>
                <a:cs typeface="Arial"/>
              </a:rPr>
              <a:t>able analyze </a:t>
            </a:r>
            <a:r>
              <a:rPr sz="2000" spc="-5" dirty="0">
                <a:latin typeface="Arial"/>
                <a:cs typeface="Arial"/>
              </a:rPr>
              <a:t>the </a:t>
            </a:r>
            <a:r>
              <a:rPr sz="2000" dirty="0">
                <a:latin typeface="Arial"/>
                <a:cs typeface="Arial"/>
              </a:rPr>
              <a:t>environment to grasp  </a:t>
            </a:r>
            <a:r>
              <a:rPr sz="2000" spc="-5" dirty="0">
                <a:latin typeface="Arial"/>
                <a:cs typeface="Arial"/>
              </a:rPr>
              <a:t>the</a:t>
            </a:r>
            <a:endParaRPr sz="200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69" y="47879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877569" y="461009"/>
            <a:ext cx="7246620"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Strategic </a:t>
            </a:r>
            <a:r>
              <a:rPr sz="2000" b="1" dirty="0">
                <a:latin typeface="Arial"/>
                <a:cs typeface="Arial"/>
              </a:rPr>
              <a:t>Management </a:t>
            </a:r>
            <a:r>
              <a:rPr sz="2000" b="1" spc="-5" dirty="0">
                <a:latin typeface="Arial"/>
                <a:cs typeface="Arial"/>
              </a:rPr>
              <a:t>Starts </a:t>
            </a:r>
            <a:r>
              <a:rPr sz="2000" b="1" spc="10" dirty="0">
                <a:latin typeface="Arial"/>
                <a:cs typeface="Arial"/>
              </a:rPr>
              <a:t>with </a:t>
            </a:r>
            <a:r>
              <a:rPr sz="2000" b="1" spc="-5" dirty="0">
                <a:latin typeface="Arial"/>
                <a:cs typeface="Arial"/>
              </a:rPr>
              <a:t>Environmental</a:t>
            </a:r>
            <a:r>
              <a:rPr sz="2000" b="1" spc="-15" dirty="0">
                <a:latin typeface="Arial"/>
                <a:cs typeface="Arial"/>
              </a:rPr>
              <a:t> </a:t>
            </a:r>
            <a:r>
              <a:rPr sz="2000" b="1" spc="-5" dirty="0">
                <a:latin typeface="Arial"/>
                <a:cs typeface="Arial"/>
              </a:rPr>
              <a:t>Scanning:</a:t>
            </a:r>
            <a:endParaRPr sz="2000">
              <a:latin typeface="Arial"/>
              <a:cs typeface="Arial"/>
            </a:endParaRPr>
          </a:p>
        </p:txBody>
      </p:sp>
      <p:sp>
        <p:nvSpPr>
          <p:cNvPr id="4" name="object 4"/>
          <p:cNvSpPr txBox="1"/>
          <p:nvPr/>
        </p:nvSpPr>
        <p:spPr>
          <a:xfrm>
            <a:off x="877569" y="798829"/>
            <a:ext cx="7651750" cy="1701800"/>
          </a:xfrm>
          <a:prstGeom prst="rect">
            <a:avLst/>
          </a:prstGeom>
        </p:spPr>
        <p:txBody>
          <a:bodyPr vert="horz" wrap="square" lIns="0" tIns="46990" rIns="0" bIns="0" rtlCol="0">
            <a:spAutoFit/>
          </a:bodyPr>
          <a:lstStyle/>
          <a:p>
            <a:pPr marL="12700" marR="5080">
              <a:lnSpc>
                <a:spcPts val="2160"/>
              </a:lnSpc>
              <a:spcBef>
                <a:spcPts val="370"/>
              </a:spcBef>
              <a:tabLst>
                <a:tab pos="1706245" algn="l"/>
              </a:tabLst>
            </a:pPr>
            <a:r>
              <a:rPr sz="2000" spc="-5" dirty="0">
                <a:latin typeface="Arial"/>
                <a:cs typeface="Arial"/>
              </a:rPr>
              <a:t>Environmental </a:t>
            </a:r>
            <a:r>
              <a:rPr sz="2000" dirty="0">
                <a:latin typeface="Arial"/>
                <a:cs typeface="Arial"/>
              </a:rPr>
              <a:t>scanning </a:t>
            </a:r>
            <a:r>
              <a:rPr sz="2000" spc="-5" dirty="0">
                <a:latin typeface="Arial"/>
                <a:cs typeface="Arial"/>
              </a:rPr>
              <a:t>is the starting </a:t>
            </a:r>
            <a:r>
              <a:rPr sz="2000" dirty="0">
                <a:latin typeface="Arial"/>
                <a:cs typeface="Arial"/>
              </a:rPr>
              <a:t>point </a:t>
            </a:r>
            <a:r>
              <a:rPr sz="2000" spc="-5" dirty="0">
                <a:latin typeface="Arial"/>
                <a:cs typeface="Arial"/>
              </a:rPr>
              <a:t>of strategic  management.	</a:t>
            </a:r>
            <a:r>
              <a:rPr sz="2000" dirty="0">
                <a:latin typeface="Arial"/>
                <a:cs typeface="Arial"/>
              </a:rPr>
              <a:t>strategy </a:t>
            </a:r>
            <a:r>
              <a:rPr sz="2000" spc="-5" dirty="0">
                <a:latin typeface="Arial"/>
                <a:cs typeface="Arial"/>
              </a:rPr>
              <a:t>formulation </a:t>
            </a:r>
            <a:r>
              <a:rPr sz="2000" dirty="0">
                <a:latin typeface="Arial"/>
                <a:cs typeface="Arial"/>
              </a:rPr>
              <a:t>and </a:t>
            </a:r>
            <a:r>
              <a:rPr sz="2000" spc="-5" dirty="0">
                <a:latin typeface="Arial"/>
                <a:cs typeface="Arial"/>
              </a:rPr>
              <a:t>strategy implementation </a:t>
            </a:r>
            <a:r>
              <a:rPr sz="2000" dirty="0">
                <a:latin typeface="Arial"/>
                <a:cs typeface="Arial"/>
              </a:rPr>
              <a:t>are  </a:t>
            </a:r>
            <a:r>
              <a:rPr sz="2000" spc="-5" dirty="0">
                <a:latin typeface="Arial"/>
                <a:cs typeface="Arial"/>
              </a:rPr>
              <a:t>the </a:t>
            </a:r>
            <a:r>
              <a:rPr sz="2000" dirty="0">
                <a:latin typeface="Arial"/>
                <a:cs typeface="Arial"/>
              </a:rPr>
              <a:t>outcome </a:t>
            </a:r>
            <a:r>
              <a:rPr sz="2000" spc="-5" dirty="0">
                <a:latin typeface="Arial"/>
                <a:cs typeface="Arial"/>
              </a:rPr>
              <a:t>of environment </a:t>
            </a:r>
            <a:r>
              <a:rPr sz="2000" dirty="0">
                <a:latin typeface="Arial"/>
                <a:cs typeface="Arial"/>
              </a:rPr>
              <a:t>scanning. </a:t>
            </a:r>
            <a:r>
              <a:rPr sz="2000" spc="-5" dirty="0">
                <a:latin typeface="Arial"/>
                <a:cs typeface="Arial"/>
              </a:rPr>
              <a:t>To implement the strategy,  the </a:t>
            </a:r>
            <a:r>
              <a:rPr sz="2000" dirty="0">
                <a:latin typeface="Arial"/>
                <a:cs typeface="Arial"/>
              </a:rPr>
              <a:t>first </a:t>
            </a:r>
            <a:r>
              <a:rPr sz="2000" spc="-5" dirty="0">
                <a:latin typeface="Arial"/>
                <a:cs typeface="Arial"/>
              </a:rPr>
              <a:t>thing is formulation of strategy. Again this strategy  formulation is </a:t>
            </a:r>
            <a:r>
              <a:rPr sz="2000" dirty="0">
                <a:latin typeface="Arial"/>
                <a:cs typeface="Arial"/>
              </a:rPr>
              <a:t>based </a:t>
            </a:r>
            <a:r>
              <a:rPr sz="2000" spc="-5" dirty="0">
                <a:latin typeface="Arial"/>
                <a:cs typeface="Arial"/>
              </a:rPr>
              <a:t>on what </a:t>
            </a:r>
            <a:r>
              <a:rPr sz="2000" dirty="0">
                <a:latin typeface="Arial"/>
                <a:cs typeface="Arial"/>
              </a:rPr>
              <a:t>impact </a:t>
            </a:r>
            <a:r>
              <a:rPr sz="2000" spc="-5" dirty="0">
                <a:latin typeface="Arial"/>
                <a:cs typeface="Arial"/>
              </a:rPr>
              <a:t>the environment </a:t>
            </a:r>
            <a:r>
              <a:rPr sz="2000" dirty="0">
                <a:latin typeface="Arial"/>
                <a:cs typeface="Arial"/>
              </a:rPr>
              <a:t>has on  </a:t>
            </a:r>
            <a:r>
              <a:rPr sz="2000" spc="-5" dirty="0">
                <a:latin typeface="Arial"/>
                <a:cs typeface="Arial"/>
              </a:rPr>
              <a:t>organization </a:t>
            </a:r>
            <a:r>
              <a:rPr sz="2000" dirty="0">
                <a:latin typeface="Arial"/>
                <a:cs typeface="Arial"/>
              </a:rPr>
              <a:t>in </a:t>
            </a:r>
            <a:r>
              <a:rPr sz="2000" spc="-5" dirty="0">
                <a:latin typeface="Arial"/>
                <a:cs typeface="Arial"/>
              </a:rPr>
              <a:t>terms </a:t>
            </a:r>
            <a:r>
              <a:rPr sz="2000" dirty="0">
                <a:latin typeface="Arial"/>
                <a:cs typeface="Arial"/>
              </a:rPr>
              <a:t>of </a:t>
            </a:r>
            <a:r>
              <a:rPr sz="2000" spc="-5" dirty="0">
                <a:latin typeface="Arial"/>
                <a:cs typeface="Arial"/>
              </a:rPr>
              <a:t>opportunities </a:t>
            </a:r>
            <a:r>
              <a:rPr sz="2000" dirty="0">
                <a:latin typeface="Arial"/>
                <a:cs typeface="Arial"/>
              </a:rPr>
              <a:t>and </a:t>
            </a:r>
            <a:r>
              <a:rPr sz="2000" spc="-5" dirty="0">
                <a:latin typeface="Arial"/>
                <a:cs typeface="Arial"/>
              </a:rPr>
              <a:t>threats.</a:t>
            </a:r>
            <a:endParaRPr sz="2000">
              <a:latin typeface="Arial"/>
              <a:cs typeface="Arial"/>
            </a:endParaRPr>
          </a:p>
        </p:txBody>
      </p:sp>
      <p:sp>
        <p:nvSpPr>
          <p:cNvPr id="5" name="object 5"/>
          <p:cNvSpPr txBox="1"/>
          <p:nvPr/>
        </p:nvSpPr>
        <p:spPr>
          <a:xfrm>
            <a:off x="534669" y="286385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a:spLocks noGrp="1"/>
          </p:cNvSpPr>
          <p:nvPr>
            <p:ph type="body" idx="1"/>
          </p:nvPr>
        </p:nvSpPr>
        <p:spPr>
          <a:prstGeom prst="rect">
            <a:avLst/>
          </a:prstGeom>
        </p:spPr>
        <p:txBody>
          <a:bodyPr vert="horz" wrap="square" lIns="0" tIns="44450" rIns="0" bIns="0" rtlCol="0">
            <a:spAutoFit/>
          </a:bodyPr>
          <a:lstStyle/>
          <a:p>
            <a:pPr marL="354965">
              <a:lnSpc>
                <a:spcPct val="100000"/>
              </a:lnSpc>
              <a:spcBef>
                <a:spcPts val="350"/>
              </a:spcBef>
            </a:pPr>
            <a:r>
              <a:rPr spc="-5" dirty="0"/>
              <a:t>Constant </a:t>
            </a:r>
            <a:r>
              <a:rPr dirty="0"/>
              <a:t>Monitoring </a:t>
            </a:r>
            <a:r>
              <a:rPr spc="-5" dirty="0"/>
              <a:t>of the</a:t>
            </a:r>
            <a:r>
              <a:rPr dirty="0"/>
              <a:t> </a:t>
            </a:r>
            <a:r>
              <a:rPr spc="-5" dirty="0"/>
              <a:t>Environment:</a:t>
            </a:r>
          </a:p>
          <a:p>
            <a:pPr marL="354965" marR="5080">
              <a:lnSpc>
                <a:spcPts val="2160"/>
              </a:lnSpc>
              <a:spcBef>
                <a:spcPts val="520"/>
              </a:spcBef>
            </a:pPr>
            <a:r>
              <a:rPr b="0" spc="-5" dirty="0">
                <a:latin typeface="Arial"/>
                <a:cs typeface="Arial"/>
              </a:rPr>
              <a:t>Environmental </a:t>
            </a:r>
            <a:r>
              <a:rPr b="0" dirty="0">
                <a:latin typeface="Arial"/>
                <a:cs typeface="Arial"/>
              </a:rPr>
              <a:t>scanning </a:t>
            </a:r>
            <a:r>
              <a:rPr b="0" spc="-5" dirty="0">
                <a:latin typeface="Arial"/>
                <a:cs typeface="Arial"/>
              </a:rPr>
              <a:t>provides </a:t>
            </a:r>
            <a:r>
              <a:rPr b="0" dirty="0">
                <a:latin typeface="Arial"/>
                <a:cs typeface="Arial"/>
              </a:rPr>
              <a:t>a clear </a:t>
            </a:r>
            <a:r>
              <a:rPr b="0" spc="-5" dirty="0">
                <a:latin typeface="Arial"/>
                <a:cs typeface="Arial"/>
              </a:rPr>
              <a:t>idea </a:t>
            </a:r>
            <a:r>
              <a:rPr b="0" dirty="0">
                <a:latin typeface="Arial"/>
                <a:cs typeface="Arial"/>
              </a:rPr>
              <a:t>about </a:t>
            </a:r>
            <a:r>
              <a:rPr b="0" spc="-5" dirty="0">
                <a:latin typeface="Arial"/>
                <a:cs typeface="Arial"/>
              </a:rPr>
              <a:t>the existing  environment. Without </a:t>
            </a:r>
            <a:r>
              <a:rPr b="0" dirty="0">
                <a:latin typeface="Arial"/>
                <a:cs typeface="Arial"/>
              </a:rPr>
              <a:t>environment scanning it </a:t>
            </a:r>
            <a:r>
              <a:rPr b="0" spc="-5" dirty="0">
                <a:latin typeface="Arial"/>
                <a:cs typeface="Arial"/>
              </a:rPr>
              <a:t>would </a:t>
            </a:r>
            <a:r>
              <a:rPr b="0" dirty="0">
                <a:latin typeface="Arial"/>
                <a:cs typeface="Arial"/>
              </a:rPr>
              <a:t>not be possible  </a:t>
            </a:r>
            <a:r>
              <a:rPr b="0" spc="-5" dirty="0">
                <a:latin typeface="Arial"/>
                <a:cs typeface="Arial"/>
              </a:rPr>
              <a:t>to </a:t>
            </a:r>
            <a:r>
              <a:rPr b="0" dirty="0">
                <a:latin typeface="Arial"/>
                <a:cs typeface="Arial"/>
              </a:rPr>
              <a:t>know </a:t>
            </a:r>
            <a:r>
              <a:rPr b="0" spc="-5" dirty="0">
                <a:latin typeface="Arial"/>
                <a:cs typeface="Arial"/>
              </a:rPr>
              <a:t>the </a:t>
            </a:r>
            <a:r>
              <a:rPr b="0" dirty="0">
                <a:latin typeface="Arial"/>
                <a:cs typeface="Arial"/>
              </a:rPr>
              <a:t>change in customers tastes=, preferences, </a:t>
            </a:r>
            <a:r>
              <a:rPr b="0" spc="-5" dirty="0">
                <a:latin typeface="Arial"/>
                <a:cs typeface="Arial"/>
              </a:rPr>
              <a:t>competitors  moves, latest </a:t>
            </a:r>
            <a:r>
              <a:rPr b="0" dirty="0">
                <a:latin typeface="Arial"/>
                <a:cs typeface="Arial"/>
              </a:rPr>
              <a:t>policies</a:t>
            </a:r>
            <a:r>
              <a:rPr b="0" spc="-25" dirty="0">
                <a:latin typeface="Arial"/>
                <a:cs typeface="Arial"/>
              </a:rPr>
              <a:t> </a:t>
            </a:r>
            <a:r>
              <a:rPr b="0" dirty="0">
                <a:latin typeface="Arial"/>
                <a:cs typeface="Arial"/>
              </a:rPr>
              <a:t>etc.</a:t>
            </a:r>
          </a:p>
          <a:p>
            <a:pPr marL="12700">
              <a:lnSpc>
                <a:spcPct val="100000"/>
              </a:lnSpc>
              <a:spcBef>
                <a:spcPts val="229"/>
              </a:spcBef>
            </a:pPr>
            <a:r>
              <a:rPr b="0" spc="-5" dirty="0">
                <a:latin typeface="Arial"/>
                <a:cs typeface="Arial"/>
              </a:rPr>
              <a:t>opportunities </a:t>
            </a:r>
            <a:r>
              <a:rPr b="0" dirty="0">
                <a:latin typeface="Arial"/>
                <a:cs typeface="Arial"/>
              </a:rPr>
              <a:t>or </a:t>
            </a:r>
            <a:r>
              <a:rPr b="0" spc="-5" dirty="0">
                <a:latin typeface="Arial"/>
                <a:cs typeface="Arial"/>
              </a:rPr>
              <a:t>face the</a:t>
            </a:r>
            <a:r>
              <a:rPr b="0" dirty="0">
                <a:latin typeface="Arial"/>
                <a:cs typeface="Arial"/>
              </a:rPr>
              <a:t> </a:t>
            </a:r>
            <a:r>
              <a:rPr b="0" spc="-5" dirty="0">
                <a:latin typeface="Arial"/>
                <a:cs typeface="Arial"/>
              </a:rPr>
              <a:t>threats.</a:t>
            </a:r>
          </a:p>
        </p:txBody>
      </p:sp>
      <p:sp>
        <p:nvSpPr>
          <p:cNvPr id="7" name="object 7"/>
          <p:cNvSpPr txBox="1"/>
          <p:nvPr/>
        </p:nvSpPr>
        <p:spPr>
          <a:xfrm>
            <a:off x="534669" y="503809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8" name="object 8"/>
          <p:cNvSpPr txBox="1"/>
          <p:nvPr/>
        </p:nvSpPr>
        <p:spPr>
          <a:xfrm>
            <a:off x="877569" y="4986019"/>
            <a:ext cx="7524115" cy="1798320"/>
          </a:xfrm>
          <a:prstGeom prst="rect">
            <a:avLst/>
          </a:prstGeom>
        </p:spPr>
        <p:txBody>
          <a:bodyPr vert="horz" wrap="square" lIns="0" tIns="45720" rIns="0" bIns="0" rtlCol="0">
            <a:spAutoFit/>
          </a:bodyPr>
          <a:lstStyle/>
          <a:p>
            <a:pPr marL="12700">
              <a:lnSpc>
                <a:spcPct val="100000"/>
              </a:lnSpc>
              <a:spcBef>
                <a:spcPts val="360"/>
              </a:spcBef>
            </a:pPr>
            <a:r>
              <a:rPr sz="2000" b="1" dirty="0">
                <a:latin typeface="Arial"/>
                <a:cs typeface="Arial"/>
              </a:rPr>
              <a:t>Narrowing </a:t>
            </a:r>
            <a:r>
              <a:rPr sz="2000" b="1" spc="15" dirty="0">
                <a:latin typeface="Arial"/>
                <a:cs typeface="Arial"/>
              </a:rPr>
              <a:t>Down </a:t>
            </a:r>
            <a:r>
              <a:rPr sz="2000" b="1" dirty="0">
                <a:latin typeface="Arial"/>
                <a:cs typeface="Arial"/>
              </a:rPr>
              <a:t>the</a:t>
            </a:r>
            <a:r>
              <a:rPr sz="2000" b="1" spc="-30" dirty="0">
                <a:latin typeface="Arial"/>
                <a:cs typeface="Arial"/>
              </a:rPr>
              <a:t> </a:t>
            </a:r>
            <a:r>
              <a:rPr sz="2000" b="1" spc="-5" dirty="0">
                <a:latin typeface="Arial"/>
                <a:cs typeface="Arial"/>
              </a:rPr>
              <a:t>Opportunities:</a:t>
            </a:r>
            <a:endParaRPr sz="2000">
              <a:latin typeface="Arial"/>
              <a:cs typeface="Arial"/>
            </a:endParaRPr>
          </a:p>
          <a:p>
            <a:pPr marL="12700" marR="5080">
              <a:lnSpc>
                <a:spcPts val="2160"/>
              </a:lnSpc>
              <a:spcBef>
                <a:spcPts val="530"/>
              </a:spcBef>
            </a:pPr>
            <a:r>
              <a:rPr sz="2000" spc="-5" dirty="0">
                <a:latin typeface="Arial"/>
                <a:cs typeface="Arial"/>
              </a:rPr>
              <a:t>An in-depth </a:t>
            </a:r>
            <a:r>
              <a:rPr sz="2000" dirty="0">
                <a:latin typeface="Arial"/>
                <a:cs typeface="Arial"/>
              </a:rPr>
              <a:t>and </a:t>
            </a:r>
            <a:r>
              <a:rPr sz="2000" spc="-5" dirty="0">
                <a:latin typeface="Arial"/>
                <a:cs typeface="Arial"/>
              </a:rPr>
              <a:t>meaningful environmental </a:t>
            </a:r>
            <a:r>
              <a:rPr sz="2000" dirty="0">
                <a:latin typeface="Arial"/>
                <a:cs typeface="Arial"/>
              </a:rPr>
              <a:t>scanning </a:t>
            </a:r>
            <a:r>
              <a:rPr sz="2000" spc="-5" dirty="0">
                <a:latin typeface="Arial"/>
                <a:cs typeface="Arial"/>
              </a:rPr>
              <a:t>assists the  strategists to </a:t>
            </a:r>
            <a:r>
              <a:rPr sz="2000" dirty="0">
                <a:latin typeface="Arial"/>
                <a:cs typeface="Arial"/>
              </a:rPr>
              <a:t>reduce </a:t>
            </a:r>
            <a:r>
              <a:rPr sz="2000" spc="-5" dirty="0">
                <a:latin typeface="Arial"/>
                <a:cs typeface="Arial"/>
              </a:rPr>
              <a:t>the </a:t>
            </a:r>
            <a:r>
              <a:rPr sz="2000" dirty="0">
                <a:latin typeface="Arial"/>
                <a:cs typeface="Arial"/>
              </a:rPr>
              <a:t>range of </a:t>
            </a:r>
            <a:r>
              <a:rPr sz="2000" spc="-5" dirty="0">
                <a:latin typeface="Arial"/>
                <a:cs typeface="Arial"/>
              </a:rPr>
              <a:t>available alternatives </a:t>
            </a:r>
            <a:r>
              <a:rPr sz="2000" dirty="0">
                <a:latin typeface="Arial"/>
                <a:cs typeface="Arial"/>
              </a:rPr>
              <a:t>and  </a:t>
            </a:r>
            <a:r>
              <a:rPr sz="2000" spc="-5" dirty="0">
                <a:latin typeface="Arial"/>
                <a:cs typeface="Arial"/>
              </a:rPr>
              <a:t>eliminate options </a:t>
            </a:r>
            <a:r>
              <a:rPr sz="2000" dirty="0">
                <a:latin typeface="Arial"/>
                <a:cs typeface="Arial"/>
              </a:rPr>
              <a:t>that are </a:t>
            </a:r>
            <a:r>
              <a:rPr sz="2000" spc="-5" dirty="0">
                <a:latin typeface="Arial"/>
                <a:cs typeface="Arial"/>
              </a:rPr>
              <a:t>totally </a:t>
            </a:r>
            <a:r>
              <a:rPr sz="2000" dirty="0">
                <a:latin typeface="Arial"/>
                <a:cs typeface="Arial"/>
              </a:rPr>
              <a:t>inconsisten </a:t>
            </a:r>
            <a:r>
              <a:rPr sz="2000" spc="-10" dirty="0">
                <a:latin typeface="Arial"/>
                <a:cs typeface="Arial"/>
              </a:rPr>
              <a:t>with </a:t>
            </a:r>
            <a:r>
              <a:rPr sz="2000" spc="-5" dirty="0">
                <a:latin typeface="Arial"/>
                <a:cs typeface="Arial"/>
              </a:rPr>
              <a:t>the forecast  opportunities </a:t>
            </a:r>
            <a:r>
              <a:rPr sz="2000" dirty="0">
                <a:latin typeface="Arial"/>
                <a:cs typeface="Arial"/>
              </a:rPr>
              <a:t>or threats. Of these </a:t>
            </a:r>
            <a:r>
              <a:rPr sz="2000" spc="-5" dirty="0">
                <a:latin typeface="Arial"/>
                <a:cs typeface="Arial"/>
              </a:rPr>
              <a:t>alternatives </a:t>
            </a:r>
            <a:r>
              <a:rPr sz="2000" dirty="0">
                <a:latin typeface="Arial"/>
                <a:cs typeface="Arial"/>
              </a:rPr>
              <a:t>and options, </a:t>
            </a:r>
            <a:r>
              <a:rPr sz="2000" spc="-5" dirty="0">
                <a:latin typeface="Arial"/>
                <a:cs typeface="Arial"/>
              </a:rPr>
              <a:t>which is  the viable </a:t>
            </a:r>
            <a:r>
              <a:rPr sz="2000" dirty="0">
                <a:latin typeface="Arial"/>
                <a:cs typeface="Arial"/>
              </a:rPr>
              <a:t>and </a:t>
            </a:r>
            <a:r>
              <a:rPr sz="2000" spc="-5" dirty="0">
                <a:latin typeface="Arial"/>
                <a:cs typeface="Arial"/>
              </a:rPr>
              <a:t>promising </a:t>
            </a:r>
            <a:r>
              <a:rPr sz="2000" dirty="0">
                <a:latin typeface="Arial"/>
                <a:cs typeface="Arial"/>
              </a:rPr>
              <a:t>has </a:t>
            </a:r>
            <a:r>
              <a:rPr sz="2000" spc="-5" dirty="0">
                <a:latin typeface="Arial"/>
                <a:cs typeface="Arial"/>
              </a:rPr>
              <a:t>to </a:t>
            </a:r>
            <a:r>
              <a:rPr sz="2000" dirty="0">
                <a:latin typeface="Arial"/>
                <a:cs typeface="Arial"/>
              </a:rPr>
              <a:t>be traced</a:t>
            </a:r>
            <a:r>
              <a:rPr sz="2000" spc="5" dirty="0">
                <a:latin typeface="Arial"/>
                <a:cs typeface="Arial"/>
              </a:rPr>
              <a:t> </a:t>
            </a:r>
            <a:r>
              <a:rPr sz="2000" spc="-5" dirty="0">
                <a:latin typeface="Arial"/>
                <a:cs typeface="Arial"/>
              </a:rPr>
              <a:t>out.</a:t>
            </a:r>
            <a:endParaRPr sz="200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45869" y="353059"/>
            <a:ext cx="6643370" cy="513080"/>
          </a:xfrm>
          <a:prstGeom prst="rect">
            <a:avLst/>
          </a:prstGeom>
        </p:spPr>
        <p:txBody>
          <a:bodyPr vert="horz" wrap="square" lIns="0" tIns="12700" rIns="0" bIns="0" rtlCol="0">
            <a:spAutoFit/>
          </a:bodyPr>
          <a:lstStyle/>
          <a:p>
            <a:pPr marL="12700">
              <a:lnSpc>
                <a:spcPct val="100000"/>
              </a:lnSpc>
              <a:spcBef>
                <a:spcPts val="100"/>
              </a:spcBef>
            </a:pPr>
            <a:r>
              <a:rPr b="1" dirty="0">
                <a:latin typeface="Arial"/>
                <a:cs typeface="Arial"/>
              </a:rPr>
              <a:t>Process </a:t>
            </a:r>
            <a:r>
              <a:rPr b="1" spc="-5" dirty="0">
                <a:latin typeface="Arial"/>
                <a:cs typeface="Arial"/>
              </a:rPr>
              <a:t>of Environment</a:t>
            </a:r>
            <a:r>
              <a:rPr b="1" spc="-55" dirty="0">
                <a:latin typeface="Arial"/>
                <a:cs typeface="Arial"/>
              </a:rPr>
              <a:t> </a:t>
            </a:r>
            <a:r>
              <a:rPr b="1" spc="-5" dirty="0">
                <a:latin typeface="Arial"/>
                <a:cs typeface="Arial"/>
              </a:rPr>
              <a:t>Scanning</a:t>
            </a:r>
          </a:p>
        </p:txBody>
      </p:sp>
      <p:grpSp>
        <p:nvGrpSpPr>
          <p:cNvPr id="3" name="object 3"/>
          <p:cNvGrpSpPr/>
          <p:nvPr/>
        </p:nvGrpSpPr>
        <p:grpSpPr>
          <a:xfrm>
            <a:off x="1900237" y="985837"/>
            <a:ext cx="6181725" cy="5800725"/>
            <a:chOff x="1900237" y="985837"/>
            <a:chExt cx="6181725" cy="5800725"/>
          </a:xfrm>
        </p:grpSpPr>
        <p:sp>
          <p:nvSpPr>
            <p:cNvPr id="4" name="object 4"/>
            <p:cNvSpPr/>
            <p:nvPr/>
          </p:nvSpPr>
          <p:spPr>
            <a:xfrm>
              <a:off x="1905000" y="990600"/>
              <a:ext cx="6096000" cy="609600"/>
            </a:xfrm>
            <a:custGeom>
              <a:avLst/>
              <a:gdLst/>
              <a:ahLst/>
              <a:cxnLst/>
              <a:rect l="l" t="t" r="r" b="b"/>
              <a:pathLst>
                <a:path w="6096000" h="609600">
                  <a:moveTo>
                    <a:pt x="5994400" y="0"/>
                  </a:moveTo>
                  <a:lnTo>
                    <a:pt x="101600" y="0"/>
                  </a:ln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close/>
                </a:path>
              </a:pathLst>
            </a:custGeom>
            <a:solidFill>
              <a:srgbClr val="9999FF"/>
            </a:solidFill>
          </p:spPr>
          <p:txBody>
            <a:bodyPr wrap="square" lIns="0" tIns="0" rIns="0" bIns="0" rtlCol="0"/>
            <a:lstStyle/>
            <a:p>
              <a:endParaRPr/>
            </a:p>
          </p:txBody>
        </p:sp>
        <p:sp>
          <p:nvSpPr>
            <p:cNvPr id="5" name="object 5"/>
            <p:cNvSpPr/>
            <p:nvPr/>
          </p:nvSpPr>
          <p:spPr>
            <a:xfrm>
              <a:off x="1905000" y="990600"/>
              <a:ext cx="6096000" cy="609600"/>
            </a:xfrm>
            <a:custGeom>
              <a:avLst/>
              <a:gdLst/>
              <a:ahLst/>
              <a:cxnLst/>
              <a:rect l="l" t="t" r="r" b="b"/>
              <a:pathLst>
                <a:path w="6096000" h="609600">
                  <a:moveTo>
                    <a:pt x="101600" y="0"/>
                  </a:move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lnTo>
                    <a:pt x="101600" y="0"/>
                  </a:lnTo>
                  <a:close/>
                </a:path>
                <a:path w="6096000" h="609600">
                  <a:moveTo>
                    <a:pt x="0" y="0"/>
                  </a:moveTo>
                  <a:lnTo>
                    <a:pt x="0" y="0"/>
                  </a:lnTo>
                </a:path>
                <a:path w="6096000" h="609600">
                  <a:moveTo>
                    <a:pt x="6096000" y="609600"/>
                  </a:moveTo>
                  <a:lnTo>
                    <a:pt x="6096000" y="609600"/>
                  </a:lnTo>
                </a:path>
              </a:pathLst>
            </a:custGeom>
            <a:ln w="9344">
              <a:solidFill>
                <a:srgbClr val="000000"/>
              </a:solidFill>
            </a:ln>
          </p:spPr>
          <p:txBody>
            <a:bodyPr wrap="square" lIns="0" tIns="0" rIns="0" bIns="0" rtlCol="0"/>
            <a:lstStyle/>
            <a:p>
              <a:endParaRPr/>
            </a:p>
          </p:txBody>
        </p:sp>
        <p:sp>
          <p:nvSpPr>
            <p:cNvPr id="6" name="object 6"/>
            <p:cNvSpPr/>
            <p:nvPr/>
          </p:nvSpPr>
          <p:spPr>
            <a:xfrm>
              <a:off x="1905000" y="1828800"/>
              <a:ext cx="6096000" cy="609600"/>
            </a:xfrm>
            <a:custGeom>
              <a:avLst/>
              <a:gdLst/>
              <a:ahLst/>
              <a:cxnLst/>
              <a:rect l="l" t="t" r="r" b="b"/>
              <a:pathLst>
                <a:path w="6096000" h="609600">
                  <a:moveTo>
                    <a:pt x="5994400" y="0"/>
                  </a:moveTo>
                  <a:lnTo>
                    <a:pt x="101600" y="0"/>
                  </a:ln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close/>
                </a:path>
              </a:pathLst>
            </a:custGeom>
            <a:solidFill>
              <a:srgbClr val="9999FF"/>
            </a:solidFill>
          </p:spPr>
          <p:txBody>
            <a:bodyPr wrap="square" lIns="0" tIns="0" rIns="0" bIns="0" rtlCol="0"/>
            <a:lstStyle/>
            <a:p>
              <a:endParaRPr/>
            </a:p>
          </p:txBody>
        </p:sp>
        <p:sp>
          <p:nvSpPr>
            <p:cNvPr id="7" name="object 7"/>
            <p:cNvSpPr/>
            <p:nvPr/>
          </p:nvSpPr>
          <p:spPr>
            <a:xfrm>
              <a:off x="1905000" y="1828800"/>
              <a:ext cx="6096000" cy="609600"/>
            </a:xfrm>
            <a:custGeom>
              <a:avLst/>
              <a:gdLst/>
              <a:ahLst/>
              <a:cxnLst/>
              <a:rect l="l" t="t" r="r" b="b"/>
              <a:pathLst>
                <a:path w="6096000" h="609600">
                  <a:moveTo>
                    <a:pt x="101600" y="0"/>
                  </a:move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lnTo>
                    <a:pt x="101600" y="0"/>
                  </a:lnTo>
                  <a:close/>
                </a:path>
                <a:path w="6096000" h="609600">
                  <a:moveTo>
                    <a:pt x="0" y="0"/>
                  </a:moveTo>
                  <a:lnTo>
                    <a:pt x="0" y="0"/>
                  </a:lnTo>
                </a:path>
                <a:path w="6096000" h="609600">
                  <a:moveTo>
                    <a:pt x="6096000" y="609600"/>
                  </a:moveTo>
                  <a:lnTo>
                    <a:pt x="6096000" y="609600"/>
                  </a:lnTo>
                </a:path>
              </a:pathLst>
            </a:custGeom>
            <a:ln w="9344">
              <a:solidFill>
                <a:srgbClr val="000000"/>
              </a:solidFill>
            </a:ln>
          </p:spPr>
          <p:txBody>
            <a:bodyPr wrap="square" lIns="0" tIns="0" rIns="0" bIns="0" rtlCol="0"/>
            <a:lstStyle/>
            <a:p>
              <a:endParaRPr/>
            </a:p>
          </p:txBody>
        </p:sp>
        <p:sp>
          <p:nvSpPr>
            <p:cNvPr id="8" name="object 8"/>
            <p:cNvSpPr/>
            <p:nvPr/>
          </p:nvSpPr>
          <p:spPr>
            <a:xfrm>
              <a:off x="1981200" y="2743200"/>
              <a:ext cx="6096000" cy="609600"/>
            </a:xfrm>
            <a:custGeom>
              <a:avLst/>
              <a:gdLst/>
              <a:ahLst/>
              <a:cxnLst/>
              <a:rect l="l" t="t" r="r" b="b"/>
              <a:pathLst>
                <a:path w="6096000" h="609600">
                  <a:moveTo>
                    <a:pt x="5994400" y="0"/>
                  </a:moveTo>
                  <a:lnTo>
                    <a:pt x="101600" y="0"/>
                  </a:ln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close/>
                </a:path>
              </a:pathLst>
            </a:custGeom>
            <a:solidFill>
              <a:srgbClr val="9999FF"/>
            </a:solidFill>
          </p:spPr>
          <p:txBody>
            <a:bodyPr wrap="square" lIns="0" tIns="0" rIns="0" bIns="0" rtlCol="0"/>
            <a:lstStyle/>
            <a:p>
              <a:endParaRPr/>
            </a:p>
          </p:txBody>
        </p:sp>
        <p:sp>
          <p:nvSpPr>
            <p:cNvPr id="9" name="object 9"/>
            <p:cNvSpPr/>
            <p:nvPr/>
          </p:nvSpPr>
          <p:spPr>
            <a:xfrm>
              <a:off x="1981200" y="2743200"/>
              <a:ext cx="6096000" cy="609600"/>
            </a:xfrm>
            <a:custGeom>
              <a:avLst/>
              <a:gdLst/>
              <a:ahLst/>
              <a:cxnLst/>
              <a:rect l="l" t="t" r="r" b="b"/>
              <a:pathLst>
                <a:path w="6096000" h="609600">
                  <a:moveTo>
                    <a:pt x="101600" y="0"/>
                  </a:move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lnTo>
                    <a:pt x="101600" y="0"/>
                  </a:lnTo>
                  <a:close/>
                </a:path>
                <a:path w="6096000" h="609600">
                  <a:moveTo>
                    <a:pt x="0" y="0"/>
                  </a:moveTo>
                  <a:lnTo>
                    <a:pt x="0" y="0"/>
                  </a:lnTo>
                </a:path>
                <a:path w="6096000" h="609600">
                  <a:moveTo>
                    <a:pt x="6096000" y="609600"/>
                  </a:moveTo>
                  <a:lnTo>
                    <a:pt x="6096000" y="609600"/>
                  </a:lnTo>
                </a:path>
              </a:pathLst>
            </a:custGeom>
            <a:ln w="9344">
              <a:solidFill>
                <a:srgbClr val="000000"/>
              </a:solidFill>
            </a:ln>
          </p:spPr>
          <p:txBody>
            <a:bodyPr wrap="square" lIns="0" tIns="0" rIns="0" bIns="0" rtlCol="0"/>
            <a:lstStyle/>
            <a:p>
              <a:endParaRPr/>
            </a:p>
          </p:txBody>
        </p:sp>
        <p:sp>
          <p:nvSpPr>
            <p:cNvPr id="10" name="object 10"/>
            <p:cNvSpPr/>
            <p:nvPr/>
          </p:nvSpPr>
          <p:spPr>
            <a:xfrm>
              <a:off x="1981200" y="3581400"/>
              <a:ext cx="6096000" cy="609600"/>
            </a:xfrm>
            <a:custGeom>
              <a:avLst/>
              <a:gdLst/>
              <a:ahLst/>
              <a:cxnLst/>
              <a:rect l="l" t="t" r="r" b="b"/>
              <a:pathLst>
                <a:path w="6096000" h="609600">
                  <a:moveTo>
                    <a:pt x="5994400" y="0"/>
                  </a:moveTo>
                  <a:lnTo>
                    <a:pt x="101600" y="0"/>
                  </a:ln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close/>
                </a:path>
              </a:pathLst>
            </a:custGeom>
            <a:solidFill>
              <a:srgbClr val="9999FF"/>
            </a:solidFill>
          </p:spPr>
          <p:txBody>
            <a:bodyPr wrap="square" lIns="0" tIns="0" rIns="0" bIns="0" rtlCol="0"/>
            <a:lstStyle/>
            <a:p>
              <a:endParaRPr/>
            </a:p>
          </p:txBody>
        </p:sp>
        <p:sp>
          <p:nvSpPr>
            <p:cNvPr id="11" name="object 11"/>
            <p:cNvSpPr/>
            <p:nvPr/>
          </p:nvSpPr>
          <p:spPr>
            <a:xfrm>
              <a:off x="1981200" y="3581400"/>
              <a:ext cx="6096000" cy="609600"/>
            </a:xfrm>
            <a:custGeom>
              <a:avLst/>
              <a:gdLst/>
              <a:ahLst/>
              <a:cxnLst/>
              <a:rect l="l" t="t" r="r" b="b"/>
              <a:pathLst>
                <a:path w="6096000" h="609600">
                  <a:moveTo>
                    <a:pt x="101600" y="0"/>
                  </a:move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lnTo>
                    <a:pt x="101600" y="0"/>
                  </a:lnTo>
                  <a:close/>
                </a:path>
                <a:path w="6096000" h="609600">
                  <a:moveTo>
                    <a:pt x="0" y="0"/>
                  </a:moveTo>
                  <a:lnTo>
                    <a:pt x="0" y="0"/>
                  </a:lnTo>
                </a:path>
                <a:path w="6096000" h="609600">
                  <a:moveTo>
                    <a:pt x="6096000" y="609600"/>
                  </a:moveTo>
                  <a:lnTo>
                    <a:pt x="6096000" y="609600"/>
                  </a:lnTo>
                </a:path>
              </a:pathLst>
            </a:custGeom>
            <a:ln w="9344">
              <a:solidFill>
                <a:srgbClr val="000000"/>
              </a:solidFill>
            </a:ln>
          </p:spPr>
          <p:txBody>
            <a:bodyPr wrap="square" lIns="0" tIns="0" rIns="0" bIns="0" rtlCol="0"/>
            <a:lstStyle/>
            <a:p>
              <a:endParaRPr/>
            </a:p>
          </p:txBody>
        </p:sp>
        <p:sp>
          <p:nvSpPr>
            <p:cNvPr id="12" name="object 12"/>
            <p:cNvSpPr/>
            <p:nvPr/>
          </p:nvSpPr>
          <p:spPr>
            <a:xfrm>
              <a:off x="1981200" y="4495800"/>
              <a:ext cx="6096000" cy="609600"/>
            </a:xfrm>
            <a:custGeom>
              <a:avLst/>
              <a:gdLst/>
              <a:ahLst/>
              <a:cxnLst/>
              <a:rect l="l" t="t" r="r" b="b"/>
              <a:pathLst>
                <a:path w="6096000" h="609600">
                  <a:moveTo>
                    <a:pt x="5994400" y="0"/>
                  </a:moveTo>
                  <a:lnTo>
                    <a:pt x="101600" y="0"/>
                  </a:ln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close/>
                </a:path>
              </a:pathLst>
            </a:custGeom>
            <a:solidFill>
              <a:srgbClr val="9999FF"/>
            </a:solidFill>
          </p:spPr>
          <p:txBody>
            <a:bodyPr wrap="square" lIns="0" tIns="0" rIns="0" bIns="0" rtlCol="0"/>
            <a:lstStyle/>
            <a:p>
              <a:endParaRPr/>
            </a:p>
          </p:txBody>
        </p:sp>
        <p:sp>
          <p:nvSpPr>
            <p:cNvPr id="13" name="object 13"/>
            <p:cNvSpPr/>
            <p:nvPr/>
          </p:nvSpPr>
          <p:spPr>
            <a:xfrm>
              <a:off x="1981200" y="4495800"/>
              <a:ext cx="6096000" cy="609600"/>
            </a:xfrm>
            <a:custGeom>
              <a:avLst/>
              <a:gdLst/>
              <a:ahLst/>
              <a:cxnLst/>
              <a:rect l="l" t="t" r="r" b="b"/>
              <a:pathLst>
                <a:path w="6096000" h="609600">
                  <a:moveTo>
                    <a:pt x="101600" y="0"/>
                  </a:move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lnTo>
                    <a:pt x="101600" y="0"/>
                  </a:lnTo>
                  <a:close/>
                </a:path>
                <a:path w="6096000" h="609600">
                  <a:moveTo>
                    <a:pt x="0" y="0"/>
                  </a:moveTo>
                  <a:lnTo>
                    <a:pt x="0" y="0"/>
                  </a:lnTo>
                </a:path>
                <a:path w="6096000" h="609600">
                  <a:moveTo>
                    <a:pt x="6096000" y="609600"/>
                  </a:moveTo>
                  <a:lnTo>
                    <a:pt x="6096000" y="609600"/>
                  </a:lnTo>
                </a:path>
              </a:pathLst>
            </a:custGeom>
            <a:ln w="9344">
              <a:solidFill>
                <a:srgbClr val="000000"/>
              </a:solidFill>
            </a:ln>
          </p:spPr>
          <p:txBody>
            <a:bodyPr wrap="square" lIns="0" tIns="0" rIns="0" bIns="0" rtlCol="0"/>
            <a:lstStyle/>
            <a:p>
              <a:endParaRPr/>
            </a:p>
          </p:txBody>
        </p:sp>
        <p:sp>
          <p:nvSpPr>
            <p:cNvPr id="14" name="object 14"/>
            <p:cNvSpPr/>
            <p:nvPr/>
          </p:nvSpPr>
          <p:spPr>
            <a:xfrm>
              <a:off x="1981200" y="5334000"/>
              <a:ext cx="6096000" cy="609600"/>
            </a:xfrm>
            <a:custGeom>
              <a:avLst/>
              <a:gdLst/>
              <a:ahLst/>
              <a:cxnLst/>
              <a:rect l="l" t="t" r="r" b="b"/>
              <a:pathLst>
                <a:path w="6096000" h="609600">
                  <a:moveTo>
                    <a:pt x="5994400" y="0"/>
                  </a:moveTo>
                  <a:lnTo>
                    <a:pt x="101600" y="0"/>
                  </a:ln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close/>
                </a:path>
              </a:pathLst>
            </a:custGeom>
            <a:solidFill>
              <a:srgbClr val="9999FF"/>
            </a:solidFill>
          </p:spPr>
          <p:txBody>
            <a:bodyPr wrap="square" lIns="0" tIns="0" rIns="0" bIns="0" rtlCol="0"/>
            <a:lstStyle/>
            <a:p>
              <a:endParaRPr/>
            </a:p>
          </p:txBody>
        </p:sp>
        <p:sp>
          <p:nvSpPr>
            <p:cNvPr id="15" name="object 15"/>
            <p:cNvSpPr/>
            <p:nvPr/>
          </p:nvSpPr>
          <p:spPr>
            <a:xfrm>
              <a:off x="1981200" y="5334000"/>
              <a:ext cx="6096000" cy="609600"/>
            </a:xfrm>
            <a:custGeom>
              <a:avLst/>
              <a:gdLst/>
              <a:ahLst/>
              <a:cxnLst/>
              <a:rect l="l" t="t" r="r" b="b"/>
              <a:pathLst>
                <a:path w="6096000" h="609600">
                  <a:moveTo>
                    <a:pt x="101600" y="0"/>
                  </a:move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lnTo>
                    <a:pt x="101600" y="0"/>
                  </a:lnTo>
                  <a:close/>
                </a:path>
                <a:path w="6096000" h="609600">
                  <a:moveTo>
                    <a:pt x="0" y="0"/>
                  </a:moveTo>
                  <a:lnTo>
                    <a:pt x="0" y="0"/>
                  </a:lnTo>
                </a:path>
                <a:path w="6096000" h="609600">
                  <a:moveTo>
                    <a:pt x="6096000" y="609600"/>
                  </a:moveTo>
                  <a:lnTo>
                    <a:pt x="6096000" y="609600"/>
                  </a:lnTo>
                </a:path>
              </a:pathLst>
            </a:custGeom>
            <a:ln w="9344">
              <a:solidFill>
                <a:srgbClr val="000000"/>
              </a:solidFill>
            </a:ln>
          </p:spPr>
          <p:txBody>
            <a:bodyPr wrap="square" lIns="0" tIns="0" rIns="0" bIns="0" rtlCol="0"/>
            <a:lstStyle/>
            <a:p>
              <a:endParaRPr/>
            </a:p>
          </p:txBody>
        </p:sp>
        <p:sp>
          <p:nvSpPr>
            <p:cNvPr id="16" name="object 16"/>
            <p:cNvSpPr/>
            <p:nvPr/>
          </p:nvSpPr>
          <p:spPr>
            <a:xfrm>
              <a:off x="1981200" y="6172200"/>
              <a:ext cx="6096000" cy="609600"/>
            </a:xfrm>
            <a:custGeom>
              <a:avLst/>
              <a:gdLst/>
              <a:ahLst/>
              <a:cxnLst/>
              <a:rect l="l" t="t" r="r" b="b"/>
              <a:pathLst>
                <a:path w="6096000" h="609600">
                  <a:moveTo>
                    <a:pt x="5994400" y="0"/>
                  </a:moveTo>
                  <a:lnTo>
                    <a:pt x="101600" y="0"/>
                  </a:ln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close/>
                </a:path>
              </a:pathLst>
            </a:custGeom>
            <a:solidFill>
              <a:srgbClr val="9999FF"/>
            </a:solidFill>
          </p:spPr>
          <p:txBody>
            <a:bodyPr wrap="square" lIns="0" tIns="0" rIns="0" bIns="0" rtlCol="0"/>
            <a:lstStyle/>
            <a:p>
              <a:endParaRPr/>
            </a:p>
          </p:txBody>
        </p:sp>
        <p:sp>
          <p:nvSpPr>
            <p:cNvPr id="17" name="object 17"/>
            <p:cNvSpPr/>
            <p:nvPr/>
          </p:nvSpPr>
          <p:spPr>
            <a:xfrm>
              <a:off x="1981200" y="6172200"/>
              <a:ext cx="6096000" cy="609600"/>
            </a:xfrm>
            <a:custGeom>
              <a:avLst/>
              <a:gdLst/>
              <a:ahLst/>
              <a:cxnLst/>
              <a:rect l="l" t="t" r="r" b="b"/>
              <a:pathLst>
                <a:path w="6096000" h="609600">
                  <a:moveTo>
                    <a:pt x="101600" y="0"/>
                  </a:moveTo>
                  <a:lnTo>
                    <a:pt x="64293" y="8731"/>
                  </a:lnTo>
                  <a:lnTo>
                    <a:pt x="31750" y="31750"/>
                  </a:lnTo>
                  <a:lnTo>
                    <a:pt x="8731" y="64293"/>
                  </a:lnTo>
                  <a:lnTo>
                    <a:pt x="0" y="101600"/>
                  </a:lnTo>
                  <a:lnTo>
                    <a:pt x="0" y="508000"/>
                  </a:lnTo>
                  <a:lnTo>
                    <a:pt x="8731" y="545306"/>
                  </a:lnTo>
                  <a:lnTo>
                    <a:pt x="31750" y="577850"/>
                  </a:lnTo>
                  <a:lnTo>
                    <a:pt x="64293" y="600868"/>
                  </a:lnTo>
                  <a:lnTo>
                    <a:pt x="101600" y="609600"/>
                  </a:lnTo>
                  <a:lnTo>
                    <a:pt x="5994400" y="609600"/>
                  </a:lnTo>
                  <a:lnTo>
                    <a:pt x="6031706" y="600868"/>
                  </a:lnTo>
                  <a:lnTo>
                    <a:pt x="6064250" y="577850"/>
                  </a:lnTo>
                  <a:lnTo>
                    <a:pt x="6087268" y="545306"/>
                  </a:lnTo>
                  <a:lnTo>
                    <a:pt x="6096000" y="508000"/>
                  </a:lnTo>
                  <a:lnTo>
                    <a:pt x="6096000" y="101600"/>
                  </a:lnTo>
                  <a:lnTo>
                    <a:pt x="6087268" y="64293"/>
                  </a:lnTo>
                  <a:lnTo>
                    <a:pt x="6064250" y="31750"/>
                  </a:lnTo>
                  <a:lnTo>
                    <a:pt x="6031706" y="8731"/>
                  </a:lnTo>
                  <a:lnTo>
                    <a:pt x="5994400" y="0"/>
                  </a:lnTo>
                  <a:lnTo>
                    <a:pt x="101600" y="0"/>
                  </a:lnTo>
                  <a:close/>
                </a:path>
                <a:path w="6096000" h="609600">
                  <a:moveTo>
                    <a:pt x="0" y="0"/>
                  </a:moveTo>
                  <a:lnTo>
                    <a:pt x="0" y="0"/>
                  </a:lnTo>
                </a:path>
                <a:path w="6096000" h="609600">
                  <a:moveTo>
                    <a:pt x="6096000" y="609600"/>
                  </a:moveTo>
                  <a:lnTo>
                    <a:pt x="6096000" y="609600"/>
                  </a:lnTo>
                </a:path>
              </a:pathLst>
            </a:custGeom>
            <a:ln w="9344">
              <a:solidFill>
                <a:srgbClr val="000000"/>
              </a:solidFill>
            </a:ln>
          </p:spPr>
          <p:txBody>
            <a:bodyPr wrap="square" lIns="0" tIns="0" rIns="0" bIns="0" rtlCol="0"/>
            <a:lstStyle/>
            <a:p>
              <a:endParaRPr/>
            </a:p>
          </p:txBody>
        </p:sp>
      </p:grpSp>
      <p:sp>
        <p:nvSpPr>
          <p:cNvPr id="18" name="object 18"/>
          <p:cNvSpPr txBox="1"/>
          <p:nvPr/>
        </p:nvSpPr>
        <p:spPr>
          <a:xfrm>
            <a:off x="2359660" y="1130300"/>
            <a:ext cx="5236210" cy="5511800"/>
          </a:xfrm>
          <a:prstGeom prst="rect">
            <a:avLst/>
          </a:prstGeom>
        </p:spPr>
        <p:txBody>
          <a:bodyPr vert="horz" wrap="square" lIns="0" tIns="12700" rIns="0" bIns="0" rtlCol="0">
            <a:spAutoFit/>
          </a:bodyPr>
          <a:lstStyle/>
          <a:p>
            <a:pPr marR="46990" algn="ctr">
              <a:lnSpc>
                <a:spcPct val="100000"/>
              </a:lnSpc>
              <a:spcBef>
                <a:spcPts val="100"/>
              </a:spcBef>
            </a:pPr>
            <a:r>
              <a:rPr sz="2000" spc="-5" dirty="0">
                <a:latin typeface="Arial"/>
                <a:cs typeface="Arial"/>
              </a:rPr>
              <a:t>Identifying Environmental Factors</a:t>
            </a:r>
            <a:endParaRPr sz="2000">
              <a:latin typeface="Arial"/>
              <a:cs typeface="Arial"/>
            </a:endParaRPr>
          </a:p>
          <a:p>
            <a:pPr marL="943610" marR="60325" indent="-930910">
              <a:lnSpc>
                <a:spcPts val="7200"/>
              </a:lnSpc>
              <a:spcBef>
                <a:spcPts val="439"/>
              </a:spcBef>
            </a:pPr>
            <a:r>
              <a:rPr sz="2000" dirty="0">
                <a:latin typeface="Arial"/>
                <a:cs typeface="Arial"/>
              </a:rPr>
              <a:t>Scanning &amp; </a:t>
            </a:r>
            <a:r>
              <a:rPr sz="2000" spc="-5" dirty="0">
                <a:latin typeface="Arial"/>
                <a:cs typeface="Arial"/>
              </a:rPr>
              <a:t>Selecting Relevant </a:t>
            </a:r>
            <a:r>
              <a:rPr sz="2000" dirty="0">
                <a:latin typeface="Arial"/>
                <a:cs typeface="Arial"/>
              </a:rPr>
              <a:t>&amp; Key </a:t>
            </a:r>
            <a:r>
              <a:rPr sz="2000" spc="-5" dirty="0">
                <a:latin typeface="Arial"/>
                <a:cs typeface="Arial"/>
              </a:rPr>
              <a:t>Factors  Defining </a:t>
            </a:r>
            <a:r>
              <a:rPr sz="2000" dirty="0">
                <a:latin typeface="Arial"/>
                <a:cs typeface="Arial"/>
              </a:rPr>
              <a:t>Variables </a:t>
            </a:r>
            <a:r>
              <a:rPr sz="2000" spc="-5" dirty="0">
                <a:latin typeface="Arial"/>
                <a:cs typeface="Arial"/>
              </a:rPr>
              <a:t>for</a:t>
            </a:r>
            <a:r>
              <a:rPr sz="2000" spc="-10" dirty="0">
                <a:latin typeface="Arial"/>
                <a:cs typeface="Arial"/>
              </a:rPr>
              <a:t> </a:t>
            </a:r>
            <a:r>
              <a:rPr sz="2000" spc="-5" dirty="0">
                <a:latin typeface="Arial"/>
                <a:cs typeface="Arial"/>
              </a:rPr>
              <a:t>Analysis</a:t>
            </a:r>
            <a:endParaRPr sz="2000">
              <a:latin typeface="Arial"/>
              <a:cs typeface="Arial"/>
            </a:endParaRPr>
          </a:p>
          <a:p>
            <a:pPr>
              <a:lnSpc>
                <a:spcPct val="100000"/>
              </a:lnSpc>
              <a:spcBef>
                <a:spcPts val="55"/>
              </a:spcBef>
            </a:pPr>
            <a:endParaRPr sz="2700">
              <a:latin typeface="Arial"/>
              <a:cs typeface="Arial"/>
            </a:endParaRPr>
          </a:p>
          <a:p>
            <a:pPr marL="97155" algn="ctr">
              <a:lnSpc>
                <a:spcPct val="100000"/>
              </a:lnSpc>
            </a:pPr>
            <a:r>
              <a:rPr sz="2000" dirty="0">
                <a:latin typeface="Arial"/>
                <a:cs typeface="Arial"/>
              </a:rPr>
              <a:t>Using </a:t>
            </a:r>
            <a:r>
              <a:rPr sz="2000" spc="-5" dirty="0">
                <a:latin typeface="Arial"/>
                <a:cs typeface="Arial"/>
              </a:rPr>
              <a:t>Different Methods, </a:t>
            </a:r>
            <a:r>
              <a:rPr sz="2000" dirty="0">
                <a:latin typeface="Arial"/>
                <a:cs typeface="Arial"/>
              </a:rPr>
              <a:t>Techniques &amp;</a:t>
            </a:r>
            <a:r>
              <a:rPr sz="2000" spc="-70" dirty="0">
                <a:latin typeface="Arial"/>
                <a:cs typeface="Arial"/>
              </a:rPr>
              <a:t> </a:t>
            </a:r>
            <a:r>
              <a:rPr sz="2000" dirty="0">
                <a:latin typeface="Arial"/>
                <a:cs typeface="Arial"/>
              </a:rPr>
              <a:t>Tools</a:t>
            </a:r>
            <a:endParaRPr sz="2000">
              <a:latin typeface="Arial"/>
              <a:cs typeface="Arial"/>
            </a:endParaRPr>
          </a:p>
          <a:p>
            <a:pPr marL="694055" marR="589280" algn="ctr">
              <a:lnSpc>
                <a:spcPct val="275000"/>
              </a:lnSpc>
              <a:spcBef>
                <a:spcPts val="600"/>
              </a:spcBef>
            </a:pPr>
            <a:r>
              <a:rPr sz="2000" dirty="0">
                <a:latin typeface="Arial"/>
                <a:cs typeface="Arial"/>
              </a:rPr>
              <a:t>Forecasting </a:t>
            </a:r>
            <a:r>
              <a:rPr sz="2000" spc="-5" dirty="0">
                <a:latin typeface="Arial"/>
                <a:cs typeface="Arial"/>
              </a:rPr>
              <a:t>Environmental Factors  </a:t>
            </a:r>
            <a:r>
              <a:rPr sz="2000" dirty="0">
                <a:latin typeface="Arial"/>
                <a:cs typeface="Arial"/>
              </a:rPr>
              <a:t>Designing</a:t>
            </a:r>
            <a:r>
              <a:rPr sz="2000" spc="-5" dirty="0">
                <a:latin typeface="Arial"/>
                <a:cs typeface="Arial"/>
              </a:rPr>
              <a:t> Profiles</a:t>
            </a:r>
            <a:endParaRPr sz="2000">
              <a:latin typeface="Arial"/>
              <a:cs typeface="Arial"/>
            </a:endParaRPr>
          </a:p>
          <a:p>
            <a:pPr>
              <a:lnSpc>
                <a:spcPct val="100000"/>
              </a:lnSpc>
            </a:pPr>
            <a:endParaRPr sz="2200">
              <a:latin typeface="Arial"/>
              <a:cs typeface="Arial"/>
            </a:endParaRPr>
          </a:p>
          <a:p>
            <a:pPr marL="98425" algn="ctr">
              <a:lnSpc>
                <a:spcPct val="100000"/>
              </a:lnSpc>
              <a:spcBef>
                <a:spcPts val="1670"/>
              </a:spcBef>
            </a:pPr>
            <a:r>
              <a:rPr sz="2000" spc="-5" dirty="0">
                <a:latin typeface="Arial"/>
                <a:cs typeface="Arial"/>
              </a:rPr>
              <a:t>Strategic position </a:t>
            </a:r>
            <a:r>
              <a:rPr sz="2000" dirty="0">
                <a:latin typeface="Arial"/>
                <a:cs typeface="Arial"/>
              </a:rPr>
              <a:t>and Report</a:t>
            </a:r>
            <a:r>
              <a:rPr sz="2000" spc="-10" dirty="0">
                <a:latin typeface="Arial"/>
                <a:cs typeface="Arial"/>
              </a:rPr>
              <a:t> </a:t>
            </a:r>
            <a:r>
              <a:rPr sz="2000" spc="-5" dirty="0">
                <a:latin typeface="Arial"/>
                <a:cs typeface="Arial"/>
              </a:rPr>
              <a:t>Writing</a:t>
            </a:r>
            <a:endParaRPr sz="2000">
              <a:latin typeface="Arial"/>
              <a:cs typeface="Arial"/>
            </a:endParaRPr>
          </a:p>
        </p:txBody>
      </p:sp>
      <p:grpSp>
        <p:nvGrpSpPr>
          <p:cNvPr id="19" name="object 19"/>
          <p:cNvGrpSpPr/>
          <p:nvPr/>
        </p:nvGrpSpPr>
        <p:grpSpPr>
          <a:xfrm>
            <a:off x="4734559" y="1600200"/>
            <a:ext cx="132080" cy="4572000"/>
            <a:chOff x="4734559" y="1600200"/>
            <a:chExt cx="132080" cy="4572000"/>
          </a:xfrm>
        </p:grpSpPr>
        <p:sp>
          <p:nvSpPr>
            <p:cNvPr id="20" name="object 20"/>
            <p:cNvSpPr/>
            <p:nvPr/>
          </p:nvSpPr>
          <p:spPr>
            <a:xfrm>
              <a:off x="4800599" y="1600200"/>
              <a:ext cx="0" cy="104139"/>
            </a:xfrm>
            <a:custGeom>
              <a:avLst/>
              <a:gdLst/>
              <a:ahLst/>
              <a:cxnLst/>
              <a:rect l="l" t="t" r="r" b="b"/>
              <a:pathLst>
                <a:path h="104139">
                  <a:moveTo>
                    <a:pt x="0" y="0"/>
                  </a:moveTo>
                  <a:lnTo>
                    <a:pt x="0" y="104139"/>
                  </a:lnTo>
                </a:path>
              </a:pathLst>
            </a:custGeom>
            <a:ln w="44450">
              <a:solidFill>
                <a:srgbClr val="000000"/>
              </a:solidFill>
            </a:ln>
          </p:spPr>
          <p:txBody>
            <a:bodyPr wrap="square" lIns="0" tIns="0" rIns="0" bIns="0" rtlCol="0"/>
            <a:lstStyle/>
            <a:p>
              <a:endParaRPr/>
            </a:p>
          </p:txBody>
        </p:sp>
        <p:sp>
          <p:nvSpPr>
            <p:cNvPr id="21" name="object 21"/>
            <p:cNvSpPr/>
            <p:nvPr/>
          </p:nvSpPr>
          <p:spPr>
            <a:xfrm>
              <a:off x="4734559" y="1695450"/>
              <a:ext cx="132080" cy="133350"/>
            </a:xfrm>
            <a:custGeom>
              <a:avLst/>
              <a:gdLst/>
              <a:ahLst/>
              <a:cxnLst/>
              <a:rect l="l" t="t" r="r" b="b"/>
              <a:pathLst>
                <a:path w="132079" h="133350">
                  <a:moveTo>
                    <a:pt x="132079" y="0"/>
                  </a:moveTo>
                  <a:lnTo>
                    <a:pt x="0" y="0"/>
                  </a:lnTo>
                  <a:lnTo>
                    <a:pt x="66039" y="133350"/>
                  </a:lnTo>
                  <a:lnTo>
                    <a:pt x="132079" y="0"/>
                  </a:lnTo>
                  <a:close/>
                </a:path>
              </a:pathLst>
            </a:custGeom>
            <a:solidFill>
              <a:srgbClr val="000000"/>
            </a:solidFill>
          </p:spPr>
          <p:txBody>
            <a:bodyPr wrap="square" lIns="0" tIns="0" rIns="0" bIns="0" rtlCol="0"/>
            <a:lstStyle/>
            <a:p>
              <a:endParaRPr/>
            </a:p>
          </p:txBody>
        </p:sp>
        <p:sp>
          <p:nvSpPr>
            <p:cNvPr id="22" name="object 22"/>
            <p:cNvSpPr/>
            <p:nvPr/>
          </p:nvSpPr>
          <p:spPr>
            <a:xfrm>
              <a:off x="4800599" y="2438400"/>
              <a:ext cx="0" cy="180340"/>
            </a:xfrm>
            <a:custGeom>
              <a:avLst/>
              <a:gdLst/>
              <a:ahLst/>
              <a:cxnLst/>
              <a:rect l="l" t="t" r="r" b="b"/>
              <a:pathLst>
                <a:path h="180339">
                  <a:moveTo>
                    <a:pt x="0" y="0"/>
                  </a:moveTo>
                  <a:lnTo>
                    <a:pt x="0" y="180339"/>
                  </a:lnTo>
                </a:path>
              </a:pathLst>
            </a:custGeom>
            <a:ln w="44450">
              <a:solidFill>
                <a:srgbClr val="000000"/>
              </a:solidFill>
            </a:ln>
          </p:spPr>
          <p:txBody>
            <a:bodyPr wrap="square" lIns="0" tIns="0" rIns="0" bIns="0" rtlCol="0"/>
            <a:lstStyle/>
            <a:p>
              <a:endParaRPr/>
            </a:p>
          </p:txBody>
        </p:sp>
        <p:sp>
          <p:nvSpPr>
            <p:cNvPr id="23" name="object 23"/>
            <p:cNvSpPr/>
            <p:nvPr/>
          </p:nvSpPr>
          <p:spPr>
            <a:xfrm>
              <a:off x="4734559" y="2609850"/>
              <a:ext cx="132080" cy="133350"/>
            </a:xfrm>
            <a:custGeom>
              <a:avLst/>
              <a:gdLst/>
              <a:ahLst/>
              <a:cxnLst/>
              <a:rect l="l" t="t" r="r" b="b"/>
              <a:pathLst>
                <a:path w="132079" h="133350">
                  <a:moveTo>
                    <a:pt x="132079" y="0"/>
                  </a:moveTo>
                  <a:lnTo>
                    <a:pt x="0" y="0"/>
                  </a:lnTo>
                  <a:lnTo>
                    <a:pt x="66039" y="133350"/>
                  </a:lnTo>
                  <a:lnTo>
                    <a:pt x="132079" y="0"/>
                  </a:lnTo>
                  <a:close/>
                </a:path>
              </a:pathLst>
            </a:custGeom>
            <a:solidFill>
              <a:srgbClr val="000000"/>
            </a:solidFill>
          </p:spPr>
          <p:txBody>
            <a:bodyPr wrap="square" lIns="0" tIns="0" rIns="0" bIns="0" rtlCol="0"/>
            <a:lstStyle/>
            <a:p>
              <a:endParaRPr/>
            </a:p>
          </p:txBody>
        </p:sp>
        <p:sp>
          <p:nvSpPr>
            <p:cNvPr id="24" name="object 24"/>
            <p:cNvSpPr/>
            <p:nvPr/>
          </p:nvSpPr>
          <p:spPr>
            <a:xfrm>
              <a:off x="4800599" y="3352800"/>
              <a:ext cx="0" cy="104139"/>
            </a:xfrm>
            <a:custGeom>
              <a:avLst/>
              <a:gdLst/>
              <a:ahLst/>
              <a:cxnLst/>
              <a:rect l="l" t="t" r="r" b="b"/>
              <a:pathLst>
                <a:path h="104139">
                  <a:moveTo>
                    <a:pt x="0" y="0"/>
                  </a:moveTo>
                  <a:lnTo>
                    <a:pt x="0" y="104139"/>
                  </a:lnTo>
                </a:path>
              </a:pathLst>
            </a:custGeom>
            <a:ln w="44450">
              <a:solidFill>
                <a:srgbClr val="000000"/>
              </a:solidFill>
            </a:ln>
          </p:spPr>
          <p:txBody>
            <a:bodyPr wrap="square" lIns="0" tIns="0" rIns="0" bIns="0" rtlCol="0"/>
            <a:lstStyle/>
            <a:p>
              <a:endParaRPr/>
            </a:p>
          </p:txBody>
        </p:sp>
        <p:sp>
          <p:nvSpPr>
            <p:cNvPr id="25" name="object 25"/>
            <p:cNvSpPr/>
            <p:nvPr/>
          </p:nvSpPr>
          <p:spPr>
            <a:xfrm>
              <a:off x="4734559" y="3448050"/>
              <a:ext cx="132080" cy="133350"/>
            </a:xfrm>
            <a:custGeom>
              <a:avLst/>
              <a:gdLst/>
              <a:ahLst/>
              <a:cxnLst/>
              <a:rect l="l" t="t" r="r" b="b"/>
              <a:pathLst>
                <a:path w="132079" h="133350">
                  <a:moveTo>
                    <a:pt x="132079" y="0"/>
                  </a:moveTo>
                  <a:lnTo>
                    <a:pt x="0" y="0"/>
                  </a:lnTo>
                  <a:lnTo>
                    <a:pt x="66039" y="133350"/>
                  </a:lnTo>
                  <a:lnTo>
                    <a:pt x="132079" y="0"/>
                  </a:lnTo>
                  <a:close/>
                </a:path>
              </a:pathLst>
            </a:custGeom>
            <a:solidFill>
              <a:srgbClr val="000000"/>
            </a:solidFill>
          </p:spPr>
          <p:txBody>
            <a:bodyPr wrap="square" lIns="0" tIns="0" rIns="0" bIns="0" rtlCol="0"/>
            <a:lstStyle/>
            <a:p>
              <a:endParaRPr/>
            </a:p>
          </p:txBody>
        </p:sp>
        <p:sp>
          <p:nvSpPr>
            <p:cNvPr id="26" name="object 26"/>
            <p:cNvSpPr/>
            <p:nvPr/>
          </p:nvSpPr>
          <p:spPr>
            <a:xfrm>
              <a:off x="4800599" y="4191000"/>
              <a:ext cx="0" cy="180340"/>
            </a:xfrm>
            <a:custGeom>
              <a:avLst/>
              <a:gdLst/>
              <a:ahLst/>
              <a:cxnLst/>
              <a:rect l="l" t="t" r="r" b="b"/>
              <a:pathLst>
                <a:path h="180339">
                  <a:moveTo>
                    <a:pt x="0" y="0"/>
                  </a:moveTo>
                  <a:lnTo>
                    <a:pt x="0" y="180339"/>
                  </a:lnTo>
                </a:path>
              </a:pathLst>
            </a:custGeom>
            <a:ln w="44450">
              <a:solidFill>
                <a:srgbClr val="000000"/>
              </a:solidFill>
            </a:ln>
          </p:spPr>
          <p:txBody>
            <a:bodyPr wrap="square" lIns="0" tIns="0" rIns="0" bIns="0" rtlCol="0"/>
            <a:lstStyle/>
            <a:p>
              <a:endParaRPr/>
            </a:p>
          </p:txBody>
        </p:sp>
        <p:sp>
          <p:nvSpPr>
            <p:cNvPr id="27" name="object 27"/>
            <p:cNvSpPr/>
            <p:nvPr/>
          </p:nvSpPr>
          <p:spPr>
            <a:xfrm>
              <a:off x="4734559" y="4362450"/>
              <a:ext cx="132080" cy="133350"/>
            </a:xfrm>
            <a:custGeom>
              <a:avLst/>
              <a:gdLst/>
              <a:ahLst/>
              <a:cxnLst/>
              <a:rect l="l" t="t" r="r" b="b"/>
              <a:pathLst>
                <a:path w="132079" h="133350">
                  <a:moveTo>
                    <a:pt x="132079" y="0"/>
                  </a:moveTo>
                  <a:lnTo>
                    <a:pt x="0" y="0"/>
                  </a:lnTo>
                  <a:lnTo>
                    <a:pt x="66039" y="133350"/>
                  </a:lnTo>
                  <a:lnTo>
                    <a:pt x="132079" y="0"/>
                  </a:lnTo>
                  <a:close/>
                </a:path>
              </a:pathLst>
            </a:custGeom>
            <a:solidFill>
              <a:srgbClr val="000000"/>
            </a:solidFill>
          </p:spPr>
          <p:txBody>
            <a:bodyPr wrap="square" lIns="0" tIns="0" rIns="0" bIns="0" rtlCol="0"/>
            <a:lstStyle/>
            <a:p>
              <a:endParaRPr/>
            </a:p>
          </p:txBody>
        </p:sp>
        <p:sp>
          <p:nvSpPr>
            <p:cNvPr id="28" name="object 28"/>
            <p:cNvSpPr/>
            <p:nvPr/>
          </p:nvSpPr>
          <p:spPr>
            <a:xfrm>
              <a:off x="4800599" y="5105400"/>
              <a:ext cx="0" cy="105410"/>
            </a:xfrm>
            <a:custGeom>
              <a:avLst/>
              <a:gdLst/>
              <a:ahLst/>
              <a:cxnLst/>
              <a:rect l="l" t="t" r="r" b="b"/>
              <a:pathLst>
                <a:path h="105410">
                  <a:moveTo>
                    <a:pt x="0" y="0"/>
                  </a:moveTo>
                  <a:lnTo>
                    <a:pt x="0" y="105410"/>
                  </a:lnTo>
                </a:path>
              </a:pathLst>
            </a:custGeom>
            <a:ln w="44450">
              <a:solidFill>
                <a:srgbClr val="000000"/>
              </a:solidFill>
            </a:ln>
          </p:spPr>
          <p:txBody>
            <a:bodyPr wrap="square" lIns="0" tIns="0" rIns="0" bIns="0" rtlCol="0"/>
            <a:lstStyle/>
            <a:p>
              <a:endParaRPr/>
            </a:p>
          </p:txBody>
        </p:sp>
        <p:sp>
          <p:nvSpPr>
            <p:cNvPr id="29" name="object 29"/>
            <p:cNvSpPr/>
            <p:nvPr/>
          </p:nvSpPr>
          <p:spPr>
            <a:xfrm>
              <a:off x="4734559" y="5200650"/>
              <a:ext cx="132080" cy="133350"/>
            </a:xfrm>
            <a:custGeom>
              <a:avLst/>
              <a:gdLst/>
              <a:ahLst/>
              <a:cxnLst/>
              <a:rect l="l" t="t" r="r" b="b"/>
              <a:pathLst>
                <a:path w="132079" h="133350">
                  <a:moveTo>
                    <a:pt x="132079" y="0"/>
                  </a:moveTo>
                  <a:lnTo>
                    <a:pt x="0" y="0"/>
                  </a:lnTo>
                  <a:lnTo>
                    <a:pt x="66039" y="133350"/>
                  </a:lnTo>
                  <a:lnTo>
                    <a:pt x="132079" y="0"/>
                  </a:lnTo>
                  <a:close/>
                </a:path>
              </a:pathLst>
            </a:custGeom>
            <a:solidFill>
              <a:srgbClr val="000000"/>
            </a:solidFill>
          </p:spPr>
          <p:txBody>
            <a:bodyPr wrap="square" lIns="0" tIns="0" rIns="0" bIns="0" rtlCol="0"/>
            <a:lstStyle/>
            <a:p>
              <a:endParaRPr/>
            </a:p>
          </p:txBody>
        </p:sp>
        <p:sp>
          <p:nvSpPr>
            <p:cNvPr id="30" name="object 30"/>
            <p:cNvSpPr/>
            <p:nvPr/>
          </p:nvSpPr>
          <p:spPr>
            <a:xfrm>
              <a:off x="4800599" y="5943600"/>
              <a:ext cx="0" cy="104139"/>
            </a:xfrm>
            <a:custGeom>
              <a:avLst/>
              <a:gdLst/>
              <a:ahLst/>
              <a:cxnLst/>
              <a:rect l="l" t="t" r="r" b="b"/>
              <a:pathLst>
                <a:path h="104139">
                  <a:moveTo>
                    <a:pt x="0" y="0"/>
                  </a:moveTo>
                  <a:lnTo>
                    <a:pt x="0" y="104140"/>
                  </a:lnTo>
                </a:path>
              </a:pathLst>
            </a:custGeom>
            <a:ln w="44450">
              <a:solidFill>
                <a:srgbClr val="000000"/>
              </a:solidFill>
            </a:ln>
          </p:spPr>
          <p:txBody>
            <a:bodyPr wrap="square" lIns="0" tIns="0" rIns="0" bIns="0" rtlCol="0"/>
            <a:lstStyle/>
            <a:p>
              <a:endParaRPr/>
            </a:p>
          </p:txBody>
        </p:sp>
        <p:sp>
          <p:nvSpPr>
            <p:cNvPr id="31" name="object 31"/>
            <p:cNvSpPr/>
            <p:nvPr/>
          </p:nvSpPr>
          <p:spPr>
            <a:xfrm>
              <a:off x="4734559" y="6038850"/>
              <a:ext cx="132080" cy="133350"/>
            </a:xfrm>
            <a:custGeom>
              <a:avLst/>
              <a:gdLst/>
              <a:ahLst/>
              <a:cxnLst/>
              <a:rect l="l" t="t" r="r" b="b"/>
              <a:pathLst>
                <a:path w="132079" h="133350">
                  <a:moveTo>
                    <a:pt x="132079" y="0"/>
                  </a:moveTo>
                  <a:lnTo>
                    <a:pt x="0" y="0"/>
                  </a:lnTo>
                  <a:lnTo>
                    <a:pt x="66039" y="133350"/>
                  </a:lnTo>
                  <a:lnTo>
                    <a:pt x="132079" y="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7700" y="567690"/>
            <a:ext cx="7701280" cy="330200"/>
          </a:xfrm>
          <a:prstGeom prst="rect">
            <a:avLst/>
          </a:prstGeom>
        </p:spPr>
        <p:txBody>
          <a:bodyPr vert="horz" wrap="square" lIns="0" tIns="12700" rIns="0" bIns="0" rtlCol="0">
            <a:spAutoFit/>
          </a:bodyPr>
          <a:lstStyle/>
          <a:p>
            <a:pPr marL="12700">
              <a:lnSpc>
                <a:spcPct val="100000"/>
              </a:lnSpc>
              <a:spcBef>
                <a:spcPts val="100"/>
              </a:spcBef>
              <a:tabLst>
                <a:tab pos="4408170" algn="l"/>
              </a:tabLst>
            </a:pPr>
            <a:r>
              <a:rPr sz="2000" spc="-5" dirty="0"/>
              <a:t>Environmental </a:t>
            </a:r>
            <a:r>
              <a:rPr sz="2000" dirty="0"/>
              <a:t>analysis process</a:t>
            </a:r>
            <a:r>
              <a:rPr sz="2000" spc="30" dirty="0"/>
              <a:t> </a:t>
            </a:r>
            <a:r>
              <a:rPr sz="2000" spc="-5" dirty="0"/>
              <a:t>is</a:t>
            </a:r>
            <a:r>
              <a:rPr sz="2000" spc="15" dirty="0"/>
              <a:t> </a:t>
            </a:r>
            <a:r>
              <a:rPr sz="2000" dirty="0"/>
              <a:t>not	</a:t>
            </a:r>
            <a:r>
              <a:rPr sz="2000" spc="-5" dirty="0"/>
              <a:t>static </a:t>
            </a:r>
            <a:r>
              <a:rPr sz="2000" dirty="0"/>
              <a:t>but a </a:t>
            </a:r>
            <a:r>
              <a:rPr sz="2000" spc="-5" dirty="0"/>
              <a:t>dynamic</a:t>
            </a:r>
            <a:r>
              <a:rPr sz="2000" spc="-40" dirty="0"/>
              <a:t> </a:t>
            </a:r>
            <a:r>
              <a:rPr sz="2000" dirty="0"/>
              <a:t>process.</a:t>
            </a:r>
            <a:endParaRPr sz="2000"/>
          </a:p>
        </p:txBody>
      </p:sp>
      <p:sp>
        <p:nvSpPr>
          <p:cNvPr id="3" name="object 3"/>
          <p:cNvSpPr txBox="1"/>
          <p:nvPr/>
        </p:nvSpPr>
        <p:spPr>
          <a:xfrm>
            <a:off x="647700" y="935990"/>
            <a:ext cx="7945755" cy="3505200"/>
          </a:xfrm>
          <a:prstGeom prst="rect">
            <a:avLst/>
          </a:prstGeom>
        </p:spPr>
        <p:txBody>
          <a:bodyPr vert="horz" wrap="square" lIns="0" tIns="12700" rIns="0" bIns="0" rtlCol="0">
            <a:spAutoFit/>
          </a:bodyPr>
          <a:lstStyle/>
          <a:p>
            <a:pPr marL="12700" marR="5080">
              <a:lnSpc>
                <a:spcPct val="100000"/>
              </a:lnSpc>
              <a:spcBef>
                <a:spcPts val="100"/>
              </a:spcBef>
            </a:pPr>
            <a:r>
              <a:rPr sz="2000" dirty="0">
                <a:latin typeface="Arial"/>
                <a:cs typeface="Arial"/>
              </a:rPr>
              <a:t>It </a:t>
            </a:r>
            <a:r>
              <a:rPr sz="2000" spc="-5" dirty="0">
                <a:latin typeface="Arial"/>
                <a:cs typeface="Arial"/>
              </a:rPr>
              <a:t>may differ depending </a:t>
            </a:r>
            <a:r>
              <a:rPr sz="2000" dirty="0">
                <a:latin typeface="Arial"/>
                <a:cs typeface="Arial"/>
              </a:rPr>
              <a:t>on </a:t>
            </a:r>
            <a:r>
              <a:rPr sz="2000" spc="-5" dirty="0">
                <a:latin typeface="Arial"/>
                <a:cs typeface="Arial"/>
              </a:rPr>
              <a:t>the situation. However </a:t>
            </a:r>
            <a:r>
              <a:rPr sz="2000" dirty="0">
                <a:latin typeface="Arial"/>
                <a:cs typeface="Arial"/>
              </a:rPr>
              <a:t>general process </a:t>
            </a:r>
            <a:r>
              <a:rPr sz="2000" spc="-10" dirty="0">
                <a:latin typeface="Arial"/>
                <a:cs typeface="Arial"/>
              </a:rPr>
              <a:t>with  </a:t>
            </a:r>
            <a:r>
              <a:rPr sz="2000" spc="-5" dirty="0">
                <a:latin typeface="Arial"/>
                <a:cs typeface="Arial"/>
              </a:rPr>
              <a:t>few </a:t>
            </a:r>
            <a:r>
              <a:rPr sz="2000" dirty="0">
                <a:latin typeface="Arial"/>
                <a:cs typeface="Arial"/>
              </a:rPr>
              <a:t>common steps can be </a:t>
            </a:r>
            <a:r>
              <a:rPr sz="2000" spc="-5" dirty="0">
                <a:latin typeface="Arial"/>
                <a:cs typeface="Arial"/>
              </a:rPr>
              <a:t>identified </a:t>
            </a:r>
            <a:r>
              <a:rPr sz="2000" dirty="0">
                <a:latin typeface="Arial"/>
                <a:cs typeface="Arial"/>
              </a:rPr>
              <a:t>as </a:t>
            </a:r>
            <a:r>
              <a:rPr sz="2000" spc="-5" dirty="0">
                <a:latin typeface="Arial"/>
                <a:cs typeface="Arial"/>
              </a:rPr>
              <a:t>the </a:t>
            </a:r>
            <a:r>
              <a:rPr sz="2000" dirty="0">
                <a:latin typeface="Arial"/>
                <a:cs typeface="Arial"/>
              </a:rPr>
              <a:t>process of environmental  </a:t>
            </a:r>
            <a:r>
              <a:rPr sz="2000" spc="-5" dirty="0">
                <a:latin typeface="Arial"/>
                <a:cs typeface="Arial"/>
              </a:rPr>
              <a:t>analysis they</a:t>
            </a:r>
            <a:r>
              <a:rPr sz="2000" dirty="0">
                <a:latin typeface="Arial"/>
                <a:cs typeface="Arial"/>
              </a:rPr>
              <a:t> are:</a:t>
            </a:r>
            <a:endParaRPr sz="2000">
              <a:latin typeface="Arial"/>
              <a:cs typeface="Arial"/>
            </a:endParaRPr>
          </a:p>
          <a:p>
            <a:pPr marL="12700">
              <a:lnSpc>
                <a:spcPct val="100000"/>
              </a:lnSpc>
              <a:spcBef>
                <a:spcPts val="500"/>
              </a:spcBef>
            </a:pPr>
            <a:r>
              <a:rPr sz="2000" b="1" spc="-10" dirty="0">
                <a:latin typeface="Arial"/>
                <a:cs typeface="Arial"/>
              </a:rPr>
              <a:t>Identifying </a:t>
            </a:r>
            <a:r>
              <a:rPr sz="2000" b="1" spc="-5" dirty="0">
                <a:latin typeface="Arial"/>
                <a:cs typeface="Arial"/>
              </a:rPr>
              <a:t>Environmental</a:t>
            </a:r>
            <a:r>
              <a:rPr sz="2000" b="1" spc="5" dirty="0">
                <a:latin typeface="Arial"/>
                <a:cs typeface="Arial"/>
              </a:rPr>
              <a:t> </a:t>
            </a:r>
            <a:r>
              <a:rPr sz="2000" b="1" spc="-5" dirty="0">
                <a:latin typeface="Arial"/>
                <a:cs typeface="Arial"/>
              </a:rPr>
              <a:t>Factors:</a:t>
            </a:r>
            <a:endParaRPr sz="2000">
              <a:latin typeface="Arial"/>
              <a:cs typeface="Arial"/>
            </a:endParaRPr>
          </a:p>
          <a:p>
            <a:pPr marL="12700" marR="114300">
              <a:lnSpc>
                <a:spcPct val="100000"/>
              </a:lnSpc>
              <a:spcBef>
                <a:spcPts val="500"/>
              </a:spcBef>
              <a:tabLst>
                <a:tab pos="6231890" algn="l"/>
              </a:tabLst>
            </a:pPr>
            <a:r>
              <a:rPr sz="2000" spc="-5" dirty="0">
                <a:latin typeface="Arial"/>
                <a:cs typeface="Arial"/>
              </a:rPr>
              <a:t>All strategist </a:t>
            </a:r>
            <a:r>
              <a:rPr sz="2000" dirty="0">
                <a:latin typeface="Arial"/>
                <a:cs typeface="Arial"/>
              </a:rPr>
              <a:t>should </a:t>
            </a:r>
            <a:r>
              <a:rPr sz="2000" spc="-5" dirty="0">
                <a:latin typeface="Arial"/>
                <a:cs typeface="Arial"/>
              </a:rPr>
              <a:t>identify </a:t>
            </a:r>
            <a:r>
              <a:rPr sz="2000" dirty="0">
                <a:latin typeface="Arial"/>
                <a:cs typeface="Arial"/>
              </a:rPr>
              <a:t>all </a:t>
            </a:r>
            <a:r>
              <a:rPr sz="2000" spc="-5" dirty="0">
                <a:latin typeface="Arial"/>
                <a:cs typeface="Arial"/>
              </a:rPr>
              <a:t>the </a:t>
            </a:r>
            <a:r>
              <a:rPr sz="2000" dirty="0">
                <a:latin typeface="Arial"/>
                <a:cs typeface="Arial"/>
              </a:rPr>
              <a:t>relevant </a:t>
            </a:r>
            <a:r>
              <a:rPr sz="2000" spc="-5" dirty="0">
                <a:latin typeface="Arial"/>
                <a:cs typeface="Arial"/>
              </a:rPr>
              <a:t>factors that might affect  their </a:t>
            </a:r>
            <a:r>
              <a:rPr sz="2000" dirty="0">
                <a:latin typeface="Arial"/>
                <a:cs typeface="Arial"/>
              </a:rPr>
              <a:t>business. </a:t>
            </a:r>
            <a:r>
              <a:rPr sz="2000" spc="-5" dirty="0">
                <a:latin typeface="Arial"/>
                <a:cs typeface="Arial"/>
              </a:rPr>
              <a:t>In this </a:t>
            </a:r>
            <a:r>
              <a:rPr sz="2000" dirty="0">
                <a:latin typeface="Arial"/>
                <a:cs typeface="Arial"/>
              </a:rPr>
              <a:t>process, one should </a:t>
            </a:r>
            <a:r>
              <a:rPr sz="2000" spc="-5" dirty="0">
                <a:latin typeface="Arial"/>
                <a:cs typeface="Arial"/>
              </a:rPr>
              <a:t>first </a:t>
            </a:r>
            <a:r>
              <a:rPr sz="2000" dirty="0">
                <a:latin typeface="Arial"/>
                <a:cs typeface="Arial"/>
              </a:rPr>
              <a:t>know </a:t>
            </a:r>
            <a:r>
              <a:rPr sz="2000" spc="-5" dirty="0">
                <a:latin typeface="Arial"/>
                <a:cs typeface="Arial"/>
              </a:rPr>
              <a:t>what the internal  </a:t>
            </a:r>
            <a:r>
              <a:rPr sz="2000" dirty="0">
                <a:latin typeface="Arial"/>
                <a:cs typeface="Arial"/>
              </a:rPr>
              <a:t>areas </a:t>
            </a:r>
            <a:r>
              <a:rPr sz="2000" spc="-5" dirty="0">
                <a:latin typeface="Arial"/>
                <a:cs typeface="Arial"/>
              </a:rPr>
              <a:t>(internal </a:t>
            </a:r>
            <a:r>
              <a:rPr sz="2000" dirty="0">
                <a:latin typeface="Arial"/>
                <a:cs typeface="Arial"/>
              </a:rPr>
              <a:t>structure, culture,</a:t>
            </a:r>
            <a:r>
              <a:rPr sz="2000" spc="30" dirty="0">
                <a:latin typeface="Arial"/>
                <a:cs typeface="Arial"/>
              </a:rPr>
              <a:t> </a:t>
            </a:r>
            <a:r>
              <a:rPr sz="2000" dirty="0">
                <a:latin typeface="Arial"/>
                <a:cs typeface="Arial"/>
              </a:rPr>
              <a:t>labour</a:t>
            </a:r>
            <a:r>
              <a:rPr sz="2000" spc="10" dirty="0">
                <a:latin typeface="Arial"/>
                <a:cs typeface="Arial"/>
              </a:rPr>
              <a:t> </a:t>
            </a:r>
            <a:r>
              <a:rPr sz="2000" spc="-5" dirty="0">
                <a:latin typeface="Arial"/>
                <a:cs typeface="Arial"/>
              </a:rPr>
              <a:t>management)	of the  </a:t>
            </a:r>
            <a:r>
              <a:rPr sz="2000" dirty="0">
                <a:latin typeface="Arial"/>
                <a:cs typeface="Arial"/>
              </a:rPr>
              <a:t>business are. </a:t>
            </a:r>
            <a:r>
              <a:rPr sz="2000" spc="-5" dirty="0">
                <a:latin typeface="Arial"/>
                <a:cs typeface="Arial"/>
              </a:rPr>
              <a:t>Similarly, </a:t>
            </a:r>
            <a:r>
              <a:rPr sz="2000" dirty="0">
                <a:latin typeface="Arial"/>
                <a:cs typeface="Arial"/>
              </a:rPr>
              <a:t>a business </a:t>
            </a:r>
            <a:r>
              <a:rPr sz="2000" spc="-5" dirty="0">
                <a:latin typeface="Arial"/>
                <a:cs typeface="Arial"/>
              </a:rPr>
              <a:t>daily interacts </a:t>
            </a:r>
            <a:r>
              <a:rPr sz="2000" spc="-10" dirty="0">
                <a:latin typeface="Arial"/>
                <a:cs typeface="Arial"/>
              </a:rPr>
              <a:t>with </a:t>
            </a:r>
            <a:r>
              <a:rPr sz="2000" spc="-5" dirty="0">
                <a:latin typeface="Arial"/>
                <a:cs typeface="Arial"/>
              </a:rPr>
              <a:t>the </a:t>
            </a:r>
            <a:r>
              <a:rPr sz="2000" dirty="0">
                <a:latin typeface="Arial"/>
                <a:cs typeface="Arial"/>
              </a:rPr>
              <a:t>close  </a:t>
            </a:r>
            <a:r>
              <a:rPr sz="2000" spc="-5" dirty="0">
                <a:latin typeface="Arial"/>
                <a:cs typeface="Arial"/>
              </a:rPr>
              <a:t>environmental </a:t>
            </a:r>
            <a:r>
              <a:rPr sz="2000" dirty="0">
                <a:latin typeface="Arial"/>
                <a:cs typeface="Arial"/>
              </a:rPr>
              <a:t>components </a:t>
            </a:r>
            <a:r>
              <a:rPr sz="2000" spc="-5" dirty="0">
                <a:latin typeface="Arial"/>
                <a:cs typeface="Arial"/>
              </a:rPr>
              <a:t>outside the </a:t>
            </a:r>
            <a:r>
              <a:rPr sz="2000" dirty="0">
                <a:latin typeface="Arial"/>
                <a:cs typeface="Arial"/>
              </a:rPr>
              <a:t>business such </a:t>
            </a:r>
            <a:r>
              <a:rPr sz="2000" spc="-5" dirty="0">
                <a:latin typeface="Arial"/>
                <a:cs typeface="Arial"/>
              </a:rPr>
              <a:t>as </a:t>
            </a:r>
            <a:r>
              <a:rPr sz="2000" dirty="0">
                <a:latin typeface="Arial"/>
                <a:cs typeface="Arial"/>
              </a:rPr>
              <a:t>customers,  </a:t>
            </a:r>
            <a:r>
              <a:rPr sz="2000" spc="-5" dirty="0">
                <a:latin typeface="Arial"/>
                <a:cs typeface="Arial"/>
              </a:rPr>
              <a:t>competitors. Furthermore, </a:t>
            </a:r>
            <a:r>
              <a:rPr sz="2000" dirty="0">
                <a:latin typeface="Arial"/>
                <a:cs typeface="Arial"/>
              </a:rPr>
              <a:t>general factors such as </a:t>
            </a:r>
            <a:r>
              <a:rPr sz="2000" spc="-5" dirty="0">
                <a:latin typeface="Arial"/>
                <a:cs typeface="Arial"/>
              </a:rPr>
              <a:t>political, legal,  </a:t>
            </a:r>
            <a:r>
              <a:rPr sz="2000" dirty="0">
                <a:latin typeface="Arial"/>
                <a:cs typeface="Arial"/>
              </a:rPr>
              <a:t>economic </a:t>
            </a:r>
            <a:r>
              <a:rPr sz="2000" spc="-5" dirty="0">
                <a:latin typeface="Arial"/>
                <a:cs typeface="Arial"/>
              </a:rPr>
              <a:t>etc. </a:t>
            </a:r>
            <a:r>
              <a:rPr sz="2000" dirty="0">
                <a:latin typeface="Arial"/>
                <a:cs typeface="Arial"/>
              </a:rPr>
              <a:t>are </a:t>
            </a:r>
            <a:r>
              <a:rPr sz="2000" spc="-5" dirty="0">
                <a:latin typeface="Arial"/>
                <a:cs typeface="Arial"/>
              </a:rPr>
              <a:t>to be</a:t>
            </a:r>
            <a:r>
              <a:rPr sz="2000" dirty="0">
                <a:latin typeface="Arial"/>
                <a:cs typeface="Arial"/>
              </a:rPr>
              <a:t> </a:t>
            </a:r>
            <a:r>
              <a:rPr sz="2000" spc="-5" dirty="0">
                <a:latin typeface="Arial"/>
                <a:cs typeface="Arial"/>
              </a:rPr>
              <a:t>identified.</a:t>
            </a:r>
            <a:endParaRPr sz="2000">
              <a:latin typeface="Arial"/>
              <a:cs typeface="Arial"/>
            </a:endParaRPr>
          </a:p>
        </p:txBody>
      </p:sp>
      <p:sp>
        <p:nvSpPr>
          <p:cNvPr id="4" name="object 4"/>
          <p:cNvSpPr txBox="1"/>
          <p:nvPr/>
        </p:nvSpPr>
        <p:spPr>
          <a:xfrm>
            <a:off x="306070" y="19329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5" name="object 5"/>
          <p:cNvSpPr txBox="1"/>
          <p:nvPr/>
        </p:nvSpPr>
        <p:spPr>
          <a:xfrm>
            <a:off x="306070" y="48666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647700" y="4784090"/>
            <a:ext cx="7924800" cy="137287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Scanning </a:t>
            </a:r>
            <a:r>
              <a:rPr sz="2000" b="1" dirty="0">
                <a:latin typeface="Arial"/>
                <a:cs typeface="Arial"/>
              </a:rPr>
              <a:t>and </a:t>
            </a:r>
            <a:r>
              <a:rPr sz="2000" b="1" spc="-5" dirty="0">
                <a:latin typeface="Arial"/>
                <a:cs typeface="Arial"/>
              </a:rPr>
              <a:t>Selecting Relevant </a:t>
            </a:r>
            <a:r>
              <a:rPr sz="2000" b="1" dirty="0">
                <a:latin typeface="Arial"/>
                <a:cs typeface="Arial"/>
              </a:rPr>
              <a:t>Key</a:t>
            </a:r>
            <a:r>
              <a:rPr sz="2000" b="1" spc="-45" dirty="0">
                <a:latin typeface="Arial"/>
                <a:cs typeface="Arial"/>
              </a:rPr>
              <a:t> </a:t>
            </a:r>
            <a:r>
              <a:rPr sz="2000" b="1" dirty="0">
                <a:latin typeface="Arial"/>
                <a:cs typeface="Arial"/>
              </a:rPr>
              <a:t>Factors:</a:t>
            </a:r>
            <a:endParaRPr sz="2000">
              <a:latin typeface="Arial"/>
              <a:cs typeface="Arial"/>
            </a:endParaRPr>
          </a:p>
          <a:p>
            <a:pPr marL="12700" marR="5080">
              <a:lnSpc>
                <a:spcPct val="100200"/>
              </a:lnSpc>
              <a:spcBef>
                <a:spcPts val="495"/>
              </a:spcBef>
            </a:pPr>
            <a:r>
              <a:rPr sz="2000" dirty="0">
                <a:latin typeface="Arial"/>
                <a:cs typeface="Arial"/>
              </a:rPr>
              <a:t>Out </a:t>
            </a:r>
            <a:r>
              <a:rPr sz="2000" spc="-5" dirty="0">
                <a:latin typeface="Arial"/>
                <a:cs typeface="Arial"/>
              </a:rPr>
              <a:t>of all the </a:t>
            </a:r>
            <a:r>
              <a:rPr sz="2000" dirty="0">
                <a:latin typeface="Arial"/>
                <a:cs typeface="Arial"/>
              </a:rPr>
              <a:t>business </a:t>
            </a:r>
            <a:r>
              <a:rPr sz="2000" spc="-5" dirty="0">
                <a:latin typeface="Arial"/>
                <a:cs typeface="Arial"/>
              </a:rPr>
              <a:t>environmental factors, </a:t>
            </a:r>
            <a:r>
              <a:rPr sz="2000" dirty="0">
                <a:latin typeface="Arial"/>
                <a:cs typeface="Arial"/>
              </a:rPr>
              <a:t>a </a:t>
            </a:r>
            <a:r>
              <a:rPr sz="2000" spc="-5" dirty="0">
                <a:latin typeface="Arial"/>
                <a:cs typeface="Arial"/>
              </a:rPr>
              <a:t>strategist </a:t>
            </a:r>
            <a:r>
              <a:rPr sz="2000" dirty="0">
                <a:latin typeface="Arial"/>
                <a:cs typeface="Arial"/>
              </a:rPr>
              <a:t>should </a:t>
            </a:r>
            <a:r>
              <a:rPr sz="2000" spc="-5" dirty="0">
                <a:latin typeface="Arial"/>
                <a:cs typeface="Arial"/>
              </a:rPr>
              <a:t>focus  </a:t>
            </a:r>
            <a:r>
              <a:rPr sz="2000" dirty="0">
                <a:latin typeface="Arial"/>
                <a:cs typeface="Arial"/>
              </a:rPr>
              <a:t>on </a:t>
            </a:r>
            <a:r>
              <a:rPr sz="2000" spc="-5" dirty="0">
                <a:latin typeface="Arial"/>
                <a:cs typeface="Arial"/>
              </a:rPr>
              <a:t>the </a:t>
            </a:r>
            <a:r>
              <a:rPr sz="2000" dirty="0">
                <a:latin typeface="Arial"/>
                <a:cs typeface="Arial"/>
              </a:rPr>
              <a:t>relevant </a:t>
            </a:r>
            <a:r>
              <a:rPr sz="2000" spc="-5" dirty="0">
                <a:latin typeface="Arial"/>
                <a:cs typeface="Arial"/>
              </a:rPr>
              <a:t>factors for </a:t>
            </a:r>
            <a:r>
              <a:rPr sz="2000" dirty="0">
                <a:latin typeface="Arial"/>
                <a:cs typeface="Arial"/>
              </a:rPr>
              <a:t>analysis. This </a:t>
            </a:r>
            <a:r>
              <a:rPr sz="2000" spc="-5" dirty="0">
                <a:latin typeface="Arial"/>
                <a:cs typeface="Arial"/>
              </a:rPr>
              <a:t>step </a:t>
            </a:r>
            <a:r>
              <a:rPr sz="2000" dirty="0">
                <a:latin typeface="Arial"/>
                <a:cs typeface="Arial"/>
              </a:rPr>
              <a:t>basically </a:t>
            </a:r>
            <a:r>
              <a:rPr sz="2000" spc="-5" dirty="0">
                <a:latin typeface="Arial"/>
                <a:cs typeface="Arial"/>
              </a:rPr>
              <a:t>avoids the  </a:t>
            </a:r>
            <a:r>
              <a:rPr sz="2000" dirty="0">
                <a:latin typeface="Arial"/>
                <a:cs typeface="Arial"/>
              </a:rPr>
              <a:t>overload </a:t>
            </a:r>
            <a:r>
              <a:rPr sz="2000" spc="-5" dirty="0">
                <a:latin typeface="Arial"/>
                <a:cs typeface="Arial"/>
              </a:rPr>
              <a:t>of </a:t>
            </a:r>
            <a:r>
              <a:rPr sz="2000" dirty="0">
                <a:latin typeface="Arial"/>
                <a:cs typeface="Arial"/>
              </a:rPr>
              <a:t>unnecessary</a:t>
            </a:r>
            <a:r>
              <a:rPr sz="2000" spc="-15" dirty="0">
                <a:latin typeface="Arial"/>
                <a:cs typeface="Arial"/>
              </a:rPr>
              <a:t> </a:t>
            </a:r>
            <a:r>
              <a:rPr sz="2000" spc="-5" dirty="0">
                <a:latin typeface="Arial"/>
                <a:cs typeface="Arial"/>
              </a:rPr>
              <a:t>information.</a:t>
            </a:r>
            <a:endParaRPr sz="2000">
              <a:latin typeface="Arial"/>
              <a:cs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6070" y="5867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647700" y="567690"/>
            <a:ext cx="384746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Defining Variables for</a:t>
            </a:r>
            <a:r>
              <a:rPr sz="2000" b="1" dirty="0">
                <a:latin typeface="Arial"/>
                <a:cs typeface="Arial"/>
              </a:rPr>
              <a:t> </a:t>
            </a:r>
            <a:r>
              <a:rPr sz="2000" b="1" spc="-10" dirty="0">
                <a:latin typeface="Arial"/>
                <a:cs typeface="Arial"/>
              </a:rPr>
              <a:t>Analysis:</a:t>
            </a:r>
            <a:endParaRPr sz="2000">
              <a:latin typeface="Arial"/>
              <a:cs typeface="Arial"/>
            </a:endParaRPr>
          </a:p>
        </p:txBody>
      </p:sp>
      <p:sp>
        <p:nvSpPr>
          <p:cNvPr id="4" name="object 4"/>
          <p:cNvSpPr txBox="1"/>
          <p:nvPr/>
        </p:nvSpPr>
        <p:spPr>
          <a:xfrm>
            <a:off x="647700" y="935990"/>
            <a:ext cx="7894955" cy="1244600"/>
          </a:xfrm>
          <a:prstGeom prst="rect">
            <a:avLst/>
          </a:prstGeom>
        </p:spPr>
        <p:txBody>
          <a:bodyPr vert="horz" wrap="square" lIns="0" tIns="12700" rIns="0" bIns="0" rtlCol="0">
            <a:spAutoFit/>
          </a:bodyPr>
          <a:lstStyle/>
          <a:p>
            <a:pPr marL="12700" marR="5080">
              <a:lnSpc>
                <a:spcPct val="100000"/>
              </a:lnSpc>
              <a:spcBef>
                <a:spcPts val="100"/>
              </a:spcBef>
            </a:pPr>
            <a:r>
              <a:rPr sz="2000" spc="-5" dirty="0">
                <a:latin typeface="Arial"/>
                <a:cs typeface="Arial"/>
              </a:rPr>
              <a:t>Selected environmental factors </a:t>
            </a:r>
            <a:r>
              <a:rPr sz="2000" dirty="0">
                <a:latin typeface="Arial"/>
                <a:cs typeface="Arial"/>
              </a:rPr>
              <a:t>are </a:t>
            </a:r>
            <a:r>
              <a:rPr sz="2000" spc="-5" dirty="0">
                <a:latin typeface="Arial"/>
                <a:cs typeface="Arial"/>
              </a:rPr>
              <a:t>to be further specified into the  </a:t>
            </a:r>
            <a:r>
              <a:rPr sz="2000" dirty="0">
                <a:latin typeface="Arial"/>
                <a:cs typeface="Arial"/>
              </a:rPr>
              <a:t>variables. </a:t>
            </a:r>
            <a:r>
              <a:rPr sz="2000" spc="-5" dirty="0">
                <a:latin typeface="Arial"/>
                <a:cs typeface="Arial"/>
              </a:rPr>
              <a:t>For example, political situation </a:t>
            </a:r>
            <a:r>
              <a:rPr sz="2000" dirty="0">
                <a:latin typeface="Arial"/>
                <a:cs typeface="Arial"/>
              </a:rPr>
              <a:t>can be measured using </a:t>
            </a:r>
            <a:r>
              <a:rPr sz="2000" spc="-5" dirty="0">
                <a:latin typeface="Arial"/>
                <a:cs typeface="Arial"/>
              </a:rPr>
              <a:t>few  </a:t>
            </a:r>
            <a:r>
              <a:rPr sz="2000" dirty="0">
                <a:latin typeface="Arial"/>
                <a:cs typeface="Arial"/>
              </a:rPr>
              <a:t>variables such as </a:t>
            </a:r>
            <a:r>
              <a:rPr sz="2000" spc="-5" dirty="0">
                <a:latin typeface="Arial"/>
                <a:cs typeface="Arial"/>
              </a:rPr>
              <a:t>instability, reliability </a:t>
            </a:r>
            <a:r>
              <a:rPr sz="2000" dirty="0">
                <a:latin typeface="Arial"/>
                <a:cs typeface="Arial"/>
              </a:rPr>
              <a:t>and </a:t>
            </a:r>
            <a:r>
              <a:rPr sz="2000" spc="-5" dirty="0">
                <a:latin typeface="Arial"/>
                <a:cs typeface="Arial"/>
              </a:rPr>
              <a:t>long term effect. </a:t>
            </a:r>
            <a:r>
              <a:rPr sz="2000" dirty="0">
                <a:latin typeface="Arial"/>
                <a:cs typeface="Arial"/>
              </a:rPr>
              <a:t>Economic  environment might cover many </a:t>
            </a:r>
            <a:r>
              <a:rPr sz="2000" spc="-5" dirty="0">
                <a:latin typeface="Arial"/>
                <a:cs typeface="Arial"/>
              </a:rPr>
              <a:t>variables </a:t>
            </a:r>
            <a:r>
              <a:rPr sz="2000" dirty="0">
                <a:latin typeface="Arial"/>
                <a:cs typeface="Arial"/>
              </a:rPr>
              <a:t>such as per capita, GDP</a:t>
            </a:r>
            <a:r>
              <a:rPr sz="2000" spc="-114" dirty="0">
                <a:latin typeface="Arial"/>
                <a:cs typeface="Arial"/>
              </a:rPr>
              <a:t> </a:t>
            </a:r>
            <a:r>
              <a:rPr sz="2000" dirty="0">
                <a:latin typeface="Arial"/>
                <a:cs typeface="Arial"/>
              </a:rPr>
              <a:t>etc.</a:t>
            </a:r>
            <a:endParaRPr sz="2000">
              <a:latin typeface="Arial"/>
              <a:cs typeface="Arial"/>
            </a:endParaRPr>
          </a:p>
        </p:txBody>
      </p:sp>
      <p:sp>
        <p:nvSpPr>
          <p:cNvPr id="5" name="object 5"/>
          <p:cNvSpPr txBox="1"/>
          <p:nvPr/>
        </p:nvSpPr>
        <p:spPr>
          <a:xfrm>
            <a:off x="306070" y="26060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647700" y="2523490"/>
            <a:ext cx="7894320" cy="4001770"/>
          </a:xfrm>
          <a:prstGeom prst="rect">
            <a:avLst/>
          </a:prstGeom>
        </p:spPr>
        <p:txBody>
          <a:bodyPr vert="horz" wrap="square" lIns="0" tIns="76200" rIns="0" bIns="0" rtlCol="0">
            <a:spAutoFit/>
          </a:bodyPr>
          <a:lstStyle/>
          <a:p>
            <a:pPr marL="12700">
              <a:lnSpc>
                <a:spcPct val="100000"/>
              </a:lnSpc>
              <a:spcBef>
                <a:spcPts val="600"/>
              </a:spcBef>
            </a:pPr>
            <a:r>
              <a:rPr sz="2000" b="1" dirty="0">
                <a:latin typeface="Arial"/>
                <a:cs typeface="Arial"/>
              </a:rPr>
              <a:t>Using Different Methods, </a:t>
            </a:r>
            <a:r>
              <a:rPr sz="2000" b="1" spc="-5" dirty="0">
                <a:latin typeface="Arial"/>
                <a:cs typeface="Arial"/>
              </a:rPr>
              <a:t>Techniques </a:t>
            </a:r>
            <a:r>
              <a:rPr sz="2000" b="1" dirty="0">
                <a:latin typeface="Arial"/>
                <a:cs typeface="Arial"/>
              </a:rPr>
              <a:t>and</a:t>
            </a:r>
            <a:r>
              <a:rPr sz="2000" b="1" spc="-35" dirty="0">
                <a:latin typeface="Arial"/>
                <a:cs typeface="Arial"/>
              </a:rPr>
              <a:t> </a:t>
            </a:r>
            <a:r>
              <a:rPr sz="2000" b="1" spc="-5" dirty="0">
                <a:latin typeface="Arial"/>
                <a:cs typeface="Arial"/>
              </a:rPr>
              <a:t>Tools:</a:t>
            </a:r>
            <a:endParaRPr sz="2000">
              <a:latin typeface="Arial"/>
              <a:cs typeface="Arial"/>
            </a:endParaRPr>
          </a:p>
          <a:p>
            <a:pPr marL="12700" marR="554355">
              <a:lnSpc>
                <a:spcPct val="100000"/>
              </a:lnSpc>
              <a:spcBef>
                <a:spcPts val="500"/>
              </a:spcBef>
            </a:pPr>
            <a:r>
              <a:rPr sz="2000" spc="-5" dirty="0">
                <a:latin typeface="Arial"/>
                <a:cs typeface="Arial"/>
              </a:rPr>
              <a:t>Some of the major </a:t>
            </a:r>
            <a:r>
              <a:rPr sz="2000" dirty="0">
                <a:latin typeface="Arial"/>
                <a:cs typeface="Arial"/>
              </a:rPr>
              <a:t>methods </a:t>
            </a:r>
            <a:r>
              <a:rPr sz="2000" spc="-5" dirty="0">
                <a:latin typeface="Arial"/>
                <a:cs typeface="Arial"/>
              </a:rPr>
              <a:t>of analysis </a:t>
            </a:r>
            <a:r>
              <a:rPr sz="2000" dirty="0">
                <a:latin typeface="Arial"/>
                <a:cs typeface="Arial"/>
              </a:rPr>
              <a:t>can </a:t>
            </a:r>
            <a:r>
              <a:rPr sz="2000" spc="-5" dirty="0">
                <a:latin typeface="Arial"/>
                <a:cs typeface="Arial"/>
              </a:rPr>
              <a:t>be </a:t>
            </a:r>
            <a:r>
              <a:rPr sz="2000" dirty="0">
                <a:latin typeface="Arial"/>
                <a:cs typeface="Arial"/>
              </a:rPr>
              <a:t>Scenario </a:t>
            </a:r>
            <a:r>
              <a:rPr sz="2000" spc="-5" dirty="0">
                <a:latin typeface="Arial"/>
                <a:cs typeface="Arial"/>
              </a:rPr>
              <a:t>building,  </a:t>
            </a:r>
            <a:r>
              <a:rPr sz="2000" dirty="0">
                <a:latin typeface="Arial"/>
                <a:cs typeface="Arial"/>
              </a:rPr>
              <a:t>Benchmarking, </a:t>
            </a:r>
            <a:r>
              <a:rPr sz="2000" spc="-5" dirty="0">
                <a:latin typeface="Arial"/>
                <a:cs typeface="Arial"/>
              </a:rPr>
              <a:t>Network</a:t>
            </a:r>
            <a:r>
              <a:rPr sz="2000" spc="-10" dirty="0">
                <a:latin typeface="Arial"/>
                <a:cs typeface="Arial"/>
              </a:rPr>
              <a:t> </a:t>
            </a:r>
            <a:r>
              <a:rPr sz="2000" dirty="0">
                <a:latin typeface="Arial"/>
                <a:cs typeface="Arial"/>
              </a:rPr>
              <a:t>methods.</a:t>
            </a:r>
            <a:endParaRPr sz="2000">
              <a:latin typeface="Arial"/>
              <a:cs typeface="Arial"/>
            </a:endParaRPr>
          </a:p>
          <a:p>
            <a:pPr marL="12700" marR="214629">
              <a:lnSpc>
                <a:spcPct val="100200"/>
              </a:lnSpc>
              <a:spcBef>
                <a:spcPts val="495"/>
              </a:spcBef>
              <a:tabLst>
                <a:tab pos="5889625" algn="l"/>
              </a:tabLst>
            </a:pPr>
            <a:r>
              <a:rPr sz="2000" dirty="0">
                <a:latin typeface="Arial"/>
                <a:cs typeface="Arial"/>
              </a:rPr>
              <a:t>Scenario </a:t>
            </a:r>
            <a:r>
              <a:rPr sz="2000" spc="-5" dirty="0">
                <a:latin typeface="Arial"/>
                <a:cs typeface="Arial"/>
              </a:rPr>
              <a:t>presents </a:t>
            </a:r>
            <a:r>
              <a:rPr sz="2000" dirty="0">
                <a:latin typeface="Arial"/>
                <a:cs typeface="Arial"/>
              </a:rPr>
              <a:t>overall picture </a:t>
            </a:r>
            <a:r>
              <a:rPr sz="2000" spc="-5" dirty="0">
                <a:latin typeface="Arial"/>
                <a:cs typeface="Arial"/>
              </a:rPr>
              <a:t>of its</a:t>
            </a:r>
            <a:r>
              <a:rPr sz="2000" spc="30" dirty="0">
                <a:latin typeface="Arial"/>
                <a:cs typeface="Arial"/>
              </a:rPr>
              <a:t> </a:t>
            </a:r>
            <a:r>
              <a:rPr sz="2000" spc="-5" dirty="0">
                <a:latin typeface="Arial"/>
                <a:cs typeface="Arial"/>
              </a:rPr>
              <a:t>total</a:t>
            </a:r>
            <a:r>
              <a:rPr sz="2000" dirty="0">
                <a:latin typeface="Arial"/>
                <a:cs typeface="Arial"/>
              </a:rPr>
              <a:t> system	</a:t>
            </a:r>
            <a:r>
              <a:rPr sz="2000" spc="-10" dirty="0">
                <a:latin typeface="Arial"/>
                <a:cs typeface="Arial"/>
              </a:rPr>
              <a:t>with </a:t>
            </a:r>
            <a:r>
              <a:rPr sz="2000" spc="-5" dirty="0">
                <a:latin typeface="Arial"/>
                <a:cs typeface="Arial"/>
              </a:rPr>
              <a:t>affecting  </a:t>
            </a:r>
            <a:r>
              <a:rPr sz="2000" dirty="0">
                <a:latin typeface="Arial"/>
                <a:cs typeface="Arial"/>
              </a:rPr>
              <a:t>factors. Benchmarking is </a:t>
            </a:r>
            <a:r>
              <a:rPr sz="2000" spc="-5" dirty="0">
                <a:latin typeface="Arial"/>
                <a:cs typeface="Arial"/>
              </a:rPr>
              <a:t>to find the </a:t>
            </a:r>
            <a:r>
              <a:rPr sz="2000" dirty="0">
                <a:latin typeface="Arial"/>
                <a:cs typeface="Arial"/>
              </a:rPr>
              <a:t>best standard </a:t>
            </a:r>
            <a:r>
              <a:rPr sz="2000" spc="-5" dirty="0">
                <a:latin typeface="Arial"/>
                <a:cs typeface="Arial"/>
              </a:rPr>
              <a:t>in </a:t>
            </a:r>
            <a:r>
              <a:rPr sz="2000" dirty="0">
                <a:latin typeface="Arial"/>
                <a:cs typeface="Arial"/>
              </a:rPr>
              <a:t>an </a:t>
            </a:r>
            <a:r>
              <a:rPr sz="2000" spc="-5" dirty="0">
                <a:latin typeface="Arial"/>
                <a:cs typeface="Arial"/>
              </a:rPr>
              <a:t>industry </a:t>
            </a:r>
            <a:r>
              <a:rPr sz="2000" dirty="0">
                <a:latin typeface="Arial"/>
                <a:cs typeface="Arial"/>
              </a:rPr>
              <a:t>and  to compare </a:t>
            </a:r>
            <a:r>
              <a:rPr sz="2000" spc="-5" dirty="0">
                <a:latin typeface="Arial"/>
                <a:cs typeface="Arial"/>
              </a:rPr>
              <a:t>the one’s strength </a:t>
            </a:r>
            <a:r>
              <a:rPr sz="2000" dirty="0">
                <a:latin typeface="Arial"/>
                <a:cs typeface="Arial"/>
              </a:rPr>
              <a:t>and </a:t>
            </a:r>
            <a:r>
              <a:rPr sz="2000" spc="-5" dirty="0">
                <a:latin typeface="Arial"/>
                <a:cs typeface="Arial"/>
              </a:rPr>
              <a:t>weakness wit the</a:t>
            </a:r>
            <a:r>
              <a:rPr sz="2000" spc="5" dirty="0">
                <a:latin typeface="Arial"/>
                <a:cs typeface="Arial"/>
              </a:rPr>
              <a:t> </a:t>
            </a:r>
            <a:r>
              <a:rPr sz="2000" dirty="0">
                <a:latin typeface="Arial"/>
                <a:cs typeface="Arial"/>
              </a:rPr>
              <a:t>standard.</a:t>
            </a:r>
            <a:endParaRPr sz="2000">
              <a:latin typeface="Arial"/>
              <a:cs typeface="Arial"/>
            </a:endParaRPr>
          </a:p>
          <a:p>
            <a:pPr marL="12700" marR="383540">
              <a:lnSpc>
                <a:spcPct val="100000"/>
              </a:lnSpc>
            </a:pPr>
            <a:r>
              <a:rPr sz="2000" spc="-5" dirty="0">
                <a:latin typeface="Arial"/>
                <a:cs typeface="Arial"/>
              </a:rPr>
              <a:t>Network method is to </a:t>
            </a:r>
            <a:r>
              <a:rPr sz="2000" dirty="0">
                <a:latin typeface="Arial"/>
                <a:cs typeface="Arial"/>
              </a:rPr>
              <a:t>assess </a:t>
            </a:r>
            <a:r>
              <a:rPr sz="2000" spc="-5" dirty="0">
                <a:latin typeface="Arial"/>
                <a:cs typeface="Arial"/>
              </a:rPr>
              <a:t>organizational </a:t>
            </a:r>
            <a:r>
              <a:rPr sz="2000" dirty="0">
                <a:latin typeface="Arial"/>
                <a:cs typeface="Arial"/>
              </a:rPr>
              <a:t>system and </a:t>
            </a:r>
            <a:r>
              <a:rPr sz="2000" spc="-5" dirty="0">
                <a:latin typeface="Arial"/>
                <a:cs typeface="Arial"/>
              </a:rPr>
              <a:t>its outside  </a:t>
            </a:r>
            <a:r>
              <a:rPr sz="2000" dirty="0">
                <a:latin typeface="Arial"/>
                <a:cs typeface="Arial"/>
              </a:rPr>
              <a:t>environment to find out </a:t>
            </a:r>
            <a:r>
              <a:rPr sz="2000" spc="-5" dirty="0">
                <a:latin typeface="Arial"/>
                <a:cs typeface="Arial"/>
              </a:rPr>
              <a:t>the SWOT </a:t>
            </a:r>
            <a:r>
              <a:rPr sz="2000" dirty="0">
                <a:latin typeface="Arial"/>
                <a:cs typeface="Arial"/>
              </a:rPr>
              <a:t>of </a:t>
            </a:r>
            <a:r>
              <a:rPr sz="2000" spc="-5" dirty="0">
                <a:latin typeface="Arial"/>
                <a:cs typeface="Arial"/>
              </a:rPr>
              <a:t>an</a:t>
            </a:r>
            <a:r>
              <a:rPr sz="2000" spc="-75" dirty="0">
                <a:latin typeface="Arial"/>
                <a:cs typeface="Arial"/>
              </a:rPr>
              <a:t> </a:t>
            </a:r>
            <a:r>
              <a:rPr sz="2000" dirty="0">
                <a:latin typeface="Arial"/>
                <a:cs typeface="Arial"/>
              </a:rPr>
              <a:t>organization.</a:t>
            </a:r>
            <a:endParaRPr sz="2000">
              <a:latin typeface="Arial"/>
              <a:cs typeface="Arial"/>
            </a:endParaRPr>
          </a:p>
          <a:p>
            <a:pPr marL="12700">
              <a:lnSpc>
                <a:spcPct val="100000"/>
              </a:lnSpc>
              <a:spcBef>
                <a:spcPts val="500"/>
              </a:spcBef>
            </a:pPr>
            <a:r>
              <a:rPr sz="2000" spc="-5" dirty="0">
                <a:latin typeface="Arial"/>
                <a:cs typeface="Arial"/>
              </a:rPr>
              <a:t>Some of the techniques </a:t>
            </a:r>
            <a:r>
              <a:rPr sz="2000" dirty="0">
                <a:latin typeface="Arial"/>
                <a:cs typeface="Arial"/>
              </a:rPr>
              <a:t>are </a:t>
            </a:r>
            <a:r>
              <a:rPr sz="2000" spc="-5" dirty="0">
                <a:latin typeface="Arial"/>
                <a:cs typeface="Arial"/>
              </a:rPr>
              <a:t>Survey, Brainstorming, </a:t>
            </a:r>
            <a:r>
              <a:rPr sz="2000" dirty="0">
                <a:latin typeface="Arial"/>
                <a:cs typeface="Arial"/>
              </a:rPr>
              <a:t>Historical</a:t>
            </a:r>
            <a:r>
              <a:rPr sz="2000" spc="95" dirty="0">
                <a:latin typeface="Arial"/>
                <a:cs typeface="Arial"/>
              </a:rPr>
              <a:t> </a:t>
            </a:r>
            <a:r>
              <a:rPr sz="2000" spc="-5" dirty="0">
                <a:latin typeface="Arial"/>
                <a:cs typeface="Arial"/>
              </a:rPr>
              <a:t>Enquiry.</a:t>
            </a:r>
            <a:endParaRPr sz="2000">
              <a:latin typeface="Arial"/>
              <a:cs typeface="Arial"/>
            </a:endParaRPr>
          </a:p>
          <a:p>
            <a:pPr marL="12700" marR="268605">
              <a:lnSpc>
                <a:spcPct val="100000"/>
              </a:lnSpc>
              <a:spcBef>
                <a:spcPts val="500"/>
              </a:spcBef>
            </a:pPr>
            <a:r>
              <a:rPr sz="2000" spc="-5" dirty="0">
                <a:latin typeface="Arial"/>
                <a:cs typeface="Arial"/>
              </a:rPr>
              <a:t>Analysis tools </a:t>
            </a:r>
            <a:r>
              <a:rPr sz="2000" dirty="0">
                <a:latin typeface="Arial"/>
                <a:cs typeface="Arial"/>
              </a:rPr>
              <a:t>can be </a:t>
            </a:r>
            <a:r>
              <a:rPr sz="2000" spc="-5" dirty="0">
                <a:latin typeface="Arial"/>
                <a:cs typeface="Arial"/>
              </a:rPr>
              <a:t>statistical </a:t>
            </a:r>
            <a:r>
              <a:rPr sz="2000" dirty="0">
                <a:latin typeface="Arial"/>
                <a:cs typeface="Arial"/>
              </a:rPr>
              <a:t>such as general descriptive </a:t>
            </a:r>
            <a:r>
              <a:rPr sz="2000" spc="-5" dirty="0">
                <a:latin typeface="Arial"/>
                <a:cs typeface="Arial"/>
              </a:rPr>
              <a:t>tools </a:t>
            </a:r>
            <a:r>
              <a:rPr sz="2000" dirty="0">
                <a:latin typeface="Arial"/>
                <a:cs typeface="Arial"/>
              </a:rPr>
              <a:t>as  mean, median, mode, frequency. </a:t>
            </a:r>
            <a:r>
              <a:rPr sz="2000" spc="-5" dirty="0">
                <a:latin typeface="Arial"/>
                <a:cs typeface="Arial"/>
              </a:rPr>
              <a:t>Finance </a:t>
            </a:r>
            <a:r>
              <a:rPr sz="2000" dirty="0">
                <a:latin typeface="Arial"/>
                <a:cs typeface="Arial"/>
              </a:rPr>
              <a:t>&amp; accounting use </a:t>
            </a:r>
            <a:r>
              <a:rPr sz="2000" spc="-5" dirty="0">
                <a:latin typeface="Arial"/>
                <a:cs typeface="Arial"/>
              </a:rPr>
              <a:t>mostly  profitability, leverages </a:t>
            </a:r>
            <a:r>
              <a:rPr sz="2000" dirty="0">
                <a:latin typeface="Arial"/>
                <a:cs typeface="Arial"/>
              </a:rPr>
              <a:t>and </a:t>
            </a:r>
            <a:r>
              <a:rPr sz="2000" spc="-5" dirty="0">
                <a:latin typeface="Arial"/>
                <a:cs typeface="Arial"/>
              </a:rPr>
              <a:t>other similar financial tools for</a:t>
            </a:r>
            <a:r>
              <a:rPr sz="2000" spc="85" dirty="0">
                <a:latin typeface="Arial"/>
                <a:cs typeface="Arial"/>
              </a:rPr>
              <a:t> </a:t>
            </a:r>
            <a:r>
              <a:rPr sz="2000" dirty="0">
                <a:latin typeface="Arial"/>
                <a:cs typeface="Arial"/>
              </a:rPr>
              <a:t>analysis.</a:t>
            </a:r>
            <a:endParaRPr sz="2000">
              <a:latin typeface="Arial"/>
              <a:cs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69" y="7391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3" name="object 3"/>
          <p:cNvSpPr txBox="1">
            <a:spLocks noGrp="1"/>
          </p:cNvSpPr>
          <p:nvPr>
            <p:ph type="title"/>
          </p:nvPr>
        </p:nvSpPr>
        <p:spPr>
          <a:xfrm>
            <a:off x="877569" y="720090"/>
            <a:ext cx="4371975" cy="330200"/>
          </a:xfrm>
          <a:prstGeom prst="rect">
            <a:avLst/>
          </a:prstGeom>
        </p:spPr>
        <p:txBody>
          <a:bodyPr vert="horz" wrap="square" lIns="0" tIns="12700" rIns="0" bIns="0" rtlCol="0">
            <a:spAutoFit/>
          </a:bodyPr>
          <a:lstStyle/>
          <a:p>
            <a:pPr marL="12700">
              <a:lnSpc>
                <a:spcPct val="100000"/>
              </a:lnSpc>
              <a:spcBef>
                <a:spcPts val="100"/>
              </a:spcBef>
            </a:pPr>
            <a:r>
              <a:rPr sz="2000" b="1" spc="-5" dirty="0">
                <a:latin typeface="Arial"/>
                <a:cs typeface="Arial"/>
              </a:rPr>
              <a:t>Forecasting Environmental</a:t>
            </a:r>
            <a:r>
              <a:rPr sz="2000" b="1" spc="-25" dirty="0">
                <a:latin typeface="Arial"/>
                <a:cs typeface="Arial"/>
              </a:rPr>
              <a:t> </a:t>
            </a:r>
            <a:r>
              <a:rPr sz="2000" b="1" spc="-5" dirty="0">
                <a:latin typeface="Arial"/>
                <a:cs typeface="Arial"/>
              </a:rPr>
              <a:t>Factors:</a:t>
            </a:r>
            <a:endParaRPr sz="2000">
              <a:latin typeface="Arial"/>
              <a:cs typeface="Arial"/>
            </a:endParaRPr>
          </a:p>
        </p:txBody>
      </p:sp>
      <p:sp>
        <p:nvSpPr>
          <p:cNvPr id="4" name="object 4"/>
          <p:cNvSpPr txBox="1"/>
          <p:nvPr/>
        </p:nvSpPr>
        <p:spPr>
          <a:xfrm>
            <a:off x="877569" y="1088390"/>
            <a:ext cx="7102475" cy="939800"/>
          </a:xfrm>
          <a:prstGeom prst="rect">
            <a:avLst/>
          </a:prstGeom>
        </p:spPr>
        <p:txBody>
          <a:bodyPr vert="horz" wrap="square" lIns="0" tIns="12700" rIns="0" bIns="0" rtlCol="0">
            <a:spAutoFit/>
          </a:bodyPr>
          <a:lstStyle/>
          <a:p>
            <a:pPr marL="12700" marR="5080" algn="just">
              <a:lnSpc>
                <a:spcPct val="100000"/>
              </a:lnSpc>
              <a:spcBef>
                <a:spcPts val="100"/>
              </a:spcBef>
            </a:pPr>
            <a:r>
              <a:rPr sz="2000" spc="-5" dirty="0">
                <a:latin typeface="Arial"/>
                <a:cs typeface="Arial"/>
              </a:rPr>
              <a:t>Collecting relevant information </a:t>
            </a:r>
            <a:r>
              <a:rPr sz="2000" dirty="0">
                <a:latin typeface="Arial"/>
                <a:cs typeface="Arial"/>
              </a:rPr>
              <a:t>and </a:t>
            </a:r>
            <a:r>
              <a:rPr sz="2000" spc="-5" dirty="0">
                <a:latin typeface="Arial"/>
                <a:cs typeface="Arial"/>
              </a:rPr>
              <a:t>to identify the variables </a:t>
            </a:r>
            <a:r>
              <a:rPr sz="2000" dirty="0">
                <a:latin typeface="Arial"/>
                <a:cs typeface="Arial"/>
              </a:rPr>
              <a:t>are  basics </a:t>
            </a:r>
            <a:r>
              <a:rPr sz="2000" spc="-5" dirty="0">
                <a:latin typeface="Arial"/>
                <a:cs typeface="Arial"/>
              </a:rPr>
              <a:t>of </a:t>
            </a:r>
            <a:r>
              <a:rPr sz="2000" dirty="0">
                <a:latin typeface="Arial"/>
                <a:cs typeface="Arial"/>
              </a:rPr>
              <a:t>analysis. </a:t>
            </a:r>
            <a:r>
              <a:rPr sz="2000" spc="-5" dirty="0">
                <a:latin typeface="Arial"/>
                <a:cs typeface="Arial"/>
              </a:rPr>
              <a:t>Analyzing the </a:t>
            </a:r>
            <a:r>
              <a:rPr sz="2000" dirty="0">
                <a:latin typeface="Arial"/>
                <a:cs typeface="Arial"/>
              </a:rPr>
              <a:t>past </a:t>
            </a:r>
            <a:r>
              <a:rPr sz="2000" spc="-5" dirty="0">
                <a:latin typeface="Arial"/>
                <a:cs typeface="Arial"/>
              </a:rPr>
              <a:t>information to </a:t>
            </a:r>
            <a:r>
              <a:rPr sz="2000" dirty="0">
                <a:latin typeface="Arial"/>
                <a:cs typeface="Arial"/>
              </a:rPr>
              <a:t>predict </a:t>
            </a:r>
            <a:r>
              <a:rPr sz="2000" spc="-5" dirty="0">
                <a:latin typeface="Arial"/>
                <a:cs typeface="Arial"/>
              </a:rPr>
              <a:t>the  future </a:t>
            </a:r>
            <a:r>
              <a:rPr sz="2000" dirty="0">
                <a:latin typeface="Arial"/>
                <a:cs typeface="Arial"/>
              </a:rPr>
              <a:t>is </a:t>
            </a:r>
            <a:r>
              <a:rPr sz="2000" spc="-5" dirty="0">
                <a:latin typeface="Arial"/>
                <a:cs typeface="Arial"/>
              </a:rPr>
              <a:t>the </a:t>
            </a:r>
            <a:r>
              <a:rPr sz="2000" dirty="0">
                <a:latin typeface="Arial"/>
                <a:cs typeface="Arial"/>
              </a:rPr>
              <a:t>main </a:t>
            </a:r>
            <a:r>
              <a:rPr sz="2000" spc="-5" dirty="0">
                <a:latin typeface="Arial"/>
                <a:cs typeface="Arial"/>
              </a:rPr>
              <a:t>objective </a:t>
            </a:r>
            <a:r>
              <a:rPr sz="2000" dirty="0">
                <a:latin typeface="Arial"/>
                <a:cs typeface="Arial"/>
              </a:rPr>
              <a:t>of </a:t>
            </a:r>
            <a:r>
              <a:rPr sz="2000" spc="-5" dirty="0">
                <a:latin typeface="Arial"/>
                <a:cs typeface="Arial"/>
              </a:rPr>
              <a:t>this</a:t>
            </a:r>
            <a:r>
              <a:rPr sz="2000" spc="-20" dirty="0">
                <a:latin typeface="Arial"/>
                <a:cs typeface="Arial"/>
              </a:rPr>
              <a:t> </a:t>
            </a:r>
            <a:r>
              <a:rPr sz="2000" spc="-5" dirty="0">
                <a:latin typeface="Arial"/>
                <a:cs typeface="Arial"/>
              </a:rPr>
              <a:t>step.</a:t>
            </a:r>
            <a:endParaRPr sz="2000">
              <a:latin typeface="Arial"/>
              <a:cs typeface="Arial"/>
            </a:endParaRPr>
          </a:p>
        </p:txBody>
      </p:sp>
      <p:sp>
        <p:nvSpPr>
          <p:cNvPr id="5" name="object 5"/>
          <p:cNvSpPr txBox="1"/>
          <p:nvPr/>
        </p:nvSpPr>
        <p:spPr>
          <a:xfrm>
            <a:off x="534669" y="2453640"/>
            <a:ext cx="170815" cy="254000"/>
          </a:xfrm>
          <a:prstGeom prst="rect">
            <a:avLst/>
          </a:prstGeom>
        </p:spPr>
        <p:txBody>
          <a:bodyPr vert="horz" wrap="square" lIns="0" tIns="12700" rIns="0" bIns="0" rtlCol="0">
            <a:spAutoFit/>
          </a:bodyPr>
          <a:lstStyle/>
          <a:p>
            <a:pPr marL="12700">
              <a:lnSpc>
                <a:spcPct val="100000"/>
              </a:lnSpc>
              <a:spcBef>
                <a:spcPts val="100"/>
              </a:spcBef>
            </a:pPr>
            <a:r>
              <a:rPr sz="1500" spc="-360" dirty="0">
                <a:solidFill>
                  <a:srgbClr val="00007C"/>
                </a:solidFill>
                <a:latin typeface="UnDotum"/>
                <a:cs typeface="UnDotum"/>
              </a:rPr>
              <a:t></a:t>
            </a:r>
            <a:endParaRPr sz="1500">
              <a:latin typeface="UnDotum"/>
              <a:cs typeface="UnDotum"/>
            </a:endParaRPr>
          </a:p>
        </p:txBody>
      </p:sp>
      <p:sp>
        <p:nvSpPr>
          <p:cNvPr id="6" name="object 6"/>
          <p:cNvSpPr txBox="1"/>
          <p:nvPr/>
        </p:nvSpPr>
        <p:spPr>
          <a:xfrm>
            <a:off x="877569" y="2371090"/>
            <a:ext cx="7666355" cy="3328670"/>
          </a:xfrm>
          <a:prstGeom prst="rect">
            <a:avLst/>
          </a:prstGeom>
        </p:spPr>
        <p:txBody>
          <a:bodyPr vert="horz" wrap="square" lIns="0" tIns="76200" rIns="0" bIns="0" rtlCol="0">
            <a:spAutoFit/>
          </a:bodyPr>
          <a:lstStyle/>
          <a:p>
            <a:pPr marL="12700">
              <a:lnSpc>
                <a:spcPct val="100000"/>
              </a:lnSpc>
              <a:spcBef>
                <a:spcPts val="600"/>
              </a:spcBef>
            </a:pPr>
            <a:r>
              <a:rPr sz="2000" b="1" spc="-5" dirty="0">
                <a:latin typeface="Arial"/>
                <a:cs typeface="Arial"/>
              </a:rPr>
              <a:t>Designing</a:t>
            </a:r>
            <a:r>
              <a:rPr sz="2000" b="1" spc="-15" dirty="0">
                <a:latin typeface="Arial"/>
                <a:cs typeface="Arial"/>
              </a:rPr>
              <a:t> </a:t>
            </a:r>
            <a:r>
              <a:rPr sz="2000" b="1" spc="-5" dirty="0">
                <a:latin typeface="Arial"/>
                <a:cs typeface="Arial"/>
              </a:rPr>
              <a:t>Profile:</a:t>
            </a:r>
            <a:endParaRPr sz="2000">
              <a:latin typeface="Arial"/>
              <a:cs typeface="Arial"/>
            </a:endParaRPr>
          </a:p>
          <a:p>
            <a:pPr marL="12700" marR="74930">
              <a:lnSpc>
                <a:spcPct val="100000"/>
              </a:lnSpc>
              <a:spcBef>
                <a:spcPts val="500"/>
              </a:spcBef>
            </a:pPr>
            <a:r>
              <a:rPr sz="2000" spc="-5" dirty="0">
                <a:latin typeface="Arial"/>
                <a:cs typeface="Arial"/>
              </a:rPr>
              <a:t>After </a:t>
            </a:r>
            <a:r>
              <a:rPr sz="2000" dirty="0">
                <a:latin typeface="Arial"/>
                <a:cs typeface="Arial"/>
              </a:rPr>
              <a:t>analyzing </a:t>
            </a:r>
            <a:r>
              <a:rPr sz="2000" spc="-5" dirty="0">
                <a:latin typeface="Arial"/>
                <a:cs typeface="Arial"/>
              </a:rPr>
              <a:t>the environmental factors they </a:t>
            </a:r>
            <a:r>
              <a:rPr sz="2000" dirty="0">
                <a:latin typeface="Arial"/>
                <a:cs typeface="Arial"/>
              </a:rPr>
              <a:t>are recorded </a:t>
            </a:r>
            <a:r>
              <a:rPr sz="2000" spc="-5" dirty="0">
                <a:latin typeface="Arial"/>
                <a:cs typeface="Arial"/>
              </a:rPr>
              <a:t>into the  profiles. </a:t>
            </a:r>
            <a:r>
              <a:rPr sz="2000" dirty="0">
                <a:latin typeface="Arial"/>
                <a:cs typeface="Arial"/>
              </a:rPr>
              <a:t>Such </a:t>
            </a:r>
            <a:r>
              <a:rPr sz="2000" spc="-5" dirty="0">
                <a:latin typeface="Arial"/>
                <a:cs typeface="Arial"/>
              </a:rPr>
              <a:t>profile </a:t>
            </a:r>
            <a:r>
              <a:rPr sz="2000" dirty="0">
                <a:latin typeface="Arial"/>
                <a:cs typeface="Arial"/>
              </a:rPr>
              <a:t>record each component or </a:t>
            </a:r>
            <a:r>
              <a:rPr sz="2000" spc="-5" dirty="0">
                <a:latin typeface="Arial"/>
                <a:cs typeface="Arial"/>
              </a:rPr>
              <a:t>variable into left  </a:t>
            </a:r>
            <a:r>
              <a:rPr sz="2000" dirty="0">
                <a:latin typeface="Arial"/>
                <a:cs typeface="Arial"/>
              </a:rPr>
              <a:t>side and </a:t>
            </a:r>
            <a:r>
              <a:rPr sz="2000" spc="-5" dirty="0">
                <a:latin typeface="Arial"/>
                <a:cs typeface="Arial"/>
              </a:rPr>
              <a:t>their positive, negative </a:t>
            </a:r>
            <a:r>
              <a:rPr sz="2000" dirty="0">
                <a:latin typeface="Arial"/>
                <a:cs typeface="Arial"/>
              </a:rPr>
              <a:t>or </a:t>
            </a:r>
            <a:r>
              <a:rPr sz="2000" spc="-5" dirty="0">
                <a:latin typeface="Arial"/>
                <a:cs typeface="Arial"/>
              </a:rPr>
              <a:t>neutral indicators </a:t>
            </a:r>
            <a:r>
              <a:rPr sz="2000" dirty="0">
                <a:latin typeface="Arial"/>
                <a:cs typeface="Arial"/>
              </a:rPr>
              <a:t>including </a:t>
            </a:r>
            <a:r>
              <a:rPr sz="2000" spc="-5" dirty="0">
                <a:latin typeface="Arial"/>
                <a:cs typeface="Arial"/>
              </a:rPr>
              <a:t>their  statement in the </a:t>
            </a:r>
            <a:r>
              <a:rPr sz="2000" dirty="0">
                <a:latin typeface="Arial"/>
                <a:cs typeface="Arial"/>
              </a:rPr>
              <a:t>right</a:t>
            </a:r>
            <a:r>
              <a:rPr sz="2000" spc="-10" dirty="0">
                <a:latin typeface="Arial"/>
                <a:cs typeface="Arial"/>
              </a:rPr>
              <a:t> </a:t>
            </a:r>
            <a:r>
              <a:rPr sz="2000" dirty="0">
                <a:latin typeface="Arial"/>
                <a:cs typeface="Arial"/>
              </a:rPr>
              <a:t>side.</a:t>
            </a:r>
            <a:endParaRPr sz="2000">
              <a:latin typeface="Arial"/>
              <a:cs typeface="Arial"/>
            </a:endParaRPr>
          </a:p>
          <a:p>
            <a:pPr marL="12700" marR="412750">
              <a:lnSpc>
                <a:spcPct val="100200"/>
              </a:lnSpc>
              <a:spcBef>
                <a:spcPts val="495"/>
              </a:spcBef>
            </a:pPr>
            <a:r>
              <a:rPr sz="2000" spc="-5" dirty="0">
                <a:latin typeface="Arial"/>
                <a:cs typeface="Arial"/>
              </a:rPr>
              <a:t>Internal </a:t>
            </a:r>
            <a:r>
              <a:rPr sz="2000" dirty="0">
                <a:latin typeface="Arial"/>
                <a:cs typeface="Arial"/>
              </a:rPr>
              <a:t>areas are recorded in </a:t>
            </a:r>
            <a:r>
              <a:rPr sz="2000" spc="-5" dirty="0">
                <a:latin typeface="Arial"/>
                <a:cs typeface="Arial"/>
              </a:rPr>
              <a:t>Strategic Advantage Profile (SAP)  </a:t>
            </a:r>
            <a:r>
              <a:rPr sz="2000" dirty="0">
                <a:latin typeface="Arial"/>
                <a:cs typeface="Arial"/>
              </a:rPr>
              <a:t>and </a:t>
            </a:r>
            <a:r>
              <a:rPr sz="2000" spc="-5" dirty="0">
                <a:latin typeface="Arial"/>
                <a:cs typeface="Arial"/>
              </a:rPr>
              <a:t>external </a:t>
            </a:r>
            <a:r>
              <a:rPr sz="2000" dirty="0">
                <a:latin typeface="Arial"/>
                <a:cs typeface="Arial"/>
              </a:rPr>
              <a:t>areas </a:t>
            </a:r>
            <a:r>
              <a:rPr sz="2000" spc="-5" dirty="0">
                <a:latin typeface="Arial"/>
                <a:cs typeface="Arial"/>
              </a:rPr>
              <a:t>are </a:t>
            </a:r>
            <a:r>
              <a:rPr sz="2000" dirty="0">
                <a:latin typeface="Arial"/>
                <a:cs typeface="Arial"/>
              </a:rPr>
              <a:t>recorded </a:t>
            </a:r>
            <a:r>
              <a:rPr sz="2000" spc="-5" dirty="0">
                <a:latin typeface="Arial"/>
                <a:cs typeface="Arial"/>
              </a:rPr>
              <a:t>in Environmental </a:t>
            </a:r>
            <a:r>
              <a:rPr sz="2000" dirty="0">
                <a:latin typeface="Arial"/>
                <a:cs typeface="Arial"/>
              </a:rPr>
              <a:t>Threat and  </a:t>
            </a:r>
            <a:r>
              <a:rPr sz="2000" spc="-5" dirty="0">
                <a:latin typeface="Arial"/>
                <a:cs typeface="Arial"/>
              </a:rPr>
              <a:t>Opportunity Profile</a:t>
            </a:r>
            <a:r>
              <a:rPr sz="2000" spc="-30" dirty="0">
                <a:latin typeface="Arial"/>
                <a:cs typeface="Arial"/>
              </a:rPr>
              <a:t> </a:t>
            </a:r>
            <a:r>
              <a:rPr sz="2000" spc="-5" dirty="0">
                <a:latin typeface="Arial"/>
                <a:cs typeface="Arial"/>
              </a:rPr>
              <a:t>(ETOP).</a:t>
            </a:r>
            <a:endParaRPr sz="2000">
              <a:latin typeface="Arial"/>
              <a:cs typeface="Arial"/>
            </a:endParaRPr>
          </a:p>
          <a:p>
            <a:pPr marL="12700" marR="5080">
              <a:lnSpc>
                <a:spcPct val="100000"/>
              </a:lnSpc>
              <a:spcBef>
                <a:spcPts val="500"/>
              </a:spcBef>
            </a:pPr>
            <a:r>
              <a:rPr sz="2000" spc="-5" dirty="0">
                <a:latin typeface="Arial"/>
                <a:cs typeface="Arial"/>
              </a:rPr>
              <a:t>Strength, </a:t>
            </a:r>
            <a:r>
              <a:rPr sz="2000" dirty="0">
                <a:latin typeface="Arial"/>
                <a:cs typeface="Arial"/>
              </a:rPr>
              <a:t>Weakness, </a:t>
            </a:r>
            <a:r>
              <a:rPr sz="2000" spc="-5" dirty="0">
                <a:latin typeface="Arial"/>
                <a:cs typeface="Arial"/>
              </a:rPr>
              <a:t>Opportunity </a:t>
            </a:r>
            <a:r>
              <a:rPr sz="2000" dirty="0">
                <a:latin typeface="Arial"/>
                <a:cs typeface="Arial"/>
              </a:rPr>
              <a:t>and </a:t>
            </a:r>
            <a:r>
              <a:rPr sz="2000" spc="-5" dirty="0">
                <a:latin typeface="Arial"/>
                <a:cs typeface="Arial"/>
              </a:rPr>
              <a:t>Threat (SWOT) profile </a:t>
            </a:r>
            <a:r>
              <a:rPr sz="2000" dirty="0">
                <a:latin typeface="Arial"/>
                <a:cs typeface="Arial"/>
              </a:rPr>
              <a:t>can </a:t>
            </a:r>
            <a:r>
              <a:rPr sz="2000" spc="-5" dirty="0">
                <a:latin typeface="Arial"/>
                <a:cs typeface="Arial"/>
              </a:rPr>
              <a:t>be  </a:t>
            </a:r>
            <a:r>
              <a:rPr sz="2000" dirty="0">
                <a:latin typeface="Arial"/>
                <a:cs typeface="Arial"/>
              </a:rPr>
              <a:t>designed </a:t>
            </a:r>
            <a:r>
              <a:rPr sz="2000" spc="-5" dirty="0">
                <a:latin typeface="Arial"/>
                <a:cs typeface="Arial"/>
              </a:rPr>
              <a:t>combining </a:t>
            </a:r>
            <a:r>
              <a:rPr sz="2000" dirty="0">
                <a:latin typeface="Arial"/>
                <a:cs typeface="Arial"/>
              </a:rPr>
              <a:t>both of these </a:t>
            </a:r>
            <a:r>
              <a:rPr sz="2000" spc="-15" dirty="0">
                <a:latin typeface="Arial"/>
                <a:cs typeface="Arial"/>
              </a:rPr>
              <a:t>two </a:t>
            </a:r>
            <a:r>
              <a:rPr sz="2000" spc="-5" dirty="0">
                <a:latin typeface="Arial"/>
                <a:cs typeface="Arial"/>
              </a:rPr>
              <a:t>profiles into</a:t>
            </a:r>
            <a:r>
              <a:rPr sz="2000" dirty="0">
                <a:latin typeface="Arial"/>
                <a:cs typeface="Arial"/>
              </a:rPr>
              <a:t> one.</a:t>
            </a:r>
            <a:endParaRPr sz="2000">
              <a:latin typeface="Arial"/>
              <a:cs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69" y="427990"/>
            <a:ext cx="7632700" cy="1676400"/>
          </a:xfrm>
          <a:prstGeom prst="rect">
            <a:avLst/>
          </a:prstGeom>
        </p:spPr>
        <p:txBody>
          <a:bodyPr vert="horz" wrap="square" lIns="0" tIns="76200" rIns="0" bIns="0" rtlCol="0">
            <a:spAutoFit/>
          </a:bodyPr>
          <a:lstStyle/>
          <a:p>
            <a:pPr marL="12700">
              <a:lnSpc>
                <a:spcPct val="100000"/>
              </a:lnSpc>
              <a:spcBef>
                <a:spcPts val="600"/>
              </a:spcBef>
            </a:pPr>
            <a:r>
              <a:rPr sz="2000" spc="-5" dirty="0">
                <a:latin typeface="Arial"/>
                <a:cs typeface="Arial"/>
              </a:rPr>
              <a:t>Strategic Position </a:t>
            </a:r>
            <a:r>
              <a:rPr sz="2000" dirty="0">
                <a:latin typeface="Arial"/>
                <a:cs typeface="Arial"/>
              </a:rPr>
              <a:t>and Report </a:t>
            </a:r>
            <a:r>
              <a:rPr sz="2000" spc="-5" dirty="0">
                <a:latin typeface="Arial"/>
                <a:cs typeface="Arial"/>
              </a:rPr>
              <a:t>Writing:</a:t>
            </a:r>
            <a:endParaRPr sz="2000">
              <a:latin typeface="Arial"/>
              <a:cs typeface="Arial"/>
            </a:endParaRPr>
          </a:p>
          <a:p>
            <a:pPr marL="354965" marR="5080">
              <a:lnSpc>
                <a:spcPct val="100000"/>
              </a:lnSpc>
              <a:spcBef>
                <a:spcPts val="500"/>
              </a:spcBef>
            </a:pPr>
            <a:r>
              <a:rPr sz="2000" spc="-5" dirty="0">
                <a:latin typeface="Arial"/>
                <a:cs typeface="Arial"/>
              </a:rPr>
              <a:t>After </a:t>
            </a:r>
            <a:r>
              <a:rPr sz="2000" dirty="0">
                <a:latin typeface="Arial"/>
                <a:cs typeface="Arial"/>
              </a:rPr>
              <a:t>preparing </a:t>
            </a:r>
            <a:r>
              <a:rPr sz="2000" spc="-5" dirty="0">
                <a:latin typeface="Arial"/>
                <a:cs typeface="Arial"/>
              </a:rPr>
              <a:t>the </a:t>
            </a:r>
            <a:r>
              <a:rPr sz="2000" dirty="0">
                <a:latin typeface="Arial"/>
                <a:cs typeface="Arial"/>
              </a:rPr>
              <a:t>profiles </a:t>
            </a:r>
            <a:r>
              <a:rPr sz="2000" spc="-5" dirty="0">
                <a:latin typeface="Arial"/>
                <a:cs typeface="Arial"/>
              </a:rPr>
              <a:t>strategists </a:t>
            </a:r>
            <a:r>
              <a:rPr sz="2000" dirty="0">
                <a:latin typeface="Arial"/>
                <a:cs typeface="Arial"/>
              </a:rPr>
              <a:t>prepare </a:t>
            </a:r>
            <a:r>
              <a:rPr sz="2000" spc="-5" dirty="0">
                <a:latin typeface="Arial"/>
                <a:cs typeface="Arial"/>
              </a:rPr>
              <a:t>formal </a:t>
            </a:r>
            <a:r>
              <a:rPr sz="2000" dirty="0">
                <a:latin typeface="Arial"/>
                <a:cs typeface="Arial"/>
              </a:rPr>
              <a:t>report that  describes </a:t>
            </a:r>
            <a:r>
              <a:rPr sz="2000" spc="-5" dirty="0">
                <a:latin typeface="Arial"/>
                <a:cs typeface="Arial"/>
              </a:rPr>
              <a:t>the </a:t>
            </a:r>
            <a:r>
              <a:rPr sz="2000" dirty="0">
                <a:latin typeface="Arial"/>
                <a:cs typeface="Arial"/>
              </a:rPr>
              <a:t>business </a:t>
            </a:r>
            <a:r>
              <a:rPr sz="2000" spc="-5" dirty="0">
                <a:latin typeface="Arial"/>
                <a:cs typeface="Arial"/>
              </a:rPr>
              <a:t>environment. The </a:t>
            </a:r>
            <a:r>
              <a:rPr sz="2000" dirty="0">
                <a:latin typeface="Arial"/>
                <a:cs typeface="Arial"/>
              </a:rPr>
              <a:t>report </a:t>
            </a:r>
            <a:r>
              <a:rPr sz="2000" spc="-5" dirty="0">
                <a:latin typeface="Arial"/>
                <a:cs typeface="Arial"/>
              </a:rPr>
              <a:t>might </a:t>
            </a:r>
            <a:r>
              <a:rPr sz="2000" dirty="0">
                <a:latin typeface="Arial"/>
                <a:cs typeface="Arial"/>
              </a:rPr>
              <a:t>present  issues and best </a:t>
            </a:r>
            <a:r>
              <a:rPr sz="2000" spc="-5" dirty="0">
                <a:latin typeface="Arial"/>
                <a:cs typeface="Arial"/>
              </a:rPr>
              <a:t>strength </a:t>
            </a:r>
            <a:r>
              <a:rPr sz="2000" dirty="0">
                <a:latin typeface="Arial"/>
                <a:cs typeface="Arial"/>
              </a:rPr>
              <a:t>of business </a:t>
            </a:r>
            <a:r>
              <a:rPr sz="2000" spc="-5" dirty="0">
                <a:latin typeface="Arial"/>
                <a:cs typeface="Arial"/>
              </a:rPr>
              <a:t>environment. </a:t>
            </a:r>
            <a:r>
              <a:rPr sz="2000" dirty="0">
                <a:latin typeface="Arial"/>
                <a:cs typeface="Arial"/>
              </a:rPr>
              <a:t>Based on </a:t>
            </a:r>
            <a:r>
              <a:rPr sz="2000" spc="-5" dirty="0">
                <a:latin typeface="Arial"/>
                <a:cs typeface="Arial"/>
              </a:rPr>
              <a:t>this  </a:t>
            </a:r>
            <a:r>
              <a:rPr sz="2000" dirty="0">
                <a:latin typeface="Arial"/>
                <a:cs typeface="Arial"/>
              </a:rPr>
              <a:t>report </a:t>
            </a:r>
            <a:r>
              <a:rPr sz="2000" spc="-5" dirty="0">
                <a:latin typeface="Arial"/>
                <a:cs typeface="Arial"/>
              </a:rPr>
              <a:t>future strategies </a:t>
            </a:r>
            <a:r>
              <a:rPr sz="2000" dirty="0">
                <a:latin typeface="Arial"/>
                <a:cs typeface="Arial"/>
              </a:rPr>
              <a:t>can be made</a:t>
            </a:r>
            <a:r>
              <a:rPr sz="2000" spc="-15" dirty="0">
                <a:latin typeface="Arial"/>
                <a:cs typeface="Arial"/>
              </a:rPr>
              <a:t> </a:t>
            </a:r>
            <a:r>
              <a:rPr sz="2000" spc="-5" dirty="0">
                <a:latin typeface="Arial"/>
                <a:cs typeface="Arial"/>
              </a:rPr>
              <a:t>effectively.</a:t>
            </a:r>
            <a:endParaRPr sz="200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64159"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FCFCFD"/>
          </a:solidFill>
        </p:spPr>
        <p:txBody>
          <a:bodyPr wrap="square" lIns="0" tIns="0" rIns="0" bIns="0" rtlCol="0"/>
          <a:lstStyle/>
          <a:p>
            <a:endParaRPr/>
          </a:p>
        </p:txBody>
      </p:sp>
      <p:sp>
        <p:nvSpPr>
          <p:cNvPr id="3" name="object 3"/>
          <p:cNvSpPr/>
          <p:nvPr/>
        </p:nvSpPr>
        <p:spPr>
          <a:xfrm>
            <a:off x="264159"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FCFCFD"/>
          </a:solidFill>
        </p:spPr>
        <p:txBody>
          <a:bodyPr wrap="square" lIns="0" tIns="0" rIns="0" bIns="0" rtlCol="0"/>
          <a:lstStyle/>
          <a:p>
            <a:endParaRPr/>
          </a:p>
        </p:txBody>
      </p:sp>
      <p:sp>
        <p:nvSpPr>
          <p:cNvPr id="4" name="object 4"/>
          <p:cNvSpPr/>
          <p:nvPr/>
        </p:nvSpPr>
        <p:spPr>
          <a:xfrm>
            <a:off x="257809" y="274320"/>
            <a:ext cx="7620" cy="260350"/>
          </a:xfrm>
          <a:custGeom>
            <a:avLst/>
            <a:gdLst/>
            <a:ahLst/>
            <a:cxnLst/>
            <a:rect l="l" t="t" r="r" b="b"/>
            <a:pathLst>
              <a:path w="7620" h="260350">
                <a:moveTo>
                  <a:pt x="0" y="260350"/>
                </a:moveTo>
                <a:lnTo>
                  <a:pt x="7619" y="260350"/>
                </a:lnTo>
                <a:lnTo>
                  <a:pt x="7619" y="0"/>
                </a:lnTo>
                <a:lnTo>
                  <a:pt x="0" y="0"/>
                </a:lnTo>
                <a:lnTo>
                  <a:pt x="0" y="260350"/>
                </a:lnTo>
                <a:close/>
              </a:path>
            </a:pathLst>
          </a:custGeom>
          <a:solidFill>
            <a:srgbClr val="FBFBFD"/>
          </a:solidFill>
        </p:spPr>
        <p:txBody>
          <a:bodyPr wrap="square" lIns="0" tIns="0" rIns="0" bIns="0" rtlCol="0"/>
          <a:lstStyle/>
          <a:p>
            <a:endParaRPr/>
          </a:p>
        </p:txBody>
      </p:sp>
      <p:sp>
        <p:nvSpPr>
          <p:cNvPr id="5" name="object 5"/>
          <p:cNvSpPr/>
          <p:nvPr/>
        </p:nvSpPr>
        <p:spPr>
          <a:xfrm>
            <a:off x="257809" y="0"/>
            <a:ext cx="7620" cy="137160"/>
          </a:xfrm>
          <a:custGeom>
            <a:avLst/>
            <a:gdLst/>
            <a:ahLst/>
            <a:cxnLst/>
            <a:rect l="l" t="t" r="r" b="b"/>
            <a:pathLst>
              <a:path w="7620" h="137160">
                <a:moveTo>
                  <a:pt x="0" y="137160"/>
                </a:moveTo>
                <a:lnTo>
                  <a:pt x="7619" y="137160"/>
                </a:lnTo>
                <a:lnTo>
                  <a:pt x="7619" y="0"/>
                </a:lnTo>
                <a:lnTo>
                  <a:pt x="0" y="0"/>
                </a:lnTo>
                <a:lnTo>
                  <a:pt x="0" y="137160"/>
                </a:lnTo>
                <a:close/>
              </a:path>
            </a:pathLst>
          </a:custGeom>
          <a:solidFill>
            <a:srgbClr val="FBFBFD"/>
          </a:solidFill>
        </p:spPr>
        <p:txBody>
          <a:bodyPr wrap="square" lIns="0" tIns="0" rIns="0" bIns="0" rtlCol="0"/>
          <a:lstStyle/>
          <a:p>
            <a:endParaRPr/>
          </a:p>
        </p:txBody>
      </p:sp>
      <p:sp>
        <p:nvSpPr>
          <p:cNvPr id="6" name="object 6"/>
          <p:cNvSpPr/>
          <p:nvPr/>
        </p:nvSpPr>
        <p:spPr>
          <a:xfrm>
            <a:off x="250190" y="274320"/>
            <a:ext cx="7620" cy="260350"/>
          </a:xfrm>
          <a:custGeom>
            <a:avLst/>
            <a:gdLst/>
            <a:ahLst/>
            <a:cxnLst/>
            <a:rect l="l" t="t" r="r" b="b"/>
            <a:pathLst>
              <a:path w="7620" h="260350">
                <a:moveTo>
                  <a:pt x="0" y="260350"/>
                </a:moveTo>
                <a:lnTo>
                  <a:pt x="7620" y="260350"/>
                </a:lnTo>
                <a:lnTo>
                  <a:pt x="7620" y="0"/>
                </a:lnTo>
                <a:lnTo>
                  <a:pt x="0" y="0"/>
                </a:lnTo>
                <a:lnTo>
                  <a:pt x="0" y="260350"/>
                </a:lnTo>
                <a:close/>
              </a:path>
            </a:pathLst>
          </a:custGeom>
          <a:solidFill>
            <a:srgbClr val="FAFAFC"/>
          </a:solidFill>
        </p:spPr>
        <p:txBody>
          <a:bodyPr wrap="square" lIns="0" tIns="0" rIns="0" bIns="0" rtlCol="0"/>
          <a:lstStyle/>
          <a:p>
            <a:endParaRPr/>
          </a:p>
        </p:txBody>
      </p:sp>
      <p:sp>
        <p:nvSpPr>
          <p:cNvPr id="7" name="object 7"/>
          <p:cNvSpPr/>
          <p:nvPr/>
        </p:nvSpPr>
        <p:spPr>
          <a:xfrm>
            <a:off x="250190" y="0"/>
            <a:ext cx="7620" cy="137160"/>
          </a:xfrm>
          <a:custGeom>
            <a:avLst/>
            <a:gdLst/>
            <a:ahLst/>
            <a:cxnLst/>
            <a:rect l="l" t="t" r="r" b="b"/>
            <a:pathLst>
              <a:path w="7620" h="137160">
                <a:moveTo>
                  <a:pt x="0" y="137160"/>
                </a:moveTo>
                <a:lnTo>
                  <a:pt x="7620" y="137160"/>
                </a:lnTo>
                <a:lnTo>
                  <a:pt x="7620" y="0"/>
                </a:lnTo>
                <a:lnTo>
                  <a:pt x="0" y="0"/>
                </a:lnTo>
                <a:lnTo>
                  <a:pt x="0" y="137160"/>
                </a:lnTo>
                <a:close/>
              </a:path>
            </a:pathLst>
          </a:custGeom>
          <a:solidFill>
            <a:srgbClr val="FAFAFC"/>
          </a:solidFill>
        </p:spPr>
        <p:txBody>
          <a:bodyPr wrap="square" lIns="0" tIns="0" rIns="0" bIns="0" rtlCol="0"/>
          <a:lstStyle/>
          <a:p>
            <a:endParaRPr/>
          </a:p>
        </p:txBody>
      </p:sp>
      <p:sp>
        <p:nvSpPr>
          <p:cNvPr id="8" name="object 8"/>
          <p:cNvSpPr/>
          <p:nvPr/>
        </p:nvSpPr>
        <p:spPr>
          <a:xfrm>
            <a:off x="242570"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F8F8FB"/>
          </a:solidFill>
        </p:spPr>
        <p:txBody>
          <a:bodyPr wrap="square" lIns="0" tIns="0" rIns="0" bIns="0" rtlCol="0"/>
          <a:lstStyle/>
          <a:p>
            <a:endParaRPr/>
          </a:p>
        </p:txBody>
      </p:sp>
      <p:sp>
        <p:nvSpPr>
          <p:cNvPr id="9" name="object 9"/>
          <p:cNvSpPr/>
          <p:nvPr/>
        </p:nvSpPr>
        <p:spPr>
          <a:xfrm>
            <a:off x="242570"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F8F8FB"/>
          </a:solidFill>
        </p:spPr>
        <p:txBody>
          <a:bodyPr wrap="square" lIns="0" tIns="0" rIns="0" bIns="0" rtlCol="0"/>
          <a:lstStyle/>
          <a:p>
            <a:endParaRPr/>
          </a:p>
        </p:txBody>
      </p:sp>
      <p:sp>
        <p:nvSpPr>
          <p:cNvPr id="10" name="object 10"/>
          <p:cNvSpPr/>
          <p:nvPr/>
        </p:nvSpPr>
        <p:spPr>
          <a:xfrm>
            <a:off x="236220" y="274320"/>
            <a:ext cx="7620" cy="260350"/>
          </a:xfrm>
          <a:custGeom>
            <a:avLst/>
            <a:gdLst/>
            <a:ahLst/>
            <a:cxnLst/>
            <a:rect l="l" t="t" r="r" b="b"/>
            <a:pathLst>
              <a:path w="7620" h="260350">
                <a:moveTo>
                  <a:pt x="0" y="260350"/>
                </a:moveTo>
                <a:lnTo>
                  <a:pt x="7619" y="260350"/>
                </a:lnTo>
                <a:lnTo>
                  <a:pt x="7619" y="0"/>
                </a:lnTo>
                <a:lnTo>
                  <a:pt x="0" y="0"/>
                </a:lnTo>
                <a:lnTo>
                  <a:pt x="0" y="260350"/>
                </a:lnTo>
                <a:close/>
              </a:path>
            </a:pathLst>
          </a:custGeom>
          <a:solidFill>
            <a:srgbClr val="F7F7FB"/>
          </a:solidFill>
        </p:spPr>
        <p:txBody>
          <a:bodyPr wrap="square" lIns="0" tIns="0" rIns="0" bIns="0" rtlCol="0"/>
          <a:lstStyle/>
          <a:p>
            <a:endParaRPr/>
          </a:p>
        </p:txBody>
      </p:sp>
      <p:sp>
        <p:nvSpPr>
          <p:cNvPr id="11" name="object 11"/>
          <p:cNvSpPr/>
          <p:nvPr/>
        </p:nvSpPr>
        <p:spPr>
          <a:xfrm>
            <a:off x="236220" y="0"/>
            <a:ext cx="7620" cy="137160"/>
          </a:xfrm>
          <a:custGeom>
            <a:avLst/>
            <a:gdLst/>
            <a:ahLst/>
            <a:cxnLst/>
            <a:rect l="l" t="t" r="r" b="b"/>
            <a:pathLst>
              <a:path w="7620" h="137160">
                <a:moveTo>
                  <a:pt x="0" y="137160"/>
                </a:moveTo>
                <a:lnTo>
                  <a:pt x="7619" y="137160"/>
                </a:lnTo>
                <a:lnTo>
                  <a:pt x="7619" y="0"/>
                </a:lnTo>
                <a:lnTo>
                  <a:pt x="0" y="0"/>
                </a:lnTo>
                <a:lnTo>
                  <a:pt x="0" y="137160"/>
                </a:lnTo>
                <a:close/>
              </a:path>
            </a:pathLst>
          </a:custGeom>
          <a:solidFill>
            <a:srgbClr val="F7F7FB"/>
          </a:solidFill>
        </p:spPr>
        <p:txBody>
          <a:bodyPr wrap="square" lIns="0" tIns="0" rIns="0" bIns="0" rtlCol="0"/>
          <a:lstStyle/>
          <a:p>
            <a:endParaRPr/>
          </a:p>
        </p:txBody>
      </p:sp>
      <p:sp>
        <p:nvSpPr>
          <p:cNvPr id="12" name="object 12"/>
          <p:cNvSpPr/>
          <p:nvPr/>
        </p:nvSpPr>
        <p:spPr>
          <a:xfrm>
            <a:off x="228600" y="274320"/>
            <a:ext cx="7620" cy="260350"/>
          </a:xfrm>
          <a:custGeom>
            <a:avLst/>
            <a:gdLst/>
            <a:ahLst/>
            <a:cxnLst/>
            <a:rect l="l" t="t" r="r" b="b"/>
            <a:pathLst>
              <a:path w="7620" h="260350">
                <a:moveTo>
                  <a:pt x="0" y="260350"/>
                </a:moveTo>
                <a:lnTo>
                  <a:pt x="7620" y="260350"/>
                </a:lnTo>
                <a:lnTo>
                  <a:pt x="7620" y="0"/>
                </a:lnTo>
                <a:lnTo>
                  <a:pt x="0" y="0"/>
                </a:lnTo>
                <a:lnTo>
                  <a:pt x="0" y="260350"/>
                </a:lnTo>
                <a:close/>
              </a:path>
            </a:pathLst>
          </a:custGeom>
          <a:solidFill>
            <a:srgbClr val="F6F6FA"/>
          </a:solidFill>
        </p:spPr>
        <p:txBody>
          <a:bodyPr wrap="square" lIns="0" tIns="0" rIns="0" bIns="0" rtlCol="0"/>
          <a:lstStyle/>
          <a:p>
            <a:endParaRPr/>
          </a:p>
        </p:txBody>
      </p:sp>
      <p:sp>
        <p:nvSpPr>
          <p:cNvPr id="13" name="object 13"/>
          <p:cNvSpPr/>
          <p:nvPr/>
        </p:nvSpPr>
        <p:spPr>
          <a:xfrm>
            <a:off x="228600" y="0"/>
            <a:ext cx="7620" cy="137160"/>
          </a:xfrm>
          <a:custGeom>
            <a:avLst/>
            <a:gdLst/>
            <a:ahLst/>
            <a:cxnLst/>
            <a:rect l="l" t="t" r="r" b="b"/>
            <a:pathLst>
              <a:path w="7620" h="137160">
                <a:moveTo>
                  <a:pt x="0" y="137160"/>
                </a:moveTo>
                <a:lnTo>
                  <a:pt x="7620" y="137160"/>
                </a:lnTo>
                <a:lnTo>
                  <a:pt x="7620" y="0"/>
                </a:lnTo>
                <a:lnTo>
                  <a:pt x="0" y="0"/>
                </a:lnTo>
                <a:lnTo>
                  <a:pt x="0" y="137160"/>
                </a:lnTo>
                <a:close/>
              </a:path>
            </a:pathLst>
          </a:custGeom>
          <a:solidFill>
            <a:srgbClr val="F6F6FA"/>
          </a:solidFill>
        </p:spPr>
        <p:txBody>
          <a:bodyPr wrap="square" lIns="0" tIns="0" rIns="0" bIns="0" rtlCol="0"/>
          <a:lstStyle/>
          <a:p>
            <a:endParaRPr/>
          </a:p>
        </p:txBody>
      </p:sp>
      <p:sp>
        <p:nvSpPr>
          <p:cNvPr id="14" name="object 14"/>
          <p:cNvSpPr/>
          <p:nvPr/>
        </p:nvSpPr>
        <p:spPr>
          <a:xfrm>
            <a:off x="220979" y="274320"/>
            <a:ext cx="8890" cy="260350"/>
          </a:xfrm>
          <a:custGeom>
            <a:avLst/>
            <a:gdLst/>
            <a:ahLst/>
            <a:cxnLst/>
            <a:rect l="l" t="t" r="r" b="b"/>
            <a:pathLst>
              <a:path w="8889" h="260350">
                <a:moveTo>
                  <a:pt x="0" y="260350"/>
                </a:moveTo>
                <a:lnTo>
                  <a:pt x="8890" y="260350"/>
                </a:lnTo>
                <a:lnTo>
                  <a:pt x="8890" y="0"/>
                </a:lnTo>
                <a:lnTo>
                  <a:pt x="0" y="0"/>
                </a:lnTo>
                <a:lnTo>
                  <a:pt x="0" y="260350"/>
                </a:lnTo>
                <a:close/>
              </a:path>
            </a:pathLst>
          </a:custGeom>
          <a:solidFill>
            <a:srgbClr val="F5F5FA"/>
          </a:solidFill>
        </p:spPr>
        <p:txBody>
          <a:bodyPr wrap="square" lIns="0" tIns="0" rIns="0" bIns="0" rtlCol="0"/>
          <a:lstStyle/>
          <a:p>
            <a:endParaRPr/>
          </a:p>
        </p:txBody>
      </p:sp>
      <p:sp>
        <p:nvSpPr>
          <p:cNvPr id="15" name="object 15"/>
          <p:cNvSpPr/>
          <p:nvPr/>
        </p:nvSpPr>
        <p:spPr>
          <a:xfrm>
            <a:off x="220979" y="0"/>
            <a:ext cx="8890" cy="137160"/>
          </a:xfrm>
          <a:custGeom>
            <a:avLst/>
            <a:gdLst/>
            <a:ahLst/>
            <a:cxnLst/>
            <a:rect l="l" t="t" r="r" b="b"/>
            <a:pathLst>
              <a:path w="8889" h="137160">
                <a:moveTo>
                  <a:pt x="0" y="137160"/>
                </a:moveTo>
                <a:lnTo>
                  <a:pt x="8890" y="137160"/>
                </a:lnTo>
                <a:lnTo>
                  <a:pt x="8890" y="0"/>
                </a:lnTo>
                <a:lnTo>
                  <a:pt x="0" y="0"/>
                </a:lnTo>
                <a:lnTo>
                  <a:pt x="0" y="137160"/>
                </a:lnTo>
                <a:close/>
              </a:path>
            </a:pathLst>
          </a:custGeom>
          <a:solidFill>
            <a:srgbClr val="F5F5FA"/>
          </a:solidFill>
        </p:spPr>
        <p:txBody>
          <a:bodyPr wrap="square" lIns="0" tIns="0" rIns="0" bIns="0" rtlCol="0"/>
          <a:lstStyle/>
          <a:p>
            <a:endParaRPr/>
          </a:p>
        </p:txBody>
      </p:sp>
      <p:sp>
        <p:nvSpPr>
          <p:cNvPr id="16" name="object 16"/>
          <p:cNvSpPr/>
          <p:nvPr/>
        </p:nvSpPr>
        <p:spPr>
          <a:xfrm>
            <a:off x="214629" y="274320"/>
            <a:ext cx="7620" cy="260350"/>
          </a:xfrm>
          <a:custGeom>
            <a:avLst/>
            <a:gdLst/>
            <a:ahLst/>
            <a:cxnLst/>
            <a:rect l="l" t="t" r="r" b="b"/>
            <a:pathLst>
              <a:path w="7620" h="260350">
                <a:moveTo>
                  <a:pt x="0" y="260350"/>
                </a:moveTo>
                <a:lnTo>
                  <a:pt x="7620" y="260350"/>
                </a:lnTo>
                <a:lnTo>
                  <a:pt x="7620" y="0"/>
                </a:lnTo>
                <a:lnTo>
                  <a:pt x="0" y="0"/>
                </a:lnTo>
                <a:lnTo>
                  <a:pt x="0" y="260350"/>
                </a:lnTo>
                <a:close/>
              </a:path>
            </a:pathLst>
          </a:custGeom>
          <a:solidFill>
            <a:srgbClr val="F3F3F9"/>
          </a:solidFill>
        </p:spPr>
        <p:txBody>
          <a:bodyPr wrap="square" lIns="0" tIns="0" rIns="0" bIns="0" rtlCol="0"/>
          <a:lstStyle/>
          <a:p>
            <a:endParaRPr/>
          </a:p>
        </p:txBody>
      </p:sp>
      <p:sp>
        <p:nvSpPr>
          <p:cNvPr id="17" name="object 17"/>
          <p:cNvSpPr/>
          <p:nvPr/>
        </p:nvSpPr>
        <p:spPr>
          <a:xfrm>
            <a:off x="214629" y="0"/>
            <a:ext cx="7620" cy="137160"/>
          </a:xfrm>
          <a:custGeom>
            <a:avLst/>
            <a:gdLst/>
            <a:ahLst/>
            <a:cxnLst/>
            <a:rect l="l" t="t" r="r" b="b"/>
            <a:pathLst>
              <a:path w="7620" h="137160">
                <a:moveTo>
                  <a:pt x="0" y="137160"/>
                </a:moveTo>
                <a:lnTo>
                  <a:pt x="7620" y="137160"/>
                </a:lnTo>
                <a:lnTo>
                  <a:pt x="7620" y="0"/>
                </a:lnTo>
                <a:lnTo>
                  <a:pt x="0" y="0"/>
                </a:lnTo>
                <a:lnTo>
                  <a:pt x="0" y="137160"/>
                </a:lnTo>
                <a:close/>
              </a:path>
            </a:pathLst>
          </a:custGeom>
          <a:solidFill>
            <a:srgbClr val="F3F3F9"/>
          </a:solidFill>
        </p:spPr>
        <p:txBody>
          <a:bodyPr wrap="square" lIns="0" tIns="0" rIns="0" bIns="0" rtlCol="0"/>
          <a:lstStyle/>
          <a:p>
            <a:endParaRPr/>
          </a:p>
        </p:txBody>
      </p:sp>
      <p:sp>
        <p:nvSpPr>
          <p:cNvPr id="18" name="object 18"/>
          <p:cNvSpPr/>
          <p:nvPr/>
        </p:nvSpPr>
        <p:spPr>
          <a:xfrm>
            <a:off x="207009" y="274320"/>
            <a:ext cx="7620" cy="260350"/>
          </a:xfrm>
          <a:custGeom>
            <a:avLst/>
            <a:gdLst/>
            <a:ahLst/>
            <a:cxnLst/>
            <a:rect l="l" t="t" r="r" b="b"/>
            <a:pathLst>
              <a:path w="7620" h="260350">
                <a:moveTo>
                  <a:pt x="0" y="260350"/>
                </a:moveTo>
                <a:lnTo>
                  <a:pt x="7619" y="260350"/>
                </a:lnTo>
                <a:lnTo>
                  <a:pt x="7619" y="0"/>
                </a:lnTo>
                <a:lnTo>
                  <a:pt x="0" y="0"/>
                </a:lnTo>
                <a:lnTo>
                  <a:pt x="0" y="260350"/>
                </a:lnTo>
                <a:close/>
              </a:path>
            </a:pathLst>
          </a:custGeom>
          <a:solidFill>
            <a:srgbClr val="F2F2F8"/>
          </a:solidFill>
        </p:spPr>
        <p:txBody>
          <a:bodyPr wrap="square" lIns="0" tIns="0" rIns="0" bIns="0" rtlCol="0"/>
          <a:lstStyle/>
          <a:p>
            <a:endParaRPr/>
          </a:p>
        </p:txBody>
      </p:sp>
      <p:sp>
        <p:nvSpPr>
          <p:cNvPr id="19" name="object 19"/>
          <p:cNvSpPr/>
          <p:nvPr/>
        </p:nvSpPr>
        <p:spPr>
          <a:xfrm>
            <a:off x="207009" y="0"/>
            <a:ext cx="7620" cy="137160"/>
          </a:xfrm>
          <a:custGeom>
            <a:avLst/>
            <a:gdLst/>
            <a:ahLst/>
            <a:cxnLst/>
            <a:rect l="l" t="t" r="r" b="b"/>
            <a:pathLst>
              <a:path w="7620" h="137160">
                <a:moveTo>
                  <a:pt x="0" y="137160"/>
                </a:moveTo>
                <a:lnTo>
                  <a:pt x="7619" y="137160"/>
                </a:lnTo>
                <a:lnTo>
                  <a:pt x="7619" y="0"/>
                </a:lnTo>
                <a:lnTo>
                  <a:pt x="0" y="0"/>
                </a:lnTo>
                <a:lnTo>
                  <a:pt x="0" y="137160"/>
                </a:lnTo>
                <a:close/>
              </a:path>
            </a:pathLst>
          </a:custGeom>
          <a:solidFill>
            <a:srgbClr val="F2F2F8"/>
          </a:solidFill>
        </p:spPr>
        <p:txBody>
          <a:bodyPr wrap="square" lIns="0" tIns="0" rIns="0" bIns="0" rtlCol="0"/>
          <a:lstStyle/>
          <a:p>
            <a:endParaRPr/>
          </a:p>
        </p:txBody>
      </p:sp>
      <p:sp>
        <p:nvSpPr>
          <p:cNvPr id="20" name="object 20"/>
          <p:cNvSpPr/>
          <p:nvPr/>
        </p:nvSpPr>
        <p:spPr>
          <a:xfrm>
            <a:off x="199389"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F1F1F8"/>
          </a:solidFill>
        </p:spPr>
        <p:txBody>
          <a:bodyPr wrap="square" lIns="0" tIns="0" rIns="0" bIns="0" rtlCol="0"/>
          <a:lstStyle/>
          <a:p>
            <a:endParaRPr/>
          </a:p>
        </p:txBody>
      </p:sp>
      <p:sp>
        <p:nvSpPr>
          <p:cNvPr id="21" name="object 21"/>
          <p:cNvSpPr/>
          <p:nvPr/>
        </p:nvSpPr>
        <p:spPr>
          <a:xfrm>
            <a:off x="199389"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F1F1F8"/>
          </a:solidFill>
        </p:spPr>
        <p:txBody>
          <a:bodyPr wrap="square" lIns="0" tIns="0" rIns="0" bIns="0" rtlCol="0"/>
          <a:lstStyle/>
          <a:p>
            <a:endParaRPr/>
          </a:p>
        </p:txBody>
      </p:sp>
      <p:sp>
        <p:nvSpPr>
          <p:cNvPr id="22" name="object 22"/>
          <p:cNvSpPr/>
          <p:nvPr/>
        </p:nvSpPr>
        <p:spPr>
          <a:xfrm>
            <a:off x="193039" y="274320"/>
            <a:ext cx="7620" cy="260350"/>
          </a:xfrm>
          <a:custGeom>
            <a:avLst/>
            <a:gdLst/>
            <a:ahLst/>
            <a:cxnLst/>
            <a:rect l="l" t="t" r="r" b="b"/>
            <a:pathLst>
              <a:path w="7619" h="260350">
                <a:moveTo>
                  <a:pt x="0" y="260350"/>
                </a:moveTo>
                <a:lnTo>
                  <a:pt x="7620" y="260350"/>
                </a:lnTo>
                <a:lnTo>
                  <a:pt x="7620" y="0"/>
                </a:lnTo>
                <a:lnTo>
                  <a:pt x="0" y="0"/>
                </a:lnTo>
                <a:lnTo>
                  <a:pt x="0" y="260350"/>
                </a:lnTo>
                <a:close/>
              </a:path>
            </a:pathLst>
          </a:custGeom>
          <a:solidFill>
            <a:srgbClr val="F0F0F7"/>
          </a:solidFill>
        </p:spPr>
        <p:txBody>
          <a:bodyPr wrap="square" lIns="0" tIns="0" rIns="0" bIns="0" rtlCol="0"/>
          <a:lstStyle/>
          <a:p>
            <a:endParaRPr/>
          </a:p>
        </p:txBody>
      </p:sp>
      <p:sp>
        <p:nvSpPr>
          <p:cNvPr id="23" name="object 23"/>
          <p:cNvSpPr/>
          <p:nvPr/>
        </p:nvSpPr>
        <p:spPr>
          <a:xfrm>
            <a:off x="193039" y="0"/>
            <a:ext cx="7620" cy="137160"/>
          </a:xfrm>
          <a:custGeom>
            <a:avLst/>
            <a:gdLst/>
            <a:ahLst/>
            <a:cxnLst/>
            <a:rect l="l" t="t" r="r" b="b"/>
            <a:pathLst>
              <a:path w="7619" h="137160">
                <a:moveTo>
                  <a:pt x="0" y="137160"/>
                </a:moveTo>
                <a:lnTo>
                  <a:pt x="7620" y="137160"/>
                </a:lnTo>
                <a:lnTo>
                  <a:pt x="7620" y="0"/>
                </a:lnTo>
                <a:lnTo>
                  <a:pt x="0" y="0"/>
                </a:lnTo>
                <a:lnTo>
                  <a:pt x="0" y="137160"/>
                </a:lnTo>
                <a:close/>
              </a:path>
            </a:pathLst>
          </a:custGeom>
          <a:solidFill>
            <a:srgbClr val="F0F0F7"/>
          </a:solidFill>
        </p:spPr>
        <p:txBody>
          <a:bodyPr wrap="square" lIns="0" tIns="0" rIns="0" bIns="0" rtlCol="0"/>
          <a:lstStyle/>
          <a:p>
            <a:endParaRPr/>
          </a:p>
        </p:txBody>
      </p:sp>
      <p:sp>
        <p:nvSpPr>
          <p:cNvPr id="24" name="object 24"/>
          <p:cNvSpPr/>
          <p:nvPr/>
        </p:nvSpPr>
        <p:spPr>
          <a:xfrm>
            <a:off x="185420"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EEEF7"/>
          </a:solidFill>
        </p:spPr>
        <p:txBody>
          <a:bodyPr wrap="square" lIns="0" tIns="0" rIns="0" bIns="0" rtlCol="0"/>
          <a:lstStyle/>
          <a:p>
            <a:endParaRPr/>
          </a:p>
        </p:txBody>
      </p:sp>
      <p:sp>
        <p:nvSpPr>
          <p:cNvPr id="25" name="object 25"/>
          <p:cNvSpPr/>
          <p:nvPr/>
        </p:nvSpPr>
        <p:spPr>
          <a:xfrm>
            <a:off x="185420"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EEEF7"/>
          </a:solidFill>
        </p:spPr>
        <p:txBody>
          <a:bodyPr wrap="square" lIns="0" tIns="0" rIns="0" bIns="0" rtlCol="0"/>
          <a:lstStyle/>
          <a:p>
            <a:endParaRPr/>
          </a:p>
        </p:txBody>
      </p:sp>
      <p:sp>
        <p:nvSpPr>
          <p:cNvPr id="26" name="object 26"/>
          <p:cNvSpPr/>
          <p:nvPr/>
        </p:nvSpPr>
        <p:spPr>
          <a:xfrm>
            <a:off x="177800"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EDEDF6"/>
          </a:solidFill>
        </p:spPr>
        <p:txBody>
          <a:bodyPr wrap="square" lIns="0" tIns="0" rIns="0" bIns="0" rtlCol="0"/>
          <a:lstStyle/>
          <a:p>
            <a:endParaRPr/>
          </a:p>
        </p:txBody>
      </p:sp>
      <p:sp>
        <p:nvSpPr>
          <p:cNvPr id="27" name="object 27"/>
          <p:cNvSpPr/>
          <p:nvPr/>
        </p:nvSpPr>
        <p:spPr>
          <a:xfrm>
            <a:off x="177800"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EDEDF6"/>
          </a:solidFill>
        </p:spPr>
        <p:txBody>
          <a:bodyPr wrap="square" lIns="0" tIns="0" rIns="0" bIns="0" rtlCol="0"/>
          <a:lstStyle/>
          <a:p>
            <a:endParaRPr/>
          </a:p>
        </p:txBody>
      </p:sp>
      <p:sp>
        <p:nvSpPr>
          <p:cNvPr id="28" name="object 28"/>
          <p:cNvSpPr/>
          <p:nvPr/>
        </p:nvSpPr>
        <p:spPr>
          <a:xfrm>
            <a:off x="171450"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CECF5"/>
          </a:solidFill>
        </p:spPr>
        <p:txBody>
          <a:bodyPr wrap="square" lIns="0" tIns="0" rIns="0" bIns="0" rtlCol="0"/>
          <a:lstStyle/>
          <a:p>
            <a:endParaRPr/>
          </a:p>
        </p:txBody>
      </p:sp>
      <p:sp>
        <p:nvSpPr>
          <p:cNvPr id="29" name="object 29"/>
          <p:cNvSpPr/>
          <p:nvPr/>
        </p:nvSpPr>
        <p:spPr>
          <a:xfrm>
            <a:off x="171450"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CECF5"/>
          </a:solidFill>
        </p:spPr>
        <p:txBody>
          <a:bodyPr wrap="square" lIns="0" tIns="0" rIns="0" bIns="0" rtlCol="0"/>
          <a:lstStyle/>
          <a:p>
            <a:endParaRPr/>
          </a:p>
        </p:txBody>
      </p:sp>
      <p:sp>
        <p:nvSpPr>
          <p:cNvPr id="30" name="object 30"/>
          <p:cNvSpPr/>
          <p:nvPr/>
        </p:nvSpPr>
        <p:spPr>
          <a:xfrm>
            <a:off x="163829"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BEBF5"/>
          </a:solidFill>
        </p:spPr>
        <p:txBody>
          <a:bodyPr wrap="square" lIns="0" tIns="0" rIns="0" bIns="0" rtlCol="0"/>
          <a:lstStyle/>
          <a:p>
            <a:endParaRPr/>
          </a:p>
        </p:txBody>
      </p:sp>
      <p:sp>
        <p:nvSpPr>
          <p:cNvPr id="31" name="object 31"/>
          <p:cNvSpPr/>
          <p:nvPr/>
        </p:nvSpPr>
        <p:spPr>
          <a:xfrm>
            <a:off x="163829"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BEBF5"/>
          </a:solidFill>
        </p:spPr>
        <p:txBody>
          <a:bodyPr wrap="square" lIns="0" tIns="0" rIns="0" bIns="0" rtlCol="0"/>
          <a:lstStyle/>
          <a:p>
            <a:endParaRPr/>
          </a:p>
        </p:txBody>
      </p:sp>
      <p:sp>
        <p:nvSpPr>
          <p:cNvPr id="32" name="object 32"/>
          <p:cNvSpPr/>
          <p:nvPr/>
        </p:nvSpPr>
        <p:spPr>
          <a:xfrm>
            <a:off x="156210" y="274320"/>
            <a:ext cx="8890" cy="260350"/>
          </a:xfrm>
          <a:custGeom>
            <a:avLst/>
            <a:gdLst/>
            <a:ahLst/>
            <a:cxnLst/>
            <a:rect l="l" t="t" r="r" b="b"/>
            <a:pathLst>
              <a:path w="8889" h="260350">
                <a:moveTo>
                  <a:pt x="0" y="260350"/>
                </a:moveTo>
                <a:lnTo>
                  <a:pt x="8889" y="260350"/>
                </a:lnTo>
                <a:lnTo>
                  <a:pt x="8889" y="0"/>
                </a:lnTo>
                <a:lnTo>
                  <a:pt x="0" y="0"/>
                </a:lnTo>
                <a:lnTo>
                  <a:pt x="0" y="260350"/>
                </a:lnTo>
                <a:close/>
              </a:path>
            </a:pathLst>
          </a:custGeom>
          <a:solidFill>
            <a:srgbClr val="E9E9F4"/>
          </a:solidFill>
        </p:spPr>
        <p:txBody>
          <a:bodyPr wrap="square" lIns="0" tIns="0" rIns="0" bIns="0" rtlCol="0"/>
          <a:lstStyle/>
          <a:p>
            <a:endParaRPr/>
          </a:p>
        </p:txBody>
      </p:sp>
      <p:sp>
        <p:nvSpPr>
          <p:cNvPr id="33" name="object 33"/>
          <p:cNvSpPr/>
          <p:nvPr/>
        </p:nvSpPr>
        <p:spPr>
          <a:xfrm>
            <a:off x="156210" y="0"/>
            <a:ext cx="8890" cy="137160"/>
          </a:xfrm>
          <a:custGeom>
            <a:avLst/>
            <a:gdLst/>
            <a:ahLst/>
            <a:cxnLst/>
            <a:rect l="l" t="t" r="r" b="b"/>
            <a:pathLst>
              <a:path w="8889" h="137160">
                <a:moveTo>
                  <a:pt x="0" y="137160"/>
                </a:moveTo>
                <a:lnTo>
                  <a:pt x="8889" y="137160"/>
                </a:lnTo>
                <a:lnTo>
                  <a:pt x="8889" y="0"/>
                </a:lnTo>
                <a:lnTo>
                  <a:pt x="0" y="0"/>
                </a:lnTo>
                <a:lnTo>
                  <a:pt x="0" y="137160"/>
                </a:lnTo>
                <a:close/>
              </a:path>
            </a:pathLst>
          </a:custGeom>
          <a:solidFill>
            <a:srgbClr val="E9E9F4"/>
          </a:solidFill>
        </p:spPr>
        <p:txBody>
          <a:bodyPr wrap="square" lIns="0" tIns="0" rIns="0" bIns="0" rtlCol="0"/>
          <a:lstStyle/>
          <a:p>
            <a:endParaRPr/>
          </a:p>
        </p:txBody>
      </p:sp>
      <p:sp>
        <p:nvSpPr>
          <p:cNvPr id="34" name="object 34"/>
          <p:cNvSpPr/>
          <p:nvPr/>
        </p:nvSpPr>
        <p:spPr>
          <a:xfrm>
            <a:off x="149860" y="274320"/>
            <a:ext cx="7620" cy="260350"/>
          </a:xfrm>
          <a:custGeom>
            <a:avLst/>
            <a:gdLst/>
            <a:ahLst/>
            <a:cxnLst/>
            <a:rect l="l" t="t" r="r" b="b"/>
            <a:pathLst>
              <a:path w="7619" h="260350">
                <a:moveTo>
                  <a:pt x="0" y="260350"/>
                </a:moveTo>
                <a:lnTo>
                  <a:pt x="7619" y="260350"/>
                </a:lnTo>
                <a:lnTo>
                  <a:pt x="7619" y="0"/>
                </a:lnTo>
                <a:lnTo>
                  <a:pt x="0" y="0"/>
                </a:lnTo>
                <a:lnTo>
                  <a:pt x="0" y="260350"/>
                </a:lnTo>
                <a:close/>
              </a:path>
            </a:pathLst>
          </a:custGeom>
          <a:solidFill>
            <a:srgbClr val="E8E8F4"/>
          </a:solidFill>
        </p:spPr>
        <p:txBody>
          <a:bodyPr wrap="square" lIns="0" tIns="0" rIns="0" bIns="0" rtlCol="0"/>
          <a:lstStyle/>
          <a:p>
            <a:endParaRPr/>
          </a:p>
        </p:txBody>
      </p:sp>
      <p:sp>
        <p:nvSpPr>
          <p:cNvPr id="35" name="object 35"/>
          <p:cNvSpPr/>
          <p:nvPr/>
        </p:nvSpPr>
        <p:spPr>
          <a:xfrm>
            <a:off x="149860" y="0"/>
            <a:ext cx="7620" cy="137160"/>
          </a:xfrm>
          <a:custGeom>
            <a:avLst/>
            <a:gdLst/>
            <a:ahLst/>
            <a:cxnLst/>
            <a:rect l="l" t="t" r="r" b="b"/>
            <a:pathLst>
              <a:path w="7619" h="137160">
                <a:moveTo>
                  <a:pt x="0" y="137160"/>
                </a:moveTo>
                <a:lnTo>
                  <a:pt x="7619" y="137160"/>
                </a:lnTo>
                <a:lnTo>
                  <a:pt x="7619" y="0"/>
                </a:lnTo>
                <a:lnTo>
                  <a:pt x="0" y="0"/>
                </a:lnTo>
                <a:lnTo>
                  <a:pt x="0" y="137160"/>
                </a:lnTo>
                <a:close/>
              </a:path>
            </a:pathLst>
          </a:custGeom>
          <a:solidFill>
            <a:srgbClr val="E8E8F4"/>
          </a:solidFill>
        </p:spPr>
        <p:txBody>
          <a:bodyPr wrap="square" lIns="0" tIns="0" rIns="0" bIns="0" rtlCol="0"/>
          <a:lstStyle/>
          <a:p>
            <a:endParaRPr/>
          </a:p>
        </p:txBody>
      </p:sp>
      <p:sp>
        <p:nvSpPr>
          <p:cNvPr id="36" name="object 36"/>
          <p:cNvSpPr/>
          <p:nvPr/>
        </p:nvSpPr>
        <p:spPr>
          <a:xfrm>
            <a:off x="142239" y="274320"/>
            <a:ext cx="7620" cy="260350"/>
          </a:xfrm>
          <a:custGeom>
            <a:avLst/>
            <a:gdLst/>
            <a:ahLst/>
            <a:cxnLst/>
            <a:rect l="l" t="t" r="r" b="b"/>
            <a:pathLst>
              <a:path w="7619" h="260350">
                <a:moveTo>
                  <a:pt x="0" y="260350"/>
                </a:moveTo>
                <a:lnTo>
                  <a:pt x="7620" y="260350"/>
                </a:lnTo>
                <a:lnTo>
                  <a:pt x="7620" y="0"/>
                </a:lnTo>
                <a:lnTo>
                  <a:pt x="0" y="0"/>
                </a:lnTo>
                <a:lnTo>
                  <a:pt x="0" y="260350"/>
                </a:lnTo>
                <a:close/>
              </a:path>
            </a:pathLst>
          </a:custGeom>
          <a:solidFill>
            <a:srgbClr val="E7E7F3"/>
          </a:solidFill>
        </p:spPr>
        <p:txBody>
          <a:bodyPr wrap="square" lIns="0" tIns="0" rIns="0" bIns="0" rtlCol="0"/>
          <a:lstStyle/>
          <a:p>
            <a:endParaRPr/>
          </a:p>
        </p:txBody>
      </p:sp>
      <p:sp>
        <p:nvSpPr>
          <p:cNvPr id="37" name="object 37"/>
          <p:cNvSpPr/>
          <p:nvPr/>
        </p:nvSpPr>
        <p:spPr>
          <a:xfrm>
            <a:off x="142239" y="0"/>
            <a:ext cx="7620" cy="137160"/>
          </a:xfrm>
          <a:custGeom>
            <a:avLst/>
            <a:gdLst/>
            <a:ahLst/>
            <a:cxnLst/>
            <a:rect l="l" t="t" r="r" b="b"/>
            <a:pathLst>
              <a:path w="7619" h="137160">
                <a:moveTo>
                  <a:pt x="0" y="137160"/>
                </a:moveTo>
                <a:lnTo>
                  <a:pt x="7620" y="137160"/>
                </a:lnTo>
                <a:lnTo>
                  <a:pt x="7620" y="0"/>
                </a:lnTo>
                <a:lnTo>
                  <a:pt x="0" y="0"/>
                </a:lnTo>
                <a:lnTo>
                  <a:pt x="0" y="137160"/>
                </a:lnTo>
                <a:close/>
              </a:path>
            </a:pathLst>
          </a:custGeom>
          <a:solidFill>
            <a:srgbClr val="E7E7F3"/>
          </a:solidFill>
        </p:spPr>
        <p:txBody>
          <a:bodyPr wrap="square" lIns="0" tIns="0" rIns="0" bIns="0" rtlCol="0"/>
          <a:lstStyle/>
          <a:p>
            <a:endParaRPr/>
          </a:p>
        </p:txBody>
      </p:sp>
      <p:sp>
        <p:nvSpPr>
          <p:cNvPr id="38" name="object 38"/>
          <p:cNvSpPr/>
          <p:nvPr/>
        </p:nvSpPr>
        <p:spPr>
          <a:xfrm>
            <a:off x="134620" y="274320"/>
            <a:ext cx="8890" cy="260350"/>
          </a:xfrm>
          <a:custGeom>
            <a:avLst/>
            <a:gdLst/>
            <a:ahLst/>
            <a:cxnLst/>
            <a:rect l="l" t="t" r="r" b="b"/>
            <a:pathLst>
              <a:path w="8889" h="260350">
                <a:moveTo>
                  <a:pt x="0" y="260350"/>
                </a:moveTo>
                <a:lnTo>
                  <a:pt x="8890" y="260350"/>
                </a:lnTo>
                <a:lnTo>
                  <a:pt x="8890" y="0"/>
                </a:lnTo>
                <a:lnTo>
                  <a:pt x="0" y="0"/>
                </a:lnTo>
                <a:lnTo>
                  <a:pt x="0" y="260350"/>
                </a:lnTo>
                <a:close/>
              </a:path>
            </a:pathLst>
          </a:custGeom>
          <a:solidFill>
            <a:srgbClr val="E6E6F2"/>
          </a:solidFill>
        </p:spPr>
        <p:txBody>
          <a:bodyPr wrap="square" lIns="0" tIns="0" rIns="0" bIns="0" rtlCol="0"/>
          <a:lstStyle/>
          <a:p>
            <a:endParaRPr/>
          </a:p>
        </p:txBody>
      </p:sp>
      <p:grpSp>
        <p:nvGrpSpPr>
          <p:cNvPr id="39" name="object 39"/>
          <p:cNvGrpSpPr/>
          <p:nvPr/>
        </p:nvGrpSpPr>
        <p:grpSpPr>
          <a:xfrm>
            <a:off x="-1270" y="0"/>
            <a:ext cx="144780" cy="535940"/>
            <a:chOff x="-1270" y="0"/>
            <a:chExt cx="144780" cy="535940"/>
          </a:xfrm>
        </p:grpSpPr>
        <p:sp>
          <p:nvSpPr>
            <p:cNvPr id="40" name="object 40"/>
            <p:cNvSpPr/>
            <p:nvPr/>
          </p:nvSpPr>
          <p:spPr>
            <a:xfrm>
              <a:off x="134619" y="0"/>
              <a:ext cx="8890" cy="137160"/>
            </a:xfrm>
            <a:custGeom>
              <a:avLst/>
              <a:gdLst/>
              <a:ahLst/>
              <a:cxnLst/>
              <a:rect l="l" t="t" r="r" b="b"/>
              <a:pathLst>
                <a:path w="8889" h="137160">
                  <a:moveTo>
                    <a:pt x="0" y="137160"/>
                  </a:moveTo>
                  <a:lnTo>
                    <a:pt x="8890" y="137160"/>
                  </a:lnTo>
                  <a:lnTo>
                    <a:pt x="8890" y="0"/>
                  </a:lnTo>
                  <a:lnTo>
                    <a:pt x="0" y="0"/>
                  </a:lnTo>
                  <a:lnTo>
                    <a:pt x="0" y="137160"/>
                  </a:lnTo>
                  <a:close/>
                </a:path>
              </a:pathLst>
            </a:custGeom>
            <a:solidFill>
              <a:srgbClr val="E6E6F2"/>
            </a:solidFill>
          </p:spPr>
          <p:txBody>
            <a:bodyPr wrap="square" lIns="0" tIns="0" rIns="0" bIns="0" rtlCol="0"/>
            <a:lstStyle/>
            <a:p>
              <a:endParaRPr/>
            </a:p>
          </p:txBody>
        </p:sp>
        <p:sp>
          <p:nvSpPr>
            <p:cNvPr id="41" name="object 41"/>
            <p:cNvSpPr/>
            <p:nvPr/>
          </p:nvSpPr>
          <p:spPr>
            <a:xfrm>
              <a:off x="12826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E4E4F2"/>
            </a:solidFill>
          </p:spPr>
          <p:txBody>
            <a:bodyPr wrap="square" lIns="0" tIns="0" rIns="0" bIns="0" rtlCol="0"/>
            <a:lstStyle/>
            <a:p>
              <a:endParaRPr/>
            </a:p>
          </p:txBody>
        </p:sp>
        <p:sp>
          <p:nvSpPr>
            <p:cNvPr id="42" name="object 42"/>
            <p:cNvSpPr/>
            <p:nvPr/>
          </p:nvSpPr>
          <p:spPr>
            <a:xfrm>
              <a:off x="120650"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E3E3F1"/>
            </a:solidFill>
          </p:spPr>
          <p:txBody>
            <a:bodyPr wrap="square" lIns="0" tIns="0" rIns="0" bIns="0" rtlCol="0"/>
            <a:lstStyle/>
            <a:p>
              <a:endParaRPr/>
            </a:p>
          </p:txBody>
        </p:sp>
        <p:sp>
          <p:nvSpPr>
            <p:cNvPr id="43" name="object 43"/>
            <p:cNvSpPr/>
            <p:nvPr/>
          </p:nvSpPr>
          <p:spPr>
            <a:xfrm>
              <a:off x="113029" y="0"/>
              <a:ext cx="8890" cy="535940"/>
            </a:xfrm>
            <a:custGeom>
              <a:avLst/>
              <a:gdLst/>
              <a:ahLst/>
              <a:cxnLst/>
              <a:rect l="l" t="t" r="r" b="b"/>
              <a:pathLst>
                <a:path w="8889" h="535940">
                  <a:moveTo>
                    <a:pt x="8889" y="0"/>
                  </a:moveTo>
                  <a:lnTo>
                    <a:pt x="0" y="0"/>
                  </a:lnTo>
                  <a:lnTo>
                    <a:pt x="0" y="535940"/>
                  </a:lnTo>
                  <a:lnTo>
                    <a:pt x="8889" y="535940"/>
                  </a:lnTo>
                  <a:lnTo>
                    <a:pt x="8889" y="0"/>
                  </a:lnTo>
                  <a:close/>
                </a:path>
              </a:pathLst>
            </a:custGeom>
            <a:solidFill>
              <a:srgbClr val="E2E2F0"/>
            </a:solidFill>
          </p:spPr>
          <p:txBody>
            <a:bodyPr wrap="square" lIns="0" tIns="0" rIns="0" bIns="0" rtlCol="0"/>
            <a:lstStyle/>
            <a:p>
              <a:endParaRPr/>
            </a:p>
          </p:txBody>
        </p:sp>
        <p:sp>
          <p:nvSpPr>
            <p:cNvPr id="44" name="object 44"/>
            <p:cNvSpPr/>
            <p:nvPr/>
          </p:nvSpPr>
          <p:spPr>
            <a:xfrm>
              <a:off x="10667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E1E1F0"/>
            </a:solidFill>
          </p:spPr>
          <p:txBody>
            <a:bodyPr wrap="square" lIns="0" tIns="0" rIns="0" bIns="0" rtlCol="0"/>
            <a:lstStyle/>
            <a:p>
              <a:endParaRPr/>
            </a:p>
          </p:txBody>
        </p:sp>
        <p:sp>
          <p:nvSpPr>
            <p:cNvPr id="45" name="object 45"/>
            <p:cNvSpPr/>
            <p:nvPr/>
          </p:nvSpPr>
          <p:spPr>
            <a:xfrm>
              <a:off x="99060" y="0"/>
              <a:ext cx="7620" cy="535940"/>
            </a:xfrm>
            <a:custGeom>
              <a:avLst/>
              <a:gdLst/>
              <a:ahLst/>
              <a:cxnLst/>
              <a:rect l="l" t="t" r="r" b="b"/>
              <a:pathLst>
                <a:path w="7619" h="535940">
                  <a:moveTo>
                    <a:pt x="7620" y="0"/>
                  </a:moveTo>
                  <a:lnTo>
                    <a:pt x="0" y="0"/>
                  </a:lnTo>
                  <a:lnTo>
                    <a:pt x="0" y="535940"/>
                  </a:lnTo>
                  <a:lnTo>
                    <a:pt x="7620" y="535940"/>
                  </a:lnTo>
                  <a:lnTo>
                    <a:pt x="7620" y="0"/>
                  </a:lnTo>
                  <a:close/>
                </a:path>
              </a:pathLst>
            </a:custGeom>
            <a:solidFill>
              <a:srgbClr val="DFDFEF"/>
            </a:solidFill>
          </p:spPr>
          <p:txBody>
            <a:bodyPr wrap="square" lIns="0" tIns="0" rIns="0" bIns="0" rtlCol="0"/>
            <a:lstStyle/>
            <a:p>
              <a:endParaRPr/>
            </a:p>
          </p:txBody>
        </p:sp>
        <p:sp>
          <p:nvSpPr>
            <p:cNvPr id="46" name="object 46"/>
            <p:cNvSpPr/>
            <p:nvPr/>
          </p:nvSpPr>
          <p:spPr>
            <a:xfrm>
              <a:off x="91440" y="0"/>
              <a:ext cx="8890" cy="535940"/>
            </a:xfrm>
            <a:custGeom>
              <a:avLst/>
              <a:gdLst/>
              <a:ahLst/>
              <a:cxnLst/>
              <a:rect l="l" t="t" r="r" b="b"/>
              <a:pathLst>
                <a:path w="8890" h="535940">
                  <a:moveTo>
                    <a:pt x="8890" y="0"/>
                  </a:moveTo>
                  <a:lnTo>
                    <a:pt x="0" y="0"/>
                  </a:lnTo>
                  <a:lnTo>
                    <a:pt x="0" y="535940"/>
                  </a:lnTo>
                  <a:lnTo>
                    <a:pt x="8890" y="535940"/>
                  </a:lnTo>
                  <a:lnTo>
                    <a:pt x="8890" y="0"/>
                  </a:lnTo>
                  <a:close/>
                </a:path>
              </a:pathLst>
            </a:custGeom>
            <a:solidFill>
              <a:srgbClr val="DEDEEF"/>
            </a:solidFill>
          </p:spPr>
          <p:txBody>
            <a:bodyPr wrap="square" lIns="0" tIns="0" rIns="0" bIns="0" rtlCol="0"/>
            <a:lstStyle/>
            <a:p>
              <a:endParaRPr/>
            </a:p>
          </p:txBody>
        </p:sp>
        <p:sp>
          <p:nvSpPr>
            <p:cNvPr id="47" name="object 47"/>
            <p:cNvSpPr/>
            <p:nvPr/>
          </p:nvSpPr>
          <p:spPr>
            <a:xfrm>
              <a:off x="85090"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DDDDEE"/>
            </a:solidFill>
          </p:spPr>
          <p:txBody>
            <a:bodyPr wrap="square" lIns="0" tIns="0" rIns="0" bIns="0" rtlCol="0"/>
            <a:lstStyle/>
            <a:p>
              <a:endParaRPr/>
            </a:p>
          </p:txBody>
        </p:sp>
        <p:sp>
          <p:nvSpPr>
            <p:cNvPr id="48" name="object 48"/>
            <p:cNvSpPr/>
            <p:nvPr/>
          </p:nvSpPr>
          <p:spPr>
            <a:xfrm>
              <a:off x="77469" y="0"/>
              <a:ext cx="7620" cy="535940"/>
            </a:xfrm>
            <a:custGeom>
              <a:avLst/>
              <a:gdLst/>
              <a:ahLst/>
              <a:cxnLst/>
              <a:rect l="l" t="t" r="r" b="b"/>
              <a:pathLst>
                <a:path w="7619" h="535940">
                  <a:moveTo>
                    <a:pt x="7620" y="0"/>
                  </a:moveTo>
                  <a:lnTo>
                    <a:pt x="0" y="0"/>
                  </a:lnTo>
                  <a:lnTo>
                    <a:pt x="0" y="535940"/>
                  </a:lnTo>
                  <a:lnTo>
                    <a:pt x="7620" y="535940"/>
                  </a:lnTo>
                  <a:lnTo>
                    <a:pt x="7620" y="0"/>
                  </a:lnTo>
                  <a:close/>
                </a:path>
              </a:pathLst>
            </a:custGeom>
            <a:solidFill>
              <a:srgbClr val="DCDCED"/>
            </a:solidFill>
          </p:spPr>
          <p:txBody>
            <a:bodyPr wrap="square" lIns="0" tIns="0" rIns="0" bIns="0" rtlCol="0"/>
            <a:lstStyle/>
            <a:p>
              <a:endParaRPr/>
            </a:p>
          </p:txBody>
        </p:sp>
        <p:sp>
          <p:nvSpPr>
            <p:cNvPr id="49" name="object 49"/>
            <p:cNvSpPr/>
            <p:nvPr/>
          </p:nvSpPr>
          <p:spPr>
            <a:xfrm>
              <a:off x="69849" y="0"/>
              <a:ext cx="8890" cy="535940"/>
            </a:xfrm>
            <a:custGeom>
              <a:avLst/>
              <a:gdLst/>
              <a:ahLst/>
              <a:cxnLst/>
              <a:rect l="l" t="t" r="r" b="b"/>
              <a:pathLst>
                <a:path w="8890" h="535940">
                  <a:moveTo>
                    <a:pt x="8890" y="0"/>
                  </a:moveTo>
                  <a:lnTo>
                    <a:pt x="0" y="0"/>
                  </a:lnTo>
                  <a:lnTo>
                    <a:pt x="0" y="535940"/>
                  </a:lnTo>
                  <a:lnTo>
                    <a:pt x="8890" y="535940"/>
                  </a:lnTo>
                  <a:lnTo>
                    <a:pt x="8890" y="0"/>
                  </a:lnTo>
                  <a:close/>
                </a:path>
              </a:pathLst>
            </a:custGeom>
            <a:solidFill>
              <a:srgbClr val="DADAED"/>
            </a:solidFill>
          </p:spPr>
          <p:txBody>
            <a:bodyPr wrap="square" lIns="0" tIns="0" rIns="0" bIns="0" rtlCol="0"/>
            <a:lstStyle/>
            <a:p>
              <a:endParaRPr/>
            </a:p>
          </p:txBody>
        </p:sp>
        <p:sp>
          <p:nvSpPr>
            <p:cNvPr id="50" name="object 50"/>
            <p:cNvSpPr/>
            <p:nvPr/>
          </p:nvSpPr>
          <p:spPr>
            <a:xfrm>
              <a:off x="6349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D9D9EC"/>
            </a:solidFill>
          </p:spPr>
          <p:txBody>
            <a:bodyPr wrap="square" lIns="0" tIns="0" rIns="0" bIns="0" rtlCol="0"/>
            <a:lstStyle/>
            <a:p>
              <a:endParaRPr/>
            </a:p>
          </p:txBody>
        </p:sp>
        <p:sp>
          <p:nvSpPr>
            <p:cNvPr id="51" name="object 51"/>
            <p:cNvSpPr/>
            <p:nvPr/>
          </p:nvSpPr>
          <p:spPr>
            <a:xfrm>
              <a:off x="55879" y="0"/>
              <a:ext cx="7620" cy="535940"/>
            </a:xfrm>
            <a:custGeom>
              <a:avLst/>
              <a:gdLst/>
              <a:ahLst/>
              <a:cxnLst/>
              <a:rect l="l" t="t" r="r" b="b"/>
              <a:pathLst>
                <a:path w="7619" h="535940">
                  <a:moveTo>
                    <a:pt x="7619" y="0"/>
                  </a:moveTo>
                  <a:lnTo>
                    <a:pt x="0" y="0"/>
                  </a:lnTo>
                  <a:lnTo>
                    <a:pt x="0" y="535940"/>
                  </a:lnTo>
                  <a:lnTo>
                    <a:pt x="7619" y="535940"/>
                  </a:lnTo>
                  <a:lnTo>
                    <a:pt x="7619" y="0"/>
                  </a:lnTo>
                  <a:close/>
                </a:path>
              </a:pathLst>
            </a:custGeom>
            <a:solidFill>
              <a:srgbClr val="D8D8EC"/>
            </a:solidFill>
          </p:spPr>
          <p:txBody>
            <a:bodyPr wrap="square" lIns="0" tIns="0" rIns="0" bIns="0" rtlCol="0"/>
            <a:lstStyle/>
            <a:p>
              <a:endParaRPr/>
            </a:p>
          </p:txBody>
        </p:sp>
        <p:sp>
          <p:nvSpPr>
            <p:cNvPr id="52" name="object 52"/>
            <p:cNvSpPr/>
            <p:nvPr/>
          </p:nvSpPr>
          <p:spPr>
            <a:xfrm>
              <a:off x="48260" y="0"/>
              <a:ext cx="8890" cy="535940"/>
            </a:xfrm>
            <a:custGeom>
              <a:avLst/>
              <a:gdLst/>
              <a:ahLst/>
              <a:cxnLst/>
              <a:rect l="l" t="t" r="r" b="b"/>
              <a:pathLst>
                <a:path w="8890" h="535940">
                  <a:moveTo>
                    <a:pt x="8890" y="0"/>
                  </a:moveTo>
                  <a:lnTo>
                    <a:pt x="0" y="0"/>
                  </a:lnTo>
                  <a:lnTo>
                    <a:pt x="0" y="535940"/>
                  </a:lnTo>
                  <a:lnTo>
                    <a:pt x="8890" y="535940"/>
                  </a:lnTo>
                  <a:lnTo>
                    <a:pt x="8890" y="0"/>
                  </a:lnTo>
                  <a:close/>
                </a:path>
              </a:pathLst>
            </a:custGeom>
            <a:solidFill>
              <a:srgbClr val="D7D7EB"/>
            </a:solidFill>
          </p:spPr>
          <p:txBody>
            <a:bodyPr wrap="square" lIns="0" tIns="0" rIns="0" bIns="0" rtlCol="0"/>
            <a:lstStyle/>
            <a:p>
              <a:endParaRPr/>
            </a:p>
          </p:txBody>
        </p:sp>
        <p:sp>
          <p:nvSpPr>
            <p:cNvPr id="53" name="object 53"/>
            <p:cNvSpPr/>
            <p:nvPr/>
          </p:nvSpPr>
          <p:spPr>
            <a:xfrm>
              <a:off x="4191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5D5EA"/>
            </a:solidFill>
          </p:spPr>
          <p:txBody>
            <a:bodyPr wrap="square" lIns="0" tIns="0" rIns="0" bIns="0" rtlCol="0"/>
            <a:lstStyle/>
            <a:p>
              <a:endParaRPr/>
            </a:p>
          </p:txBody>
        </p:sp>
        <p:sp>
          <p:nvSpPr>
            <p:cNvPr id="54" name="object 54"/>
            <p:cNvSpPr/>
            <p:nvPr/>
          </p:nvSpPr>
          <p:spPr>
            <a:xfrm>
              <a:off x="34289" y="0"/>
              <a:ext cx="7620" cy="535940"/>
            </a:xfrm>
            <a:custGeom>
              <a:avLst/>
              <a:gdLst/>
              <a:ahLst/>
              <a:cxnLst/>
              <a:rect l="l" t="t" r="r" b="b"/>
              <a:pathLst>
                <a:path w="7620" h="535940">
                  <a:moveTo>
                    <a:pt x="7619" y="0"/>
                  </a:moveTo>
                  <a:lnTo>
                    <a:pt x="0" y="0"/>
                  </a:lnTo>
                  <a:lnTo>
                    <a:pt x="0" y="535940"/>
                  </a:lnTo>
                  <a:lnTo>
                    <a:pt x="7619" y="535940"/>
                  </a:lnTo>
                  <a:lnTo>
                    <a:pt x="7619" y="0"/>
                  </a:lnTo>
                  <a:close/>
                </a:path>
              </a:pathLst>
            </a:custGeom>
            <a:solidFill>
              <a:srgbClr val="D4D4EA"/>
            </a:solidFill>
          </p:spPr>
          <p:txBody>
            <a:bodyPr wrap="square" lIns="0" tIns="0" rIns="0" bIns="0" rtlCol="0"/>
            <a:lstStyle/>
            <a:p>
              <a:endParaRPr/>
            </a:p>
          </p:txBody>
        </p:sp>
        <p:sp>
          <p:nvSpPr>
            <p:cNvPr id="55" name="object 55"/>
            <p:cNvSpPr/>
            <p:nvPr/>
          </p:nvSpPr>
          <p:spPr>
            <a:xfrm>
              <a:off x="2667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3D3E9"/>
            </a:solidFill>
          </p:spPr>
          <p:txBody>
            <a:bodyPr wrap="square" lIns="0" tIns="0" rIns="0" bIns="0" rtlCol="0"/>
            <a:lstStyle/>
            <a:p>
              <a:endParaRPr/>
            </a:p>
          </p:txBody>
        </p:sp>
        <p:sp>
          <p:nvSpPr>
            <p:cNvPr id="56" name="object 56"/>
            <p:cNvSpPr/>
            <p:nvPr/>
          </p:nvSpPr>
          <p:spPr>
            <a:xfrm>
              <a:off x="2032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2D2E9"/>
            </a:solidFill>
          </p:spPr>
          <p:txBody>
            <a:bodyPr wrap="square" lIns="0" tIns="0" rIns="0" bIns="0" rtlCol="0"/>
            <a:lstStyle/>
            <a:p>
              <a:endParaRPr/>
            </a:p>
          </p:txBody>
        </p:sp>
        <p:sp>
          <p:nvSpPr>
            <p:cNvPr id="57" name="object 57"/>
            <p:cNvSpPr/>
            <p:nvPr/>
          </p:nvSpPr>
          <p:spPr>
            <a:xfrm>
              <a:off x="1270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D0D0E8"/>
            </a:solidFill>
          </p:spPr>
          <p:txBody>
            <a:bodyPr wrap="square" lIns="0" tIns="0" rIns="0" bIns="0" rtlCol="0"/>
            <a:lstStyle/>
            <a:p>
              <a:endParaRPr/>
            </a:p>
          </p:txBody>
        </p:sp>
        <p:sp>
          <p:nvSpPr>
            <p:cNvPr id="58" name="object 58"/>
            <p:cNvSpPr/>
            <p:nvPr/>
          </p:nvSpPr>
          <p:spPr>
            <a:xfrm>
              <a:off x="5079"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CFCFE7"/>
            </a:solidFill>
          </p:spPr>
          <p:txBody>
            <a:bodyPr wrap="square" lIns="0" tIns="0" rIns="0" bIns="0" rtlCol="0"/>
            <a:lstStyle/>
            <a:p>
              <a:endParaRPr/>
            </a:p>
          </p:txBody>
        </p:sp>
        <p:sp>
          <p:nvSpPr>
            <p:cNvPr id="59" name="object 59"/>
            <p:cNvSpPr/>
            <p:nvPr/>
          </p:nvSpPr>
          <p:spPr>
            <a:xfrm>
              <a:off x="-1270" y="0"/>
              <a:ext cx="7620" cy="535940"/>
            </a:xfrm>
            <a:custGeom>
              <a:avLst/>
              <a:gdLst/>
              <a:ahLst/>
              <a:cxnLst/>
              <a:rect l="l" t="t" r="r" b="b"/>
              <a:pathLst>
                <a:path w="7620" h="535940">
                  <a:moveTo>
                    <a:pt x="7620" y="0"/>
                  </a:moveTo>
                  <a:lnTo>
                    <a:pt x="0" y="0"/>
                  </a:lnTo>
                  <a:lnTo>
                    <a:pt x="0" y="535940"/>
                  </a:lnTo>
                  <a:lnTo>
                    <a:pt x="7620" y="535940"/>
                  </a:lnTo>
                  <a:lnTo>
                    <a:pt x="7620" y="0"/>
                  </a:lnTo>
                  <a:close/>
                </a:path>
              </a:pathLst>
            </a:custGeom>
            <a:solidFill>
              <a:srgbClr val="CECEE7"/>
            </a:solidFill>
          </p:spPr>
          <p:txBody>
            <a:bodyPr wrap="square" lIns="0" tIns="0" rIns="0" bIns="0" rtlCol="0"/>
            <a:lstStyle/>
            <a:p>
              <a:endParaRPr/>
            </a:p>
          </p:txBody>
        </p:sp>
      </p:grpSp>
      <p:grpSp>
        <p:nvGrpSpPr>
          <p:cNvPr id="60" name="object 60"/>
          <p:cNvGrpSpPr/>
          <p:nvPr/>
        </p:nvGrpSpPr>
        <p:grpSpPr>
          <a:xfrm>
            <a:off x="132079" y="0"/>
            <a:ext cx="8909050" cy="546100"/>
            <a:chOff x="132079" y="0"/>
            <a:chExt cx="8909050" cy="546100"/>
          </a:xfrm>
        </p:grpSpPr>
        <p:sp>
          <p:nvSpPr>
            <p:cNvPr id="61" name="object 61"/>
            <p:cNvSpPr/>
            <p:nvPr/>
          </p:nvSpPr>
          <p:spPr>
            <a:xfrm>
              <a:off x="90030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FCFCFD"/>
            </a:solidFill>
          </p:spPr>
          <p:txBody>
            <a:bodyPr wrap="square" lIns="0" tIns="0" rIns="0" bIns="0" rtlCol="0"/>
            <a:lstStyle/>
            <a:p>
              <a:endParaRPr/>
            </a:p>
          </p:txBody>
        </p:sp>
        <p:sp>
          <p:nvSpPr>
            <p:cNvPr id="62" name="object 62"/>
            <p:cNvSpPr/>
            <p:nvPr/>
          </p:nvSpPr>
          <p:spPr>
            <a:xfrm>
              <a:off x="89700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FBFBFC"/>
            </a:solidFill>
          </p:spPr>
          <p:txBody>
            <a:bodyPr wrap="square" lIns="0" tIns="0" rIns="0" bIns="0" rtlCol="0"/>
            <a:lstStyle/>
            <a:p>
              <a:endParaRPr/>
            </a:p>
          </p:txBody>
        </p:sp>
        <p:sp>
          <p:nvSpPr>
            <p:cNvPr id="63" name="object 63"/>
            <p:cNvSpPr/>
            <p:nvPr/>
          </p:nvSpPr>
          <p:spPr>
            <a:xfrm>
              <a:off x="89357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AFAFC"/>
            </a:solidFill>
          </p:spPr>
          <p:txBody>
            <a:bodyPr wrap="square" lIns="0" tIns="0" rIns="0" bIns="0" rtlCol="0"/>
            <a:lstStyle/>
            <a:p>
              <a:endParaRPr/>
            </a:p>
          </p:txBody>
        </p:sp>
        <p:sp>
          <p:nvSpPr>
            <p:cNvPr id="64" name="object 64"/>
            <p:cNvSpPr/>
            <p:nvPr/>
          </p:nvSpPr>
          <p:spPr>
            <a:xfrm>
              <a:off x="89014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9F9FB"/>
            </a:solidFill>
          </p:spPr>
          <p:txBody>
            <a:bodyPr wrap="square" lIns="0" tIns="0" rIns="0" bIns="0" rtlCol="0"/>
            <a:lstStyle/>
            <a:p>
              <a:endParaRPr/>
            </a:p>
          </p:txBody>
        </p:sp>
        <p:sp>
          <p:nvSpPr>
            <p:cNvPr id="65" name="object 65"/>
            <p:cNvSpPr/>
            <p:nvPr/>
          </p:nvSpPr>
          <p:spPr>
            <a:xfrm>
              <a:off x="88658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F8F8FB"/>
            </a:solidFill>
          </p:spPr>
          <p:txBody>
            <a:bodyPr wrap="square" lIns="0" tIns="0" rIns="0" bIns="0" rtlCol="0"/>
            <a:lstStyle/>
            <a:p>
              <a:endParaRPr/>
            </a:p>
          </p:txBody>
        </p:sp>
        <p:sp>
          <p:nvSpPr>
            <p:cNvPr id="66" name="object 66"/>
            <p:cNvSpPr/>
            <p:nvPr/>
          </p:nvSpPr>
          <p:spPr>
            <a:xfrm>
              <a:off x="88328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7F7FA"/>
            </a:solidFill>
          </p:spPr>
          <p:txBody>
            <a:bodyPr wrap="square" lIns="0" tIns="0" rIns="0" bIns="0" rtlCol="0"/>
            <a:lstStyle/>
            <a:p>
              <a:endParaRPr/>
            </a:p>
          </p:txBody>
        </p:sp>
        <p:sp>
          <p:nvSpPr>
            <p:cNvPr id="67" name="object 67"/>
            <p:cNvSpPr/>
            <p:nvPr/>
          </p:nvSpPr>
          <p:spPr>
            <a:xfrm>
              <a:off x="87985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F6F6FA"/>
            </a:solidFill>
          </p:spPr>
          <p:txBody>
            <a:bodyPr wrap="square" lIns="0" tIns="0" rIns="0" bIns="0" rtlCol="0"/>
            <a:lstStyle/>
            <a:p>
              <a:endParaRPr/>
            </a:p>
          </p:txBody>
        </p:sp>
        <p:sp>
          <p:nvSpPr>
            <p:cNvPr id="68" name="object 68"/>
            <p:cNvSpPr/>
            <p:nvPr/>
          </p:nvSpPr>
          <p:spPr>
            <a:xfrm>
              <a:off x="87642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5F5F9"/>
            </a:solidFill>
          </p:spPr>
          <p:txBody>
            <a:bodyPr wrap="square" lIns="0" tIns="0" rIns="0" bIns="0" rtlCol="0"/>
            <a:lstStyle/>
            <a:p>
              <a:endParaRPr/>
            </a:p>
          </p:txBody>
        </p:sp>
        <p:sp>
          <p:nvSpPr>
            <p:cNvPr id="69" name="object 69"/>
            <p:cNvSpPr/>
            <p:nvPr/>
          </p:nvSpPr>
          <p:spPr>
            <a:xfrm>
              <a:off x="87299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4F4F9"/>
            </a:solidFill>
          </p:spPr>
          <p:txBody>
            <a:bodyPr wrap="square" lIns="0" tIns="0" rIns="0" bIns="0" rtlCol="0"/>
            <a:lstStyle/>
            <a:p>
              <a:endParaRPr/>
            </a:p>
          </p:txBody>
        </p:sp>
        <p:sp>
          <p:nvSpPr>
            <p:cNvPr id="70" name="object 70"/>
            <p:cNvSpPr/>
            <p:nvPr/>
          </p:nvSpPr>
          <p:spPr>
            <a:xfrm>
              <a:off x="86956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3F3F8"/>
            </a:solidFill>
          </p:spPr>
          <p:txBody>
            <a:bodyPr wrap="square" lIns="0" tIns="0" rIns="0" bIns="0" rtlCol="0"/>
            <a:lstStyle/>
            <a:p>
              <a:endParaRPr/>
            </a:p>
          </p:txBody>
        </p:sp>
        <p:sp>
          <p:nvSpPr>
            <p:cNvPr id="71" name="object 71"/>
            <p:cNvSpPr/>
            <p:nvPr/>
          </p:nvSpPr>
          <p:spPr>
            <a:xfrm>
              <a:off x="866139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2F2F8"/>
            </a:solidFill>
          </p:spPr>
          <p:txBody>
            <a:bodyPr wrap="square" lIns="0" tIns="0" rIns="0" bIns="0" rtlCol="0"/>
            <a:lstStyle/>
            <a:p>
              <a:endParaRPr/>
            </a:p>
          </p:txBody>
        </p:sp>
        <p:sp>
          <p:nvSpPr>
            <p:cNvPr id="72" name="object 72"/>
            <p:cNvSpPr/>
            <p:nvPr/>
          </p:nvSpPr>
          <p:spPr>
            <a:xfrm>
              <a:off x="86271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F1F1F7"/>
            </a:solidFill>
          </p:spPr>
          <p:txBody>
            <a:bodyPr wrap="square" lIns="0" tIns="0" rIns="0" bIns="0" rtlCol="0"/>
            <a:lstStyle/>
            <a:p>
              <a:endParaRPr/>
            </a:p>
          </p:txBody>
        </p:sp>
        <p:sp>
          <p:nvSpPr>
            <p:cNvPr id="73" name="object 73"/>
            <p:cNvSpPr/>
            <p:nvPr/>
          </p:nvSpPr>
          <p:spPr>
            <a:xfrm>
              <a:off x="85928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F0F0F7"/>
            </a:solidFill>
          </p:spPr>
          <p:txBody>
            <a:bodyPr wrap="square" lIns="0" tIns="0" rIns="0" bIns="0" rtlCol="0"/>
            <a:lstStyle/>
            <a:p>
              <a:endParaRPr/>
            </a:p>
          </p:txBody>
        </p:sp>
        <p:sp>
          <p:nvSpPr>
            <p:cNvPr id="74" name="object 74"/>
            <p:cNvSpPr/>
            <p:nvPr/>
          </p:nvSpPr>
          <p:spPr>
            <a:xfrm>
              <a:off x="85585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EFEFF6"/>
            </a:solidFill>
          </p:spPr>
          <p:txBody>
            <a:bodyPr wrap="square" lIns="0" tIns="0" rIns="0" bIns="0" rtlCol="0"/>
            <a:lstStyle/>
            <a:p>
              <a:endParaRPr/>
            </a:p>
          </p:txBody>
        </p:sp>
        <p:sp>
          <p:nvSpPr>
            <p:cNvPr id="75" name="object 75"/>
            <p:cNvSpPr/>
            <p:nvPr/>
          </p:nvSpPr>
          <p:spPr>
            <a:xfrm>
              <a:off x="852423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EEEEF6"/>
            </a:solidFill>
          </p:spPr>
          <p:txBody>
            <a:bodyPr wrap="square" lIns="0" tIns="0" rIns="0" bIns="0" rtlCol="0"/>
            <a:lstStyle/>
            <a:p>
              <a:endParaRPr/>
            </a:p>
          </p:txBody>
        </p:sp>
        <p:sp>
          <p:nvSpPr>
            <p:cNvPr id="76" name="object 76"/>
            <p:cNvSpPr/>
            <p:nvPr/>
          </p:nvSpPr>
          <p:spPr>
            <a:xfrm>
              <a:off x="84899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EDEDF5"/>
            </a:solidFill>
          </p:spPr>
          <p:txBody>
            <a:bodyPr wrap="square" lIns="0" tIns="0" rIns="0" bIns="0" rtlCol="0"/>
            <a:lstStyle/>
            <a:p>
              <a:endParaRPr/>
            </a:p>
          </p:txBody>
        </p:sp>
        <p:sp>
          <p:nvSpPr>
            <p:cNvPr id="77" name="object 77"/>
            <p:cNvSpPr/>
            <p:nvPr/>
          </p:nvSpPr>
          <p:spPr>
            <a:xfrm>
              <a:off x="84556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ECECF5"/>
            </a:solidFill>
          </p:spPr>
          <p:txBody>
            <a:bodyPr wrap="square" lIns="0" tIns="0" rIns="0" bIns="0" rtlCol="0"/>
            <a:lstStyle/>
            <a:p>
              <a:endParaRPr/>
            </a:p>
          </p:txBody>
        </p:sp>
        <p:sp>
          <p:nvSpPr>
            <p:cNvPr id="78" name="object 78"/>
            <p:cNvSpPr/>
            <p:nvPr/>
          </p:nvSpPr>
          <p:spPr>
            <a:xfrm>
              <a:off x="84213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BEBF4"/>
            </a:solidFill>
          </p:spPr>
          <p:txBody>
            <a:bodyPr wrap="square" lIns="0" tIns="0" rIns="0" bIns="0" rtlCol="0"/>
            <a:lstStyle/>
            <a:p>
              <a:endParaRPr/>
            </a:p>
          </p:txBody>
        </p:sp>
        <p:sp>
          <p:nvSpPr>
            <p:cNvPr id="79" name="object 79"/>
            <p:cNvSpPr/>
            <p:nvPr/>
          </p:nvSpPr>
          <p:spPr>
            <a:xfrm>
              <a:off x="83870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AEAF4"/>
            </a:solidFill>
          </p:spPr>
          <p:txBody>
            <a:bodyPr wrap="square" lIns="0" tIns="0" rIns="0" bIns="0" rtlCol="0"/>
            <a:lstStyle/>
            <a:p>
              <a:endParaRPr/>
            </a:p>
          </p:txBody>
        </p:sp>
        <p:sp>
          <p:nvSpPr>
            <p:cNvPr id="80" name="object 80"/>
            <p:cNvSpPr/>
            <p:nvPr/>
          </p:nvSpPr>
          <p:spPr>
            <a:xfrm>
              <a:off x="83527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9E9F3"/>
            </a:solidFill>
          </p:spPr>
          <p:txBody>
            <a:bodyPr wrap="square" lIns="0" tIns="0" rIns="0" bIns="0" rtlCol="0"/>
            <a:lstStyle/>
            <a:p>
              <a:endParaRPr/>
            </a:p>
          </p:txBody>
        </p:sp>
        <p:sp>
          <p:nvSpPr>
            <p:cNvPr id="81" name="object 81"/>
            <p:cNvSpPr/>
            <p:nvPr/>
          </p:nvSpPr>
          <p:spPr>
            <a:xfrm>
              <a:off x="83184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8E8F3"/>
            </a:solidFill>
          </p:spPr>
          <p:txBody>
            <a:bodyPr wrap="square" lIns="0" tIns="0" rIns="0" bIns="0" rtlCol="0"/>
            <a:lstStyle/>
            <a:p>
              <a:endParaRPr/>
            </a:p>
          </p:txBody>
        </p:sp>
        <p:sp>
          <p:nvSpPr>
            <p:cNvPr id="82" name="object 82"/>
            <p:cNvSpPr/>
            <p:nvPr/>
          </p:nvSpPr>
          <p:spPr>
            <a:xfrm>
              <a:off x="82842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7E7F2"/>
            </a:solidFill>
          </p:spPr>
          <p:txBody>
            <a:bodyPr wrap="square" lIns="0" tIns="0" rIns="0" bIns="0" rtlCol="0"/>
            <a:lstStyle/>
            <a:p>
              <a:endParaRPr/>
            </a:p>
          </p:txBody>
        </p:sp>
        <p:sp>
          <p:nvSpPr>
            <p:cNvPr id="83" name="object 83"/>
            <p:cNvSpPr/>
            <p:nvPr/>
          </p:nvSpPr>
          <p:spPr>
            <a:xfrm>
              <a:off x="82499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6E6F2"/>
            </a:solidFill>
          </p:spPr>
          <p:txBody>
            <a:bodyPr wrap="square" lIns="0" tIns="0" rIns="0" bIns="0" rtlCol="0"/>
            <a:lstStyle/>
            <a:p>
              <a:endParaRPr/>
            </a:p>
          </p:txBody>
        </p:sp>
        <p:sp>
          <p:nvSpPr>
            <p:cNvPr id="84" name="object 84"/>
            <p:cNvSpPr/>
            <p:nvPr/>
          </p:nvSpPr>
          <p:spPr>
            <a:xfrm>
              <a:off x="82156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5E5F1"/>
            </a:solidFill>
          </p:spPr>
          <p:txBody>
            <a:bodyPr wrap="square" lIns="0" tIns="0" rIns="0" bIns="0" rtlCol="0"/>
            <a:lstStyle/>
            <a:p>
              <a:endParaRPr/>
            </a:p>
          </p:txBody>
        </p:sp>
        <p:sp>
          <p:nvSpPr>
            <p:cNvPr id="85" name="object 85"/>
            <p:cNvSpPr/>
            <p:nvPr/>
          </p:nvSpPr>
          <p:spPr>
            <a:xfrm>
              <a:off x="81813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4E4F1"/>
            </a:solidFill>
          </p:spPr>
          <p:txBody>
            <a:bodyPr wrap="square" lIns="0" tIns="0" rIns="0" bIns="0" rtlCol="0"/>
            <a:lstStyle/>
            <a:p>
              <a:endParaRPr/>
            </a:p>
          </p:txBody>
        </p:sp>
        <p:sp>
          <p:nvSpPr>
            <p:cNvPr id="86" name="object 86"/>
            <p:cNvSpPr/>
            <p:nvPr/>
          </p:nvSpPr>
          <p:spPr>
            <a:xfrm>
              <a:off x="81470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3E3F0"/>
            </a:solidFill>
          </p:spPr>
          <p:txBody>
            <a:bodyPr wrap="square" lIns="0" tIns="0" rIns="0" bIns="0" rtlCol="0"/>
            <a:lstStyle/>
            <a:p>
              <a:endParaRPr/>
            </a:p>
          </p:txBody>
        </p:sp>
        <p:sp>
          <p:nvSpPr>
            <p:cNvPr id="87" name="object 87"/>
            <p:cNvSpPr/>
            <p:nvPr/>
          </p:nvSpPr>
          <p:spPr>
            <a:xfrm>
              <a:off x="81127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2E2F0"/>
            </a:solidFill>
          </p:spPr>
          <p:txBody>
            <a:bodyPr wrap="square" lIns="0" tIns="0" rIns="0" bIns="0" rtlCol="0"/>
            <a:lstStyle/>
            <a:p>
              <a:endParaRPr/>
            </a:p>
          </p:txBody>
        </p:sp>
        <p:sp>
          <p:nvSpPr>
            <p:cNvPr id="88" name="object 88"/>
            <p:cNvSpPr/>
            <p:nvPr/>
          </p:nvSpPr>
          <p:spPr>
            <a:xfrm>
              <a:off x="80784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1E1EF"/>
            </a:solidFill>
          </p:spPr>
          <p:txBody>
            <a:bodyPr wrap="square" lIns="0" tIns="0" rIns="0" bIns="0" rtlCol="0"/>
            <a:lstStyle/>
            <a:p>
              <a:endParaRPr/>
            </a:p>
          </p:txBody>
        </p:sp>
        <p:sp>
          <p:nvSpPr>
            <p:cNvPr id="89" name="object 89"/>
            <p:cNvSpPr/>
            <p:nvPr/>
          </p:nvSpPr>
          <p:spPr>
            <a:xfrm>
              <a:off x="80441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E0E0EF"/>
            </a:solidFill>
          </p:spPr>
          <p:txBody>
            <a:bodyPr wrap="square" lIns="0" tIns="0" rIns="0" bIns="0" rtlCol="0"/>
            <a:lstStyle/>
            <a:p>
              <a:endParaRPr/>
            </a:p>
          </p:txBody>
        </p:sp>
        <p:sp>
          <p:nvSpPr>
            <p:cNvPr id="90" name="object 90"/>
            <p:cNvSpPr/>
            <p:nvPr/>
          </p:nvSpPr>
          <p:spPr>
            <a:xfrm>
              <a:off x="80098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DFDFEE"/>
            </a:solidFill>
          </p:spPr>
          <p:txBody>
            <a:bodyPr wrap="square" lIns="0" tIns="0" rIns="0" bIns="0" rtlCol="0"/>
            <a:lstStyle/>
            <a:p>
              <a:endParaRPr/>
            </a:p>
          </p:txBody>
        </p:sp>
        <p:sp>
          <p:nvSpPr>
            <p:cNvPr id="91" name="object 91"/>
            <p:cNvSpPr/>
            <p:nvPr/>
          </p:nvSpPr>
          <p:spPr>
            <a:xfrm>
              <a:off x="79755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DEDEEE"/>
            </a:solidFill>
          </p:spPr>
          <p:txBody>
            <a:bodyPr wrap="square" lIns="0" tIns="0" rIns="0" bIns="0" rtlCol="0"/>
            <a:lstStyle/>
            <a:p>
              <a:endParaRPr/>
            </a:p>
          </p:txBody>
        </p:sp>
        <p:sp>
          <p:nvSpPr>
            <p:cNvPr id="92" name="object 92"/>
            <p:cNvSpPr/>
            <p:nvPr/>
          </p:nvSpPr>
          <p:spPr>
            <a:xfrm>
              <a:off x="79425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DDDED"/>
            </a:solidFill>
          </p:spPr>
          <p:txBody>
            <a:bodyPr wrap="square" lIns="0" tIns="0" rIns="0" bIns="0" rtlCol="0"/>
            <a:lstStyle/>
            <a:p>
              <a:endParaRPr/>
            </a:p>
          </p:txBody>
        </p:sp>
        <p:sp>
          <p:nvSpPr>
            <p:cNvPr id="93" name="object 93"/>
            <p:cNvSpPr/>
            <p:nvPr/>
          </p:nvSpPr>
          <p:spPr>
            <a:xfrm>
              <a:off x="79082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CDCED"/>
            </a:solidFill>
          </p:spPr>
          <p:txBody>
            <a:bodyPr wrap="square" lIns="0" tIns="0" rIns="0" bIns="0" rtlCol="0"/>
            <a:lstStyle/>
            <a:p>
              <a:endParaRPr/>
            </a:p>
          </p:txBody>
        </p:sp>
        <p:sp>
          <p:nvSpPr>
            <p:cNvPr id="94" name="object 94"/>
            <p:cNvSpPr/>
            <p:nvPr/>
          </p:nvSpPr>
          <p:spPr>
            <a:xfrm>
              <a:off x="787399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BDBEC"/>
            </a:solidFill>
          </p:spPr>
          <p:txBody>
            <a:bodyPr wrap="square" lIns="0" tIns="0" rIns="0" bIns="0" rtlCol="0"/>
            <a:lstStyle/>
            <a:p>
              <a:endParaRPr/>
            </a:p>
          </p:txBody>
        </p:sp>
        <p:sp>
          <p:nvSpPr>
            <p:cNvPr id="95" name="object 95"/>
            <p:cNvSpPr/>
            <p:nvPr/>
          </p:nvSpPr>
          <p:spPr>
            <a:xfrm>
              <a:off x="78397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DADAEC"/>
            </a:solidFill>
          </p:spPr>
          <p:txBody>
            <a:bodyPr wrap="square" lIns="0" tIns="0" rIns="0" bIns="0" rtlCol="0"/>
            <a:lstStyle/>
            <a:p>
              <a:endParaRPr/>
            </a:p>
          </p:txBody>
        </p:sp>
        <p:sp>
          <p:nvSpPr>
            <p:cNvPr id="96" name="object 96"/>
            <p:cNvSpPr/>
            <p:nvPr/>
          </p:nvSpPr>
          <p:spPr>
            <a:xfrm>
              <a:off x="78054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9D9EB"/>
            </a:solidFill>
          </p:spPr>
          <p:txBody>
            <a:bodyPr wrap="square" lIns="0" tIns="0" rIns="0" bIns="0" rtlCol="0"/>
            <a:lstStyle/>
            <a:p>
              <a:endParaRPr/>
            </a:p>
          </p:txBody>
        </p:sp>
        <p:sp>
          <p:nvSpPr>
            <p:cNvPr id="97" name="object 97"/>
            <p:cNvSpPr/>
            <p:nvPr/>
          </p:nvSpPr>
          <p:spPr>
            <a:xfrm>
              <a:off x="77711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8D8EB"/>
            </a:solidFill>
          </p:spPr>
          <p:txBody>
            <a:bodyPr wrap="square" lIns="0" tIns="0" rIns="0" bIns="0" rtlCol="0"/>
            <a:lstStyle/>
            <a:p>
              <a:endParaRPr/>
            </a:p>
          </p:txBody>
        </p:sp>
        <p:sp>
          <p:nvSpPr>
            <p:cNvPr id="98" name="object 98"/>
            <p:cNvSpPr/>
            <p:nvPr/>
          </p:nvSpPr>
          <p:spPr>
            <a:xfrm>
              <a:off x="773683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7D7EA"/>
            </a:solidFill>
          </p:spPr>
          <p:txBody>
            <a:bodyPr wrap="square" lIns="0" tIns="0" rIns="0" bIns="0" rtlCol="0"/>
            <a:lstStyle/>
            <a:p>
              <a:endParaRPr/>
            </a:p>
          </p:txBody>
        </p:sp>
        <p:sp>
          <p:nvSpPr>
            <p:cNvPr id="99" name="object 99"/>
            <p:cNvSpPr/>
            <p:nvPr/>
          </p:nvSpPr>
          <p:spPr>
            <a:xfrm>
              <a:off x="77025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6D6EA"/>
            </a:solidFill>
          </p:spPr>
          <p:txBody>
            <a:bodyPr wrap="square" lIns="0" tIns="0" rIns="0" bIns="0" rtlCol="0"/>
            <a:lstStyle/>
            <a:p>
              <a:endParaRPr/>
            </a:p>
          </p:txBody>
        </p:sp>
        <p:sp>
          <p:nvSpPr>
            <p:cNvPr id="100" name="object 100"/>
            <p:cNvSpPr/>
            <p:nvPr/>
          </p:nvSpPr>
          <p:spPr>
            <a:xfrm>
              <a:off x="76682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D5D5E9"/>
            </a:solidFill>
          </p:spPr>
          <p:txBody>
            <a:bodyPr wrap="square" lIns="0" tIns="0" rIns="0" bIns="0" rtlCol="0"/>
            <a:lstStyle/>
            <a:p>
              <a:endParaRPr/>
            </a:p>
          </p:txBody>
        </p:sp>
        <p:sp>
          <p:nvSpPr>
            <p:cNvPr id="101" name="object 101"/>
            <p:cNvSpPr/>
            <p:nvPr/>
          </p:nvSpPr>
          <p:spPr>
            <a:xfrm>
              <a:off x="76339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4D4E9"/>
            </a:solidFill>
          </p:spPr>
          <p:txBody>
            <a:bodyPr wrap="square" lIns="0" tIns="0" rIns="0" bIns="0" rtlCol="0"/>
            <a:lstStyle/>
            <a:p>
              <a:endParaRPr/>
            </a:p>
          </p:txBody>
        </p:sp>
        <p:sp>
          <p:nvSpPr>
            <p:cNvPr id="102" name="object 102"/>
            <p:cNvSpPr/>
            <p:nvPr/>
          </p:nvSpPr>
          <p:spPr>
            <a:xfrm>
              <a:off x="75996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3D3E8"/>
            </a:solidFill>
          </p:spPr>
          <p:txBody>
            <a:bodyPr wrap="square" lIns="0" tIns="0" rIns="0" bIns="0" rtlCol="0"/>
            <a:lstStyle/>
            <a:p>
              <a:endParaRPr/>
            </a:p>
          </p:txBody>
        </p:sp>
        <p:sp>
          <p:nvSpPr>
            <p:cNvPr id="103" name="object 103"/>
            <p:cNvSpPr/>
            <p:nvPr/>
          </p:nvSpPr>
          <p:spPr>
            <a:xfrm>
              <a:off x="75653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D2D2E8"/>
            </a:solidFill>
          </p:spPr>
          <p:txBody>
            <a:bodyPr wrap="square" lIns="0" tIns="0" rIns="0" bIns="0" rtlCol="0"/>
            <a:lstStyle/>
            <a:p>
              <a:endParaRPr/>
            </a:p>
          </p:txBody>
        </p:sp>
        <p:sp>
          <p:nvSpPr>
            <p:cNvPr id="104" name="object 104"/>
            <p:cNvSpPr/>
            <p:nvPr/>
          </p:nvSpPr>
          <p:spPr>
            <a:xfrm>
              <a:off x="75310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D1D1E7"/>
            </a:solidFill>
          </p:spPr>
          <p:txBody>
            <a:bodyPr wrap="square" lIns="0" tIns="0" rIns="0" bIns="0" rtlCol="0"/>
            <a:lstStyle/>
            <a:p>
              <a:endParaRPr/>
            </a:p>
          </p:txBody>
        </p:sp>
        <p:sp>
          <p:nvSpPr>
            <p:cNvPr id="105" name="object 105"/>
            <p:cNvSpPr/>
            <p:nvPr/>
          </p:nvSpPr>
          <p:spPr>
            <a:xfrm>
              <a:off x="74968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D0D0E7"/>
            </a:solidFill>
          </p:spPr>
          <p:txBody>
            <a:bodyPr wrap="square" lIns="0" tIns="0" rIns="0" bIns="0" rtlCol="0"/>
            <a:lstStyle/>
            <a:p>
              <a:endParaRPr/>
            </a:p>
          </p:txBody>
        </p:sp>
        <p:sp>
          <p:nvSpPr>
            <p:cNvPr id="106" name="object 106"/>
            <p:cNvSpPr/>
            <p:nvPr/>
          </p:nvSpPr>
          <p:spPr>
            <a:xfrm>
              <a:off x="74625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CFCFE6"/>
            </a:solidFill>
          </p:spPr>
          <p:txBody>
            <a:bodyPr wrap="square" lIns="0" tIns="0" rIns="0" bIns="0" rtlCol="0"/>
            <a:lstStyle/>
            <a:p>
              <a:endParaRPr/>
            </a:p>
          </p:txBody>
        </p:sp>
        <p:sp>
          <p:nvSpPr>
            <p:cNvPr id="107" name="object 107"/>
            <p:cNvSpPr/>
            <p:nvPr/>
          </p:nvSpPr>
          <p:spPr>
            <a:xfrm>
              <a:off x="74282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CECEE6"/>
            </a:solidFill>
          </p:spPr>
          <p:txBody>
            <a:bodyPr wrap="square" lIns="0" tIns="0" rIns="0" bIns="0" rtlCol="0"/>
            <a:lstStyle/>
            <a:p>
              <a:endParaRPr/>
            </a:p>
          </p:txBody>
        </p:sp>
        <p:sp>
          <p:nvSpPr>
            <p:cNvPr id="108" name="object 108"/>
            <p:cNvSpPr/>
            <p:nvPr/>
          </p:nvSpPr>
          <p:spPr>
            <a:xfrm>
              <a:off x="73939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DCDE5"/>
            </a:solidFill>
          </p:spPr>
          <p:txBody>
            <a:bodyPr wrap="square" lIns="0" tIns="0" rIns="0" bIns="0" rtlCol="0"/>
            <a:lstStyle/>
            <a:p>
              <a:endParaRPr/>
            </a:p>
          </p:txBody>
        </p:sp>
        <p:sp>
          <p:nvSpPr>
            <p:cNvPr id="109" name="object 109"/>
            <p:cNvSpPr/>
            <p:nvPr/>
          </p:nvSpPr>
          <p:spPr>
            <a:xfrm>
              <a:off x="73596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CCCE5"/>
            </a:solidFill>
          </p:spPr>
          <p:txBody>
            <a:bodyPr wrap="square" lIns="0" tIns="0" rIns="0" bIns="0" rtlCol="0"/>
            <a:lstStyle/>
            <a:p>
              <a:endParaRPr/>
            </a:p>
          </p:txBody>
        </p:sp>
        <p:sp>
          <p:nvSpPr>
            <p:cNvPr id="110" name="object 110"/>
            <p:cNvSpPr/>
            <p:nvPr/>
          </p:nvSpPr>
          <p:spPr>
            <a:xfrm>
              <a:off x="73253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CCCE4"/>
            </a:solidFill>
          </p:spPr>
          <p:txBody>
            <a:bodyPr wrap="square" lIns="0" tIns="0" rIns="0" bIns="0" rtlCol="0"/>
            <a:lstStyle/>
            <a:p>
              <a:endParaRPr/>
            </a:p>
          </p:txBody>
        </p:sp>
        <p:sp>
          <p:nvSpPr>
            <p:cNvPr id="111" name="object 111"/>
            <p:cNvSpPr/>
            <p:nvPr/>
          </p:nvSpPr>
          <p:spPr>
            <a:xfrm>
              <a:off x="72910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ACAE4"/>
            </a:solidFill>
          </p:spPr>
          <p:txBody>
            <a:bodyPr wrap="square" lIns="0" tIns="0" rIns="0" bIns="0" rtlCol="0"/>
            <a:lstStyle/>
            <a:p>
              <a:endParaRPr/>
            </a:p>
          </p:txBody>
        </p:sp>
        <p:sp>
          <p:nvSpPr>
            <p:cNvPr id="112" name="object 112"/>
            <p:cNvSpPr/>
            <p:nvPr/>
          </p:nvSpPr>
          <p:spPr>
            <a:xfrm>
              <a:off x="72567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9C9E3"/>
            </a:solidFill>
          </p:spPr>
          <p:txBody>
            <a:bodyPr wrap="square" lIns="0" tIns="0" rIns="0" bIns="0" rtlCol="0"/>
            <a:lstStyle/>
            <a:p>
              <a:endParaRPr/>
            </a:p>
          </p:txBody>
        </p:sp>
        <p:sp>
          <p:nvSpPr>
            <p:cNvPr id="113" name="object 113"/>
            <p:cNvSpPr/>
            <p:nvPr/>
          </p:nvSpPr>
          <p:spPr>
            <a:xfrm>
              <a:off x="72224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8C8E3"/>
            </a:solidFill>
          </p:spPr>
          <p:txBody>
            <a:bodyPr wrap="square" lIns="0" tIns="0" rIns="0" bIns="0" rtlCol="0"/>
            <a:lstStyle/>
            <a:p>
              <a:endParaRPr/>
            </a:p>
          </p:txBody>
        </p:sp>
        <p:sp>
          <p:nvSpPr>
            <p:cNvPr id="114" name="object 114"/>
            <p:cNvSpPr/>
            <p:nvPr/>
          </p:nvSpPr>
          <p:spPr>
            <a:xfrm>
              <a:off x="71881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7C7E2"/>
            </a:solidFill>
          </p:spPr>
          <p:txBody>
            <a:bodyPr wrap="square" lIns="0" tIns="0" rIns="0" bIns="0" rtlCol="0"/>
            <a:lstStyle/>
            <a:p>
              <a:endParaRPr/>
            </a:p>
          </p:txBody>
        </p:sp>
        <p:sp>
          <p:nvSpPr>
            <p:cNvPr id="115" name="object 115"/>
            <p:cNvSpPr/>
            <p:nvPr/>
          </p:nvSpPr>
          <p:spPr>
            <a:xfrm>
              <a:off x="71539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6C6E2"/>
            </a:solidFill>
          </p:spPr>
          <p:txBody>
            <a:bodyPr wrap="square" lIns="0" tIns="0" rIns="0" bIns="0" rtlCol="0"/>
            <a:lstStyle/>
            <a:p>
              <a:endParaRPr/>
            </a:p>
          </p:txBody>
        </p:sp>
        <p:sp>
          <p:nvSpPr>
            <p:cNvPr id="116" name="object 116"/>
            <p:cNvSpPr/>
            <p:nvPr/>
          </p:nvSpPr>
          <p:spPr>
            <a:xfrm>
              <a:off x="71196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5C5E1"/>
            </a:solidFill>
          </p:spPr>
          <p:txBody>
            <a:bodyPr wrap="square" lIns="0" tIns="0" rIns="0" bIns="0" rtlCol="0"/>
            <a:lstStyle/>
            <a:p>
              <a:endParaRPr/>
            </a:p>
          </p:txBody>
        </p:sp>
        <p:sp>
          <p:nvSpPr>
            <p:cNvPr id="117" name="object 117"/>
            <p:cNvSpPr/>
            <p:nvPr/>
          </p:nvSpPr>
          <p:spPr>
            <a:xfrm>
              <a:off x="70853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4C4E1"/>
            </a:solidFill>
          </p:spPr>
          <p:txBody>
            <a:bodyPr wrap="square" lIns="0" tIns="0" rIns="0" bIns="0" rtlCol="0"/>
            <a:lstStyle/>
            <a:p>
              <a:endParaRPr/>
            </a:p>
          </p:txBody>
        </p:sp>
        <p:sp>
          <p:nvSpPr>
            <p:cNvPr id="118" name="object 118"/>
            <p:cNvSpPr/>
            <p:nvPr/>
          </p:nvSpPr>
          <p:spPr>
            <a:xfrm>
              <a:off x="70523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C3C3E0"/>
            </a:solidFill>
          </p:spPr>
          <p:txBody>
            <a:bodyPr wrap="square" lIns="0" tIns="0" rIns="0" bIns="0" rtlCol="0"/>
            <a:lstStyle/>
            <a:p>
              <a:endParaRPr/>
            </a:p>
          </p:txBody>
        </p:sp>
        <p:sp>
          <p:nvSpPr>
            <p:cNvPr id="119" name="object 119"/>
            <p:cNvSpPr/>
            <p:nvPr/>
          </p:nvSpPr>
          <p:spPr>
            <a:xfrm>
              <a:off x="70167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2C2E0"/>
            </a:solidFill>
          </p:spPr>
          <p:txBody>
            <a:bodyPr wrap="square" lIns="0" tIns="0" rIns="0" bIns="0" rtlCol="0"/>
            <a:lstStyle/>
            <a:p>
              <a:endParaRPr/>
            </a:p>
          </p:txBody>
        </p:sp>
        <p:sp>
          <p:nvSpPr>
            <p:cNvPr id="120" name="object 120"/>
            <p:cNvSpPr/>
            <p:nvPr/>
          </p:nvSpPr>
          <p:spPr>
            <a:xfrm>
              <a:off x="69824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1C1DF"/>
            </a:solidFill>
          </p:spPr>
          <p:txBody>
            <a:bodyPr wrap="square" lIns="0" tIns="0" rIns="0" bIns="0" rtlCol="0"/>
            <a:lstStyle/>
            <a:p>
              <a:endParaRPr/>
            </a:p>
          </p:txBody>
        </p:sp>
        <p:sp>
          <p:nvSpPr>
            <p:cNvPr id="121" name="object 121"/>
            <p:cNvSpPr/>
            <p:nvPr/>
          </p:nvSpPr>
          <p:spPr>
            <a:xfrm>
              <a:off x="69481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C0C0DF"/>
            </a:solidFill>
          </p:spPr>
          <p:txBody>
            <a:bodyPr wrap="square" lIns="0" tIns="0" rIns="0" bIns="0" rtlCol="0"/>
            <a:lstStyle/>
            <a:p>
              <a:endParaRPr/>
            </a:p>
          </p:txBody>
        </p:sp>
        <p:sp>
          <p:nvSpPr>
            <p:cNvPr id="122" name="object 122"/>
            <p:cNvSpPr/>
            <p:nvPr/>
          </p:nvSpPr>
          <p:spPr>
            <a:xfrm>
              <a:off x="691514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FBFDE"/>
            </a:solidFill>
          </p:spPr>
          <p:txBody>
            <a:bodyPr wrap="square" lIns="0" tIns="0" rIns="0" bIns="0" rtlCol="0"/>
            <a:lstStyle/>
            <a:p>
              <a:endParaRPr/>
            </a:p>
          </p:txBody>
        </p:sp>
        <p:sp>
          <p:nvSpPr>
            <p:cNvPr id="123" name="object 123"/>
            <p:cNvSpPr/>
            <p:nvPr/>
          </p:nvSpPr>
          <p:spPr>
            <a:xfrm>
              <a:off x="688086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EBEDD"/>
            </a:solidFill>
          </p:spPr>
          <p:txBody>
            <a:bodyPr wrap="square" lIns="0" tIns="0" rIns="0" bIns="0" rtlCol="0"/>
            <a:lstStyle/>
            <a:p>
              <a:endParaRPr/>
            </a:p>
          </p:txBody>
        </p:sp>
        <p:sp>
          <p:nvSpPr>
            <p:cNvPr id="124" name="object 124"/>
            <p:cNvSpPr/>
            <p:nvPr/>
          </p:nvSpPr>
          <p:spPr>
            <a:xfrm>
              <a:off x="68465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DBDDD"/>
            </a:solidFill>
          </p:spPr>
          <p:txBody>
            <a:bodyPr wrap="square" lIns="0" tIns="0" rIns="0" bIns="0" rtlCol="0"/>
            <a:lstStyle/>
            <a:p>
              <a:endParaRPr/>
            </a:p>
          </p:txBody>
        </p:sp>
        <p:sp>
          <p:nvSpPr>
            <p:cNvPr id="125" name="object 125"/>
            <p:cNvSpPr/>
            <p:nvPr/>
          </p:nvSpPr>
          <p:spPr>
            <a:xfrm>
              <a:off x="681227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CBCDC"/>
            </a:solidFill>
          </p:spPr>
          <p:txBody>
            <a:bodyPr wrap="square" lIns="0" tIns="0" rIns="0" bIns="0" rtlCol="0"/>
            <a:lstStyle/>
            <a:p>
              <a:endParaRPr/>
            </a:p>
          </p:txBody>
        </p:sp>
        <p:sp>
          <p:nvSpPr>
            <p:cNvPr id="126" name="object 126"/>
            <p:cNvSpPr/>
            <p:nvPr/>
          </p:nvSpPr>
          <p:spPr>
            <a:xfrm>
              <a:off x="677798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BBBDC"/>
            </a:solidFill>
          </p:spPr>
          <p:txBody>
            <a:bodyPr wrap="square" lIns="0" tIns="0" rIns="0" bIns="0" rtlCol="0"/>
            <a:lstStyle/>
            <a:p>
              <a:endParaRPr/>
            </a:p>
          </p:txBody>
        </p:sp>
        <p:sp>
          <p:nvSpPr>
            <p:cNvPr id="127" name="object 127"/>
            <p:cNvSpPr/>
            <p:nvPr/>
          </p:nvSpPr>
          <p:spPr>
            <a:xfrm>
              <a:off x="674369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ABADB"/>
            </a:solidFill>
          </p:spPr>
          <p:txBody>
            <a:bodyPr wrap="square" lIns="0" tIns="0" rIns="0" bIns="0" rtlCol="0"/>
            <a:lstStyle/>
            <a:p>
              <a:endParaRPr/>
            </a:p>
          </p:txBody>
        </p:sp>
        <p:sp>
          <p:nvSpPr>
            <p:cNvPr id="128" name="object 128"/>
            <p:cNvSpPr/>
            <p:nvPr/>
          </p:nvSpPr>
          <p:spPr>
            <a:xfrm>
              <a:off x="6709410"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9B9DB"/>
            </a:solidFill>
          </p:spPr>
          <p:txBody>
            <a:bodyPr wrap="square" lIns="0" tIns="0" rIns="0" bIns="0" rtlCol="0"/>
            <a:lstStyle/>
            <a:p>
              <a:endParaRPr/>
            </a:p>
          </p:txBody>
        </p:sp>
        <p:sp>
          <p:nvSpPr>
            <p:cNvPr id="129" name="object 129"/>
            <p:cNvSpPr/>
            <p:nvPr/>
          </p:nvSpPr>
          <p:spPr>
            <a:xfrm>
              <a:off x="66751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8B8DA"/>
            </a:solidFill>
          </p:spPr>
          <p:txBody>
            <a:bodyPr wrap="square" lIns="0" tIns="0" rIns="0" bIns="0" rtlCol="0"/>
            <a:lstStyle/>
            <a:p>
              <a:endParaRPr/>
            </a:p>
          </p:txBody>
        </p:sp>
        <p:sp>
          <p:nvSpPr>
            <p:cNvPr id="130" name="object 130"/>
            <p:cNvSpPr/>
            <p:nvPr/>
          </p:nvSpPr>
          <p:spPr>
            <a:xfrm>
              <a:off x="664082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7B7DA"/>
            </a:solidFill>
          </p:spPr>
          <p:txBody>
            <a:bodyPr wrap="square" lIns="0" tIns="0" rIns="0" bIns="0" rtlCol="0"/>
            <a:lstStyle/>
            <a:p>
              <a:endParaRPr/>
            </a:p>
          </p:txBody>
        </p:sp>
        <p:sp>
          <p:nvSpPr>
            <p:cNvPr id="131" name="object 131"/>
            <p:cNvSpPr/>
            <p:nvPr/>
          </p:nvSpPr>
          <p:spPr>
            <a:xfrm>
              <a:off x="660653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6B6D9"/>
            </a:solidFill>
          </p:spPr>
          <p:txBody>
            <a:bodyPr wrap="square" lIns="0" tIns="0" rIns="0" bIns="0" rtlCol="0"/>
            <a:lstStyle/>
            <a:p>
              <a:endParaRPr/>
            </a:p>
          </p:txBody>
        </p:sp>
        <p:sp>
          <p:nvSpPr>
            <p:cNvPr id="132" name="object 132"/>
            <p:cNvSpPr/>
            <p:nvPr/>
          </p:nvSpPr>
          <p:spPr>
            <a:xfrm>
              <a:off x="65722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5B5D9"/>
            </a:solidFill>
          </p:spPr>
          <p:txBody>
            <a:bodyPr wrap="square" lIns="0" tIns="0" rIns="0" bIns="0" rtlCol="0"/>
            <a:lstStyle/>
            <a:p>
              <a:endParaRPr/>
            </a:p>
          </p:txBody>
        </p:sp>
        <p:sp>
          <p:nvSpPr>
            <p:cNvPr id="133" name="object 133"/>
            <p:cNvSpPr/>
            <p:nvPr/>
          </p:nvSpPr>
          <p:spPr>
            <a:xfrm>
              <a:off x="653795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4B4D8"/>
            </a:solidFill>
          </p:spPr>
          <p:txBody>
            <a:bodyPr wrap="square" lIns="0" tIns="0" rIns="0" bIns="0" rtlCol="0"/>
            <a:lstStyle/>
            <a:p>
              <a:endParaRPr/>
            </a:p>
          </p:txBody>
        </p:sp>
        <p:sp>
          <p:nvSpPr>
            <p:cNvPr id="134" name="object 134"/>
            <p:cNvSpPr/>
            <p:nvPr/>
          </p:nvSpPr>
          <p:spPr>
            <a:xfrm>
              <a:off x="65036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B3B3D8"/>
            </a:solidFill>
          </p:spPr>
          <p:txBody>
            <a:bodyPr wrap="square" lIns="0" tIns="0" rIns="0" bIns="0" rtlCol="0"/>
            <a:lstStyle/>
            <a:p>
              <a:endParaRPr/>
            </a:p>
          </p:txBody>
        </p:sp>
        <p:sp>
          <p:nvSpPr>
            <p:cNvPr id="135" name="object 135"/>
            <p:cNvSpPr/>
            <p:nvPr/>
          </p:nvSpPr>
          <p:spPr>
            <a:xfrm>
              <a:off x="64693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B2B2D7"/>
            </a:solidFill>
          </p:spPr>
          <p:txBody>
            <a:bodyPr wrap="square" lIns="0" tIns="0" rIns="0" bIns="0" rtlCol="0"/>
            <a:lstStyle/>
            <a:p>
              <a:endParaRPr/>
            </a:p>
          </p:txBody>
        </p:sp>
        <p:sp>
          <p:nvSpPr>
            <p:cNvPr id="136" name="object 136"/>
            <p:cNvSpPr/>
            <p:nvPr/>
          </p:nvSpPr>
          <p:spPr>
            <a:xfrm>
              <a:off x="64350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B1B1D7"/>
            </a:solidFill>
          </p:spPr>
          <p:txBody>
            <a:bodyPr wrap="square" lIns="0" tIns="0" rIns="0" bIns="0" rtlCol="0"/>
            <a:lstStyle/>
            <a:p>
              <a:endParaRPr/>
            </a:p>
          </p:txBody>
        </p:sp>
        <p:sp>
          <p:nvSpPr>
            <p:cNvPr id="137" name="object 137"/>
            <p:cNvSpPr/>
            <p:nvPr/>
          </p:nvSpPr>
          <p:spPr>
            <a:xfrm>
              <a:off x="64008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B0B0D6"/>
            </a:solidFill>
          </p:spPr>
          <p:txBody>
            <a:bodyPr wrap="square" lIns="0" tIns="0" rIns="0" bIns="0" rtlCol="0"/>
            <a:lstStyle/>
            <a:p>
              <a:endParaRPr/>
            </a:p>
          </p:txBody>
        </p:sp>
        <p:sp>
          <p:nvSpPr>
            <p:cNvPr id="138" name="object 138"/>
            <p:cNvSpPr/>
            <p:nvPr/>
          </p:nvSpPr>
          <p:spPr>
            <a:xfrm>
              <a:off x="63665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FAFD6"/>
            </a:solidFill>
          </p:spPr>
          <p:txBody>
            <a:bodyPr wrap="square" lIns="0" tIns="0" rIns="0" bIns="0" rtlCol="0"/>
            <a:lstStyle/>
            <a:p>
              <a:endParaRPr/>
            </a:p>
          </p:txBody>
        </p:sp>
        <p:sp>
          <p:nvSpPr>
            <p:cNvPr id="139" name="object 139"/>
            <p:cNvSpPr/>
            <p:nvPr/>
          </p:nvSpPr>
          <p:spPr>
            <a:xfrm>
              <a:off x="63322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EAED5"/>
            </a:solidFill>
          </p:spPr>
          <p:txBody>
            <a:bodyPr wrap="square" lIns="0" tIns="0" rIns="0" bIns="0" rtlCol="0"/>
            <a:lstStyle/>
            <a:p>
              <a:endParaRPr/>
            </a:p>
          </p:txBody>
        </p:sp>
        <p:sp>
          <p:nvSpPr>
            <p:cNvPr id="140" name="object 140"/>
            <p:cNvSpPr/>
            <p:nvPr/>
          </p:nvSpPr>
          <p:spPr>
            <a:xfrm>
              <a:off x="62979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DADD5"/>
            </a:solidFill>
          </p:spPr>
          <p:txBody>
            <a:bodyPr wrap="square" lIns="0" tIns="0" rIns="0" bIns="0" rtlCol="0"/>
            <a:lstStyle/>
            <a:p>
              <a:endParaRPr/>
            </a:p>
          </p:txBody>
        </p:sp>
        <p:sp>
          <p:nvSpPr>
            <p:cNvPr id="141" name="object 141"/>
            <p:cNvSpPr/>
            <p:nvPr/>
          </p:nvSpPr>
          <p:spPr>
            <a:xfrm>
              <a:off x="62636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CACD4"/>
            </a:solidFill>
          </p:spPr>
          <p:txBody>
            <a:bodyPr wrap="square" lIns="0" tIns="0" rIns="0" bIns="0" rtlCol="0"/>
            <a:lstStyle/>
            <a:p>
              <a:endParaRPr/>
            </a:p>
          </p:txBody>
        </p:sp>
        <p:sp>
          <p:nvSpPr>
            <p:cNvPr id="142" name="object 142"/>
            <p:cNvSpPr/>
            <p:nvPr/>
          </p:nvSpPr>
          <p:spPr>
            <a:xfrm>
              <a:off x="62293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BABD4"/>
            </a:solidFill>
          </p:spPr>
          <p:txBody>
            <a:bodyPr wrap="square" lIns="0" tIns="0" rIns="0" bIns="0" rtlCol="0"/>
            <a:lstStyle/>
            <a:p>
              <a:endParaRPr/>
            </a:p>
          </p:txBody>
        </p:sp>
        <p:sp>
          <p:nvSpPr>
            <p:cNvPr id="143" name="object 143"/>
            <p:cNvSpPr/>
            <p:nvPr/>
          </p:nvSpPr>
          <p:spPr>
            <a:xfrm>
              <a:off x="61950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AAAD3"/>
            </a:solidFill>
          </p:spPr>
          <p:txBody>
            <a:bodyPr wrap="square" lIns="0" tIns="0" rIns="0" bIns="0" rtlCol="0"/>
            <a:lstStyle/>
            <a:p>
              <a:endParaRPr/>
            </a:p>
          </p:txBody>
        </p:sp>
        <p:sp>
          <p:nvSpPr>
            <p:cNvPr id="144" name="object 144"/>
            <p:cNvSpPr/>
            <p:nvPr/>
          </p:nvSpPr>
          <p:spPr>
            <a:xfrm>
              <a:off x="61607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9A9D3"/>
            </a:solidFill>
          </p:spPr>
          <p:txBody>
            <a:bodyPr wrap="square" lIns="0" tIns="0" rIns="0" bIns="0" rtlCol="0"/>
            <a:lstStyle/>
            <a:p>
              <a:endParaRPr/>
            </a:p>
          </p:txBody>
        </p:sp>
        <p:sp>
          <p:nvSpPr>
            <p:cNvPr id="145" name="object 145"/>
            <p:cNvSpPr/>
            <p:nvPr/>
          </p:nvSpPr>
          <p:spPr>
            <a:xfrm>
              <a:off x="61264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8A8D2"/>
            </a:solidFill>
          </p:spPr>
          <p:txBody>
            <a:bodyPr wrap="square" lIns="0" tIns="0" rIns="0" bIns="0" rtlCol="0"/>
            <a:lstStyle/>
            <a:p>
              <a:endParaRPr/>
            </a:p>
          </p:txBody>
        </p:sp>
        <p:sp>
          <p:nvSpPr>
            <p:cNvPr id="146" name="object 146"/>
            <p:cNvSpPr/>
            <p:nvPr/>
          </p:nvSpPr>
          <p:spPr>
            <a:xfrm>
              <a:off x="60921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7A7D2"/>
            </a:solidFill>
          </p:spPr>
          <p:txBody>
            <a:bodyPr wrap="square" lIns="0" tIns="0" rIns="0" bIns="0" rtlCol="0"/>
            <a:lstStyle/>
            <a:p>
              <a:endParaRPr/>
            </a:p>
          </p:txBody>
        </p:sp>
        <p:sp>
          <p:nvSpPr>
            <p:cNvPr id="147" name="object 147"/>
            <p:cNvSpPr/>
            <p:nvPr/>
          </p:nvSpPr>
          <p:spPr>
            <a:xfrm>
              <a:off x="60579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6A6D1"/>
            </a:solidFill>
          </p:spPr>
          <p:txBody>
            <a:bodyPr wrap="square" lIns="0" tIns="0" rIns="0" bIns="0" rtlCol="0"/>
            <a:lstStyle/>
            <a:p>
              <a:endParaRPr/>
            </a:p>
          </p:txBody>
        </p:sp>
        <p:sp>
          <p:nvSpPr>
            <p:cNvPr id="148" name="object 148"/>
            <p:cNvSpPr/>
            <p:nvPr/>
          </p:nvSpPr>
          <p:spPr>
            <a:xfrm>
              <a:off x="60236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5A5D1"/>
            </a:solidFill>
          </p:spPr>
          <p:txBody>
            <a:bodyPr wrap="square" lIns="0" tIns="0" rIns="0" bIns="0" rtlCol="0"/>
            <a:lstStyle/>
            <a:p>
              <a:endParaRPr/>
            </a:p>
          </p:txBody>
        </p:sp>
        <p:sp>
          <p:nvSpPr>
            <p:cNvPr id="149" name="object 149"/>
            <p:cNvSpPr/>
            <p:nvPr/>
          </p:nvSpPr>
          <p:spPr>
            <a:xfrm>
              <a:off x="59905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A4A4D0"/>
            </a:solidFill>
          </p:spPr>
          <p:txBody>
            <a:bodyPr wrap="square" lIns="0" tIns="0" rIns="0" bIns="0" rtlCol="0"/>
            <a:lstStyle/>
            <a:p>
              <a:endParaRPr/>
            </a:p>
          </p:txBody>
        </p:sp>
        <p:sp>
          <p:nvSpPr>
            <p:cNvPr id="150" name="object 150"/>
            <p:cNvSpPr/>
            <p:nvPr/>
          </p:nvSpPr>
          <p:spPr>
            <a:xfrm>
              <a:off x="59550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3A3D0"/>
            </a:solidFill>
          </p:spPr>
          <p:txBody>
            <a:bodyPr wrap="square" lIns="0" tIns="0" rIns="0" bIns="0" rtlCol="0"/>
            <a:lstStyle/>
            <a:p>
              <a:endParaRPr/>
            </a:p>
          </p:txBody>
        </p:sp>
        <p:sp>
          <p:nvSpPr>
            <p:cNvPr id="151" name="object 151"/>
            <p:cNvSpPr/>
            <p:nvPr/>
          </p:nvSpPr>
          <p:spPr>
            <a:xfrm>
              <a:off x="59207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2A2CF"/>
            </a:solidFill>
          </p:spPr>
          <p:txBody>
            <a:bodyPr wrap="square" lIns="0" tIns="0" rIns="0" bIns="0" rtlCol="0"/>
            <a:lstStyle/>
            <a:p>
              <a:endParaRPr/>
            </a:p>
          </p:txBody>
        </p:sp>
        <p:sp>
          <p:nvSpPr>
            <p:cNvPr id="152" name="object 152"/>
            <p:cNvSpPr/>
            <p:nvPr/>
          </p:nvSpPr>
          <p:spPr>
            <a:xfrm>
              <a:off x="58864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A1A1CF"/>
            </a:solidFill>
          </p:spPr>
          <p:txBody>
            <a:bodyPr wrap="square" lIns="0" tIns="0" rIns="0" bIns="0" rtlCol="0"/>
            <a:lstStyle/>
            <a:p>
              <a:endParaRPr/>
            </a:p>
          </p:txBody>
        </p:sp>
        <p:sp>
          <p:nvSpPr>
            <p:cNvPr id="153" name="object 153"/>
            <p:cNvSpPr/>
            <p:nvPr/>
          </p:nvSpPr>
          <p:spPr>
            <a:xfrm>
              <a:off x="585342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A0A0CE"/>
            </a:solidFill>
          </p:spPr>
          <p:txBody>
            <a:bodyPr wrap="square" lIns="0" tIns="0" rIns="0" bIns="0" rtlCol="0"/>
            <a:lstStyle/>
            <a:p>
              <a:endParaRPr/>
            </a:p>
          </p:txBody>
        </p:sp>
        <p:sp>
          <p:nvSpPr>
            <p:cNvPr id="154" name="object 154"/>
            <p:cNvSpPr/>
            <p:nvPr/>
          </p:nvSpPr>
          <p:spPr>
            <a:xfrm>
              <a:off x="581913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F9FCE"/>
            </a:solidFill>
          </p:spPr>
          <p:txBody>
            <a:bodyPr wrap="square" lIns="0" tIns="0" rIns="0" bIns="0" rtlCol="0"/>
            <a:lstStyle/>
            <a:p>
              <a:endParaRPr/>
            </a:p>
          </p:txBody>
        </p:sp>
        <p:sp>
          <p:nvSpPr>
            <p:cNvPr id="155" name="object 155"/>
            <p:cNvSpPr/>
            <p:nvPr/>
          </p:nvSpPr>
          <p:spPr>
            <a:xfrm>
              <a:off x="57848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E9ECD"/>
            </a:solidFill>
          </p:spPr>
          <p:txBody>
            <a:bodyPr wrap="square" lIns="0" tIns="0" rIns="0" bIns="0" rtlCol="0"/>
            <a:lstStyle/>
            <a:p>
              <a:endParaRPr/>
            </a:p>
          </p:txBody>
        </p:sp>
        <p:sp>
          <p:nvSpPr>
            <p:cNvPr id="156" name="object 156"/>
            <p:cNvSpPr/>
            <p:nvPr/>
          </p:nvSpPr>
          <p:spPr>
            <a:xfrm>
              <a:off x="575055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D9DCD"/>
            </a:solidFill>
          </p:spPr>
          <p:txBody>
            <a:bodyPr wrap="square" lIns="0" tIns="0" rIns="0" bIns="0" rtlCol="0"/>
            <a:lstStyle/>
            <a:p>
              <a:endParaRPr/>
            </a:p>
          </p:txBody>
        </p:sp>
        <p:sp>
          <p:nvSpPr>
            <p:cNvPr id="157" name="object 157"/>
            <p:cNvSpPr/>
            <p:nvPr/>
          </p:nvSpPr>
          <p:spPr>
            <a:xfrm>
              <a:off x="57162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C9CCC"/>
            </a:solidFill>
          </p:spPr>
          <p:txBody>
            <a:bodyPr wrap="square" lIns="0" tIns="0" rIns="0" bIns="0" rtlCol="0"/>
            <a:lstStyle/>
            <a:p>
              <a:endParaRPr/>
            </a:p>
          </p:txBody>
        </p:sp>
        <p:sp>
          <p:nvSpPr>
            <p:cNvPr id="158" name="object 158"/>
            <p:cNvSpPr/>
            <p:nvPr/>
          </p:nvSpPr>
          <p:spPr>
            <a:xfrm>
              <a:off x="568197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B9BCC"/>
            </a:solidFill>
          </p:spPr>
          <p:txBody>
            <a:bodyPr wrap="square" lIns="0" tIns="0" rIns="0" bIns="0" rtlCol="0"/>
            <a:lstStyle/>
            <a:p>
              <a:endParaRPr/>
            </a:p>
          </p:txBody>
        </p:sp>
        <p:sp>
          <p:nvSpPr>
            <p:cNvPr id="159" name="object 159"/>
            <p:cNvSpPr/>
            <p:nvPr/>
          </p:nvSpPr>
          <p:spPr>
            <a:xfrm>
              <a:off x="56476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A9ACC"/>
            </a:solidFill>
          </p:spPr>
          <p:txBody>
            <a:bodyPr wrap="square" lIns="0" tIns="0" rIns="0" bIns="0" rtlCol="0"/>
            <a:lstStyle/>
            <a:p>
              <a:endParaRPr/>
            </a:p>
          </p:txBody>
        </p:sp>
        <p:sp>
          <p:nvSpPr>
            <p:cNvPr id="160" name="object 160"/>
            <p:cNvSpPr/>
            <p:nvPr/>
          </p:nvSpPr>
          <p:spPr>
            <a:xfrm>
              <a:off x="56134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999CC"/>
            </a:solidFill>
          </p:spPr>
          <p:txBody>
            <a:bodyPr wrap="square" lIns="0" tIns="0" rIns="0" bIns="0" rtlCol="0"/>
            <a:lstStyle/>
            <a:p>
              <a:endParaRPr/>
            </a:p>
          </p:txBody>
        </p:sp>
        <p:sp>
          <p:nvSpPr>
            <p:cNvPr id="161" name="object 161"/>
            <p:cNvSpPr/>
            <p:nvPr/>
          </p:nvSpPr>
          <p:spPr>
            <a:xfrm>
              <a:off x="557910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999CA"/>
            </a:solidFill>
          </p:spPr>
          <p:txBody>
            <a:bodyPr wrap="square" lIns="0" tIns="0" rIns="0" bIns="0" rtlCol="0"/>
            <a:lstStyle/>
            <a:p>
              <a:endParaRPr/>
            </a:p>
          </p:txBody>
        </p:sp>
        <p:sp>
          <p:nvSpPr>
            <p:cNvPr id="162" name="object 162"/>
            <p:cNvSpPr/>
            <p:nvPr/>
          </p:nvSpPr>
          <p:spPr>
            <a:xfrm>
              <a:off x="55448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797CA"/>
            </a:solidFill>
          </p:spPr>
          <p:txBody>
            <a:bodyPr wrap="square" lIns="0" tIns="0" rIns="0" bIns="0" rtlCol="0"/>
            <a:lstStyle/>
            <a:p>
              <a:endParaRPr/>
            </a:p>
          </p:txBody>
        </p:sp>
        <p:sp>
          <p:nvSpPr>
            <p:cNvPr id="163" name="object 163"/>
            <p:cNvSpPr/>
            <p:nvPr/>
          </p:nvSpPr>
          <p:spPr>
            <a:xfrm>
              <a:off x="551052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9696C9"/>
            </a:solidFill>
          </p:spPr>
          <p:txBody>
            <a:bodyPr wrap="square" lIns="0" tIns="0" rIns="0" bIns="0" rtlCol="0"/>
            <a:lstStyle/>
            <a:p>
              <a:endParaRPr/>
            </a:p>
          </p:txBody>
        </p:sp>
        <p:sp>
          <p:nvSpPr>
            <p:cNvPr id="164" name="object 164"/>
            <p:cNvSpPr/>
            <p:nvPr/>
          </p:nvSpPr>
          <p:spPr>
            <a:xfrm>
              <a:off x="54762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595C9"/>
            </a:solidFill>
          </p:spPr>
          <p:txBody>
            <a:bodyPr wrap="square" lIns="0" tIns="0" rIns="0" bIns="0" rtlCol="0"/>
            <a:lstStyle/>
            <a:p>
              <a:endParaRPr/>
            </a:p>
          </p:txBody>
        </p:sp>
        <p:sp>
          <p:nvSpPr>
            <p:cNvPr id="165" name="object 165"/>
            <p:cNvSpPr/>
            <p:nvPr/>
          </p:nvSpPr>
          <p:spPr>
            <a:xfrm>
              <a:off x="54419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494C8"/>
            </a:solidFill>
          </p:spPr>
          <p:txBody>
            <a:bodyPr wrap="square" lIns="0" tIns="0" rIns="0" bIns="0" rtlCol="0"/>
            <a:lstStyle/>
            <a:p>
              <a:endParaRPr/>
            </a:p>
          </p:txBody>
        </p:sp>
        <p:sp>
          <p:nvSpPr>
            <p:cNvPr id="166" name="object 166"/>
            <p:cNvSpPr/>
            <p:nvPr/>
          </p:nvSpPr>
          <p:spPr>
            <a:xfrm>
              <a:off x="54076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393C8"/>
            </a:solidFill>
          </p:spPr>
          <p:txBody>
            <a:bodyPr wrap="square" lIns="0" tIns="0" rIns="0" bIns="0" rtlCol="0"/>
            <a:lstStyle/>
            <a:p>
              <a:endParaRPr/>
            </a:p>
          </p:txBody>
        </p:sp>
        <p:sp>
          <p:nvSpPr>
            <p:cNvPr id="167" name="object 167"/>
            <p:cNvSpPr/>
            <p:nvPr/>
          </p:nvSpPr>
          <p:spPr>
            <a:xfrm>
              <a:off x="53733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9292C7"/>
            </a:solidFill>
          </p:spPr>
          <p:txBody>
            <a:bodyPr wrap="square" lIns="0" tIns="0" rIns="0" bIns="0" rtlCol="0"/>
            <a:lstStyle/>
            <a:p>
              <a:endParaRPr/>
            </a:p>
          </p:txBody>
        </p:sp>
        <p:sp>
          <p:nvSpPr>
            <p:cNvPr id="168" name="object 168"/>
            <p:cNvSpPr/>
            <p:nvPr/>
          </p:nvSpPr>
          <p:spPr>
            <a:xfrm>
              <a:off x="53390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191C7"/>
            </a:solidFill>
          </p:spPr>
          <p:txBody>
            <a:bodyPr wrap="square" lIns="0" tIns="0" rIns="0" bIns="0" rtlCol="0"/>
            <a:lstStyle/>
            <a:p>
              <a:endParaRPr/>
            </a:p>
          </p:txBody>
        </p:sp>
        <p:sp>
          <p:nvSpPr>
            <p:cNvPr id="169" name="object 169"/>
            <p:cNvSpPr/>
            <p:nvPr/>
          </p:nvSpPr>
          <p:spPr>
            <a:xfrm>
              <a:off x="53047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9090C6"/>
            </a:solidFill>
          </p:spPr>
          <p:txBody>
            <a:bodyPr wrap="square" lIns="0" tIns="0" rIns="0" bIns="0" rtlCol="0"/>
            <a:lstStyle/>
            <a:p>
              <a:endParaRPr/>
            </a:p>
          </p:txBody>
        </p:sp>
        <p:sp>
          <p:nvSpPr>
            <p:cNvPr id="170" name="object 170"/>
            <p:cNvSpPr/>
            <p:nvPr/>
          </p:nvSpPr>
          <p:spPr>
            <a:xfrm>
              <a:off x="52705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F8FC6"/>
            </a:solidFill>
          </p:spPr>
          <p:txBody>
            <a:bodyPr wrap="square" lIns="0" tIns="0" rIns="0" bIns="0" rtlCol="0"/>
            <a:lstStyle/>
            <a:p>
              <a:endParaRPr/>
            </a:p>
          </p:txBody>
        </p:sp>
        <p:sp>
          <p:nvSpPr>
            <p:cNvPr id="171" name="object 171"/>
            <p:cNvSpPr/>
            <p:nvPr/>
          </p:nvSpPr>
          <p:spPr>
            <a:xfrm>
              <a:off x="52362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E8EC5"/>
            </a:solidFill>
          </p:spPr>
          <p:txBody>
            <a:bodyPr wrap="square" lIns="0" tIns="0" rIns="0" bIns="0" rtlCol="0"/>
            <a:lstStyle/>
            <a:p>
              <a:endParaRPr/>
            </a:p>
          </p:txBody>
        </p:sp>
        <p:sp>
          <p:nvSpPr>
            <p:cNvPr id="172" name="object 172"/>
            <p:cNvSpPr/>
            <p:nvPr/>
          </p:nvSpPr>
          <p:spPr>
            <a:xfrm>
              <a:off x="52019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D8DC5"/>
            </a:solidFill>
          </p:spPr>
          <p:txBody>
            <a:bodyPr wrap="square" lIns="0" tIns="0" rIns="0" bIns="0" rtlCol="0"/>
            <a:lstStyle/>
            <a:p>
              <a:endParaRPr/>
            </a:p>
          </p:txBody>
        </p:sp>
        <p:sp>
          <p:nvSpPr>
            <p:cNvPr id="173" name="object 173"/>
            <p:cNvSpPr/>
            <p:nvPr/>
          </p:nvSpPr>
          <p:spPr>
            <a:xfrm>
              <a:off x="51676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C8CC4"/>
            </a:solidFill>
          </p:spPr>
          <p:txBody>
            <a:bodyPr wrap="square" lIns="0" tIns="0" rIns="0" bIns="0" rtlCol="0"/>
            <a:lstStyle/>
            <a:p>
              <a:endParaRPr/>
            </a:p>
          </p:txBody>
        </p:sp>
        <p:sp>
          <p:nvSpPr>
            <p:cNvPr id="174" name="object 174"/>
            <p:cNvSpPr/>
            <p:nvPr/>
          </p:nvSpPr>
          <p:spPr>
            <a:xfrm>
              <a:off x="51333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B8BC4"/>
            </a:solidFill>
          </p:spPr>
          <p:txBody>
            <a:bodyPr wrap="square" lIns="0" tIns="0" rIns="0" bIns="0" rtlCol="0"/>
            <a:lstStyle/>
            <a:p>
              <a:endParaRPr/>
            </a:p>
          </p:txBody>
        </p:sp>
        <p:sp>
          <p:nvSpPr>
            <p:cNvPr id="175" name="object 175"/>
            <p:cNvSpPr/>
            <p:nvPr/>
          </p:nvSpPr>
          <p:spPr>
            <a:xfrm>
              <a:off x="50990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A8AC3"/>
            </a:solidFill>
          </p:spPr>
          <p:txBody>
            <a:bodyPr wrap="square" lIns="0" tIns="0" rIns="0" bIns="0" rtlCol="0"/>
            <a:lstStyle/>
            <a:p>
              <a:endParaRPr/>
            </a:p>
          </p:txBody>
        </p:sp>
        <p:sp>
          <p:nvSpPr>
            <p:cNvPr id="176" name="object 176"/>
            <p:cNvSpPr/>
            <p:nvPr/>
          </p:nvSpPr>
          <p:spPr>
            <a:xfrm>
              <a:off x="50647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8989C3"/>
            </a:solidFill>
          </p:spPr>
          <p:txBody>
            <a:bodyPr wrap="square" lIns="0" tIns="0" rIns="0" bIns="0" rtlCol="0"/>
            <a:lstStyle/>
            <a:p>
              <a:endParaRPr/>
            </a:p>
          </p:txBody>
        </p:sp>
        <p:sp>
          <p:nvSpPr>
            <p:cNvPr id="177" name="object 177"/>
            <p:cNvSpPr/>
            <p:nvPr/>
          </p:nvSpPr>
          <p:spPr>
            <a:xfrm>
              <a:off x="503173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8888C2"/>
            </a:solidFill>
          </p:spPr>
          <p:txBody>
            <a:bodyPr wrap="square" lIns="0" tIns="0" rIns="0" bIns="0" rtlCol="0"/>
            <a:lstStyle/>
            <a:p>
              <a:endParaRPr/>
            </a:p>
          </p:txBody>
        </p:sp>
        <p:sp>
          <p:nvSpPr>
            <p:cNvPr id="178" name="object 178"/>
            <p:cNvSpPr/>
            <p:nvPr/>
          </p:nvSpPr>
          <p:spPr>
            <a:xfrm>
              <a:off x="49974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787C2"/>
            </a:solidFill>
          </p:spPr>
          <p:txBody>
            <a:bodyPr wrap="square" lIns="0" tIns="0" rIns="0" bIns="0" rtlCol="0"/>
            <a:lstStyle/>
            <a:p>
              <a:endParaRPr/>
            </a:p>
          </p:txBody>
        </p:sp>
        <p:sp>
          <p:nvSpPr>
            <p:cNvPr id="179" name="object 179"/>
            <p:cNvSpPr/>
            <p:nvPr/>
          </p:nvSpPr>
          <p:spPr>
            <a:xfrm>
              <a:off x="496315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686C1"/>
            </a:solidFill>
          </p:spPr>
          <p:txBody>
            <a:bodyPr wrap="square" lIns="0" tIns="0" rIns="0" bIns="0" rtlCol="0"/>
            <a:lstStyle/>
            <a:p>
              <a:endParaRPr/>
            </a:p>
          </p:txBody>
        </p:sp>
        <p:sp>
          <p:nvSpPr>
            <p:cNvPr id="180" name="object 180"/>
            <p:cNvSpPr/>
            <p:nvPr/>
          </p:nvSpPr>
          <p:spPr>
            <a:xfrm>
              <a:off x="49288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585C1"/>
            </a:solidFill>
          </p:spPr>
          <p:txBody>
            <a:bodyPr wrap="square" lIns="0" tIns="0" rIns="0" bIns="0" rtlCol="0"/>
            <a:lstStyle/>
            <a:p>
              <a:endParaRPr/>
            </a:p>
          </p:txBody>
        </p:sp>
        <p:sp>
          <p:nvSpPr>
            <p:cNvPr id="181" name="object 181"/>
            <p:cNvSpPr/>
            <p:nvPr/>
          </p:nvSpPr>
          <p:spPr>
            <a:xfrm>
              <a:off x="489457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8484C0"/>
            </a:solidFill>
          </p:spPr>
          <p:txBody>
            <a:bodyPr wrap="square" lIns="0" tIns="0" rIns="0" bIns="0" rtlCol="0"/>
            <a:lstStyle/>
            <a:p>
              <a:endParaRPr/>
            </a:p>
          </p:txBody>
        </p:sp>
        <p:sp>
          <p:nvSpPr>
            <p:cNvPr id="182" name="object 182"/>
            <p:cNvSpPr/>
            <p:nvPr/>
          </p:nvSpPr>
          <p:spPr>
            <a:xfrm>
              <a:off x="48602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8383C0"/>
            </a:solidFill>
          </p:spPr>
          <p:txBody>
            <a:bodyPr wrap="square" lIns="0" tIns="0" rIns="0" bIns="0" rtlCol="0"/>
            <a:lstStyle/>
            <a:p>
              <a:endParaRPr/>
            </a:p>
          </p:txBody>
        </p:sp>
        <p:sp>
          <p:nvSpPr>
            <p:cNvPr id="183" name="object 183"/>
            <p:cNvSpPr/>
            <p:nvPr/>
          </p:nvSpPr>
          <p:spPr>
            <a:xfrm>
              <a:off x="48260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282BF"/>
            </a:solidFill>
          </p:spPr>
          <p:txBody>
            <a:bodyPr wrap="square" lIns="0" tIns="0" rIns="0" bIns="0" rtlCol="0"/>
            <a:lstStyle/>
            <a:p>
              <a:endParaRPr/>
            </a:p>
          </p:txBody>
        </p:sp>
        <p:sp>
          <p:nvSpPr>
            <p:cNvPr id="184" name="object 184"/>
            <p:cNvSpPr/>
            <p:nvPr/>
          </p:nvSpPr>
          <p:spPr>
            <a:xfrm>
              <a:off x="479170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181BF"/>
            </a:solidFill>
          </p:spPr>
          <p:txBody>
            <a:bodyPr wrap="square" lIns="0" tIns="0" rIns="0" bIns="0" rtlCol="0"/>
            <a:lstStyle/>
            <a:p>
              <a:endParaRPr/>
            </a:p>
          </p:txBody>
        </p:sp>
        <p:sp>
          <p:nvSpPr>
            <p:cNvPr id="185" name="object 185"/>
            <p:cNvSpPr/>
            <p:nvPr/>
          </p:nvSpPr>
          <p:spPr>
            <a:xfrm>
              <a:off x="47574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8080BE"/>
            </a:solidFill>
          </p:spPr>
          <p:txBody>
            <a:bodyPr wrap="square" lIns="0" tIns="0" rIns="0" bIns="0" rtlCol="0"/>
            <a:lstStyle/>
            <a:p>
              <a:endParaRPr/>
            </a:p>
          </p:txBody>
        </p:sp>
        <p:sp>
          <p:nvSpPr>
            <p:cNvPr id="186" name="object 186"/>
            <p:cNvSpPr/>
            <p:nvPr/>
          </p:nvSpPr>
          <p:spPr>
            <a:xfrm>
              <a:off x="47231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F7FBD"/>
            </a:solidFill>
          </p:spPr>
          <p:txBody>
            <a:bodyPr wrap="square" lIns="0" tIns="0" rIns="0" bIns="0" rtlCol="0"/>
            <a:lstStyle/>
            <a:p>
              <a:endParaRPr/>
            </a:p>
          </p:txBody>
        </p:sp>
        <p:sp>
          <p:nvSpPr>
            <p:cNvPr id="187" name="object 187"/>
            <p:cNvSpPr/>
            <p:nvPr/>
          </p:nvSpPr>
          <p:spPr>
            <a:xfrm>
              <a:off x="46888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E7EBD"/>
            </a:solidFill>
          </p:spPr>
          <p:txBody>
            <a:bodyPr wrap="square" lIns="0" tIns="0" rIns="0" bIns="0" rtlCol="0"/>
            <a:lstStyle/>
            <a:p>
              <a:endParaRPr/>
            </a:p>
          </p:txBody>
        </p:sp>
        <p:sp>
          <p:nvSpPr>
            <p:cNvPr id="188" name="object 188"/>
            <p:cNvSpPr/>
            <p:nvPr/>
          </p:nvSpPr>
          <p:spPr>
            <a:xfrm>
              <a:off x="46545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D7DBC"/>
            </a:solidFill>
          </p:spPr>
          <p:txBody>
            <a:bodyPr wrap="square" lIns="0" tIns="0" rIns="0" bIns="0" rtlCol="0"/>
            <a:lstStyle/>
            <a:p>
              <a:endParaRPr/>
            </a:p>
          </p:txBody>
        </p:sp>
        <p:sp>
          <p:nvSpPr>
            <p:cNvPr id="189" name="object 189"/>
            <p:cNvSpPr/>
            <p:nvPr/>
          </p:nvSpPr>
          <p:spPr>
            <a:xfrm>
              <a:off x="46202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C7CBC"/>
            </a:solidFill>
          </p:spPr>
          <p:txBody>
            <a:bodyPr wrap="square" lIns="0" tIns="0" rIns="0" bIns="0" rtlCol="0"/>
            <a:lstStyle/>
            <a:p>
              <a:endParaRPr/>
            </a:p>
          </p:txBody>
        </p:sp>
        <p:sp>
          <p:nvSpPr>
            <p:cNvPr id="190" name="object 190"/>
            <p:cNvSpPr/>
            <p:nvPr/>
          </p:nvSpPr>
          <p:spPr>
            <a:xfrm>
              <a:off x="45859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B7BBB"/>
            </a:solidFill>
          </p:spPr>
          <p:txBody>
            <a:bodyPr wrap="square" lIns="0" tIns="0" rIns="0" bIns="0" rtlCol="0"/>
            <a:lstStyle/>
            <a:p>
              <a:endParaRPr/>
            </a:p>
          </p:txBody>
        </p:sp>
        <p:sp>
          <p:nvSpPr>
            <p:cNvPr id="191" name="object 191"/>
            <p:cNvSpPr/>
            <p:nvPr/>
          </p:nvSpPr>
          <p:spPr>
            <a:xfrm>
              <a:off x="45516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A7ABB"/>
            </a:solidFill>
          </p:spPr>
          <p:txBody>
            <a:bodyPr wrap="square" lIns="0" tIns="0" rIns="0" bIns="0" rtlCol="0"/>
            <a:lstStyle/>
            <a:p>
              <a:endParaRPr/>
            </a:p>
          </p:txBody>
        </p:sp>
        <p:sp>
          <p:nvSpPr>
            <p:cNvPr id="192" name="object 192"/>
            <p:cNvSpPr/>
            <p:nvPr/>
          </p:nvSpPr>
          <p:spPr>
            <a:xfrm>
              <a:off x="45173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979BA"/>
            </a:solidFill>
          </p:spPr>
          <p:txBody>
            <a:bodyPr wrap="square" lIns="0" tIns="0" rIns="0" bIns="0" rtlCol="0"/>
            <a:lstStyle/>
            <a:p>
              <a:endParaRPr/>
            </a:p>
          </p:txBody>
        </p:sp>
        <p:sp>
          <p:nvSpPr>
            <p:cNvPr id="193" name="object 193"/>
            <p:cNvSpPr/>
            <p:nvPr/>
          </p:nvSpPr>
          <p:spPr>
            <a:xfrm>
              <a:off x="44831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878BA"/>
            </a:solidFill>
          </p:spPr>
          <p:txBody>
            <a:bodyPr wrap="square" lIns="0" tIns="0" rIns="0" bIns="0" rtlCol="0"/>
            <a:lstStyle/>
            <a:p>
              <a:endParaRPr/>
            </a:p>
          </p:txBody>
        </p:sp>
        <p:sp>
          <p:nvSpPr>
            <p:cNvPr id="194" name="object 194"/>
            <p:cNvSpPr/>
            <p:nvPr/>
          </p:nvSpPr>
          <p:spPr>
            <a:xfrm>
              <a:off x="44488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777B9"/>
            </a:solidFill>
          </p:spPr>
          <p:txBody>
            <a:bodyPr wrap="square" lIns="0" tIns="0" rIns="0" bIns="0" rtlCol="0"/>
            <a:lstStyle/>
            <a:p>
              <a:endParaRPr/>
            </a:p>
          </p:txBody>
        </p:sp>
        <p:sp>
          <p:nvSpPr>
            <p:cNvPr id="195" name="object 195"/>
            <p:cNvSpPr/>
            <p:nvPr/>
          </p:nvSpPr>
          <p:spPr>
            <a:xfrm>
              <a:off x="44145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676B9"/>
            </a:solidFill>
          </p:spPr>
          <p:txBody>
            <a:bodyPr wrap="square" lIns="0" tIns="0" rIns="0" bIns="0" rtlCol="0"/>
            <a:lstStyle/>
            <a:p>
              <a:endParaRPr/>
            </a:p>
          </p:txBody>
        </p:sp>
        <p:sp>
          <p:nvSpPr>
            <p:cNvPr id="196" name="object 196"/>
            <p:cNvSpPr/>
            <p:nvPr/>
          </p:nvSpPr>
          <p:spPr>
            <a:xfrm>
              <a:off x="43802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575B8"/>
            </a:solidFill>
          </p:spPr>
          <p:txBody>
            <a:bodyPr wrap="square" lIns="0" tIns="0" rIns="0" bIns="0" rtlCol="0"/>
            <a:lstStyle/>
            <a:p>
              <a:endParaRPr/>
            </a:p>
          </p:txBody>
        </p:sp>
        <p:sp>
          <p:nvSpPr>
            <p:cNvPr id="197" name="object 197"/>
            <p:cNvSpPr/>
            <p:nvPr/>
          </p:nvSpPr>
          <p:spPr>
            <a:xfrm>
              <a:off x="43459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474B8"/>
            </a:solidFill>
          </p:spPr>
          <p:txBody>
            <a:bodyPr wrap="square" lIns="0" tIns="0" rIns="0" bIns="0" rtlCol="0"/>
            <a:lstStyle/>
            <a:p>
              <a:endParaRPr/>
            </a:p>
          </p:txBody>
        </p:sp>
        <p:sp>
          <p:nvSpPr>
            <p:cNvPr id="198" name="object 198"/>
            <p:cNvSpPr/>
            <p:nvPr/>
          </p:nvSpPr>
          <p:spPr>
            <a:xfrm>
              <a:off x="43116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373B7"/>
            </a:solidFill>
          </p:spPr>
          <p:txBody>
            <a:bodyPr wrap="square" lIns="0" tIns="0" rIns="0" bIns="0" rtlCol="0"/>
            <a:lstStyle/>
            <a:p>
              <a:endParaRPr/>
            </a:p>
          </p:txBody>
        </p:sp>
        <p:sp>
          <p:nvSpPr>
            <p:cNvPr id="199" name="object 199"/>
            <p:cNvSpPr/>
            <p:nvPr/>
          </p:nvSpPr>
          <p:spPr>
            <a:xfrm>
              <a:off x="42773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272B7"/>
            </a:solidFill>
          </p:spPr>
          <p:txBody>
            <a:bodyPr wrap="square" lIns="0" tIns="0" rIns="0" bIns="0" rtlCol="0"/>
            <a:lstStyle/>
            <a:p>
              <a:endParaRPr/>
            </a:p>
          </p:txBody>
        </p:sp>
        <p:sp>
          <p:nvSpPr>
            <p:cNvPr id="200" name="object 200"/>
            <p:cNvSpPr/>
            <p:nvPr/>
          </p:nvSpPr>
          <p:spPr>
            <a:xfrm>
              <a:off x="42430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7171B6"/>
            </a:solidFill>
          </p:spPr>
          <p:txBody>
            <a:bodyPr wrap="square" lIns="0" tIns="0" rIns="0" bIns="0" rtlCol="0"/>
            <a:lstStyle/>
            <a:p>
              <a:endParaRPr/>
            </a:p>
          </p:txBody>
        </p:sp>
        <p:sp>
          <p:nvSpPr>
            <p:cNvPr id="201" name="object 201"/>
            <p:cNvSpPr/>
            <p:nvPr/>
          </p:nvSpPr>
          <p:spPr>
            <a:xfrm>
              <a:off x="42100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7070B6"/>
            </a:solidFill>
          </p:spPr>
          <p:txBody>
            <a:bodyPr wrap="square" lIns="0" tIns="0" rIns="0" bIns="0" rtlCol="0"/>
            <a:lstStyle/>
            <a:p>
              <a:endParaRPr/>
            </a:p>
          </p:txBody>
        </p:sp>
        <p:sp>
          <p:nvSpPr>
            <p:cNvPr id="202" name="object 202"/>
            <p:cNvSpPr/>
            <p:nvPr/>
          </p:nvSpPr>
          <p:spPr>
            <a:xfrm>
              <a:off x="417575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F6FB5"/>
            </a:solidFill>
          </p:spPr>
          <p:txBody>
            <a:bodyPr wrap="square" lIns="0" tIns="0" rIns="0" bIns="0" rtlCol="0"/>
            <a:lstStyle/>
            <a:p>
              <a:endParaRPr/>
            </a:p>
          </p:txBody>
        </p:sp>
        <p:sp>
          <p:nvSpPr>
            <p:cNvPr id="203" name="object 203"/>
            <p:cNvSpPr/>
            <p:nvPr/>
          </p:nvSpPr>
          <p:spPr>
            <a:xfrm>
              <a:off x="41414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E6EB5"/>
            </a:solidFill>
          </p:spPr>
          <p:txBody>
            <a:bodyPr wrap="square" lIns="0" tIns="0" rIns="0" bIns="0" rtlCol="0"/>
            <a:lstStyle/>
            <a:p>
              <a:endParaRPr/>
            </a:p>
          </p:txBody>
        </p:sp>
        <p:sp>
          <p:nvSpPr>
            <p:cNvPr id="204" name="object 204"/>
            <p:cNvSpPr/>
            <p:nvPr/>
          </p:nvSpPr>
          <p:spPr>
            <a:xfrm>
              <a:off x="41059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D6DB4"/>
            </a:solidFill>
          </p:spPr>
          <p:txBody>
            <a:bodyPr wrap="square" lIns="0" tIns="0" rIns="0" bIns="0" rtlCol="0"/>
            <a:lstStyle/>
            <a:p>
              <a:endParaRPr/>
            </a:p>
          </p:txBody>
        </p:sp>
        <p:sp>
          <p:nvSpPr>
            <p:cNvPr id="205" name="object 205"/>
            <p:cNvSpPr/>
            <p:nvPr/>
          </p:nvSpPr>
          <p:spPr>
            <a:xfrm>
              <a:off x="40728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C6CB4"/>
            </a:solidFill>
          </p:spPr>
          <p:txBody>
            <a:bodyPr wrap="square" lIns="0" tIns="0" rIns="0" bIns="0" rtlCol="0"/>
            <a:lstStyle/>
            <a:p>
              <a:endParaRPr/>
            </a:p>
          </p:txBody>
        </p:sp>
        <p:sp>
          <p:nvSpPr>
            <p:cNvPr id="206" name="object 206"/>
            <p:cNvSpPr/>
            <p:nvPr/>
          </p:nvSpPr>
          <p:spPr>
            <a:xfrm>
              <a:off x="403860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B6BB3"/>
            </a:solidFill>
          </p:spPr>
          <p:txBody>
            <a:bodyPr wrap="square" lIns="0" tIns="0" rIns="0" bIns="0" rtlCol="0"/>
            <a:lstStyle/>
            <a:p>
              <a:endParaRPr/>
            </a:p>
          </p:txBody>
        </p:sp>
        <p:sp>
          <p:nvSpPr>
            <p:cNvPr id="207" name="object 207"/>
            <p:cNvSpPr/>
            <p:nvPr/>
          </p:nvSpPr>
          <p:spPr>
            <a:xfrm>
              <a:off x="4004309"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A6AB3"/>
            </a:solidFill>
          </p:spPr>
          <p:txBody>
            <a:bodyPr wrap="square" lIns="0" tIns="0" rIns="0" bIns="0" rtlCol="0"/>
            <a:lstStyle/>
            <a:p>
              <a:endParaRPr/>
            </a:p>
          </p:txBody>
        </p:sp>
        <p:sp>
          <p:nvSpPr>
            <p:cNvPr id="208" name="object 208"/>
            <p:cNvSpPr/>
            <p:nvPr/>
          </p:nvSpPr>
          <p:spPr>
            <a:xfrm>
              <a:off x="397002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969B2"/>
            </a:solidFill>
          </p:spPr>
          <p:txBody>
            <a:bodyPr wrap="square" lIns="0" tIns="0" rIns="0" bIns="0" rtlCol="0"/>
            <a:lstStyle/>
            <a:p>
              <a:endParaRPr/>
            </a:p>
          </p:txBody>
        </p:sp>
        <p:sp>
          <p:nvSpPr>
            <p:cNvPr id="209" name="object 209"/>
            <p:cNvSpPr/>
            <p:nvPr/>
          </p:nvSpPr>
          <p:spPr>
            <a:xfrm>
              <a:off x="393572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868B2"/>
            </a:solidFill>
          </p:spPr>
          <p:txBody>
            <a:bodyPr wrap="square" lIns="0" tIns="0" rIns="0" bIns="0" rtlCol="0"/>
            <a:lstStyle/>
            <a:p>
              <a:endParaRPr/>
            </a:p>
          </p:txBody>
        </p:sp>
        <p:sp>
          <p:nvSpPr>
            <p:cNvPr id="210" name="object 210"/>
            <p:cNvSpPr/>
            <p:nvPr/>
          </p:nvSpPr>
          <p:spPr>
            <a:xfrm>
              <a:off x="390143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767B1"/>
            </a:solidFill>
          </p:spPr>
          <p:txBody>
            <a:bodyPr wrap="square" lIns="0" tIns="0" rIns="0" bIns="0" rtlCol="0"/>
            <a:lstStyle/>
            <a:p>
              <a:endParaRPr/>
            </a:p>
          </p:txBody>
        </p:sp>
        <p:sp>
          <p:nvSpPr>
            <p:cNvPr id="211" name="object 211"/>
            <p:cNvSpPr/>
            <p:nvPr/>
          </p:nvSpPr>
          <p:spPr>
            <a:xfrm>
              <a:off x="386715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666B1"/>
            </a:solidFill>
          </p:spPr>
          <p:txBody>
            <a:bodyPr wrap="square" lIns="0" tIns="0" rIns="0" bIns="0" rtlCol="0"/>
            <a:lstStyle/>
            <a:p>
              <a:endParaRPr/>
            </a:p>
          </p:txBody>
        </p:sp>
        <p:sp>
          <p:nvSpPr>
            <p:cNvPr id="212" name="object 212"/>
            <p:cNvSpPr/>
            <p:nvPr/>
          </p:nvSpPr>
          <p:spPr>
            <a:xfrm>
              <a:off x="38328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666B0"/>
            </a:solidFill>
          </p:spPr>
          <p:txBody>
            <a:bodyPr wrap="square" lIns="0" tIns="0" rIns="0" bIns="0" rtlCol="0"/>
            <a:lstStyle/>
            <a:p>
              <a:endParaRPr/>
            </a:p>
          </p:txBody>
        </p:sp>
        <p:sp>
          <p:nvSpPr>
            <p:cNvPr id="213" name="object 213"/>
            <p:cNvSpPr/>
            <p:nvPr/>
          </p:nvSpPr>
          <p:spPr>
            <a:xfrm>
              <a:off x="3798570" y="133350"/>
              <a:ext cx="36830" cy="276860"/>
            </a:xfrm>
            <a:custGeom>
              <a:avLst/>
              <a:gdLst/>
              <a:ahLst/>
              <a:cxnLst/>
              <a:rect l="l" t="t" r="r" b="b"/>
              <a:pathLst>
                <a:path w="36829" h="276859">
                  <a:moveTo>
                    <a:pt x="36829" y="0"/>
                  </a:moveTo>
                  <a:lnTo>
                    <a:pt x="0" y="0"/>
                  </a:lnTo>
                  <a:lnTo>
                    <a:pt x="0" y="276860"/>
                  </a:lnTo>
                  <a:lnTo>
                    <a:pt x="36829" y="276860"/>
                  </a:lnTo>
                  <a:lnTo>
                    <a:pt x="36829" y="0"/>
                  </a:lnTo>
                  <a:close/>
                </a:path>
              </a:pathLst>
            </a:custGeom>
            <a:solidFill>
              <a:srgbClr val="6464B0"/>
            </a:solidFill>
          </p:spPr>
          <p:txBody>
            <a:bodyPr wrap="square" lIns="0" tIns="0" rIns="0" bIns="0" rtlCol="0"/>
            <a:lstStyle/>
            <a:p>
              <a:endParaRPr/>
            </a:p>
          </p:txBody>
        </p:sp>
        <p:sp>
          <p:nvSpPr>
            <p:cNvPr id="214" name="object 214"/>
            <p:cNvSpPr/>
            <p:nvPr/>
          </p:nvSpPr>
          <p:spPr>
            <a:xfrm>
              <a:off x="376427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363AF"/>
            </a:solidFill>
          </p:spPr>
          <p:txBody>
            <a:bodyPr wrap="square" lIns="0" tIns="0" rIns="0" bIns="0" rtlCol="0"/>
            <a:lstStyle/>
            <a:p>
              <a:endParaRPr/>
            </a:p>
          </p:txBody>
        </p:sp>
        <p:sp>
          <p:nvSpPr>
            <p:cNvPr id="215" name="object 215"/>
            <p:cNvSpPr/>
            <p:nvPr/>
          </p:nvSpPr>
          <p:spPr>
            <a:xfrm>
              <a:off x="3729989" y="133350"/>
              <a:ext cx="36830" cy="276860"/>
            </a:xfrm>
            <a:custGeom>
              <a:avLst/>
              <a:gdLst/>
              <a:ahLst/>
              <a:cxnLst/>
              <a:rect l="l" t="t" r="r" b="b"/>
              <a:pathLst>
                <a:path w="36829" h="276859">
                  <a:moveTo>
                    <a:pt x="36830" y="0"/>
                  </a:moveTo>
                  <a:lnTo>
                    <a:pt x="0" y="0"/>
                  </a:lnTo>
                  <a:lnTo>
                    <a:pt x="0" y="276860"/>
                  </a:lnTo>
                  <a:lnTo>
                    <a:pt x="36830" y="276860"/>
                  </a:lnTo>
                  <a:lnTo>
                    <a:pt x="36830" y="0"/>
                  </a:lnTo>
                  <a:close/>
                </a:path>
              </a:pathLst>
            </a:custGeom>
            <a:solidFill>
              <a:srgbClr val="6262AF"/>
            </a:solidFill>
          </p:spPr>
          <p:txBody>
            <a:bodyPr wrap="square" lIns="0" tIns="0" rIns="0" bIns="0" rtlCol="0"/>
            <a:lstStyle/>
            <a:p>
              <a:endParaRPr/>
            </a:p>
          </p:txBody>
        </p:sp>
        <p:sp>
          <p:nvSpPr>
            <p:cNvPr id="216" name="object 216"/>
            <p:cNvSpPr/>
            <p:nvPr/>
          </p:nvSpPr>
          <p:spPr>
            <a:xfrm>
              <a:off x="36957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161AE"/>
            </a:solidFill>
          </p:spPr>
          <p:txBody>
            <a:bodyPr wrap="square" lIns="0" tIns="0" rIns="0" bIns="0" rtlCol="0"/>
            <a:lstStyle/>
            <a:p>
              <a:endParaRPr/>
            </a:p>
          </p:txBody>
        </p:sp>
        <p:sp>
          <p:nvSpPr>
            <p:cNvPr id="217" name="object 217"/>
            <p:cNvSpPr/>
            <p:nvPr/>
          </p:nvSpPr>
          <p:spPr>
            <a:xfrm>
              <a:off x="36614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6060AE"/>
            </a:solidFill>
          </p:spPr>
          <p:txBody>
            <a:bodyPr wrap="square" lIns="0" tIns="0" rIns="0" bIns="0" rtlCol="0"/>
            <a:lstStyle/>
            <a:p>
              <a:endParaRPr/>
            </a:p>
          </p:txBody>
        </p:sp>
        <p:sp>
          <p:nvSpPr>
            <p:cNvPr id="218" name="object 218"/>
            <p:cNvSpPr/>
            <p:nvPr/>
          </p:nvSpPr>
          <p:spPr>
            <a:xfrm>
              <a:off x="362712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F5FAD"/>
            </a:solidFill>
          </p:spPr>
          <p:txBody>
            <a:bodyPr wrap="square" lIns="0" tIns="0" rIns="0" bIns="0" rtlCol="0"/>
            <a:lstStyle/>
            <a:p>
              <a:endParaRPr/>
            </a:p>
          </p:txBody>
        </p:sp>
        <p:sp>
          <p:nvSpPr>
            <p:cNvPr id="219" name="object 219"/>
            <p:cNvSpPr/>
            <p:nvPr/>
          </p:nvSpPr>
          <p:spPr>
            <a:xfrm>
              <a:off x="35928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E5EAD"/>
            </a:solidFill>
          </p:spPr>
          <p:txBody>
            <a:bodyPr wrap="square" lIns="0" tIns="0" rIns="0" bIns="0" rtlCol="0"/>
            <a:lstStyle/>
            <a:p>
              <a:endParaRPr/>
            </a:p>
          </p:txBody>
        </p:sp>
        <p:sp>
          <p:nvSpPr>
            <p:cNvPr id="220" name="object 220"/>
            <p:cNvSpPr/>
            <p:nvPr/>
          </p:nvSpPr>
          <p:spPr>
            <a:xfrm>
              <a:off x="355853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D5DAC"/>
            </a:solidFill>
          </p:spPr>
          <p:txBody>
            <a:bodyPr wrap="square" lIns="0" tIns="0" rIns="0" bIns="0" rtlCol="0"/>
            <a:lstStyle/>
            <a:p>
              <a:endParaRPr/>
            </a:p>
          </p:txBody>
        </p:sp>
        <p:sp>
          <p:nvSpPr>
            <p:cNvPr id="221" name="object 221"/>
            <p:cNvSpPr/>
            <p:nvPr/>
          </p:nvSpPr>
          <p:spPr>
            <a:xfrm>
              <a:off x="35242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C5CAC"/>
            </a:solidFill>
          </p:spPr>
          <p:txBody>
            <a:bodyPr wrap="square" lIns="0" tIns="0" rIns="0" bIns="0" rtlCol="0"/>
            <a:lstStyle/>
            <a:p>
              <a:endParaRPr/>
            </a:p>
          </p:txBody>
        </p:sp>
        <p:sp>
          <p:nvSpPr>
            <p:cNvPr id="222" name="object 222"/>
            <p:cNvSpPr/>
            <p:nvPr/>
          </p:nvSpPr>
          <p:spPr>
            <a:xfrm>
              <a:off x="34899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B5BAB"/>
            </a:solidFill>
          </p:spPr>
          <p:txBody>
            <a:bodyPr wrap="square" lIns="0" tIns="0" rIns="0" bIns="0" rtlCol="0"/>
            <a:lstStyle/>
            <a:p>
              <a:endParaRPr/>
            </a:p>
          </p:txBody>
        </p:sp>
        <p:sp>
          <p:nvSpPr>
            <p:cNvPr id="223" name="object 223"/>
            <p:cNvSpPr/>
            <p:nvPr/>
          </p:nvSpPr>
          <p:spPr>
            <a:xfrm>
              <a:off x="34556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A5AAB"/>
            </a:solidFill>
          </p:spPr>
          <p:txBody>
            <a:bodyPr wrap="square" lIns="0" tIns="0" rIns="0" bIns="0" rtlCol="0"/>
            <a:lstStyle/>
            <a:p>
              <a:endParaRPr/>
            </a:p>
          </p:txBody>
        </p:sp>
        <p:sp>
          <p:nvSpPr>
            <p:cNvPr id="224" name="object 224"/>
            <p:cNvSpPr/>
            <p:nvPr/>
          </p:nvSpPr>
          <p:spPr>
            <a:xfrm>
              <a:off x="34213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959AA"/>
            </a:solidFill>
          </p:spPr>
          <p:txBody>
            <a:bodyPr wrap="square" lIns="0" tIns="0" rIns="0" bIns="0" rtlCol="0"/>
            <a:lstStyle/>
            <a:p>
              <a:endParaRPr/>
            </a:p>
          </p:txBody>
        </p:sp>
        <p:sp>
          <p:nvSpPr>
            <p:cNvPr id="225" name="object 225"/>
            <p:cNvSpPr/>
            <p:nvPr/>
          </p:nvSpPr>
          <p:spPr>
            <a:xfrm>
              <a:off x="338708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858AA"/>
            </a:solidFill>
          </p:spPr>
          <p:txBody>
            <a:bodyPr wrap="square" lIns="0" tIns="0" rIns="0" bIns="0" rtlCol="0"/>
            <a:lstStyle/>
            <a:p>
              <a:endParaRPr/>
            </a:p>
          </p:txBody>
        </p:sp>
        <p:sp>
          <p:nvSpPr>
            <p:cNvPr id="226" name="object 226"/>
            <p:cNvSpPr/>
            <p:nvPr/>
          </p:nvSpPr>
          <p:spPr>
            <a:xfrm>
              <a:off x="33528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757A9"/>
            </a:solidFill>
          </p:spPr>
          <p:txBody>
            <a:bodyPr wrap="square" lIns="0" tIns="0" rIns="0" bIns="0" rtlCol="0"/>
            <a:lstStyle/>
            <a:p>
              <a:endParaRPr/>
            </a:p>
          </p:txBody>
        </p:sp>
        <p:sp>
          <p:nvSpPr>
            <p:cNvPr id="227" name="object 227"/>
            <p:cNvSpPr/>
            <p:nvPr/>
          </p:nvSpPr>
          <p:spPr>
            <a:xfrm>
              <a:off x="33185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656A9"/>
            </a:solidFill>
          </p:spPr>
          <p:txBody>
            <a:bodyPr wrap="square" lIns="0" tIns="0" rIns="0" bIns="0" rtlCol="0"/>
            <a:lstStyle/>
            <a:p>
              <a:endParaRPr/>
            </a:p>
          </p:txBody>
        </p:sp>
        <p:sp>
          <p:nvSpPr>
            <p:cNvPr id="228" name="object 228"/>
            <p:cNvSpPr/>
            <p:nvPr/>
          </p:nvSpPr>
          <p:spPr>
            <a:xfrm>
              <a:off x="32842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555A8"/>
            </a:solidFill>
          </p:spPr>
          <p:txBody>
            <a:bodyPr wrap="square" lIns="0" tIns="0" rIns="0" bIns="0" rtlCol="0"/>
            <a:lstStyle/>
            <a:p>
              <a:endParaRPr/>
            </a:p>
          </p:txBody>
        </p:sp>
        <p:sp>
          <p:nvSpPr>
            <p:cNvPr id="229" name="object 229"/>
            <p:cNvSpPr/>
            <p:nvPr/>
          </p:nvSpPr>
          <p:spPr>
            <a:xfrm>
              <a:off x="3249929" y="133350"/>
              <a:ext cx="38100" cy="276860"/>
            </a:xfrm>
            <a:custGeom>
              <a:avLst/>
              <a:gdLst/>
              <a:ahLst/>
              <a:cxnLst/>
              <a:rect l="l" t="t" r="r" b="b"/>
              <a:pathLst>
                <a:path w="38100" h="276859">
                  <a:moveTo>
                    <a:pt x="38099" y="0"/>
                  </a:moveTo>
                  <a:lnTo>
                    <a:pt x="0" y="0"/>
                  </a:lnTo>
                  <a:lnTo>
                    <a:pt x="0" y="276860"/>
                  </a:lnTo>
                  <a:lnTo>
                    <a:pt x="38099" y="276860"/>
                  </a:lnTo>
                  <a:lnTo>
                    <a:pt x="38099" y="0"/>
                  </a:lnTo>
                  <a:close/>
                </a:path>
              </a:pathLst>
            </a:custGeom>
            <a:solidFill>
              <a:srgbClr val="5454A8"/>
            </a:solidFill>
          </p:spPr>
          <p:txBody>
            <a:bodyPr wrap="square" lIns="0" tIns="0" rIns="0" bIns="0" rtlCol="0"/>
            <a:lstStyle/>
            <a:p>
              <a:endParaRPr/>
            </a:p>
          </p:txBody>
        </p:sp>
        <p:sp>
          <p:nvSpPr>
            <p:cNvPr id="230" name="object 230"/>
            <p:cNvSpPr/>
            <p:nvPr/>
          </p:nvSpPr>
          <p:spPr>
            <a:xfrm>
              <a:off x="32156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5353A7"/>
            </a:solidFill>
          </p:spPr>
          <p:txBody>
            <a:bodyPr wrap="square" lIns="0" tIns="0" rIns="0" bIns="0" rtlCol="0"/>
            <a:lstStyle/>
            <a:p>
              <a:endParaRPr/>
            </a:p>
          </p:txBody>
        </p:sp>
        <p:sp>
          <p:nvSpPr>
            <p:cNvPr id="231" name="object 231"/>
            <p:cNvSpPr/>
            <p:nvPr/>
          </p:nvSpPr>
          <p:spPr>
            <a:xfrm>
              <a:off x="31826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5252A7"/>
            </a:solidFill>
          </p:spPr>
          <p:txBody>
            <a:bodyPr wrap="square" lIns="0" tIns="0" rIns="0" bIns="0" rtlCol="0"/>
            <a:lstStyle/>
            <a:p>
              <a:endParaRPr/>
            </a:p>
          </p:txBody>
        </p:sp>
        <p:sp>
          <p:nvSpPr>
            <p:cNvPr id="232" name="object 232"/>
            <p:cNvSpPr/>
            <p:nvPr/>
          </p:nvSpPr>
          <p:spPr>
            <a:xfrm>
              <a:off x="314832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5151A6"/>
            </a:solidFill>
          </p:spPr>
          <p:txBody>
            <a:bodyPr wrap="square" lIns="0" tIns="0" rIns="0" bIns="0" rtlCol="0"/>
            <a:lstStyle/>
            <a:p>
              <a:endParaRPr/>
            </a:p>
          </p:txBody>
        </p:sp>
        <p:sp>
          <p:nvSpPr>
            <p:cNvPr id="233" name="object 233"/>
            <p:cNvSpPr/>
            <p:nvPr/>
          </p:nvSpPr>
          <p:spPr>
            <a:xfrm>
              <a:off x="311404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5050A6"/>
            </a:solidFill>
          </p:spPr>
          <p:txBody>
            <a:bodyPr wrap="square" lIns="0" tIns="0" rIns="0" bIns="0" rtlCol="0"/>
            <a:lstStyle/>
            <a:p>
              <a:endParaRPr/>
            </a:p>
          </p:txBody>
        </p:sp>
        <p:sp>
          <p:nvSpPr>
            <p:cNvPr id="234" name="object 234"/>
            <p:cNvSpPr/>
            <p:nvPr/>
          </p:nvSpPr>
          <p:spPr>
            <a:xfrm>
              <a:off x="30797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F4FA5"/>
            </a:solidFill>
          </p:spPr>
          <p:txBody>
            <a:bodyPr wrap="square" lIns="0" tIns="0" rIns="0" bIns="0" rtlCol="0"/>
            <a:lstStyle/>
            <a:p>
              <a:endParaRPr/>
            </a:p>
          </p:txBody>
        </p:sp>
        <p:sp>
          <p:nvSpPr>
            <p:cNvPr id="235" name="object 235"/>
            <p:cNvSpPr/>
            <p:nvPr/>
          </p:nvSpPr>
          <p:spPr>
            <a:xfrm>
              <a:off x="304545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4E4EA5"/>
            </a:solidFill>
          </p:spPr>
          <p:txBody>
            <a:bodyPr wrap="square" lIns="0" tIns="0" rIns="0" bIns="0" rtlCol="0"/>
            <a:lstStyle/>
            <a:p>
              <a:endParaRPr/>
            </a:p>
          </p:txBody>
        </p:sp>
        <p:sp>
          <p:nvSpPr>
            <p:cNvPr id="236" name="object 236"/>
            <p:cNvSpPr/>
            <p:nvPr/>
          </p:nvSpPr>
          <p:spPr>
            <a:xfrm>
              <a:off x="301116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D4DA4"/>
            </a:solidFill>
          </p:spPr>
          <p:txBody>
            <a:bodyPr wrap="square" lIns="0" tIns="0" rIns="0" bIns="0" rtlCol="0"/>
            <a:lstStyle/>
            <a:p>
              <a:endParaRPr/>
            </a:p>
          </p:txBody>
        </p:sp>
        <p:sp>
          <p:nvSpPr>
            <p:cNvPr id="237" name="object 237"/>
            <p:cNvSpPr/>
            <p:nvPr/>
          </p:nvSpPr>
          <p:spPr>
            <a:xfrm>
              <a:off x="297687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C4CA4"/>
            </a:solidFill>
          </p:spPr>
          <p:txBody>
            <a:bodyPr wrap="square" lIns="0" tIns="0" rIns="0" bIns="0" rtlCol="0"/>
            <a:lstStyle/>
            <a:p>
              <a:endParaRPr/>
            </a:p>
          </p:txBody>
        </p:sp>
        <p:sp>
          <p:nvSpPr>
            <p:cNvPr id="238" name="object 238"/>
            <p:cNvSpPr/>
            <p:nvPr/>
          </p:nvSpPr>
          <p:spPr>
            <a:xfrm>
              <a:off x="294259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B4BA3"/>
            </a:solidFill>
          </p:spPr>
          <p:txBody>
            <a:bodyPr wrap="square" lIns="0" tIns="0" rIns="0" bIns="0" rtlCol="0"/>
            <a:lstStyle/>
            <a:p>
              <a:endParaRPr/>
            </a:p>
          </p:txBody>
        </p:sp>
        <p:sp>
          <p:nvSpPr>
            <p:cNvPr id="239" name="object 239"/>
            <p:cNvSpPr/>
            <p:nvPr/>
          </p:nvSpPr>
          <p:spPr>
            <a:xfrm>
              <a:off x="290830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A4AA3"/>
            </a:solidFill>
          </p:spPr>
          <p:txBody>
            <a:bodyPr wrap="square" lIns="0" tIns="0" rIns="0" bIns="0" rtlCol="0"/>
            <a:lstStyle/>
            <a:p>
              <a:endParaRPr/>
            </a:p>
          </p:txBody>
        </p:sp>
        <p:sp>
          <p:nvSpPr>
            <p:cNvPr id="240" name="object 240"/>
            <p:cNvSpPr/>
            <p:nvPr/>
          </p:nvSpPr>
          <p:spPr>
            <a:xfrm>
              <a:off x="287400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4949A2"/>
            </a:solidFill>
          </p:spPr>
          <p:txBody>
            <a:bodyPr wrap="square" lIns="0" tIns="0" rIns="0" bIns="0" rtlCol="0"/>
            <a:lstStyle/>
            <a:p>
              <a:endParaRPr/>
            </a:p>
          </p:txBody>
        </p:sp>
        <p:sp>
          <p:nvSpPr>
            <p:cNvPr id="241" name="object 241"/>
            <p:cNvSpPr/>
            <p:nvPr/>
          </p:nvSpPr>
          <p:spPr>
            <a:xfrm>
              <a:off x="28397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848A2"/>
            </a:solidFill>
          </p:spPr>
          <p:txBody>
            <a:bodyPr wrap="square" lIns="0" tIns="0" rIns="0" bIns="0" rtlCol="0"/>
            <a:lstStyle/>
            <a:p>
              <a:endParaRPr/>
            </a:p>
          </p:txBody>
        </p:sp>
        <p:sp>
          <p:nvSpPr>
            <p:cNvPr id="242" name="object 242"/>
            <p:cNvSpPr/>
            <p:nvPr/>
          </p:nvSpPr>
          <p:spPr>
            <a:xfrm>
              <a:off x="28054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747A1"/>
            </a:solidFill>
          </p:spPr>
          <p:txBody>
            <a:bodyPr wrap="square" lIns="0" tIns="0" rIns="0" bIns="0" rtlCol="0"/>
            <a:lstStyle/>
            <a:p>
              <a:endParaRPr/>
            </a:p>
          </p:txBody>
        </p:sp>
        <p:sp>
          <p:nvSpPr>
            <p:cNvPr id="243" name="object 243"/>
            <p:cNvSpPr/>
            <p:nvPr/>
          </p:nvSpPr>
          <p:spPr>
            <a:xfrm>
              <a:off x="27711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646A1"/>
            </a:solidFill>
          </p:spPr>
          <p:txBody>
            <a:bodyPr wrap="square" lIns="0" tIns="0" rIns="0" bIns="0" rtlCol="0"/>
            <a:lstStyle/>
            <a:p>
              <a:endParaRPr/>
            </a:p>
          </p:txBody>
        </p:sp>
        <p:sp>
          <p:nvSpPr>
            <p:cNvPr id="244" name="object 244"/>
            <p:cNvSpPr/>
            <p:nvPr/>
          </p:nvSpPr>
          <p:spPr>
            <a:xfrm>
              <a:off x="27368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4545A0"/>
            </a:solidFill>
          </p:spPr>
          <p:txBody>
            <a:bodyPr wrap="square" lIns="0" tIns="0" rIns="0" bIns="0" rtlCol="0"/>
            <a:lstStyle/>
            <a:p>
              <a:endParaRPr/>
            </a:p>
          </p:txBody>
        </p:sp>
        <p:sp>
          <p:nvSpPr>
            <p:cNvPr id="245" name="object 245"/>
            <p:cNvSpPr/>
            <p:nvPr/>
          </p:nvSpPr>
          <p:spPr>
            <a:xfrm>
              <a:off x="270255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4444A0"/>
            </a:solidFill>
          </p:spPr>
          <p:txBody>
            <a:bodyPr wrap="square" lIns="0" tIns="0" rIns="0" bIns="0" rtlCol="0"/>
            <a:lstStyle/>
            <a:p>
              <a:endParaRPr/>
            </a:p>
          </p:txBody>
        </p:sp>
        <p:sp>
          <p:nvSpPr>
            <p:cNvPr id="246" name="object 246"/>
            <p:cNvSpPr/>
            <p:nvPr/>
          </p:nvSpPr>
          <p:spPr>
            <a:xfrm>
              <a:off x="26682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3439F"/>
            </a:solidFill>
          </p:spPr>
          <p:txBody>
            <a:bodyPr wrap="square" lIns="0" tIns="0" rIns="0" bIns="0" rtlCol="0"/>
            <a:lstStyle/>
            <a:p>
              <a:endParaRPr/>
            </a:p>
          </p:txBody>
        </p:sp>
        <p:sp>
          <p:nvSpPr>
            <p:cNvPr id="247" name="object 247"/>
            <p:cNvSpPr/>
            <p:nvPr/>
          </p:nvSpPr>
          <p:spPr>
            <a:xfrm>
              <a:off x="26339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2429F"/>
            </a:solidFill>
          </p:spPr>
          <p:txBody>
            <a:bodyPr wrap="square" lIns="0" tIns="0" rIns="0" bIns="0" rtlCol="0"/>
            <a:lstStyle/>
            <a:p>
              <a:endParaRPr/>
            </a:p>
          </p:txBody>
        </p:sp>
        <p:sp>
          <p:nvSpPr>
            <p:cNvPr id="248" name="object 248"/>
            <p:cNvSpPr/>
            <p:nvPr/>
          </p:nvSpPr>
          <p:spPr>
            <a:xfrm>
              <a:off x="259969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1419E"/>
            </a:solidFill>
          </p:spPr>
          <p:txBody>
            <a:bodyPr wrap="square" lIns="0" tIns="0" rIns="0" bIns="0" rtlCol="0"/>
            <a:lstStyle/>
            <a:p>
              <a:endParaRPr/>
            </a:p>
          </p:txBody>
        </p:sp>
        <p:sp>
          <p:nvSpPr>
            <p:cNvPr id="249" name="object 249"/>
            <p:cNvSpPr/>
            <p:nvPr/>
          </p:nvSpPr>
          <p:spPr>
            <a:xfrm>
              <a:off x="25654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40409E"/>
            </a:solidFill>
          </p:spPr>
          <p:txBody>
            <a:bodyPr wrap="square" lIns="0" tIns="0" rIns="0" bIns="0" rtlCol="0"/>
            <a:lstStyle/>
            <a:p>
              <a:endParaRPr/>
            </a:p>
          </p:txBody>
        </p:sp>
        <p:sp>
          <p:nvSpPr>
            <p:cNvPr id="250" name="object 250"/>
            <p:cNvSpPr/>
            <p:nvPr/>
          </p:nvSpPr>
          <p:spPr>
            <a:xfrm>
              <a:off x="25311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F3F9D"/>
            </a:solidFill>
          </p:spPr>
          <p:txBody>
            <a:bodyPr wrap="square" lIns="0" tIns="0" rIns="0" bIns="0" rtlCol="0"/>
            <a:lstStyle/>
            <a:p>
              <a:endParaRPr/>
            </a:p>
          </p:txBody>
        </p:sp>
        <p:sp>
          <p:nvSpPr>
            <p:cNvPr id="251" name="object 251"/>
            <p:cNvSpPr/>
            <p:nvPr/>
          </p:nvSpPr>
          <p:spPr>
            <a:xfrm>
              <a:off x="24968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E3E9C"/>
            </a:solidFill>
          </p:spPr>
          <p:txBody>
            <a:bodyPr wrap="square" lIns="0" tIns="0" rIns="0" bIns="0" rtlCol="0"/>
            <a:lstStyle/>
            <a:p>
              <a:endParaRPr/>
            </a:p>
          </p:txBody>
        </p:sp>
        <p:sp>
          <p:nvSpPr>
            <p:cNvPr id="252" name="object 252"/>
            <p:cNvSpPr/>
            <p:nvPr/>
          </p:nvSpPr>
          <p:spPr>
            <a:xfrm>
              <a:off x="24625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D3D9C"/>
            </a:solidFill>
          </p:spPr>
          <p:txBody>
            <a:bodyPr wrap="square" lIns="0" tIns="0" rIns="0" bIns="0" rtlCol="0"/>
            <a:lstStyle/>
            <a:p>
              <a:endParaRPr/>
            </a:p>
          </p:txBody>
        </p:sp>
        <p:sp>
          <p:nvSpPr>
            <p:cNvPr id="253" name="object 253"/>
            <p:cNvSpPr/>
            <p:nvPr/>
          </p:nvSpPr>
          <p:spPr>
            <a:xfrm>
              <a:off x="24282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C3C9B"/>
            </a:solidFill>
          </p:spPr>
          <p:txBody>
            <a:bodyPr wrap="square" lIns="0" tIns="0" rIns="0" bIns="0" rtlCol="0"/>
            <a:lstStyle/>
            <a:p>
              <a:endParaRPr/>
            </a:p>
          </p:txBody>
        </p:sp>
        <p:sp>
          <p:nvSpPr>
            <p:cNvPr id="254" name="object 254"/>
            <p:cNvSpPr/>
            <p:nvPr/>
          </p:nvSpPr>
          <p:spPr>
            <a:xfrm>
              <a:off x="239395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B3B9B"/>
            </a:solidFill>
          </p:spPr>
          <p:txBody>
            <a:bodyPr wrap="square" lIns="0" tIns="0" rIns="0" bIns="0" rtlCol="0"/>
            <a:lstStyle/>
            <a:p>
              <a:endParaRPr/>
            </a:p>
          </p:txBody>
        </p:sp>
        <p:sp>
          <p:nvSpPr>
            <p:cNvPr id="255" name="object 255"/>
            <p:cNvSpPr/>
            <p:nvPr/>
          </p:nvSpPr>
          <p:spPr>
            <a:xfrm>
              <a:off x="235965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A3A9A"/>
            </a:solidFill>
          </p:spPr>
          <p:txBody>
            <a:bodyPr wrap="square" lIns="0" tIns="0" rIns="0" bIns="0" rtlCol="0"/>
            <a:lstStyle/>
            <a:p>
              <a:endParaRPr/>
            </a:p>
          </p:txBody>
        </p:sp>
        <p:sp>
          <p:nvSpPr>
            <p:cNvPr id="256" name="object 256"/>
            <p:cNvSpPr/>
            <p:nvPr/>
          </p:nvSpPr>
          <p:spPr>
            <a:xfrm>
              <a:off x="23253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9399A"/>
            </a:solidFill>
          </p:spPr>
          <p:txBody>
            <a:bodyPr wrap="square" lIns="0" tIns="0" rIns="0" bIns="0" rtlCol="0"/>
            <a:lstStyle/>
            <a:p>
              <a:endParaRPr/>
            </a:p>
          </p:txBody>
        </p:sp>
        <p:sp>
          <p:nvSpPr>
            <p:cNvPr id="257" name="object 257"/>
            <p:cNvSpPr/>
            <p:nvPr/>
          </p:nvSpPr>
          <p:spPr>
            <a:xfrm>
              <a:off x="22923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83899"/>
            </a:solidFill>
          </p:spPr>
          <p:txBody>
            <a:bodyPr wrap="square" lIns="0" tIns="0" rIns="0" bIns="0" rtlCol="0"/>
            <a:lstStyle/>
            <a:p>
              <a:endParaRPr/>
            </a:p>
          </p:txBody>
        </p:sp>
        <p:sp>
          <p:nvSpPr>
            <p:cNvPr id="258" name="object 258"/>
            <p:cNvSpPr/>
            <p:nvPr/>
          </p:nvSpPr>
          <p:spPr>
            <a:xfrm>
              <a:off x="225679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73799"/>
            </a:solidFill>
          </p:spPr>
          <p:txBody>
            <a:bodyPr wrap="square" lIns="0" tIns="0" rIns="0" bIns="0" rtlCol="0"/>
            <a:lstStyle/>
            <a:p>
              <a:endParaRPr/>
            </a:p>
          </p:txBody>
        </p:sp>
        <p:sp>
          <p:nvSpPr>
            <p:cNvPr id="259" name="object 259"/>
            <p:cNvSpPr/>
            <p:nvPr/>
          </p:nvSpPr>
          <p:spPr>
            <a:xfrm>
              <a:off x="22225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63699"/>
            </a:solidFill>
          </p:spPr>
          <p:txBody>
            <a:bodyPr wrap="square" lIns="0" tIns="0" rIns="0" bIns="0" rtlCol="0"/>
            <a:lstStyle/>
            <a:p>
              <a:endParaRPr/>
            </a:p>
          </p:txBody>
        </p:sp>
        <p:sp>
          <p:nvSpPr>
            <p:cNvPr id="260" name="object 260"/>
            <p:cNvSpPr/>
            <p:nvPr/>
          </p:nvSpPr>
          <p:spPr>
            <a:xfrm>
              <a:off x="218820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353599"/>
            </a:solidFill>
          </p:spPr>
          <p:txBody>
            <a:bodyPr wrap="square" lIns="0" tIns="0" rIns="0" bIns="0" rtlCol="0"/>
            <a:lstStyle/>
            <a:p>
              <a:endParaRPr/>
            </a:p>
          </p:txBody>
        </p:sp>
        <p:sp>
          <p:nvSpPr>
            <p:cNvPr id="261" name="object 261"/>
            <p:cNvSpPr/>
            <p:nvPr/>
          </p:nvSpPr>
          <p:spPr>
            <a:xfrm>
              <a:off x="215519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43497"/>
            </a:solidFill>
          </p:spPr>
          <p:txBody>
            <a:bodyPr wrap="square" lIns="0" tIns="0" rIns="0" bIns="0" rtlCol="0"/>
            <a:lstStyle/>
            <a:p>
              <a:endParaRPr/>
            </a:p>
          </p:txBody>
        </p:sp>
        <p:sp>
          <p:nvSpPr>
            <p:cNvPr id="262" name="object 262"/>
            <p:cNvSpPr/>
            <p:nvPr/>
          </p:nvSpPr>
          <p:spPr>
            <a:xfrm>
              <a:off x="212090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33397"/>
            </a:solidFill>
          </p:spPr>
          <p:txBody>
            <a:bodyPr wrap="square" lIns="0" tIns="0" rIns="0" bIns="0" rtlCol="0"/>
            <a:lstStyle/>
            <a:p>
              <a:endParaRPr/>
            </a:p>
          </p:txBody>
        </p:sp>
        <p:sp>
          <p:nvSpPr>
            <p:cNvPr id="263" name="object 263"/>
            <p:cNvSpPr/>
            <p:nvPr/>
          </p:nvSpPr>
          <p:spPr>
            <a:xfrm>
              <a:off x="208660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333396"/>
            </a:solidFill>
          </p:spPr>
          <p:txBody>
            <a:bodyPr wrap="square" lIns="0" tIns="0" rIns="0" bIns="0" rtlCol="0"/>
            <a:lstStyle/>
            <a:p>
              <a:endParaRPr/>
            </a:p>
          </p:txBody>
        </p:sp>
        <p:sp>
          <p:nvSpPr>
            <p:cNvPr id="264" name="object 264"/>
            <p:cNvSpPr/>
            <p:nvPr/>
          </p:nvSpPr>
          <p:spPr>
            <a:xfrm>
              <a:off x="20523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13196"/>
            </a:solidFill>
          </p:spPr>
          <p:txBody>
            <a:bodyPr wrap="square" lIns="0" tIns="0" rIns="0" bIns="0" rtlCol="0"/>
            <a:lstStyle/>
            <a:p>
              <a:endParaRPr/>
            </a:p>
          </p:txBody>
        </p:sp>
        <p:sp>
          <p:nvSpPr>
            <p:cNvPr id="265" name="object 265"/>
            <p:cNvSpPr/>
            <p:nvPr/>
          </p:nvSpPr>
          <p:spPr>
            <a:xfrm>
              <a:off x="201802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303095"/>
            </a:solidFill>
          </p:spPr>
          <p:txBody>
            <a:bodyPr wrap="square" lIns="0" tIns="0" rIns="0" bIns="0" rtlCol="0"/>
            <a:lstStyle/>
            <a:p>
              <a:endParaRPr/>
            </a:p>
          </p:txBody>
        </p:sp>
        <p:sp>
          <p:nvSpPr>
            <p:cNvPr id="266" name="object 266"/>
            <p:cNvSpPr/>
            <p:nvPr/>
          </p:nvSpPr>
          <p:spPr>
            <a:xfrm>
              <a:off x="198374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F2F95"/>
            </a:solidFill>
          </p:spPr>
          <p:txBody>
            <a:bodyPr wrap="square" lIns="0" tIns="0" rIns="0" bIns="0" rtlCol="0"/>
            <a:lstStyle/>
            <a:p>
              <a:endParaRPr/>
            </a:p>
          </p:txBody>
        </p:sp>
        <p:sp>
          <p:nvSpPr>
            <p:cNvPr id="267" name="object 267"/>
            <p:cNvSpPr/>
            <p:nvPr/>
          </p:nvSpPr>
          <p:spPr>
            <a:xfrm>
              <a:off x="194945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E2E94"/>
            </a:solidFill>
          </p:spPr>
          <p:txBody>
            <a:bodyPr wrap="square" lIns="0" tIns="0" rIns="0" bIns="0" rtlCol="0"/>
            <a:lstStyle/>
            <a:p>
              <a:endParaRPr/>
            </a:p>
          </p:txBody>
        </p:sp>
        <p:sp>
          <p:nvSpPr>
            <p:cNvPr id="268" name="object 268"/>
            <p:cNvSpPr/>
            <p:nvPr/>
          </p:nvSpPr>
          <p:spPr>
            <a:xfrm>
              <a:off x="191515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2D2D94"/>
            </a:solidFill>
          </p:spPr>
          <p:txBody>
            <a:bodyPr wrap="square" lIns="0" tIns="0" rIns="0" bIns="0" rtlCol="0"/>
            <a:lstStyle/>
            <a:p>
              <a:endParaRPr/>
            </a:p>
          </p:txBody>
        </p:sp>
        <p:sp>
          <p:nvSpPr>
            <p:cNvPr id="269" name="object 269"/>
            <p:cNvSpPr/>
            <p:nvPr/>
          </p:nvSpPr>
          <p:spPr>
            <a:xfrm>
              <a:off x="188086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C2C93"/>
            </a:solidFill>
          </p:spPr>
          <p:txBody>
            <a:bodyPr wrap="square" lIns="0" tIns="0" rIns="0" bIns="0" rtlCol="0"/>
            <a:lstStyle/>
            <a:p>
              <a:endParaRPr/>
            </a:p>
          </p:txBody>
        </p:sp>
        <p:sp>
          <p:nvSpPr>
            <p:cNvPr id="270" name="object 270"/>
            <p:cNvSpPr/>
            <p:nvPr/>
          </p:nvSpPr>
          <p:spPr>
            <a:xfrm>
              <a:off x="184657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B2B93"/>
            </a:solidFill>
          </p:spPr>
          <p:txBody>
            <a:bodyPr wrap="square" lIns="0" tIns="0" rIns="0" bIns="0" rtlCol="0"/>
            <a:lstStyle/>
            <a:p>
              <a:endParaRPr/>
            </a:p>
          </p:txBody>
        </p:sp>
        <p:sp>
          <p:nvSpPr>
            <p:cNvPr id="271" name="object 271"/>
            <p:cNvSpPr/>
            <p:nvPr/>
          </p:nvSpPr>
          <p:spPr>
            <a:xfrm>
              <a:off x="181229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A2A92"/>
            </a:solidFill>
          </p:spPr>
          <p:txBody>
            <a:bodyPr wrap="square" lIns="0" tIns="0" rIns="0" bIns="0" rtlCol="0"/>
            <a:lstStyle/>
            <a:p>
              <a:endParaRPr/>
            </a:p>
          </p:txBody>
        </p:sp>
        <p:sp>
          <p:nvSpPr>
            <p:cNvPr id="272" name="object 272"/>
            <p:cNvSpPr/>
            <p:nvPr/>
          </p:nvSpPr>
          <p:spPr>
            <a:xfrm>
              <a:off x="177800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92992"/>
            </a:solidFill>
          </p:spPr>
          <p:txBody>
            <a:bodyPr wrap="square" lIns="0" tIns="0" rIns="0" bIns="0" rtlCol="0"/>
            <a:lstStyle/>
            <a:p>
              <a:endParaRPr/>
            </a:p>
          </p:txBody>
        </p:sp>
        <p:sp>
          <p:nvSpPr>
            <p:cNvPr id="273" name="object 273"/>
            <p:cNvSpPr/>
            <p:nvPr/>
          </p:nvSpPr>
          <p:spPr>
            <a:xfrm>
              <a:off x="17437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82891"/>
            </a:solidFill>
          </p:spPr>
          <p:txBody>
            <a:bodyPr wrap="square" lIns="0" tIns="0" rIns="0" bIns="0" rtlCol="0"/>
            <a:lstStyle/>
            <a:p>
              <a:endParaRPr/>
            </a:p>
          </p:txBody>
        </p:sp>
        <p:sp>
          <p:nvSpPr>
            <p:cNvPr id="274" name="object 274"/>
            <p:cNvSpPr/>
            <p:nvPr/>
          </p:nvSpPr>
          <p:spPr>
            <a:xfrm>
              <a:off x="17094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72791"/>
            </a:solidFill>
          </p:spPr>
          <p:txBody>
            <a:bodyPr wrap="square" lIns="0" tIns="0" rIns="0" bIns="0" rtlCol="0"/>
            <a:lstStyle/>
            <a:p>
              <a:endParaRPr/>
            </a:p>
          </p:txBody>
        </p:sp>
        <p:sp>
          <p:nvSpPr>
            <p:cNvPr id="275" name="object 275"/>
            <p:cNvSpPr/>
            <p:nvPr/>
          </p:nvSpPr>
          <p:spPr>
            <a:xfrm>
              <a:off x="167512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262690"/>
            </a:solidFill>
          </p:spPr>
          <p:txBody>
            <a:bodyPr wrap="square" lIns="0" tIns="0" rIns="0" bIns="0" rtlCol="0"/>
            <a:lstStyle/>
            <a:p>
              <a:endParaRPr/>
            </a:p>
          </p:txBody>
        </p:sp>
        <p:sp>
          <p:nvSpPr>
            <p:cNvPr id="276" name="object 276"/>
            <p:cNvSpPr/>
            <p:nvPr/>
          </p:nvSpPr>
          <p:spPr>
            <a:xfrm>
              <a:off x="16408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52590"/>
            </a:solidFill>
          </p:spPr>
          <p:txBody>
            <a:bodyPr wrap="square" lIns="0" tIns="0" rIns="0" bIns="0" rtlCol="0"/>
            <a:lstStyle/>
            <a:p>
              <a:endParaRPr/>
            </a:p>
          </p:txBody>
        </p:sp>
        <p:sp>
          <p:nvSpPr>
            <p:cNvPr id="277" name="object 277"/>
            <p:cNvSpPr/>
            <p:nvPr/>
          </p:nvSpPr>
          <p:spPr>
            <a:xfrm>
              <a:off x="160654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4248F"/>
            </a:solidFill>
          </p:spPr>
          <p:txBody>
            <a:bodyPr wrap="square" lIns="0" tIns="0" rIns="0" bIns="0" rtlCol="0"/>
            <a:lstStyle/>
            <a:p>
              <a:endParaRPr/>
            </a:p>
          </p:txBody>
        </p:sp>
        <p:sp>
          <p:nvSpPr>
            <p:cNvPr id="278" name="object 278"/>
            <p:cNvSpPr/>
            <p:nvPr/>
          </p:nvSpPr>
          <p:spPr>
            <a:xfrm>
              <a:off x="157226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3238F"/>
            </a:solidFill>
          </p:spPr>
          <p:txBody>
            <a:bodyPr wrap="square" lIns="0" tIns="0" rIns="0" bIns="0" rtlCol="0"/>
            <a:lstStyle/>
            <a:p>
              <a:endParaRPr/>
            </a:p>
          </p:txBody>
        </p:sp>
        <p:sp>
          <p:nvSpPr>
            <p:cNvPr id="279" name="object 279"/>
            <p:cNvSpPr/>
            <p:nvPr/>
          </p:nvSpPr>
          <p:spPr>
            <a:xfrm>
              <a:off x="15379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2228E"/>
            </a:solidFill>
          </p:spPr>
          <p:txBody>
            <a:bodyPr wrap="square" lIns="0" tIns="0" rIns="0" bIns="0" rtlCol="0"/>
            <a:lstStyle/>
            <a:p>
              <a:endParaRPr/>
            </a:p>
          </p:txBody>
        </p:sp>
        <p:sp>
          <p:nvSpPr>
            <p:cNvPr id="280" name="object 280"/>
            <p:cNvSpPr/>
            <p:nvPr/>
          </p:nvSpPr>
          <p:spPr>
            <a:xfrm>
              <a:off x="15036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1218E"/>
            </a:solidFill>
          </p:spPr>
          <p:txBody>
            <a:bodyPr wrap="square" lIns="0" tIns="0" rIns="0" bIns="0" rtlCol="0"/>
            <a:lstStyle/>
            <a:p>
              <a:endParaRPr/>
            </a:p>
          </p:txBody>
        </p:sp>
        <p:sp>
          <p:nvSpPr>
            <p:cNvPr id="281" name="object 281"/>
            <p:cNvSpPr/>
            <p:nvPr/>
          </p:nvSpPr>
          <p:spPr>
            <a:xfrm>
              <a:off x="146939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20208D"/>
            </a:solidFill>
          </p:spPr>
          <p:txBody>
            <a:bodyPr wrap="square" lIns="0" tIns="0" rIns="0" bIns="0" rtlCol="0"/>
            <a:lstStyle/>
            <a:p>
              <a:endParaRPr/>
            </a:p>
          </p:txBody>
        </p:sp>
        <p:sp>
          <p:nvSpPr>
            <p:cNvPr id="282" name="object 282"/>
            <p:cNvSpPr/>
            <p:nvPr/>
          </p:nvSpPr>
          <p:spPr>
            <a:xfrm>
              <a:off x="143509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F1F8D"/>
            </a:solidFill>
          </p:spPr>
          <p:txBody>
            <a:bodyPr wrap="square" lIns="0" tIns="0" rIns="0" bIns="0" rtlCol="0"/>
            <a:lstStyle/>
            <a:p>
              <a:endParaRPr/>
            </a:p>
          </p:txBody>
        </p:sp>
        <p:sp>
          <p:nvSpPr>
            <p:cNvPr id="283" name="object 283"/>
            <p:cNvSpPr/>
            <p:nvPr/>
          </p:nvSpPr>
          <p:spPr>
            <a:xfrm>
              <a:off x="140081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E1E8C"/>
            </a:solidFill>
          </p:spPr>
          <p:txBody>
            <a:bodyPr wrap="square" lIns="0" tIns="0" rIns="0" bIns="0" rtlCol="0"/>
            <a:lstStyle/>
            <a:p>
              <a:endParaRPr/>
            </a:p>
          </p:txBody>
        </p:sp>
        <p:sp>
          <p:nvSpPr>
            <p:cNvPr id="284" name="object 284"/>
            <p:cNvSpPr/>
            <p:nvPr/>
          </p:nvSpPr>
          <p:spPr>
            <a:xfrm>
              <a:off x="136651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D1D8C"/>
            </a:solidFill>
          </p:spPr>
          <p:txBody>
            <a:bodyPr wrap="square" lIns="0" tIns="0" rIns="0" bIns="0" rtlCol="0"/>
            <a:lstStyle/>
            <a:p>
              <a:endParaRPr/>
            </a:p>
          </p:txBody>
        </p:sp>
        <p:sp>
          <p:nvSpPr>
            <p:cNvPr id="285" name="object 285"/>
            <p:cNvSpPr/>
            <p:nvPr/>
          </p:nvSpPr>
          <p:spPr>
            <a:xfrm>
              <a:off x="133222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C1C8B"/>
            </a:solidFill>
          </p:spPr>
          <p:txBody>
            <a:bodyPr wrap="square" lIns="0" tIns="0" rIns="0" bIns="0" rtlCol="0"/>
            <a:lstStyle/>
            <a:p>
              <a:endParaRPr/>
            </a:p>
          </p:txBody>
        </p:sp>
        <p:sp>
          <p:nvSpPr>
            <p:cNvPr id="286" name="object 286"/>
            <p:cNvSpPr/>
            <p:nvPr/>
          </p:nvSpPr>
          <p:spPr>
            <a:xfrm>
              <a:off x="129794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B1B8B"/>
            </a:solidFill>
          </p:spPr>
          <p:txBody>
            <a:bodyPr wrap="square" lIns="0" tIns="0" rIns="0" bIns="0" rtlCol="0"/>
            <a:lstStyle/>
            <a:p>
              <a:endParaRPr/>
            </a:p>
          </p:txBody>
        </p:sp>
        <p:sp>
          <p:nvSpPr>
            <p:cNvPr id="287" name="object 287"/>
            <p:cNvSpPr/>
            <p:nvPr/>
          </p:nvSpPr>
          <p:spPr>
            <a:xfrm>
              <a:off x="126491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A1A8A"/>
            </a:solidFill>
          </p:spPr>
          <p:txBody>
            <a:bodyPr wrap="square" lIns="0" tIns="0" rIns="0" bIns="0" rtlCol="0"/>
            <a:lstStyle/>
            <a:p>
              <a:endParaRPr/>
            </a:p>
          </p:txBody>
        </p:sp>
        <p:sp>
          <p:nvSpPr>
            <p:cNvPr id="288" name="object 288"/>
            <p:cNvSpPr/>
            <p:nvPr/>
          </p:nvSpPr>
          <p:spPr>
            <a:xfrm>
              <a:off x="123062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19198A"/>
            </a:solidFill>
          </p:spPr>
          <p:txBody>
            <a:bodyPr wrap="square" lIns="0" tIns="0" rIns="0" bIns="0" rtlCol="0"/>
            <a:lstStyle/>
            <a:p>
              <a:endParaRPr/>
            </a:p>
          </p:txBody>
        </p:sp>
        <p:sp>
          <p:nvSpPr>
            <p:cNvPr id="289" name="object 289"/>
            <p:cNvSpPr/>
            <p:nvPr/>
          </p:nvSpPr>
          <p:spPr>
            <a:xfrm>
              <a:off x="119506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81889"/>
            </a:solidFill>
          </p:spPr>
          <p:txBody>
            <a:bodyPr wrap="square" lIns="0" tIns="0" rIns="0" bIns="0" rtlCol="0"/>
            <a:lstStyle/>
            <a:p>
              <a:endParaRPr/>
            </a:p>
          </p:txBody>
        </p:sp>
        <p:sp>
          <p:nvSpPr>
            <p:cNvPr id="290" name="object 290"/>
            <p:cNvSpPr/>
            <p:nvPr/>
          </p:nvSpPr>
          <p:spPr>
            <a:xfrm>
              <a:off x="11607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171789"/>
            </a:solidFill>
          </p:spPr>
          <p:txBody>
            <a:bodyPr wrap="square" lIns="0" tIns="0" rIns="0" bIns="0" rtlCol="0"/>
            <a:lstStyle/>
            <a:p>
              <a:endParaRPr/>
            </a:p>
          </p:txBody>
        </p:sp>
        <p:sp>
          <p:nvSpPr>
            <p:cNvPr id="291" name="object 291"/>
            <p:cNvSpPr/>
            <p:nvPr/>
          </p:nvSpPr>
          <p:spPr>
            <a:xfrm>
              <a:off x="112776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61688"/>
            </a:solidFill>
          </p:spPr>
          <p:txBody>
            <a:bodyPr wrap="square" lIns="0" tIns="0" rIns="0" bIns="0" rtlCol="0"/>
            <a:lstStyle/>
            <a:p>
              <a:endParaRPr/>
            </a:p>
          </p:txBody>
        </p:sp>
        <p:sp>
          <p:nvSpPr>
            <p:cNvPr id="292" name="object 292"/>
            <p:cNvSpPr/>
            <p:nvPr/>
          </p:nvSpPr>
          <p:spPr>
            <a:xfrm>
              <a:off x="109346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51588"/>
            </a:solidFill>
          </p:spPr>
          <p:txBody>
            <a:bodyPr wrap="square" lIns="0" tIns="0" rIns="0" bIns="0" rtlCol="0"/>
            <a:lstStyle/>
            <a:p>
              <a:endParaRPr/>
            </a:p>
          </p:txBody>
        </p:sp>
        <p:sp>
          <p:nvSpPr>
            <p:cNvPr id="293" name="object 293"/>
            <p:cNvSpPr/>
            <p:nvPr/>
          </p:nvSpPr>
          <p:spPr>
            <a:xfrm>
              <a:off x="105917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141487"/>
            </a:solidFill>
          </p:spPr>
          <p:txBody>
            <a:bodyPr wrap="square" lIns="0" tIns="0" rIns="0" bIns="0" rtlCol="0"/>
            <a:lstStyle/>
            <a:p>
              <a:endParaRPr/>
            </a:p>
          </p:txBody>
        </p:sp>
        <p:sp>
          <p:nvSpPr>
            <p:cNvPr id="294" name="object 294"/>
            <p:cNvSpPr/>
            <p:nvPr/>
          </p:nvSpPr>
          <p:spPr>
            <a:xfrm>
              <a:off x="1024890"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131387"/>
            </a:solidFill>
          </p:spPr>
          <p:txBody>
            <a:bodyPr wrap="square" lIns="0" tIns="0" rIns="0" bIns="0" rtlCol="0"/>
            <a:lstStyle/>
            <a:p>
              <a:endParaRPr/>
            </a:p>
          </p:txBody>
        </p:sp>
        <p:sp>
          <p:nvSpPr>
            <p:cNvPr id="295" name="object 295"/>
            <p:cNvSpPr/>
            <p:nvPr/>
          </p:nvSpPr>
          <p:spPr>
            <a:xfrm>
              <a:off x="99059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21286"/>
            </a:solidFill>
          </p:spPr>
          <p:txBody>
            <a:bodyPr wrap="square" lIns="0" tIns="0" rIns="0" bIns="0" rtlCol="0"/>
            <a:lstStyle/>
            <a:p>
              <a:endParaRPr/>
            </a:p>
          </p:txBody>
        </p:sp>
        <p:sp>
          <p:nvSpPr>
            <p:cNvPr id="296" name="object 296"/>
            <p:cNvSpPr/>
            <p:nvPr/>
          </p:nvSpPr>
          <p:spPr>
            <a:xfrm>
              <a:off x="95631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11186"/>
            </a:solidFill>
          </p:spPr>
          <p:txBody>
            <a:bodyPr wrap="square" lIns="0" tIns="0" rIns="0" bIns="0" rtlCol="0"/>
            <a:lstStyle/>
            <a:p>
              <a:endParaRPr/>
            </a:p>
          </p:txBody>
        </p:sp>
        <p:sp>
          <p:nvSpPr>
            <p:cNvPr id="297" name="object 297"/>
            <p:cNvSpPr/>
            <p:nvPr/>
          </p:nvSpPr>
          <p:spPr>
            <a:xfrm>
              <a:off x="92202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101085"/>
            </a:solidFill>
          </p:spPr>
          <p:txBody>
            <a:bodyPr wrap="square" lIns="0" tIns="0" rIns="0" bIns="0" rtlCol="0"/>
            <a:lstStyle/>
            <a:p>
              <a:endParaRPr/>
            </a:p>
          </p:txBody>
        </p:sp>
        <p:sp>
          <p:nvSpPr>
            <p:cNvPr id="298" name="object 298"/>
            <p:cNvSpPr/>
            <p:nvPr/>
          </p:nvSpPr>
          <p:spPr>
            <a:xfrm>
              <a:off x="88772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0F0F85"/>
            </a:solidFill>
          </p:spPr>
          <p:txBody>
            <a:bodyPr wrap="square" lIns="0" tIns="0" rIns="0" bIns="0" rtlCol="0"/>
            <a:lstStyle/>
            <a:p>
              <a:endParaRPr/>
            </a:p>
          </p:txBody>
        </p:sp>
        <p:sp>
          <p:nvSpPr>
            <p:cNvPr id="299" name="object 299"/>
            <p:cNvSpPr/>
            <p:nvPr/>
          </p:nvSpPr>
          <p:spPr>
            <a:xfrm>
              <a:off x="853439" y="133350"/>
              <a:ext cx="36830" cy="276860"/>
            </a:xfrm>
            <a:custGeom>
              <a:avLst/>
              <a:gdLst/>
              <a:ahLst/>
              <a:cxnLst/>
              <a:rect l="l" t="t" r="r" b="b"/>
              <a:pathLst>
                <a:path w="36830" h="276859">
                  <a:moveTo>
                    <a:pt x="36829" y="0"/>
                  </a:moveTo>
                  <a:lnTo>
                    <a:pt x="0" y="0"/>
                  </a:lnTo>
                  <a:lnTo>
                    <a:pt x="0" y="276860"/>
                  </a:lnTo>
                  <a:lnTo>
                    <a:pt x="36829" y="276860"/>
                  </a:lnTo>
                  <a:lnTo>
                    <a:pt x="36829" y="0"/>
                  </a:lnTo>
                  <a:close/>
                </a:path>
              </a:pathLst>
            </a:custGeom>
            <a:solidFill>
              <a:srgbClr val="0E0E84"/>
            </a:solidFill>
          </p:spPr>
          <p:txBody>
            <a:bodyPr wrap="square" lIns="0" tIns="0" rIns="0" bIns="0" rtlCol="0"/>
            <a:lstStyle/>
            <a:p>
              <a:endParaRPr/>
            </a:p>
          </p:txBody>
        </p:sp>
        <p:sp>
          <p:nvSpPr>
            <p:cNvPr id="300" name="object 300"/>
            <p:cNvSpPr/>
            <p:nvPr/>
          </p:nvSpPr>
          <p:spPr>
            <a:xfrm>
              <a:off x="819149"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0D0D84"/>
            </a:solidFill>
          </p:spPr>
          <p:txBody>
            <a:bodyPr wrap="square" lIns="0" tIns="0" rIns="0" bIns="0" rtlCol="0"/>
            <a:lstStyle/>
            <a:p>
              <a:endParaRPr/>
            </a:p>
          </p:txBody>
        </p:sp>
        <p:sp>
          <p:nvSpPr>
            <p:cNvPr id="301" name="object 301"/>
            <p:cNvSpPr/>
            <p:nvPr/>
          </p:nvSpPr>
          <p:spPr>
            <a:xfrm>
              <a:off x="784860" y="133350"/>
              <a:ext cx="36830" cy="276860"/>
            </a:xfrm>
            <a:custGeom>
              <a:avLst/>
              <a:gdLst/>
              <a:ahLst/>
              <a:cxnLst/>
              <a:rect l="l" t="t" r="r" b="b"/>
              <a:pathLst>
                <a:path w="36830" h="276859">
                  <a:moveTo>
                    <a:pt x="36830" y="0"/>
                  </a:moveTo>
                  <a:lnTo>
                    <a:pt x="0" y="0"/>
                  </a:lnTo>
                  <a:lnTo>
                    <a:pt x="0" y="276860"/>
                  </a:lnTo>
                  <a:lnTo>
                    <a:pt x="36830" y="276860"/>
                  </a:lnTo>
                  <a:lnTo>
                    <a:pt x="36830" y="0"/>
                  </a:lnTo>
                  <a:close/>
                </a:path>
              </a:pathLst>
            </a:custGeom>
            <a:solidFill>
              <a:srgbClr val="0C0C83"/>
            </a:solidFill>
          </p:spPr>
          <p:txBody>
            <a:bodyPr wrap="square" lIns="0" tIns="0" rIns="0" bIns="0" rtlCol="0"/>
            <a:lstStyle/>
            <a:p>
              <a:endParaRPr/>
            </a:p>
          </p:txBody>
        </p:sp>
        <p:sp>
          <p:nvSpPr>
            <p:cNvPr id="302" name="object 302"/>
            <p:cNvSpPr/>
            <p:nvPr/>
          </p:nvSpPr>
          <p:spPr>
            <a:xfrm>
              <a:off x="750570"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0B0B83"/>
            </a:solidFill>
          </p:spPr>
          <p:txBody>
            <a:bodyPr wrap="square" lIns="0" tIns="0" rIns="0" bIns="0" rtlCol="0"/>
            <a:lstStyle/>
            <a:p>
              <a:endParaRPr/>
            </a:p>
          </p:txBody>
        </p:sp>
        <p:sp>
          <p:nvSpPr>
            <p:cNvPr id="303" name="object 303"/>
            <p:cNvSpPr/>
            <p:nvPr/>
          </p:nvSpPr>
          <p:spPr>
            <a:xfrm>
              <a:off x="716279" y="133350"/>
              <a:ext cx="38100" cy="276860"/>
            </a:xfrm>
            <a:custGeom>
              <a:avLst/>
              <a:gdLst/>
              <a:ahLst/>
              <a:cxnLst/>
              <a:rect l="l" t="t" r="r" b="b"/>
              <a:pathLst>
                <a:path w="38100" h="276859">
                  <a:moveTo>
                    <a:pt x="38100" y="0"/>
                  </a:moveTo>
                  <a:lnTo>
                    <a:pt x="0" y="0"/>
                  </a:lnTo>
                  <a:lnTo>
                    <a:pt x="0" y="276860"/>
                  </a:lnTo>
                  <a:lnTo>
                    <a:pt x="38100" y="276860"/>
                  </a:lnTo>
                  <a:lnTo>
                    <a:pt x="38100" y="0"/>
                  </a:lnTo>
                  <a:close/>
                </a:path>
              </a:pathLst>
            </a:custGeom>
            <a:solidFill>
              <a:srgbClr val="0A0A82"/>
            </a:solidFill>
          </p:spPr>
          <p:txBody>
            <a:bodyPr wrap="square" lIns="0" tIns="0" rIns="0" bIns="0" rtlCol="0"/>
            <a:lstStyle/>
            <a:p>
              <a:endParaRPr/>
            </a:p>
          </p:txBody>
        </p:sp>
        <p:sp>
          <p:nvSpPr>
            <p:cNvPr id="304" name="object 304"/>
            <p:cNvSpPr/>
            <p:nvPr/>
          </p:nvSpPr>
          <p:spPr>
            <a:xfrm>
              <a:off x="681990" y="133349"/>
              <a:ext cx="38100" cy="276860"/>
            </a:xfrm>
            <a:custGeom>
              <a:avLst/>
              <a:gdLst/>
              <a:ahLst/>
              <a:cxnLst/>
              <a:rect l="l" t="t" r="r" b="b"/>
              <a:pathLst>
                <a:path w="38100" h="276859">
                  <a:moveTo>
                    <a:pt x="38100" y="0"/>
                  </a:moveTo>
                  <a:lnTo>
                    <a:pt x="0" y="0"/>
                  </a:lnTo>
                  <a:lnTo>
                    <a:pt x="0" y="1270"/>
                  </a:lnTo>
                  <a:lnTo>
                    <a:pt x="0" y="5080"/>
                  </a:lnTo>
                  <a:lnTo>
                    <a:pt x="0" y="142252"/>
                  </a:lnTo>
                  <a:lnTo>
                    <a:pt x="0" y="276860"/>
                  </a:lnTo>
                  <a:lnTo>
                    <a:pt x="38100" y="276860"/>
                  </a:lnTo>
                  <a:lnTo>
                    <a:pt x="38100" y="142252"/>
                  </a:lnTo>
                  <a:lnTo>
                    <a:pt x="38100" y="5080"/>
                  </a:lnTo>
                  <a:lnTo>
                    <a:pt x="38100" y="1270"/>
                  </a:lnTo>
                  <a:lnTo>
                    <a:pt x="38100" y="0"/>
                  </a:lnTo>
                  <a:close/>
                </a:path>
              </a:pathLst>
            </a:custGeom>
            <a:solidFill>
              <a:srgbClr val="090982"/>
            </a:solidFill>
          </p:spPr>
          <p:txBody>
            <a:bodyPr wrap="square" lIns="0" tIns="0" rIns="0" bIns="0" rtlCol="0"/>
            <a:lstStyle/>
            <a:p>
              <a:endParaRPr/>
            </a:p>
          </p:txBody>
        </p:sp>
        <p:sp>
          <p:nvSpPr>
            <p:cNvPr id="305" name="object 305"/>
            <p:cNvSpPr/>
            <p:nvPr/>
          </p:nvSpPr>
          <p:spPr>
            <a:xfrm>
              <a:off x="647699" y="275590"/>
              <a:ext cx="38100" cy="134620"/>
            </a:xfrm>
            <a:custGeom>
              <a:avLst/>
              <a:gdLst/>
              <a:ahLst/>
              <a:cxnLst/>
              <a:rect l="l" t="t" r="r" b="b"/>
              <a:pathLst>
                <a:path w="38100" h="134620">
                  <a:moveTo>
                    <a:pt x="0" y="134619"/>
                  </a:moveTo>
                  <a:lnTo>
                    <a:pt x="38100" y="134619"/>
                  </a:lnTo>
                  <a:lnTo>
                    <a:pt x="38100" y="0"/>
                  </a:lnTo>
                  <a:lnTo>
                    <a:pt x="0" y="0"/>
                  </a:lnTo>
                  <a:lnTo>
                    <a:pt x="0" y="134619"/>
                  </a:lnTo>
                  <a:close/>
                </a:path>
              </a:pathLst>
            </a:custGeom>
            <a:solidFill>
              <a:srgbClr val="080881"/>
            </a:solidFill>
          </p:spPr>
          <p:txBody>
            <a:bodyPr wrap="square" lIns="0" tIns="0" rIns="0" bIns="0" rtlCol="0"/>
            <a:lstStyle/>
            <a:p>
              <a:endParaRPr/>
            </a:p>
          </p:txBody>
        </p:sp>
        <p:sp>
          <p:nvSpPr>
            <p:cNvPr id="306" name="object 306"/>
            <p:cNvSpPr/>
            <p:nvPr/>
          </p:nvSpPr>
          <p:spPr>
            <a:xfrm>
              <a:off x="613410" y="275590"/>
              <a:ext cx="38100" cy="134620"/>
            </a:xfrm>
            <a:custGeom>
              <a:avLst/>
              <a:gdLst/>
              <a:ahLst/>
              <a:cxnLst/>
              <a:rect l="l" t="t" r="r" b="b"/>
              <a:pathLst>
                <a:path w="38100" h="134620">
                  <a:moveTo>
                    <a:pt x="0" y="134619"/>
                  </a:moveTo>
                  <a:lnTo>
                    <a:pt x="38100" y="134619"/>
                  </a:lnTo>
                  <a:lnTo>
                    <a:pt x="38100" y="0"/>
                  </a:lnTo>
                  <a:lnTo>
                    <a:pt x="0" y="0"/>
                  </a:lnTo>
                  <a:lnTo>
                    <a:pt x="0" y="134619"/>
                  </a:lnTo>
                  <a:close/>
                </a:path>
              </a:pathLst>
            </a:custGeom>
            <a:solidFill>
              <a:srgbClr val="070781"/>
            </a:solidFill>
          </p:spPr>
          <p:txBody>
            <a:bodyPr wrap="square" lIns="0" tIns="0" rIns="0" bIns="0" rtlCol="0"/>
            <a:lstStyle/>
            <a:p>
              <a:endParaRPr/>
            </a:p>
          </p:txBody>
        </p:sp>
        <p:sp>
          <p:nvSpPr>
            <p:cNvPr id="307" name="object 307"/>
            <p:cNvSpPr/>
            <p:nvPr/>
          </p:nvSpPr>
          <p:spPr>
            <a:xfrm>
              <a:off x="579120" y="275590"/>
              <a:ext cx="38100" cy="134620"/>
            </a:xfrm>
            <a:custGeom>
              <a:avLst/>
              <a:gdLst/>
              <a:ahLst/>
              <a:cxnLst/>
              <a:rect l="l" t="t" r="r" b="b"/>
              <a:pathLst>
                <a:path w="38100" h="134620">
                  <a:moveTo>
                    <a:pt x="0" y="134619"/>
                  </a:moveTo>
                  <a:lnTo>
                    <a:pt x="38100" y="134619"/>
                  </a:lnTo>
                  <a:lnTo>
                    <a:pt x="38100" y="0"/>
                  </a:lnTo>
                  <a:lnTo>
                    <a:pt x="0" y="0"/>
                  </a:lnTo>
                  <a:lnTo>
                    <a:pt x="0" y="134619"/>
                  </a:lnTo>
                  <a:close/>
                </a:path>
              </a:pathLst>
            </a:custGeom>
            <a:solidFill>
              <a:srgbClr val="060680"/>
            </a:solidFill>
          </p:spPr>
          <p:txBody>
            <a:bodyPr wrap="square" lIns="0" tIns="0" rIns="0" bIns="0" rtlCol="0"/>
            <a:lstStyle/>
            <a:p>
              <a:endParaRPr/>
            </a:p>
          </p:txBody>
        </p:sp>
        <p:sp>
          <p:nvSpPr>
            <p:cNvPr id="308" name="object 308"/>
            <p:cNvSpPr/>
            <p:nvPr/>
          </p:nvSpPr>
          <p:spPr>
            <a:xfrm>
              <a:off x="544830" y="133349"/>
              <a:ext cx="38100" cy="276860"/>
            </a:xfrm>
            <a:custGeom>
              <a:avLst/>
              <a:gdLst/>
              <a:ahLst/>
              <a:cxnLst/>
              <a:rect l="l" t="t" r="r" b="b"/>
              <a:pathLst>
                <a:path w="38100" h="276859">
                  <a:moveTo>
                    <a:pt x="38100" y="0"/>
                  </a:moveTo>
                  <a:lnTo>
                    <a:pt x="0" y="0"/>
                  </a:lnTo>
                  <a:lnTo>
                    <a:pt x="0" y="1270"/>
                  </a:lnTo>
                  <a:lnTo>
                    <a:pt x="0" y="5080"/>
                  </a:lnTo>
                  <a:lnTo>
                    <a:pt x="0" y="138430"/>
                  </a:lnTo>
                  <a:lnTo>
                    <a:pt x="0" y="142252"/>
                  </a:lnTo>
                  <a:lnTo>
                    <a:pt x="2540" y="142252"/>
                  </a:lnTo>
                  <a:lnTo>
                    <a:pt x="2540" y="276860"/>
                  </a:lnTo>
                  <a:lnTo>
                    <a:pt x="38100" y="276860"/>
                  </a:lnTo>
                  <a:lnTo>
                    <a:pt x="38100" y="142252"/>
                  </a:lnTo>
                  <a:lnTo>
                    <a:pt x="38100" y="138430"/>
                  </a:lnTo>
                  <a:lnTo>
                    <a:pt x="38100" y="5080"/>
                  </a:lnTo>
                  <a:lnTo>
                    <a:pt x="38100" y="1270"/>
                  </a:lnTo>
                  <a:lnTo>
                    <a:pt x="38100" y="0"/>
                  </a:lnTo>
                  <a:close/>
                </a:path>
              </a:pathLst>
            </a:custGeom>
            <a:solidFill>
              <a:srgbClr val="050580"/>
            </a:solidFill>
          </p:spPr>
          <p:txBody>
            <a:bodyPr wrap="square" lIns="0" tIns="0" rIns="0" bIns="0" rtlCol="0"/>
            <a:lstStyle/>
            <a:p>
              <a:endParaRPr/>
            </a:p>
          </p:txBody>
        </p:sp>
        <p:sp>
          <p:nvSpPr>
            <p:cNvPr id="309" name="object 309"/>
            <p:cNvSpPr/>
            <p:nvPr/>
          </p:nvSpPr>
          <p:spPr>
            <a:xfrm>
              <a:off x="510540" y="133349"/>
              <a:ext cx="38100" cy="276860"/>
            </a:xfrm>
            <a:custGeom>
              <a:avLst/>
              <a:gdLst/>
              <a:ahLst/>
              <a:cxnLst/>
              <a:rect l="l" t="t" r="r" b="b"/>
              <a:pathLst>
                <a:path w="38100" h="276859">
                  <a:moveTo>
                    <a:pt x="38100" y="0"/>
                  </a:moveTo>
                  <a:lnTo>
                    <a:pt x="0" y="0"/>
                  </a:lnTo>
                  <a:lnTo>
                    <a:pt x="0" y="1270"/>
                  </a:lnTo>
                  <a:lnTo>
                    <a:pt x="0" y="5080"/>
                  </a:lnTo>
                  <a:lnTo>
                    <a:pt x="0" y="138430"/>
                  </a:lnTo>
                  <a:lnTo>
                    <a:pt x="0" y="142252"/>
                  </a:lnTo>
                  <a:lnTo>
                    <a:pt x="36830" y="142252"/>
                  </a:lnTo>
                  <a:lnTo>
                    <a:pt x="36830" y="276860"/>
                  </a:lnTo>
                  <a:lnTo>
                    <a:pt x="38100" y="276860"/>
                  </a:lnTo>
                  <a:lnTo>
                    <a:pt x="38100" y="142252"/>
                  </a:lnTo>
                  <a:lnTo>
                    <a:pt x="38100" y="138430"/>
                  </a:lnTo>
                  <a:lnTo>
                    <a:pt x="38100" y="5080"/>
                  </a:lnTo>
                  <a:lnTo>
                    <a:pt x="38100" y="1270"/>
                  </a:lnTo>
                  <a:lnTo>
                    <a:pt x="38100" y="0"/>
                  </a:lnTo>
                  <a:close/>
                </a:path>
              </a:pathLst>
            </a:custGeom>
            <a:solidFill>
              <a:srgbClr val="04047F"/>
            </a:solidFill>
          </p:spPr>
          <p:txBody>
            <a:bodyPr wrap="square" lIns="0" tIns="0" rIns="0" bIns="0" rtlCol="0"/>
            <a:lstStyle/>
            <a:p>
              <a:endParaRPr/>
            </a:p>
          </p:txBody>
        </p:sp>
        <p:sp>
          <p:nvSpPr>
            <p:cNvPr id="310" name="object 310"/>
            <p:cNvSpPr/>
            <p:nvPr/>
          </p:nvSpPr>
          <p:spPr>
            <a:xfrm>
              <a:off x="476250" y="133350"/>
              <a:ext cx="38100" cy="1270"/>
            </a:xfrm>
            <a:custGeom>
              <a:avLst/>
              <a:gdLst/>
              <a:ahLst/>
              <a:cxnLst/>
              <a:rect l="l" t="t" r="r" b="b"/>
              <a:pathLst>
                <a:path w="38100" h="1269">
                  <a:moveTo>
                    <a:pt x="0" y="1270"/>
                  </a:moveTo>
                  <a:lnTo>
                    <a:pt x="38100" y="1270"/>
                  </a:lnTo>
                  <a:lnTo>
                    <a:pt x="38100" y="0"/>
                  </a:lnTo>
                  <a:lnTo>
                    <a:pt x="0" y="0"/>
                  </a:lnTo>
                  <a:lnTo>
                    <a:pt x="0" y="1270"/>
                  </a:lnTo>
                  <a:close/>
                </a:path>
              </a:pathLst>
            </a:custGeom>
            <a:solidFill>
              <a:srgbClr val="03037F"/>
            </a:solidFill>
          </p:spPr>
          <p:txBody>
            <a:bodyPr wrap="square" lIns="0" tIns="0" rIns="0" bIns="0" rtlCol="0"/>
            <a:lstStyle/>
            <a:p>
              <a:endParaRPr/>
            </a:p>
          </p:txBody>
        </p:sp>
        <p:sp>
          <p:nvSpPr>
            <p:cNvPr id="311" name="object 311"/>
            <p:cNvSpPr/>
            <p:nvPr/>
          </p:nvSpPr>
          <p:spPr>
            <a:xfrm>
              <a:off x="441959" y="133350"/>
              <a:ext cx="38100" cy="1270"/>
            </a:xfrm>
            <a:custGeom>
              <a:avLst/>
              <a:gdLst/>
              <a:ahLst/>
              <a:cxnLst/>
              <a:rect l="l" t="t" r="r" b="b"/>
              <a:pathLst>
                <a:path w="38100" h="1269">
                  <a:moveTo>
                    <a:pt x="0" y="1270"/>
                  </a:moveTo>
                  <a:lnTo>
                    <a:pt x="38100" y="1270"/>
                  </a:lnTo>
                  <a:lnTo>
                    <a:pt x="38100" y="0"/>
                  </a:lnTo>
                  <a:lnTo>
                    <a:pt x="0" y="0"/>
                  </a:lnTo>
                  <a:lnTo>
                    <a:pt x="0" y="1270"/>
                  </a:lnTo>
                  <a:close/>
                </a:path>
              </a:pathLst>
            </a:custGeom>
            <a:solidFill>
              <a:srgbClr val="02027E"/>
            </a:solidFill>
          </p:spPr>
          <p:txBody>
            <a:bodyPr wrap="square" lIns="0" tIns="0" rIns="0" bIns="0" rtlCol="0"/>
            <a:lstStyle/>
            <a:p>
              <a:endParaRPr/>
            </a:p>
          </p:txBody>
        </p:sp>
        <p:sp>
          <p:nvSpPr>
            <p:cNvPr id="312" name="object 312"/>
            <p:cNvSpPr/>
            <p:nvPr/>
          </p:nvSpPr>
          <p:spPr>
            <a:xfrm>
              <a:off x="408940" y="0"/>
              <a:ext cx="278130" cy="271780"/>
            </a:xfrm>
            <a:custGeom>
              <a:avLst/>
              <a:gdLst/>
              <a:ahLst/>
              <a:cxnLst/>
              <a:rect l="l" t="t" r="r" b="b"/>
              <a:pathLst>
                <a:path w="278130" h="271780">
                  <a:moveTo>
                    <a:pt x="138430" y="134620"/>
                  </a:moveTo>
                  <a:lnTo>
                    <a:pt x="0" y="134620"/>
                  </a:lnTo>
                  <a:lnTo>
                    <a:pt x="0" y="271780"/>
                  </a:lnTo>
                  <a:lnTo>
                    <a:pt x="138430" y="271780"/>
                  </a:lnTo>
                  <a:lnTo>
                    <a:pt x="138430" y="134620"/>
                  </a:lnTo>
                  <a:close/>
                </a:path>
                <a:path w="278130" h="271780">
                  <a:moveTo>
                    <a:pt x="278130" y="0"/>
                  </a:moveTo>
                  <a:lnTo>
                    <a:pt x="138430" y="0"/>
                  </a:lnTo>
                  <a:lnTo>
                    <a:pt x="138430" y="134620"/>
                  </a:lnTo>
                  <a:lnTo>
                    <a:pt x="278130" y="134620"/>
                  </a:lnTo>
                  <a:lnTo>
                    <a:pt x="278130" y="0"/>
                  </a:lnTo>
                  <a:close/>
                </a:path>
              </a:pathLst>
            </a:custGeom>
            <a:solidFill>
              <a:srgbClr val="CCCCE5"/>
            </a:solidFill>
          </p:spPr>
          <p:txBody>
            <a:bodyPr wrap="square" lIns="0" tIns="0" rIns="0" bIns="0" rtlCol="0"/>
            <a:lstStyle/>
            <a:p>
              <a:endParaRPr/>
            </a:p>
          </p:txBody>
        </p:sp>
        <p:sp>
          <p:nvSpPr>
            <p:cNvPr id="313" name="object 313"/>
            <p:cNvSpPr/>
            <p:nvPr/>
          </p:nvSpPr>
          <p:spPr>
            <a:xfrm>
              <a:off x="547370" y="134620"/>
              <a:ext cx="139700" cy="140970"/>
            </a:xfrm>
            <a:custGeom>
              <a:avLst/>
              <a:gdLst/>
              <a:ahLst/>
              <a:cxnLst/>
              <a:rect l="l" t="t" r="r" b="b"/>
              <a:pathLst>
                <a:path w="139700" h="140970">
                  <a:moveTo>
                    <a:pt x="139700" y="0"/>
                  </a:moveTo>
                  <a:lnTo>
                    <a:pt x="0" y="0"/>
                  </a:lnTo>
                  <a:lnTo>
                    <a:pt x="0" y="140970"/>
                  </a:lnTo>
                  <a:lnTo>
                    <a:pt x="139700" y="140970"/>
                  </a:lnTo>
                  <a:close/>
                </a:path>
              </a:pathLst>
            </a:custGeom>
            <a:solidFill>
              <a:srgbClr val="9999CC"/>
            </a:solidFill>
          </p:spPr>
          <p:txBody>
            <a:bodyPr wrap="square" lIns="0" tIns="0" rIns="0" bIns="0" rtlCol="0"/>
            <a:lstStyle/>
            <a:p>
              <a:endParaRPr/>
            </a:p>
          </p:txBody>
        </p:sp>
        <p:sp>
          <p:nvSpPr>
            <p:cNvPr id="314" name="object 314"/>
            <p:cNvSpPr/>
            <p:nvPr/>
          </p:nvSpPr>
          <p:spPr>
            <a:xfrm>
              <a:off x="274319" y="274320"/>
              <a:ext cx="135890" cy="134620"/>
            </a:xfrm>
            <a:custGeom>
              <a:avLst/>
              <a:gdLst/>
              <a:ahLst/>
              <a:cxnLst/>
              <a:rect l="l" t="t" r="r" b="b"/>
              <a:pathLst>
                <a:path w="135890" h="134620">
                  <a:moveTo>
                    <a:pt x="0" y="134619"/>
                  </a:moveTo>
                  <a:lnTo>
                    <a:pt x="135889" y="134619"/>
                  </a:lnTo>
                  <a:lnTo>
                    <a:pt x="135889" y="0"/>
                  </a:lnTo>
                  <a:lnTo>
                    <a:pt x="0" y="0"/>
                  </a:lnTo>
                  <a:lnTo>
                    <a:pt x="0" y="134619"/>
                  </a:lnTo>
                  <a:close/>
                </a:path>
              </a:pathLst>
            </a:custGeom>
            <a:solidFill>
              <a:srgbClr val="CCCCE5"/>
            </a:solidFill>
          </p:spPr>
          <p:txBody>
            <a:bodyPr wrap="square" lIns="0" tIns="0" rIns="0" bIns="0" rtlCol="0"/>
            <a:lstStyle/>
            <a:p>
              <a:endParaRPr/>
            </a:p>
          </p:txBody>
        </p:sp>
        <p:sp>
          <p:nvSpPr>
            <p:cNvPr id="315" name="object 315"/>
            <p:cNvSpPr/>
            <p:nvPr/>
          </p:nvSpPr>
          <p:spPr>
            <a:xfrm>
              <a:off x="132079" y="135889"/>
              <a:ext cx="140970" cy="138430"/>
            </a:xfrm>
            <a:custGeom>
              <a:avLst/>
              <a:gdLst/>
              <a:ahLst/>
              <a:cxnLst/>
              <a:rect l="l" t="t" r="r" b="b"/>
              <a:pathLst>
                <a:path w="140970" h="138429">
                  <a:moveTo>
                    <a:pt x="140970" y="0"/>
                  </a:moveTo>
                  <a:lnTo>
                    <a:pt x="0" y="0"/>
                  </a:lnTo>
                  <a:lnTo>
                    <a:pt x="0" y="138429"/>
                  </a:lnTo>
                  <a:lnTo>
                    <a:pt x="140970" y="138429"/>
                  </a:lnTo>
                  <a:close/>
                </a:path>
              </a:pathLst>
            </a:custGeom>
            <a:solidFill>
              <a:srgbClr val="00007C"/>
            </a:solidFill>
          </p:spPr>
          <p:txBody>
            <a:bodyPr wrap="square" lIns="0" tIns="0" rIns="0" bIns="0" rtlCol="0"/>
            <a:lstStyle/>
            <a:p>
              <a:endParaRPr/>
            </a:p>
          </p:txBody>
        </p:sp>
        <p:sp>
          <p:nvSpPr>
            <p:cNvPr id="316" name="object 316"/>
            <p:cNvSpPr/>
            <p:nvPr/>
          </p:nvSpPr>
          <p:spPr>
            <a:xfrm>
              <a:off x="274320" y="271779"/>
              <a:ext cx="273050" cy="274320"/>
            </a:xfrm>
            <a:custGeom>
              <a:avLst/>
              <a:gdLst/>
              <a:ahLst/>
              <a:cxnLst/>
              <a:rect l="l" t="t" r="r" b="b"/>
              <a:pathLst>
                <a:path w="273050" h="274320">
                  <a:moveTo>
                    <a:pt x="273050" y="0"/>
                  </a:moveTo>
                  <a:lnTo>
                    <a:pt x="134620" y="0"/>
                  </a:lnTo>
                  <a:lnTo>
                    <a:pt x="134620" y="137160"/>
                  </a:lnTo>
                  <a:lnTo>
                    <a:pt x="0" y="137160"/>
                  </a:lnTo>
                  <a:lnTo>
                    <a:pt x="0" y="274320"/>
                  </a:lnTo>
                  <a:lnTo>
                    <a:pt x="135877" y="274320"/>
                  </a:lnTo>
                  <a:lnTo>
                    <a:pt x="135877" y="138430"/>
                  </a:lnTo>
                  <a:lnTo>
                    <a:pt x="273050" y="138430"/>
                  </a:lnTo>
                  <a:lnTo>
                    <a:pt x="273050" y="0"/>
                  </a:lnTo>
                  <a:close/>
                </a:path>
              </a:pathLst>
            </a:custGeom>
            <a:solidFill>
              <a:srgbClr val="9999CC"/>
            </a:solidFill>
          </p:spPr>
          <p:txBody>
            <a:bodyPr wrap="square" lIns="0" tIns="0" rIns="0" bIns="0" rtlCol="0"/>
            <a:lstStyle/>
            <a:p>
              <a:endParaRPr/>
            </a:p>
          </p:txBody>
        </p:sp>
      </p:grpSp>
      <p:sp>
        <p:nvSpPr>
          <p:cNvPr id="317" name="object 317"/>
          <p:cNvSpPr txBox="1">
            <a:spLocks noGrp="1"/>
          </p:cNvSpPr>
          <p:nvPr>
            <p:ph type="title"/>
          </p:nvPr>
        </p:nvSpPr>
        <p:spPr>
          <a:xfrm>
            <a:off x="877569" y="259333"/>
            <a:ext cx="7385684" cy="2621280"/>
          </a:xfrm>
          <a:prstGeom prst="rect">
            <a:avLst/>
          </a:prstGeom>
        </p:spPr>
        <p:txBody>
          <a:bodyPr vert="horz" wrap="square" lIns="0" tIns="151765" rIns="0" bIns="0" rtlCol="0">
            <a:spAutoFit/>
          </a:bodyPr>
          <a:lstStyle/>
          <a:p>
            <a:pPr algn="ctr">
              <a:lnSpc>
                <a:spcPct val="100000"/>
              </a:lnSpc>
              <a:spcBef>
                <a:spcPts val="1195"/>
              </a:spcBef>
            </a:pPr>
            <a:r>
              <a:rPr sz="3600" b="1" spc="-5" dirty="0">
                <a:latin typeface="Arial"/>
                <a:cs typeface="Arial"/>
              </a:rPr>
              <a:t>SWOT</a:t>
            </a:r>
            <a:r>
              <a:rPr sz="3600" b="1" spc="-40" dirty="0">
                <a:latin typeface="Arial"/>
                <a:cs typeface="Arial"/>
              </a:rPr>
              <a:t> </a:t>
            </a:r>
            <a:r>
              <a:rPr sz="3600" b="1" spc="-15" dirty="0">
                <a:latin typeface="Arial"/>
                <a:cs typeface="Arial"/>
              </a:rPr>
              <a:t>Analysis</a:t>
            </a:r>
            <a:endParaRPr sz="3600">
              <a:latin typeface="Arial"/>
              <a:cs typeface="Arial"/>
            </a:endParaRPr>
          </a:p>
          <a:p>
            <a:pPr marL="12700" marR="5080">
              <a:lnSpc>
                <a:spcPct val="100000"/>
              </a:lnSpc>
              <a:spcBef>
                <a:spcPts val="610"/>
              </a:spcBef>
            </a:pPr>
            <a:r>
              <a:rPr sz="2000" dirty="0"/>
              <a:t>A </a:t>
            </a:r>
            <a:r>
              <a:rPr sz="2000" spc="-5" dirty="0"/>
              <a:t>SWOT analysis </a:t>
            </a:r>
            <a:r>
              <a:rPr sz="2000" dirty="0"/>
              <a:t>is structured </a:t>
            </a:r>
            <a:r>
              <a:rPr sz="2000" spc="-5" dirty="0"/>
              <a:t>planning method </a:t>
            </a:r>
            <a:r>
              <a:rPr sz="2000" dirty="0"/>
              <a:t>used </a:t>
            </a:r>
            <a:r>
              <a:rPr sz="2000" spc="-5" dirty="0"/>
              <a:t>to evaluate  the </a:t>
            </a:r>
            <a:r>
              <a:rPr sz="2000" dirty="0"/>
              <a:t>strengths, weaknesses, </a:t>
            </a:r>
            <a:r>
              <a:rPr sz="2000" spc="-5" dirty="0"/>
              <a:t>opportunities </a:t>
            </a:r>
            <a:r>
              <a:rPr sz="2000" dirty="0"/>
              <a:t>and </a:t>
            </a:r>
            <a:r>
              <a:rPr sz="2000" spc="-5" dirty="0"/>
              <a:t>threats involved </a:t>
            </a:r>
            <a:r>
              <a:rPr sz="2000" dirty="0"/>
              <a:t>in  a project or </a:t>
            </a:r>
            <a:r>
              <a:rPr sz="2000" spc="-5" dirty="0"/>
              <a:t>in </a:t>
            </a:r>
            <a:r>
              <a:rPr sz="2000" dirty="0"/>
              <a:t>a business venture. </a:t>
            </a:r>
            <a:r>
              <a:rPr sz="2000" spc="-5" dirty="0"/>
              <a:t>It involves specifying the  objective of the </a:t>
            </a:r>
            <a:r>
              <a:rPr sz="2000" dirty="0"/>
              <a:t>business </a:t>
            </a:r>
            <a:r>
              <a:rPr sz="2000" spc="-5" dirty="0"/>
              <a:t>venture </a:t>
            </a:r>
            <a:r>
              <a:rPr sz="2000" dirty="0"/>
              <a:t>or project and </a:t>
            </a:r>
            <a:r>
              <a:rPr sz="2000" spc="-5" dirty="0"/>
              <a:t>identifying the  internal </a:t>
            </a:r>
            <a:r>
              <a:rPr sz="2000" dirty="0"/>
              <a:t>and external </a:t>
            </a:r>
            <a:r>
              <a:rPr sz="2000" spc="-5" dirty="0"/>
              <a:t>factors </a:t>
            </a:r>
            <a:r>
              <a:rPr sz="2000" dirty="0"/>
              <a:t>that are </a:t>
            </a:r>
            <a:r>
              <a:rPr sz="2000" spc="-5" dirty="0"/>
              <a:t>favorable </a:t>
            </a:r>
            <a:r>
              <a:rPr sz="2000" dirty="0"/>
              <a:t>and </a:t>
            </a:r>
            <a:r>
              <a:rPr sz="2000" spc="-5" dirty="0"/>
              <a:t>unfavorable to  achieve that objective.</a:t>
            </a:r>
            <a:endParaRPr sz="2000"/>
          </a:p>
        </p:txBody>
      </p:sp>
      <p:sp>
        <p:nvSpPr>
          <p:cNvPr id="318" name="object 318"/>
          <p:cNvSpPr/>
          <p:nvPr/>
        </p:nvSpPr>
        <p:spPr>
          <a:xfrm>
            <a:off x="1219200" y="2880612"/>
            <a:ext cx="6629400" cy="3824987"/>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0" y="643890"/>
            <a:ext cx="7200900" cy="492443"/>
          </a:xfrm>
        </p:spPr>
        <p:txBody>
          <a:bodyPr/>
          <a:lstStyle/>
          <a:p>
            <a:r>
              <a:rPr lang="en-IN" dirty="0" smtClean="0"/>
              <a:t>Economic  Environment</a:t>
            </a:r>
            <a:endParaRPr lang="en-IN" dirty="0"/>
          </a:p>
        </p:txBody>
      </p:sp>
      <p:sp>
        <p:nvSpPr>
          <p:cNvPr id="3" name="Text Placeholder 2"/>
          <p:cNvSpPr>
            <a:spLocks noGrp="1"/>
          </p:cNvSpPr>
          <p:nvPr>
            <p:ph type="body" idx="1"/>
          </p:nvPr>
        </p:nvSpPr>
        <p:spPr>
          <a:xfrm>
            <a:off x="534669" y="1500174"/>
            <a:ext cx="8037195" cy="4062651"/>
          </a:xfrm>
        </p:spPr>
        <p:txBody>
          <a:bodyPr/>
          <a:lstStyle/>
          <a:p>
            <a:pPr algn="just"/>
            <a:r>
              <a:rPr lang="en-IN" sz="2400" b="0" dirty="0" smtClean="0"/>
              <a:t>Economic environment refers to all these forces that have an economic impact on business activities. We know that business is an economic organization. Therefore, its survival and growth are dependent on economic factors. The economic environment includes various factors, such as inflammation, interest rate, price level, money supply in the market, etc. These factors serve a business as an opportunity or as a threat to a business. Therefore, management always remains active to grab the opportunity and tries to change threats into opportunities. </a:t>
            </a:r>
          </a:p>
          <a:p>
            <a:pPr algn="just"/>
            <a:endParaRPr lang="en-IN" sz="2400" b="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0" y="643890"/>
            <a:ext cx="7200900" cy="1477328"/>
          </a:xfrm>
        </p:spPr>
        <p:txBody>
          <a:bodyPr/>
          <a:lstStyle/>
          <a:p>
            <a:r>
              <a:rPr lang="en-IN" b="1" dirty="0" smtClean="0"/>
              <a:t>Important factors of Economic Environment</a:t>
            </a:r>
            <a:r>
              <a:rPr lang="en-IN" dirty="0" smtClean="0"/>
              <a:t/>
            </a:r>
            <a:br>
              <a:rPr lang="en-IN" dirty="0" smtClean="0"/>
            </a:br>
            <a:endParaRPr lang="en-IN" dirty="0"/>
          </a:p>
        </p:txBody>
      </p:sp>
      <p:sp>
        <p:nvSpPr>
          <p:cNvPr id="3" name="Text Placeholder 2"/>
          <p:cNvSpPr>
            <a:spLocks noGrp="1"/>
          </p:cNvSpPr>
          <p:nvPr>
            <p:ph type="body" idx="1"/>
          </p:nvPr>
        </p:nvSpPr>
        <p:spPr>
          <a:xfrm>
            <a:off x="214282" y="1643050"/>
            <a:ext cx="8715436" cy="4308872"/>
          </a:xfrm>
        </p:spPr>
        <p:txBody>
          <a:bodyPr/>
          <a:lstStyle/>
          <a:p>
            <a:pPr lvl="0" algn="just" fontAlgn="base"/>
            <a:endParaRPr lang="en-IN" b="0" dirty="0" smtClean="0"/>
          </a:p>
          <a:p>
            <a:pPr lvl="0" algn="just" fontAlgn="base">
              <a:buFont typeface="Arial" pitchFamily="34" charset="0"/>
              <a:buChar char="•"/>
            </a:pPr>
            <a:r>
              <a:rPr lang="en-IN" dirty="0" smtClean="0"/>
              <a:t>Economical Structure:</a:t>
            </a:r>
            <a:r>
              <a:rPr lang="en-IN" b="0" dirty="0" smtClean="0"/>
              <a:t> The type of economic system determines the role of the public and private sectors in India. A mixed economic system operates where both public and private sectors exist, and India is an example of a mixed economy.</a:t>
            </a:r>
          </a:p>
          <a:p>
            <a:pPr lvl="0" algn="just" fontAlgn="base">
              <a:buFont typeface="Arial" pitchFamily="34" charset="0"/>
              <a:buChar char="•"/>
            </a:pPr>
            <a:endParaRPr lang="en-IN" b="0" dirty="0" smtClean="0"/>
          </a:p>
          <a:p>
            <a:pPr lvl="0" algn="just" fontAlgn="base">
              <a:buFont typeface="Arial" pitchFamily="34" charset="0"/>
              <a:buChar char="•"/>
            </a:pPr>
            <a:r>
              <a:rPr lang="en-IN" dirty="0" smtClean="0"/>
              <a:t>Economic Planning: </a:t>
            </a:r>
            <a:r>
              <a:rPr lang="en-IN" b="0" dirty="0" smtClean="0"/>
              <a:t>Economic planning gives direction to the changes in the economic environment. It includes five years plan, an annual budget, etc.</a:t>
            </a:r>
          </a:p>
          <a:p>
            <a:pPr lvl="0" algn="just" fontAlgn="base">
              <a:buFont typeface="Arial" pitchFamily="34" charset="0"/>
              <a:buChar char="•"/>
            </a:pPr>
            <a:endParaRPr lang="en-IN" b="0" dirty="0" smtClean="0"/>
          </a:p>
          <a:p>
            <a:pPr lvl="0" algn="just" fontAlgn="base">
              <a:buFont typeface="Arial" pitchFamily="34" charset="0"/>
              <a:buChar char="•"/>
            </a:pPr>
            <a:r>
              <a:rPr lang="en-IN" dirty="0" smtClean="0"/>
              <a:t>Economic Policy: </a:t>
            </a:r>
            <a:r>
              <a:rPr lang="en-IN" b="0" dirty="0" smtClean="0"/>
              <a:t>There are various important economic policies that influence the business decisions, such as monetary policies, fiscal policies, etc.</a:t>
            </a:r>
          </a:p>
          <a:p>
            <a:pPr lvl="0" fontAlgn="base"/>
            <a:endParaRPr lang="en-IN" dirty="0" smtClean="0"/>
          </a:p>
          <a:p>
            <a:pPr>
              <a:buFont typeface="Arial" pitchFamily="34" charset="0"/>
              <a:buChar char="•"/>
            </a:pP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0" y="643890"/>
            <a:ext cx="7200900" cy="492443"/>
          </a:xfrm>
        </p:spPr>
        <p:txBody>
          <a:bodyPr/>
          <a:lstStyle/>
          <a:p>
            <a:r>
              <a:rPr lang="en-IN" dirty="0" smtClean="0"/>
              <a:t>Contd....</a:t>
            </a:r>
            <a:endParaRPr lang="en-IN" dirty="0"/>
          </a:p>
        </p:txBody>
      </p:sp>
      <p:sp>
        <p:nvSpPr>
          <p:cNvPr id="3" name="Text Placeholder 2"/>
          <p:cNvSpPr>
            <a:spLocks noGrp="1"/>
          </p:cNvSpPr>
          <p:nvPr>
            <p:ph type="body" idx="1"/>
          </p:nvPr>
        </p:nvSpPr>
        <p:spPr>
          <a:xfrm>
            <a:off x="357158" y="1643050"/>
            <a:ext cx="8501121" cy="3385542"/>
          </a:xfrm>
        </p:spPr>
        <p:txBody>
          <a:bodyPr/>
          <a:lstStyle/>
          <a:p>
            <a:pPr lvl="0" fontAlgn="base">
              <a:buFont typeface="Arial" pitchFamily="34" charset="0"/>
              <a:buChar char="•"/>
            </a:pPr>
            <a:r>
              <a:rPr lang="en-IN" dirty="0" smtClean="0"/>
              <a:t>Fluctuations and trends in Economic Indicator: </a:t>
            </a:r>
            <a:r>
              <a:rPr lang="en-IN" b="0" dirty="0" smtClean="0"/>
              <a:t>The functioning of an economic indicator like national income, distribution of income, growth rate, GDP, NDP, etc. Any change or fluctuation in these will affect the Economic environment.</a:t>
            </a:r>
          </a:p>
          <a:p>
            <a:pPr lvl="0" fontAlgn="base">
              <a:buFont typeface="Arial" pitchFamily="34" charset="0"/>
              <a:buChar char="•"/>
            </a:pPr>
            <a:endParaRPr lang="en-IN" b="0" dirty="0" smtClean="0"/>
          </a:p>
          <a:p>
            <a:pPr lvl="0" fontAlgn="base">
              <a:buFont typeface="Arial" pitchFamily="34" charset="0"/>
              <a:buChar char="•"/>
            </a:pPr>
            <a:endParaRPr lang="en-IN" b="0" dirty="0" smtClean="0"/>
          </a:p>
          <a:p>
            <a:pPr lvl="0" fontAlgn="base">
              <a:buFont typeface="Arial" pitchFamily="34" charset="0"/>
              <a:buChar char="•"/>
            </a:pPr>
            <a:r>
              <a:rPr lang="en-IN" dirty="0" smtClean="0"/>
              <a:t>Infrastructural Factors: </a:t>
            </a:r>
            <a:r>
              <a:rPr lang="en-IN" b="0" dirty="0" smtClean="0"/>
              <a:t>Infrastructure refers to all such activities and facilities which are needed to provide different kinds of services in an economy. It includes financial institutions, banks, modes of transportation, communication facilities, etc. Poor infrastructural facilities hamper the economic growth of the country. </a:t>
            </a:r>
            <a:endParaRPr lang="en-IN" b="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0" y="643890"/>
            <a:ext cx="7200900" cy="1477328"/>
          </a:xfrm>
        </p:spPr>
        <p:txBody>
          <a:bodyPr/>
          <a:lstStyle/>
          <a:p>
            <a:r>
              <a:rPr lang="en-IN" b="1" dirty="0" smtClean="0"/>
              <a:t>Economic Environment at the time of Independence</a:t>
            </a:r>
            <a:r>
              <a:rPr lang="en-IN" dirty="0" smtClean="0"/>
              <a:t/>
            </a:r>
            <a:br>
              <a:rPr lang="en-IN" dirty="0" smtClean="0"/>
            </a:br>
            <a:endParaRPr lang="en-IN" dirty="0"/>
          </a:p>
        </p:txBody>
      </p:sp>
      <p:sp>
        <p:nvSpPr>
          <p:cNvPr id="3" name="Text Placeholder 2"/>
          <p:cNvSpPr>
            <a:spLocks noGrp="1"/>
          </p:cNvSpPr>
          <p:nvPr>
            <p:ph type="body" idx="1"/>
          </p:nvPr>
        </p:nvSpPr>
        <p:spPr>
          <a:xfrm>
            <a:off x="357158" y="1928802"/>
            <a:ext cx="8358245" cy="4001095"/>
          </a:xfrm>
        </p:spPr>
        <p:txBody>
          <a:bodyPr/>
          <a:lstStyle/>
          <a:p>
            <a:pPr lvl="0" algn="just" fontAlgn="base">
              <a:buFont typeface="Arial" pitchFamily="34" charset="0"/>
              <a:buChar char="•"/>
            </a:pPr>
            <a:r>
              <a:rPr lang="en-IN" b="0" dirty="0" smtClean="0"/>
              <a:t>At the time of Independence, the Indian economy was mostly agricultural and rural in nature. With almost 85% of the population of the county living and carrying out their occupations in villages. </a:t>
            </a:r>
          </a:p>
          <a:p>
            <a:pPr lvl="0" algn="just" fontAlgn="base">
              <a:buFont typeface="Arial" pitchFamily="34" charset="0"/>
              <a:buChar char="•"/>
            </a:pPr>
            <a:endParaRPr lang="en-IN" b="0" dirty="0" smtClean="0"/>
          </a:p>
          <a:p>
            <a:pPr lvl="0" algn="just" fontAlgn="base">
              <a:buFont typeface="Arial" pitchFamily="34" charset="0"/>
              <a:buChar char="•"/>
            </a:pPr>
            <a:r>
              <a:rPr lang="en-IN" b="0" dirty="0" smtClean="0"/>
              <a:t>Low productivity or inefficient techniques of production were used for performing any operation. </a:t>
            </a:r>
          </a:p>
          <a:p>
            <a:pPr lvl="0" algn="just" fontAlgn="base">
              <a:buFont typeface="Arial" pitchFamily="34" charset="0"/>
              <a:buChar char="•"/>
            </a:pPr>
            <a:endParaRPr lang="en-IN" b="0" dirty="0" smtClean="0"/>
          </a:p>
          <a:p>
            <a:pPr lvl="0" algn="just" fontAlgn="base">
              <a:buFont typeface="Arial" pitchFamily="34" charset="0"/>
              <a:buChar char="•"/>
            </a:pPr>
            <a:r>
              <a:rPr lang="en-IN" b="0" dirty="0" smtClean="0"/>
              <a:t>There was no good public health care system due to which several communicable diseases were spreading everywhere.</a:t>
            </a:r>
          </a:p>
          <a:p>
            <a:pPr lvl="0" algn="just" fontAlgn="base">
              <a:buFont typeface="Arial" pitchFamily="34" charset="0"/>
              <a:buChar char="•"/>
            </a:pPr>
            <a:endParaRPr lang="en-IN" b="0" dirty="0" smtClean="0"/>
          </a:p>
          <a:p>
            <a:pPr lvl="0" algn="just" fontAlgn="base">
              <a:buFont typeface="Arial" pitchFamily="34" charset="0"/>
              <a:buChar char="•"/>
            </a:pPr>
            <a:r>
              <a:rPr lang="en-IN" b="0" dirty="0" smtClean="0"/>
              <a:t> There was a high infant mortality rate as there was no proper health care system.</a:t>
            </a:r>
          </a:p>
          <a:p>
            <a:pPr>
              <a:buFont typeface="Arial" pitchFamily="34" charset="0"/>
              <a:buChar char="•"/>
            </a:pP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0" y="643891"/>
            <a:ext cx="7200900" cy="999160"/>
          </a:xfrm>
        </p:spPr>
        <p:txBody>
          <a:bodyPr/>
          <a:lstStyle/>
          <a:p>
            <a:r>
              <a:rPr lang="en-IN" sz="2800" b="1" dirty="0" smtClean="0"/>
              <a:t>Economic Environment since Independence</a:t>
            </a:r>
            <a:r>
              <a:rPr lang="en-IN" dirty="0" smtClean="0"/>
              <a:t/>
            </a:r>
            <a:br>
              <a:rPr lang="en-IN" dirty="0" smtClean="0"/>
            </a:br>
            <a:endParaRPr lang="en-IN" dirty="0"/>
          </a:p>
        </p:txBody>
      </p:sp>
      <p:sp>
        <p:nvSpPr>
          <p:cNvPr id="3" name="Text Placeholder 2"/>
          <p:cNvSpPr>
            <a:spLocks noGrp="1"/>
          </p:cNvSpPr>
          <p:nvPr>
            <p:ph type="body" idx="1"/>
          </p:nvPr>
        </p:nvSpPr>
        <p:spPr>
          <a:xfrm>
            <a:off x="534669" y="1571612"/>
            <a:ext cx="8180735" cy="5539978"/>
          </a:xfrm>
        </p:spPr>
        <p:txBody>
          <a:bodyPr/>
          <a:lstStyle/>
          <a:p>
            <a:pPr lvl="0" algn="just" fontAlgn="base">
              <a:buFont typeface="Arial" pitchFamily="34" charset="0"/>
              <a:buChar char="•"/>
            </a:pPr>
            <a:r>
              <a:rPr lang="en-IN" b="0" dirty="0" smtClean="0"/>
              <a:t>India’s development plans aimed at initiating rapid economic growth in order to decrease unemployment and poverty, thereby increasing the standard of living of the people.</a:t>
            </a:r>
          </a:p>
          <a:p>
            <a:pPr lvl="0" algn="just" fontAlgn="base">
              <a:buFont typeface="Arial" pitchFamily="34" charset="0"/>
              <a:buChar char="•"/>
            </a:pPr>
            <a:endParaRPr lang="en-IN" b="0" dirty="0" smtClean="0"/>
          </a:p>
          <a:p>
            <a:pPr lvl="0" algn="just" fontAlgn="base">
              <a:buFont typeface="Arial" pitchFamily="34" charset="0"/>
              <a:buChar char="•"/>
            </a:pPr>
            <a:r>
              <a:rPr lang="en-IN" b="0" dirty="0" smtClean="0"/>
              <a:t>It aimed at establishing a well-built industrial base focusing on heavy and primary industries. </a:t>
            </a:r>
          </a:p>
          <a:p>
            <a:pPr lvl="0" algn="just" fontAlgn="base">
              <a:buFont typeface="Arial" pitchFamily="34" charset="0"/>
              <a:buChar char="•"/>
            </a:pPr>
            <a:endParaRPr lang="en-IN" b="0" dirty="0" smtClean="0"/>
          </a:p>
          <a:p>
            <a:pPr lvl="0" algn="just" fontAlgn="base">
              <a:buFont typeface="Arial" pitchFamily="34" charset="0"/>
              <a:buChar char="•"/>
            </a:pPr>
            <a:r>
              <a:rPr lang="en-IN" b="0" dirty="0" smtClean="0"/>
              <a:t>It aimed to become self-reliant and bring down the inequalities of income. This plan also included following a socialist pattern of development, i.e. based on equality by avoiding capitalism, as it focuses on attaining the welfare of the society.</a:t>
            </a:r>
          </a:p>
          <a:p>
            <a:pPr lvl="0" algn="just" fontAlgn="base"/>
            <a:r>
              <a:rPr lang="en-IN" b="0" dirty="0" smtClean="0"/>
              <a:t> </a:t>
            </a:r>
          </a:p>
          <a:p>
            <a:pPr lvl="0" algn="just" fontAlgn="base">
              <a:buFont typeface="Arial" pitchFamily="34" charset="0"/>
              <a:buChar char="•"/>
            </a:pPr>
            <a:r>
              <a:rPr lang="en-IN" b="0" dirty="0" smtClean="0"/>
              <a:t>With respect to economic planning, the government gave the responsibilities for infrastructure industries to the public sector.</a:t>
            </a:r>
          </a:p>
          <a:p>
            <a:pPr lvl="0" algn="just" fontAlgn="base">
              <a:buFont typeface="Arial" pitchFamily="34" charset="0"/>
              <a:buChar char="•"/>
            </a:pPr>
            <a:endParaRPr lang="en-IN" b="0" dirty="0" smtClean="0"/>
          </a:p>
          <a:p>
            <a:pPr lvl="0" algn="just" fontAlgn="base">
              <a:buFont typeface="Arial" pitchFamily="34" charset="0"/>
              <a:buChar char="•"/>
            </a:pPr>
            <a:r>
              <a:rPr lang="en-IN" b="0" dirty="0" smtClean="0"/>
              <a:t>Private sector industries were responsible for the development of the consumer goods.</a:t>
            </a:r>
          </a:p>
          <a:p>
            <a:pPr>
              <a:buFont typeface="Arial" pitchFamily="34" charset="0"/>
              <a:buChar char="•"/>
            </a:pPr>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0" y="643890"/>
            <a:ext cx="7200900" cy="984885"/>
          </a:xfrm>
        </p:spPr>
        <p:txBody>
          <a:bodyPr/>
          <a:lstStyle/>
          <a:p>
            <a:r>
              <a:rPr lang="en-IN" b="1" dirty="0" smtClean="0"/>
              <a:t>Crisis of 1991</a:t>
            </a:r>
            <a:r>
              <a:rPr lang="en-IN" dirty="0" smtClean="0"/>
              <a:t/>
            </a:r>
            <a:br>
              <a:rPr lang="en-IN" dirty="0" smtClean="0"/>
            </a:br>
            <a:endParaRPr lang="en-IN" dirty="0"/>
          </a:p>
        </p:txBody>
      </p:sp>
      <p:sp>
        <p:nvSpPr>
          <p:cNvPr id="3" name="Text Placeholder 2"/>
          <p:cNvSpPr>
            <a:spLocks noGrp="1"/>
          </p:cNvSpPr>
          <p:nvPr>
            <p:ph type="body" idx="1"/>
          </p:nvPr>
        </p:nvSpPr>
        <p:spPr>
          <a:xfrm>
            <a:off x="428597" y="1285860"/>
            <a:ext cx="8286808" cy="4924425"/>
          </a:xfrm>
        </p:spPr>
        <p:txBody>
          <a:bodyPr/>
          <a:lstStyle/>
          <a:p>
            <a:pPr lvl="0" algn="just" fontAlgn="base">
              <a:buFont typeface="Arial" pitchFamily="34" charset="0"/>
              <a:buChar char="•"/>
            </a:pPr>
            <a:r>
              <a:rPr lang="en-IN" b="0" dirty="0" smtClean="0"/>
              <a:t>The fiscal deficit approximately reached 7% of GDP, which was a warning situation.</a:t>
            </a:r>
          </a:p>
          <a:p>
            <a:pPr lvl="0" algn="just" fontAlgn="base">
              <a:buFont typeface="Arial" pitchFamily="34" charset="0"/>
              <a:buChar char="•"/>
            </a:pPr>
            <a:r>
              <a:rPr lang="en-IN" b="0" dirty="0" smtClean="0"/>
              <a:t>Internal debt also rose to 50% of GDP. </a:t>
            </a:r>
          </a:p>
          <a:p>
            <a:pPr lvl="0" algn="just" fontAlgn="base">
              <a:buFont typeface="Arial" pitchFamily="34" charset="0"/>
              <a:buChar char="•"/>
            </a:pPr>
            <a:r>
              <a:rPr lang="en-IN" b="0" dirty="0" smtClean="0"/>
              <a:t>Negative growth in agriculture  and industrial production.</a:t>
            </a:r>
          </a:p>
          <a:p>
            <a:pPr lvl="0" algn="just" fontAlgn="base">
              <a:buFont typeface="Arial" pitchFamily="34" charset="0"/>
              <a:buChar char="•"/>
            </a:pPr>
            <a:r>
              <a:rPr lang="en-IN" b="0" dirty="0" smtClean="0"/>
              <a:t>The value of the rupee was depreciating day by day. It depreciated by 26.7 percent (in terms of US Dollars). There was also a fall in foreign exchange reserves. </a:t>
            </a:r>
          </a:p>
          <a:p>
            <a:pPr lvl="0" algn="just" fontAlgn="base">
              <a:buFont typeface="Arial" pitchFamily="34" charset="0"/>
              <a:buChar char="•"/>
            </a:pPr>
            <a:r>
              <a:rPr lang="en-IN" b="0" dirty="0" smtClean="0"/>
              <a:t>There was a negative balance of payment. </a:t>
            </a:r>
          </a:p>
          <a:p>
            <a:pPr lvl="0" algn="just" fontAlgn="base">
              <a:buFont typeface="Arial" pitchFamily="34" charset="0"/>
              <a:buChar char="•"/>
            </a:pPr>
            <a:r>
              <a:rPr lang="en-IN" b="0" dirty="0" smtClean="0"/>
              <a:t>India was on the verge of becoming a defaulter. As a result, SBI and RBI sold and Pledged Gold in the international market.</a:t>
            </a:r>
          </a:p>
          <a:p>
            <a:pPr lvl="0" algn="just" fontAlgn="base">
              <a:buFont typeface="Arial" pitchFamily="34" charset="0"/>
              <a:buChar char="•"/>
            </a:pPr>
            <a:r>
              <a:rPr lang="en-IN" b="0" dirty="0" smtClean="0"/>
              <a:t>Imports fell(in terms of US Dollars) by 19.4 percent and exports by 26.7 percent.</a:t>
            </a:r>
          </a:p>
          <a:p>
            <a:pPr algn="just" fontAlgn="base">
              <a:buFont typeface="Arial" pitchFamily="34" charset="0"/>
              <a:buChar char="•"/>
            </a:pPr>
            <a:r>
              <a:rPr lang="en-IN" b="0" dirty="0" smtClean="0"/>
              <a:t>India borrowed a loan of $600 million from the World Bank and International Monetary Fund to manage the crisis of 1991. In order to revive the economy, India decided to reform the economy.  </a:t>
            </a:r>
          </a:p>
          <a:p>
            <a:pPr>
              <a:buFont typeface="Arial" pitchFamily="34" charset="0"/>
              <a:buChar char="•"/>
            </a:pP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800" y="643890"/>
            <a:ext cx="7200900" cy="984885"/>
          </a:xfrm>
        </p:spPr>
        <p:txBody>
          <a:bodyPr/>
          <a:lstStyle/>
          <a:p>
            <a:r>
              <a:rPr lang="en-IN" b="1" dirty="0" smtClean="0"/>
              <a:t>Reform Measures</a:t>
            </a:r>
            <a:r>
              <a:rPr lang="en-IN" dirty="0" smtClean="0"/>
              <a:t/>
            </a:r>
            <a:br>
              <a:rPr lang="en-IN" dirty="0" smtClean="0"/>
            </a:br>
            <a:endParaRPr lang="en-IN" dirty="0"/>
          </a:p>
        </p:txBody>
      </p:sp>
      <p:sp>
        <p:nvSpPr>
          <p:cNvPr id="3" name="Text Placeholder 2"/>
          <p:cNvSpPr>
            <a:spLocks noGrp="1"/>
          </p:cNvSpPr>
          <p:nvPr>
            <p:ph type="body" idx="1"/>
          </p:nvPr>
        </p:nvSpPr>
        <p:spPr>
          <a:xfrm>
            <a:off x="534669" y="1285860"/>
            <a:ext cx="8037195" cy="5847755"/>
          </a:xfrm>
        </p:spPr>
        <p:txBody>
          <a:bodyPr/>
          <a:lstStyle/>
          <a:p>
            <a:pPr lvl="0" fontAlgn="base">
              <a:buFont typeface="Arial" pitchFamily="34" charset="0"/>
              <a:buChar char="•"/>
            </a:pPr>
            <a:r>
              <a:rPr lang="en-IN" b="0" dirty="0" smtClean="0"/>
              <a:t>Firstly, the fiscal deficit was reduced, and the New Industrial Policy was announced in July 1991.  </a:t>
            </a:r>
          </a:p>
          <a:p>
            <a:pPr lvl="0" fontAlgn="base">
              <a:buFont typeface="Arial" pitchFamily="34" charset="0"/>
              <a:buChar char="•"/>
            </a:pPr>
            <a:r>
              <a:rPr lang="en-IN" b="0" dirty="0" smtClean="0"/>
              <a:t>The abolition of the Industrial Licensing Policy was established with the amendment of the MRTP Act.</a:t>
            </a:r>
          </a:p>
          <a:p>
            <a:pPr lvl="0" fontAlgn="base">
              <a:buFont typeface="Arial" pitchFamily="34" charset="0"/>
              <a:buChar char="•"/>
            </a:pPr>
            <a:r>
              <a:rPr lang="en-IN" b="0" dirty="0" smtClean="0"/>
              <a:t>There was an open entry for the private sector to areas that were earlier public sector.</a:t>
            </a:r>
          </a:p>
          <a:p>
            <a:pPr lvl="0" fontAlgn="base">
              <a:buFont typeface="Arial" pitchFamily="34" charset="0"/>
              <a:buChar char="•"/>
            </a:pPr>
            <a:r>
              <a:rPr lang="en-IN" b="0" dirty="0" smtClean="0"/>
              <a:t>There was a rise in foreign equity holders from 40% to 51%.</a:t>
            </a:r>
          </a:p>
          <a:p>
            <a:pPr lvl="0" fontAlgn="base">
              <a:buFont typeface="Arial" pitchFamily="34" charset="0"/>
              <a:buChar char="•"/>
            </a:pPr>
            <a:r>
              <a:rPr lang="en-IN" b="0" dirty="0" smtClean="0"/>
              <a:t>The government set up the Foreign Investment Promotion Board(FIPB).</a:t>
            </a:r>
          </a:p>
          <a:p>
            <a:pPr lvl="0" fontAlgn="base">
              <a:buFont typeface="Arial" pitchFamily="34" charset="0"/>
              <a:buChar char="•"/>
            </a:pPr>
            <a:r>
              <a:rPr lang="en-IN" b="0" dirty="0" smtClean="0"/>
              <a:t>Introduction of Indian development Bond scheme to get funds from IMF.</a:t>
            </a:r>
          </a:p>
          <a:p>
            <a:pPr lvl="0" fontAlgn="base">
              <a:buFont typeface="Arial" pitchFamily="34" charset="0"/>
              <a:buChar char="•"/>
            </a:pPr>
            <a:r>
              <a:rPr lang="en-IN" b="0" dirty="0" smtClean="0"/>
              <a:t>Buying back of gold, pledged with Bank of England and Bank of Japan.</a:t>
            </a:r>
          </a:p>
          <a:p>
            <a:pPr lvl="0" fontAlgn="base">
              <a:buFont typeface="Arial" pitchFamily="34" charset="0"/>
              <a:buChar char="•"/>
            </a:pPr>
            <a:r>
              <a:rPr lang="en-IN" b="0" dirty="0" smtClean="0"/>
              <a:t>Measures were laid to control the imports and encourage more export.</a:t>
            </a:r>
          </a:p>
          <a:p>
            <a:pPr lvl="0" fontAlgn="base">
              <a:buFont typeface="Arial" pitchFamily="34" charset="0"/>
              <a:buChar char="•"/>
            </a:pPr>
            <a:r>
              <a:rPr lang="en-IN" b="0" dirty="0" smtClean="0"/>
              <a:t>There was an introduction of Liberalized Exchange Rate Management System.</a:t>
            </a:r>
          </a:p>
          <a:p>
            <a:pPr lvl="0" fontAlgn="base">
              <a:buFont typeface="Arial" pitchFamily="34" charset="0"/>
              <a:buChar char="•"/>
            </a:pPr>
            <a:r>
              <a:rPr lang="en-IN" b="0" dirty="0" smtClean="0"/>
              <a:t>Government eliminated import licenses on capital goods and abolished export duties.</a:t>
            </a:r>
          </a:p>
          <a:p>
            <a:pPr>
              <a:buFont typeface="Arial" pitchFamily="34" charset="0"/>
              <a:buChar char="•"/>
            </a:pPr>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93800" y="643890"/>
            <a:ext cx="7200900" cy="984885"/>
          </a:xfrm>
        </p:spPr>
        <p:txBody>
          <a:bodyPr/>
          <a:lstStyle/>
          <a:p>
            <a:r>
              <a:rPr lang="en-IN" b="1" dirty="0" smtClean="0"/>
              <a:t>Top 15 Countries by GDP in 2022</a:t>
            </a:r>
            <a:br>
              <a:rPr lang="en-IN" b="1" dirty="0" smtClean="0"/>
            </a:br>
            <a:endParaRPr lang="en-IN" dirty="0"/>
          </a:p>
        </p:txBody>
      </p:sp>
      <p:graphicFrame>
        <p:nvGraphicFramePr>
          <p:cNvPr id="7" name="Content Placeholder 6"/>
          <p:cNvGraphicFramePr>
            <a:graphicFrameLocks noGrp="1"/>
          </p:cNvGraphicFramePr>
          <p:nvPr>
            <p:ph sz="half" idx="2"/>
          </p:nvPr>
        </p:nvGraphicFramePr>
        <p:xfrm>
          <a:off x="457200" y="1577975"/>
          <a:ext cx="3978276" cy="4582160"/>
        </p:xfrm>
        <a:graphic>
          <a:graphicData uri="http://schemas.openxmlformats.org/drawingml/2006/table">
            <a:tbl>
              <a:tblPr firstRow="1" bandRow="1">
                <a:tableStyleId>{5C22544A-7EE6-4342-B048-85BDC9FD1C3A}</a:tableStyleId>
              </a:tblPr>
              <a:tblGrid>
                <a:gridCol w="828652"/>
                <a:gridCol w="3149624"/>
              </a:tblGrid>
              <a:tr h="370840">
                <a:tc>
                  <a:txBody>
                    <a:bodyPr/>
                    <a:lstStyle/>
                    <a:p>
                      <a:r>
                        <a:rPr lang="en-IN" dirty="0" smtClean="0"/>
                        <a:t>Rank</a:t>
                      </a:r>
                      <a:endParaRPr lang="en-IN" dirty="0"/>
                    </a:p>
                  </a:txBody>
                  <a:tcPr/>
                </a:tc>
                <a:tc>
                  <a:txBody>
                    <a:bodyPr/>
                    <a:lstStyle/>
                    <a:p>
                      <a:pPr algn="ctr"/>
                      <a:r>
                        <a:rPr lang="en-IN" dirty="0" smtClean="0"/>
                        <a:t>Country</a:t>
                      </a:r>
                      <a:endParaRPr lang="en-IN" dirty="0"/>
                    </a:p>
                  </a:txBody>
                  <a:tcPr/>
                </a:tc>
              </a:tr>
              <a:tr h="370840">
                <a:tc>
                  <a:txBody>
                    <a:bodyPr/>
                    <a:lstStyle/>
                    <a:p>
                      <a:r>
                        <a:rPr lang="en-IN" dirty="0" smtClean="0"/>
                        <a:t>1</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United States: $20.89 trillion</a:t>
                      </a:r>
                    </a:p>
                    <a:p>
                      <a:endParaRPr lang="en-IN" dirty="0"/>
                    </a:p>
                  </a:txBody>
                  <a:tcPr/>
                </a:tc>
              </a:tr>
              <a:tr h="370840">
                <a:tc>
                  <a:txBody>
                    <a:bodyPr/>
                    <a:lstStyle/>
                    <a:p>
                      <a:r>
                        <a:rPr lang="en-IN" dirty="0" smtClean="0"/>
                        <a:t>2</a:t>
                      </a:r>
                      <a:endParaRPr lang="en-IN" dirty="0"/>
                    </a:p>
                  </a:txBody>
                  <a:tcPr/>
                </a:tc>
                <a:tc>
                  <a:txBody>
                    <a:bodyPr/>
                    <a:lstStyle/>
                    <a:p>
                      <a:r>
                        <a:rPr lang="en-IN" sz="1800" dirty="0" smtClean="0">
                          <a:solidFill>
                            <a:schemeClr val="dk1"/>
                          </a:solidFill>
                          <a:latin typeface="+mn-lt"/>
                          <a:ea typeface="+mn-ea"/>
                          <a:cs typeface="+mn-cs"/>
                        </a:rPr>
                        <a:t>China: $14.72 trillion </a:t>
                      </a:r>
                      <a:endParaRPr lang="en-IN" dirty="0"/>
                    </a:p>
                  </a:txBody>
                  <a:tcPr/>
                </a:tc>
              </a:tr>
              <a:tr h="370840">
                <a:tc>
                  <a:txBody>
                    <a:bodyPr/>
                    <a:lstStyle/>
                    <a:p>
                      <a:r>
                        <a:rPr lang="en-IN" dirty="0" smtClean="0"/>
                        <a:t>3</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Japan: $5.06 trillion</a:t>
                      </a:r>
                    </a:p>
                    <a:p>
                      <a:pPr marL="0" marR="0" lvl="0" indent="0" defTabSz="914400" eaLnBrk="1" fontAlgn="auto" latinLnBrk="0" hangingPunct="1">
                        <a:lnSpc>
                          <a:spcPct val="100000"/>
                        </a:lnSpc>
                        <a:spcBef>
                          <a:spcPts val="0"/>
                        </a:spcBef>
                        <a:spcAft>
                          <a:spcPts val="0"/>
                        </a:spcAft>
                        <a:buClrTx/>
                        <a:buSzTx/>
                        <a:buFontTx/>
                        <a:buNone/>
                        <a:tabLst/>
                        <a:defRPr/>
                      </a:pPr>
                      <a:endParaRPr lang="en-IN" dirty="0"/>
                    </a:p>
                  </a:txBody>
                  <a:tcPr/>
                </a:tc>
              </a:tr>
              <a:tr h="370840">
                <a:tc>
                  <a:txBody>
                    <a:bodyPr/>
                    <a:lstStyle/>
                    <a:p>
                      <a:r>
                        <a:rPr lang="en-IN" dirty="0" smtClean="0"/>
                        <a:t>4</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Germany: $3.85 trillion</a:t>
                      </a:r>
                    </a:p>
                    <a:p>
                      <a:endParaRPr lang="en-IN" dirty="0"/>
                    </a:p>
                  </a:txBody>
                  <a:tcPr/>
                </a:tc>
              </a:tr>
              <a:tr h="370840">
                <a:tc>
                  <a:txBody>
                    <a:bodyPr/>
                    <a:lstStyle/>
                    <a:p>
                      <a:r>
                        <a:rPr lang="en-IN" dirty="0" smtClean="0"/>
                        <a:t>5</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United Kingdom: $2.67 trillion</a:t>
                      </a:r>
                    </a:p>
                    <a:p>
                      <a:endParaRPr lang="en-IN" dirty="0"/>
                    </a:p>
                  </a:txBody>
                  <a:tcPr/>
                </a:tc>
              </a:tr>
              <a:tr h="370840">
                <a:tc>
                  <a:txBody>
                    <a:bodyPr/>
                    <a:lstStyle/>
                    <a:p>
                      <a:r>
                        <a:rPr lang="en-IN" dirty="0" smtClean="0"/>
                        <a:t>6</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India: $2.66 trillion</a:t>
                      </a:r>
                    </a:p>
                    <a:p>
                      <a:endParaRPr lang="en-IN" dirty="0"/>
                    </a:p>
                  </a:txBody>
                  <a:tcPr/>
                </a:tc>
              </a:tr>
              <a:tr h="370840">
                <a:tc>
                  <a:txBody>
                    <a:bodyPr/>
                    <a:lstStyle/>
                    <a:p>
                      <a:r>
                        <a:rPr lang="en-IN" dirty="0" smtClean="0"/>
                        <a:t>7</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France: $2.63 trillion</a:t>
                      </a:r>
                    </a:p>
                    <a:p>
                      <a:endParaRPr lang="en-IN" dirty="0"/>
                    </a:p>
                  </a:txBody>
                  <a:tcPr/>
                </a:tc>
              </a:tr>
            </a:tbl>
          </a:graphicData>
        </a:graphic>
      </p:graphicFrame>
      <p:graphicFrame>
        <p:nvGraphicFramePr>
          <p:cNvPr id="8" name="Content Placeholder 7"/>
          <p:cNvGraphicFramePr>
            <a:graphicFrameLocks noGrp="1"/>
          </p:cNvGraphicFramePr>
          <p:nvPr>
            <p:ph sz="half" idx="3"/>
          </p:nvPr>
        </p:nvGraphicFramePr>
        <p:xfrm>
          <a:off x="4708525" y="1577975"/>
          <a:ext cx="3978276" cy="5451465"/>
        </p:xfrm>
        <a:graphic>
          <a:graphicData uri="http://schemas.openxmlformats.org/drawingml/2006/table">
            <a:tbl>
              <a:tblPr firstRow="1" bandRow="1">
                <a:tableStyleId>{5C22544A-7EE6-4342-B048-85BDC9FD1C3A}</a:tableStyleId>
              </a:tblPr>
              <a:tblGrid>
                <a:gridCol w="1006483"/>
                <a:gridCol w="2971793"/>
              </a:tblGrid>
              <a:tr h="422265">
                <a:tc>
                  <a:txBody>
                    <a:bodyPr/>
                    <a:lstStyle/>
                    <a:p>
                      <a:r>
                        <a:rPr lang="en-IN" dirty="0" smtClean="0"/>
                        <a:t>Rank</a:t>
                      </a:r>
                      <a:endParaRPr lang="en-IN" dirty="0"/>
                    </a:p>
                  </a:txBody>
                  <a:tcPr/>
                </a:tc>
                <a:tc>
                  <a:txBody>
                    <a:bodyPr/>
                    <a:lstStyle/>
                    <a:p>
                      <a:pPr marL="0" marR="0" indent="0" algn="ctr" defTabSz="914400" eaLnBrk="1" fontAlgn="auto" latinLnBrk="0" hangingPunct="1">
                        <a:lnSpc>
                          <a:spcPct val="100000"/>
                        </a:lnSpc>
                        <a:spcBef>
                          <a:spcPts val="0"/>
                        </a:spcBef>
                        <a:spcAft>
                          <a:spcPts val="0"/>
                        </a:spcAft>
                        <a:buClrTx/>
                        <a:buSzTx/>
                        <a:buFontTx/>
                        <a:buNone/>
                        <a:tabLst/>
                        <a:defRPr/>
                      </a:pPr>
                      <a:r>
                        <a:rPr lang="en-IN" dirty="0" smtClean="0"/>
                        <a:t>Country</a:t>
                      </a:r>
                      <a:endParaRPr lang="en-IN" dirty="0"/>
                    </a:p>
                  </a:txBody>
                  <a:tcPr/>
                </a:tc>
              </a:tr>
              <a:tr h="370840">
                <a:tc>
                  <a:txBody>
                    <a:bodyPr/>
                    <a:lstStyle/>
                    <a:p>
                      <a:r>
                        <a:rPr lang="en-IN" dirty="0" smtClean="0"/>
                        <a:t>8</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Italy: $1.89 trillion</a:t>
                      </a:r>
                    </a:p>
                    <a:p>
                      <a:endParaRPr lang="en-IN" dirty="0"/>
                    </a:p>
                  </a:txBody>
                  <a:tcPr/>
                </a:tc>
              </a:tr>
              <a:tr h="370840">
                <a:tc>
                  <a:txBody>
                    <a:bodyPr/>
                    <a:lstStyle/>
                    <a:p>
                      <a:r>
                        <a:rPr lang="en-IN" dirty="0" smtClean="0"/>
                        <a:t>9</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Canada: $1.64 trillion</a:t>
                      </a:r>
                    </a:p>
                    <a:p>
                      <a:endParaRPr lang="en-IN" dirty="0"/>
                    </a:p>
                  </a:txBody>
                  <a:tcPr/>
                </a:tc>
              </a:tr>
              <a:tr h="370840">
                <a:tc>
                  <a:txBody>
                    <a:bodyPr/>
                    <a:lstStyle/>
                    <a:p>
                      <a:r>
                        <a:rPr lang="en-IN" dirty="0" smtClean="0"/>
                        <a:t>10</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South Korea: $1.63 trillion</a:t>
                      </a:r>
                    </a:p>
                    <a:p>
                      <a:endParaRPr lang="en-IN" dirty="0"/>
                    </a:p>
                  </a:txBody>
                  <a:tcPr/>
                </a:tc>
              </a:tr>
              <a:tr h="370840">
                <a:tc>
                  <a:txBody>
                    <a:bodyPr/>
                    <a:lstStyle/>
                    <a:p>
                      <a:r>
                        <a:rPr lang="en-IN" dirty="0" smtClean="0"/>
                        <a:t>11</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Russia: $1.48 trillion</a:t>
                      </a:r>
                    </a:p>
                    <a:p>
                      <a:endParaRPr lang="en-IN" dirty="0"/>
                    </a:p>
                  </a:txBody>
                  <a:tcPr/>
                </a:tc>
              </a:tr>
              <a:tr h="370840">
                <a:tc>
                  <a:txBody>
                    <a:bodyPr/>
                    <a:lstStyle/>
                    <a:p>
                      <a:r>
                        <a:rPr lang="en-IN" dirty="0" smtClean="0"/>
                        <a:t>12</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Brazil: $1.44 trillion</a:t>
                      </a:r>
                    </a:p>
                    <a:p>
                      <a:endParaRPr lang="en-IN" dirty="0"/>
                    </a:p>
                  </a:txBody>
                  <a:tcPr/>
                </a:tc>
              </a:tr>
              <a:tr h="370840">
                <a:tc>
                  <a:txBody>
                    <a:bodyPr/>
                    <a:lstStyle/>
                    <a:p>
                      <a:r>
                        <a:rPr lang="en-IN" dirty="0" smtClean="0"/>
                        <a:t>13</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Australia: $1.32 trillion</a:t>
                      </a:r>
                    </a:p>
                    <a:p>
                      <a:endParaRPr lang="en-IN" dirty="0"/>
                    </a:p>
                  </a:txBody>
                  <a:tcPr/>
                </a:tc>
              </a:tr>
              <a:tr h="370840">
                <a:tc>
                  <a:txBody>
                    <a:bodyPr/>
                    <a:lstStyle/>
                    <a:p>
                      <a:r>
                        <a:rPr lang="en-IN" dirty="0" smtClean="0"/>
                        <a:t>14</a:t>
                      </a:r>
                    </a:p>
                    <a:p>
                      <a:endParaRPr lang="en-IN" dirty="0" smtClean="0"/>
                    </a:p>
                    <a:p>
                      <a:r>
                        <a:rPr lang="en-IN" dirty="0" smtClean="0"/>
                        <a:t>15</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Spain: $1.28 trillion</a:t>
                      </a:r>
                    </a:p>
                    <a:p>
                      <a:pPr marL="0" marR="0" lvl="0" indent="0" defTabSz="914400" eaLnBrk="1" fontAlgn="auto" latinLnBrk="0" hangingPunct="1">
                        <a:lnSpc>
                          <a:spcPct val="100000"/>
                        </a:lnSpc>
                        <a:spcBef>
                          <a:spcPts val="0"/>
                        </a:spcBef>
                        <a:spcAft>
                          <a:spcPts val="0"/>
                        </a:spcAft>
                        <a:buClrTx/>
                        <a:buSzTx/>
                        <a:buFontTx/>
                        <a:buNone/>
                        <a:tabLst/>
                        <a:defRPr/>
                      </a:pPr>
                      <a:endParaRPr lang="en-IN" sz="1800" dirty="0" smtClean="0">
                        <a:solidFill>
                          <a:schemeClr val="dk1"/>
                        </a:solidFill>
                        <a:latin typeface="+mn-lt"/>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lang="en-IN" sz="1800" dirty="0" smtClean="0">
                          <a:solidFill>
                            <a:schemeClr val="dk1"/>
                          </a:solidFill>
                          <a:latin typeface="+mn-lt"/>
                          <a:ea typeface="+mn-ea"/>
                          <a:cs typeface="+mn-cs"/>
                        </a:rPr>
                        <a:t>Indonesia: $1.05 trillion</a:t>
                      </a:r>
                    </a:p>
                    <a:p>
                      <a:endParaRPr lang="en-IN" dirty="0"/>
                    </a:p>
                  </a:txBody>
                  <a:tcPr/>
                </a:tc>
              </a:tr>
            </a:tbl>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93800" y="643890"/>
            <a:ext cx="7200900" cy="492443"/>
          </a:xfrm>
        </p:spPr>
        <p:txBody>
          <a:bodyPr/>
          <a:lstStyle/>
          <a:p>
            <a:r>
              <a:rPr lang="en-IN" dirty="0" smtClean="0"/>
              <a:t>Difference b/w Monetary &amp; Fiscal Policy</a:t>
            </a:r>
            <a:endParaRPr lang="en-IN" dirty="0"/>
          </a:p>
        </p:txBody>
      </p:sp>
      <p:graphicFrame>
        <p:nvGraphicFramePr>
          <p:cNvPr id="12" name="Content Placeholder 11"/>
          <p:cNvGraphicFramePr>
            <a:graphicFrameLocks noGrp="1"/>
          </p:cNvGraphicFramePr>
          <p:nvPr>
            <p:ph sz="half" idx="2"/>
          </p:nvPr>
        </p:nvGraphicFramePr>
        <p:xfrm>
          <a:off x="457200" y="1577975"/>
          <a:ext cx="3757610" cy="4404360"/>
        </p:xfrm>
        <a:graphic>
          <a:graphicData uri="http://schemas.openxmlformats.org/drawingml/2006/table">
            <a:tbl>
              <a:tblPr firstRow="1" bandRow="1">
                <a:tableStyleId>{21E4AEA4-8DFA-4A89-87EB-49C32662AFE0}</a:tableStyleId>
              </a:tblPr>
              <a:tblGrid>
                <a:gridCol w="1185842"/>
                <a:gridCol w="2571768"/>
              </a:tblGrid>
              <a:tr h="370840">
                <a:tc>
                  <a:txBody>
                    <a:bodyPr/>
                    <a:lstStyle/>
                    <a:p>
                      <a:endParaRPr lang="en-IN" dirty="0"/>
                    </a:p>
                  </a:txBody>
                  <a:tcPr/>
                </a:tc>
                <a:tc>
                  <a:txBody>
                    <a:bodyPr/>
                    <a:lstStyle/>
                    <a:p>
                      <a:r>
                        <a:rPr lang="en-IN" dirty="0" smtClean="0"/>
                        <a:t>Monetary policy</a:t>
                      </a:r>
                      <a:endParaRPr lang="en-IN" dirty="0"/>
                    </a:p>
                  </a:txBody>
                  <a:tcPr/>
                </a:tc>
              </a:tr>
              <a:tr h="370840">
                <a:tc>
                  <a:txBody>
                    <a:bodyPr/>
                    <a:lstStyle/>
                    <a:p>
                      <a:r>
                        <a:rPr lang="en-IN" sz="1800" b="1" dirty="0" smtClean="0"/>
                        <a:t>Definition</a:t>
                      </a:r>
                      <a:endParaRPr lang="en-IN" b="1" dirty="0"/>
                    </a:p>
                  </a:txBody>
                  <a:tcPr/>
                </a:tc>
                <a:tc>
                  <a:txBody>
                    <a:bodyPr/>
                    <a:lstStyle/>
                    <a:p>
                      <a:pPr algn="just"/>
                      <a:r>
                        <a:rPr lang="en-IN" sz="1800" dirty="0" smtClean="0">
                          <a:solidFill>
                            <a:schemeClr val="dk1"/>
                          </a:solidFill>
                          <a:latin typeface="+mn-lt"/>
                          <a:ea typeface="+mn-ea"/>
                          <a:cs typeface="+mn-cs"/>
                        </a:rPr>
                        <a:t>It is a financial tool that is used by the central banks in regulating the flow of money and the interest rates in an economy.</a:t>
                      </a:r>
                      <a:endParaRPr lang="en-IN" dirty="0"/>
                    </a:p>
                  </a:txBody>
                  <a:tcPr/>
                </a:tc>
              </a:tr>
              <a:tr h="370840">
                <a:tc>
                  <a:txBody>
                    <a:bodyPr/>
                    <a:lstStyle/>
                    <a:p>
                      <a:endParaRPr lang="en-IN"/>
                    </a:p>
                  </a:txBody>
                  <a:tcPr/>
                </a:tc>
                <a:tc>
                  <a:txBody>
                    <a:bodyPr/>
                    <a:lstStyle/>
                    <a:p>
                      <a:pPr algn="just"/>
                      <a:endParaRPr lang="en-IN" dirty="0"/>
                    </a:p>
                  </a:txBody>
                  <a:tcPr/>
                </a:tc>
              </a:tr>
              <a:tr h="370840">
                <a:tc>
                  <a:txBody>
                    <a:bodyPr/>
                    <a:lstStyle/>
                    <a:p>
                      <a:r>
                        <a:rPr lang="en-IN" sz="1800" b="1" dirty="0" smtClean="0">
                          <a:solidFill>
                            <a:schemeClr val="dk1"/>
                          </a:solidFill>
                          <a:latin typeface="+mn-lt"/>
                          <a:ea typeface="+mn-ea"/>
                          <a:cs typeface="+mn-cs"/>
                        </a:rPr>
                        <a:t>Managed By</a:t>
                      </a:r>
                      <a:endParaRPr lang="en-IN" dirty="0"/>
                    </a:p>
                  </a:txBody>
                  <a:tcPr/>
                </a:tc>
                <a:tc>
                  <a:txBody>
                    <a:bodyPr/>
                    <a:lstStyle/>
                    <a:p>
                      <a:pPr algn="just"/>
                      <a:r>
                        <a:rPr lang="en-IN" sz="1800" dirty="0" smtClean="0">
                          <a:solidFill>
                            <a:schemeClr val="dk1"/>
                          </a:solidFill>
                          <a:latin typeface="+mn-lt"/>
                          <a:ea typeface="+mn-ea"/>
                          <a:cs typeface="+mn-cs"/>
                        </a:rPr>
                        <a:t>Central Bank of an economy</a:t>
                      </a:r>
                      <a:endParaRPr lang="en-IN" dirty="0"/>
                    </a:p>
                  </a:txBody>
                  <a:tcPr/>
                </a:tc>
              </a:tr>
              <a:tr h="370840">
                <a:tc>
                  <a:txBody>
                    <a:bodyPr/>
                    <a:lstStyle/>
                    <a:p>
                      <a:r>
                        <a:rPr lang="en-IN" sz="1800" b="1" dirty="0" smtClean="0">
                          <a:solidFill>
                            <a:schemeClr val="dk1"/>
                          </a:solidFill>
                          <a:latin typeface="+mn-lt"/>
                          <a:ea typeface="+mn-ea"/>
                          <a:cs typeface="+mn-cs"/>
                        </a:rPr>
                        <a:t>Measures</a:t>
                      </a:r>
                      <a:endParaRPr lang="en-IN" dirty="0"/>
                    </a:p>
                  </a:txBody>
                  <a:tcPr/>
                </a:tc>
                <a:tc>
                  <a:txBody>
                    <a:bodyPr/>
                    <a:lstStyle/>
                    <a:p>
                      <a:pPr algn="just"/>
                      <a:r>
                        <a:rPr lang="en-IN" sz="1800" dirty="0" smtClean="0">
                          <a:solidFill>
                            <a:schemeClr val="dk1"/>
                          </a:solidFill>
                          <a:latin typeface="+mn-lt"/>
                          <a:ea typeface="+mn-ea"/>
                          <a:cs typeface="+mn-cs"/>
                        </a:rPr>
                        <a:t>It measures the interest rates applicable for lending money in the economy</a:t>
                      </a:r>
                      <a:endParaRPr lang="en-IN" dirty="0"/>
                    </a:p>
                  </a:txBody>
                  <a:tcPr/>
                </a:tc>
              </a:tr>
              <a:tr h="370840">
                <a:tc>
                  <a:txBody>
                    <a:bodyPr/>
                    <a:lstStyle/>
                    <a:p>
                      <a:endParaRPr lang="en-IN"/>
                    </a:p>
                  </a:txBody>
                  <a:tcPr/>
                </a:tc>
                <a:tc>
                  <a:txBody>
                    <a:bodyPr/>
                    <a:lstStyle/>
                    <a:p>
                      <a:endParaRPr lang="en-IN" dirty="0"/>
                    </a:p>
                  </a:txBody>
                  <a:tcPr/>
                </a:tc>
              </a:tr>
            </a:tbl>
          </a:graphicData>
        </a:graphic>
      </p:graphicFrame>
      <p:graphicFrame>
        <p:nvGraphicFramePr>
          <p:cNvPr id="14" name="Content Placeholder 13"/>
          <p:cNvGraphicFramePr>
            <a:graphicFrameLocks noGrp="1"/>
          </p:cNvGraphicFramePr>
          <p:nvPr>
            <p:ph sz="half" idx="3"/>
          </p:nvPr>
        </p:nvGraphicFramePr>
        <p:xfrm>
          <a:off x="4708525" y="1577975"/>
          <a:ext cx="3006747" cy="4156383"/>
        </p:xfrm>
        <a:graphic>
          <a:graphicData uri="http://schemas.openxmlformats.org/drawingml/2006/table">
            <a:tbl>
              <a:tblPr firstRow="1" bandRow="1">
                <a:tableStyleId>{F5AB1C69-6EDB-4FF4-983F-18BD219EF322}</a:tableStyleId>
              </a:tblPr>
              <a:tblGrid>
                <a:gridCol w="3006747"/>
              </a:tblGrid>
              <a:tr h="493703">
                <a:tc>
                  <a:txBody>
                    <a:bodyPr/>
                    <a:lstStyle/>
                    <a:p>
                      <a:r>
                        <a:rPr lang="en-IN" dirty="0" smtClean="0"/>
                        <a:t>Fiscal policy</a:t>
                      </a:r>
                      <a:endParaRPr lang="en-IN" dirty="0"/>
                    </a:p>
                  </a:txBody>
                  <a:tcPr/>
                </a:tc>
              </a:tr>
              <a:tr h="1428760">
                <a:tc>
                  <a:txBody>
                    <a:bodyPr/>
                    <a:lstStyle/>
                    <a:p>
                      <a:pPr algn="just"/>
                      <a:r>
                        <a:rPr lang="en-IN" sz="1800" dirty="0" smtClean="0">
                          <a:solidFill>
                            <a:schemeClr val="dk1"/>
                          </a:solidFill>
                          <a:latin typeface="+mn-lt"/>
                          <a:ea typeface="+mn-ea"/>
                          <a:cs typeface="+mn-cs"/>
                        </a:rPr>
                        <a:t>It is a financial tool that is used by the central government in managing tax revenues and policies related to expenditure for the benefit of the economy.</a:t>
                      </a:r>
                      <a:endParaRPr lang="en-IN" dirty="0"/>
                    </a:p>
                  </a:txBody>
                  <a:tcPr/>
                </a:tc>
              </a:tr>
              <a:tr h="370840">
                <a:tc>
                  <a:txBody>
                    <a:bodyPr/>
                    <a:lstStyle/>
                    <a:p>
                      <a:pPr algn="just"/>
                      <a:r>
                        <a:rPr lang="en-IN" sz="1800" dirty="0" smtClean="0">
                          <a:solidFill>
                            <a:schemeClr val="dk1"/>
                          </a:solidFill>
                          <a:latin typeface="+mn-lt"/>
                          <a:ea typeface="+mn-ea"/>
                          <a:cs typeface="+mn-cs"/>
                        </a:rPr>
                        <a:t>Ministry of Finance of an economy</a:t>
                      </a:r>
                      <a:endParaRPr lang="en-IN" dirty="0"/>
                    </a:p>
                  </a:txBody>
                  <a:tcPr/>
                </a:tc>
              </a:tr>
              <a:tr h="370840">
                <a:tc>
                  <a:txBody>
                    <a:bodyPr/>
                    <a:lstStyle/>
                    <a:p>
                      <a:pPr algn="just"/>
                      <a:r>
                        <a:rPr lang="en-IN" sz="1800" dirty="0" smtClean="0">
                          <a:solidFill>
                            <a:schemeClr val="dk1"/>
                          </a:solidFill>
                          <a:latin typeface="+mn-lt"/>
                          <a:ea typeface="+mn-ea"/>
                          <a:cs typeface="+mn-cs"/>
                        </a:rPr>
                        <a:t>It measures the capital expenditure and taxes of an economy</a:t>
                      </a:r>
                      <a:endParaRPr lang="en-IN" dirty="0"/>
                    </a:p>
                  </a:txBody>
                  <a:tcPr/>
                </a:tc>
              </a:tr>
              <a:tr h="370840">
                <a:tc>
                  <a:txBody>
                    <a:bodyPr/>
                    <a:lstStyle/>
                    <a:p>
                      <a:endParaRPr lang="en-IN" dirty="0"/>
                    </a:p>
                  </a:txBody>
                  <a:tcPr/>
                </a:tc>
              </a:tr>
            </a:tbl>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193800" y="643890"/>
            <a:ext cx="7200900" cy="492443"/>
          </a:xfrm>
        </p:spPr>
        <p:txBody>
          <a:bodyPr/>
          <a:lstStyle/>
          <a:p>
            <a:r>
              <a:rPr lang="en-IN" dirty="0" smtClean="0"/>
              <a:t>Difference b/w Monetary &amp; Fiscal Policy</a:t>
            </a:r>
            <a:endParaRPr lang="en-IN" dirty="0"/>
          </a:p>
        </p:txBody>
      </p:sp>
      <p:graphicFrame>
        <p:nvGraphicFramePr>
          <p:cNvPr id="12" name="Content Placeholder 11"/>
          <p:cNvGraphicFramePr>
            <a:graphicFrameLocks noGrp="1"/>
          </p:cNvGraphicFramePr>
          <p:nvPr>
            <p:ph sz="half" idx="2"/>
          </p:nvPr>
        </p:nvGraphicFramePr>
        <p:xfrm>
          <a:off x="457200" y="1577975"/>
          <a:ext cx="3757610" cy="3850640"/>
        </p:xfrm>
        <a:graphic>
          <a:graphicData uri="http://schemas.openxmlformats.org/drawingml/2006/table">
            <a:tbl>
              <a:tblPr firstRow="1" bandRow="1">
                <a:tableStyleId>{21E4AEA4-8DFA-4A89-87EB-49C32662AFE0}</a:tableStyleId>
              </a:tblPr>
              <a:tblGrid>
                <a:gridCol w="1185842"/>
                <a:gridCol w="2571768"/>
              </a:tblGrid>
              <a:tr h="370840">
                <a:tc>
                  <a:txBody>
                    <a:bodyPr/>
                    <a:lstStyle/>
                    <a:p>
                      <a:endParaRPr lang="en-IN" dirty="0"/>
                    </a:p>
                  </a:txBody>
                  <a:tcPr/>
                </a:tc>
                <a:tc>
                  <a:txBody>
                    <a:bodyPr/>
                    <a:lstStyle/>
                    <a:p>
                      <a:r>
                        <a:rPr lang="en-IN" dirty="0" smtClean="0"/>
                        <a:t>Monetary policy</a:t>
                      </a:r>
                      <a:endParaRPr lang="en-IN" dirty="0"/>
                    </a:p>
                  </a:txBody>
                  <a:tcPr/>
                </a:tc>
              </a:tr>
              <a:tr h="370840">
                <a:tc>
                  <a:txBody>
                    <a:bodyPr/>
                    <a:lstStyle/>
                    <a:p>
                      <a:r>
                        <a:rPr lang="en-IN" sz="1800" b="1" dirty="0" smtClean="0">
                          <a:solidFill>
                            <a:schemeClr val="dk1"/>
                          </a:solidFill>
                          <a:latin typeface="+mn-lt"/>
                          <a:ea typeface="+mn-ea"/>
                          <a:cs typeface="+mn-cs"/>
                        </a:rPr>
                        <a:t>Focus Area</a:t>
                      </a:r>
                      <a:endParaRPr lang="en-IN" b="1" dirty="0"/>
                    </a:p>
                  </a:txBody>
                  <a:tcPr/>
                </a:tc>
                <a:tc>
                  <a:txBody>
                    <a:bodyPr/>
                    <a:lstStyle/>
                    <a:p>
                      <a:pPr algn="just"/>
                      <a:r>
                        <a:rPr lang="en-IN" sz="1800" dirty="0" smtClean="0">
                          <a:solidFill>
                            <a:schemeClr val="dk1"/>
                          </a:solidFill>
                          <a:latin typeface="+mn-lt"/>
                          <a:ea typeface="+mn-ea"/>
                          <a:cs typeface="+mn-cs"/>
                        </a:rPr>
                        <a:t>Stability of an economy.</a:t>
                      </a:r>
                      <a:endParaRPr lang="en-IN" dirty="0"/>
                    </a:p>
                  </a:txBody>
                  <a:tcPr/>
                </a:tc>
              </a:tr>
              <a:tr h="370840">
                <a:tc>
                  <a:txBody>
                    <a:bodyPr/>
                    <a:lstStyle/>
                    <a:p>
                      <a:endParaRPr lang="en-IN"/>
                    </a:p>
                  </a:txBody>
                  <a:tcPr/>
                </a:tc>
                <a:tc>
                  <a:txBody>
                    <a:bodyPr/>
                    <a:lstStyle/>
                    <a:p>
                      <a:pPr algn="just"/>
                      <a:endParaRPr lang="en-IN" dirty="0"/>
                    </a:p>
                  </a:txBody>
                  <a:tcPr/>
                </a:tc>
              </a:tr>
              <a:tr h="370840">
                <a:tc>
                  <a:txBody>
                    <a:bodyPr/>
                    <a:lstStyle/>
                    <a:p>
                      <a:r>
                        <a:rPr lang="en-IN" sz="1800" b="1" dirty="0" smtClean="0">
                          <a:solidFill>
                            <a:schemeClr val="dk1"/>
                          </a:solidFill>
                          <a:latin typeface="+mn-lt"/>
                          <a:ea typeface="+mn-ea"/>
                          <a:cs typeface="+mn-cs"/>
                        </a:rPr>
                        <a:t>Impact on Exchange rates</a:t>
                      </a:r>
                      <a:endParaRPr lang="en-IN" dirty="0"/>
                    </a:p>
                  </a:txBody>
                  <a:tcPr/>
                </a:tc>
                <a:tc>
                  <a:txBody>
                    <a:bodyPr/>
                    <a:lstStyle/>
                    <a:p>
                      <a:pPr algn="just"/>
                      <a:r>
                        <a:rPr lang="en-IN" sz="1800" dirty="0" smtClean="0">
                          <a:solidFill>
                            <a:schemeClr val="dk1"/>
                          </a:solidFill>
                          <a:latin typeface="+mn-lt"/>
                          <a:ea typeface="+mn-ea"/>
                          <a:cs typeface="+mn-cs"/>
                        </a:rPr>
                        <a:t>Exchange rates improve when there is higher interest rates</a:t>
                      </a:r>
                      <a:endParaRPr lang="en-IN" dirty="0"/>
                    </a:p>
                  </a:txBody>
                  <a:tcPr/>
                </a:tc>
              </a:tr>
              <a:tr h="370840">
                <a:tc>
                  <a:txBody>
                    <a:bodyPr/>
                    <a:lstStyle/>
                    <a:p>
                      <a:r>
                        <a:rPr lang="en-IN" sz="1800" b="1" dirty="0" smtClean="0">
                          <a:solidFill>
                            <a:schemeClr val="dk1"/>
                          </a:solidFill>
                          <a:latin typeface="+mn-lt"/>
                          <a:ea typeface="+mn-ea"/>
                          <a:cs typeface="+mn-cs"/>
                        </a:rPr>
                        <a:t>Targets</a:t>
                      </a:r>
                      <a:endParaRPr lang="en-IN" dirty="0"/>
                    </a:p>
                  </a:txBody>
                  <a:tcPr/>
                </a:tc>
                <a:tc>
                  <a:txBody>
                    <a:bodyPr/>
                    <a:lstStyle/>
                    <a:p>
                      <a:pPr algn="just"/>
                      <a:r>
                        <a:rPr lang="en-IN" sz="1800" dirty="0" smtClean="0">
                          <a:solidFill>
                            <a:schemeClr val="dk1"/>
                          </a:solidFill>
                          <a:latin typeface="+mn-lt"/>
                          <a:ea typeface="+mn-ea"/>
                          <a:cs typeface="+mn-cs"/>
                        </a:rPr>
                        <a:t>Monetary policy targets inflation in an economy</a:t>
                      </a:r>
                      <a:endParaRPr lang="en-IN" dirty="0"/>
                    </a:p>
                  </a:txBody>
                  <a:tcPr/>
                </a:tc>
              </a:tr>
              <a:tr h="370840">
                <a:tc>
                  <a:txBody>
                    <a:bodyPr/>
                    <a:lstStyle/>
                    <a:p>
                      <a:r>
                        <a:rPr lang="en-IN" sz="1800" b="1" dirty="0" smtClean="0">
                          <a:solidFill>
                            <a:schemeClr val="dk1"/>
                          </a:solidFill>
                          <a:latin typeface="+mn-lt"/>
                          <a:ea typeface="+mn-ea"/>
                          <a:cs typeface="+mn-cs"/>
                        </a:rPr>
                        <a:t>Impact</a:t>
                      </a:r>
                      <a:endParaRPr lang="en-IN" dirty="0"/>
                    </a:p>
                  </a:txBody>
                  <a:tcPr/>
                </a:tc>
                <a:tc>
                  <a:txBody>
                    <a:bodyPr/>
                    <a:lstStyle/>
                    <a:p>
                      <a:r>
                        <a:rPr lang="en-IN" sz="1800" dirty="0" smtClean="0">
                          <a:solidFill>
                            <a:schemeClr val="dk1"/>
                          </a:solidFill>
                          <a:latin typeface="+mn-lt"/>
                          <a:ea typeface="+mn-ea"/>
                          <a:cs typeface="+mn-cs"/>
                        </a:rPr>
                        <a:t>Monetary policy has an impact on the borrowing in an economy</a:t>
                      </a:r>
                      <a:endParaRPr lang="en-IN" dirty="0"/>
                    </a:p>
                  </a:txBody>
                  <a:tcPr/>
                </a:tc>
              </a:tr>
            </a:tbl>
          </a:graphicData>
        </a:graphic>
      </p:graphicFrame>
      <p:graphicFrame>
        <p:nvGraphicFramePr>
          <p:cNvPr id="14" name="Content Placeholder 13"/>
          <p:cNvGraphicFramePr>
            <a:graphicFrameLocks noGrp="1"/>
          </p:cNvGraphicFramePr>
          <p:nvPr>
            <p:ph sz="half" idx="3"/>
          </p:nvPr>
        </p:nvGraphicFramePr>
        <p:xfrm>
          <a:off x="4708525" y="1577975"/>
          <a:ext cx="3006747" cy="3704403"/>
        </p:xfrm>
        <a:graphic>
          <a:graphicData uri="http://schemas.openxmlformats.org/drawingml/2006/table">
            <a:tbl>
              <a:tblPr firstRow="1" bandRow="1">
                <a:tableStyleId>{F5AB1C69-6EDB-4FF4-983F-18BD219EF322}</a:tableStyleId>
              </a:tblPr>
              <a:tblGrid>
                <a:gridCol w="3006747"/>
              </a:tblGrid>
              <a:tr h="493703">
                <a:tc>
                  <a:txBody>
                    <a:bodyPr/>
                    <a:lstStyle/>
                    <a:p>
                      <a:r>
                        <a:rPr lang="en-IN" dirty="0" smtClean="0"/>
                        <a:t>Fiscal policy</a:t>
                      </a:r>
                      <a:endParaRPr lang="en-IN" dirty="0"/>
                    </a:p>
                  </a:txBody>
                  <a:tcPr/>
                </a:tc>
              </a:tr>
              <a:tr h="785818">
                <a:tc>
                  <a:txBody>
                    <a:bodyPr/>
                    <a:lstStyle/>
                    <a:p>
                      <a:pPr algn="just"/>
                      <a:r>
                        <a:rPr lang="en-IN" sz="1800" dirty="0" smtClean="0">
                          <a:solidFill>
                            <a:schemeClr val="dk1"/>
                          </a:solidFill>
                          <a:latin typeface="+mn-lt"/>
                          <a:ea typeface="+mn-ea"/>
                          <a:cs typeface="+mn-cs"/>
                        </a:rPr>
                        <a:t>Growth of an economy.</a:t>
                      </a:r>
                      <a:endParaRPr lang="en-IN" dirty="0"/>
                    </a:p>
                  </a:txBody>
                  <a:tcPr/>
                </a:tc>
              </a:tr>
              <a:tr h="1071570">
                <a:tc>
                  <a:txBody>
                    <a:bodyPr/>
                    <a:lstStyle/>
                    <a:p>
                      <a:pPr algn="just"/>
                      <a:endParaRPr lang="en-IN" sz="1800" dirty="0" smtClean="0">
                        <a:solidFill>
                          <a:schemeClr val="dk1"/>
                        </a:solidFill>
                        <a:latin typeface="+mn-lt"/>
                        <a:ea typeface="+mn-ea"/>
                        <a:cs typeface="+mn-cs"/>
                      </a:endParaRPr>
                    </a:p>
                    <a:p>
                      <a:pPr algn="just"/>
                      <a:r>
                        <a:rPr lang="en-IN" sz="1800" dirty="0" smtClean="0">
                          <a:solidFill>
                            <a:schemeClr val="dk1"/>
                          </a:solidFill>
                          <a:latin typeface="+mn-lt"/>
                          <a:ea typeface="+mn-ea"/>
                          <a:cs typeface="+mn-cs"/>
                        </a:rPr>
                        <a:t>It has no impact on the exchange rates</a:t>
                      </a:r>
                      <a:endParaRPr lang="en-IN" dirty="0"/>
                    </a:p>
                  </a:txBody>
                  <a:tcPr/>
                </a:tc>
              </a:tr>
              <a:tr h="370840">
                <a:tc>
                  <a:txBody>
                    <a:bodyPr/>
                    <a:lstStyle/>
                    <a:p>
                      <a:pPr algn="just"/>
                      <a:r>
                        <a:rPr lang="en-IN" sz="1800" dirty="0" smtClean="0">
                          <a:solidFill>
                            <a:schemeClr val="dk1"/>
                          </a:solidFill>
                          <a:latin typeface="+mn-lt"/>
                          <a:ea typeface="+mn-ea"/>
                          <a:cs typeface="+mn-cs"/>
                        </a:rPr>
                        <a:t>Fiscal policy does not have any specific target</a:t>
                      </a:r>
                      <a:endParaRPr lang="en-IN" dirty="0"/>
                    </a:p>
                  </a:txBody>
                  <a:tcPr/>
                </a:tc>
              </a:tr>
              <a:tr h="370840">
                <a:tc>
                  <a:txBody>
                    <a:bodyPr/>
                    <a:lstStyle/>
                    <a:p>
                      <a:pPr>
                        <a:lnSpc>
                          <a:spcPct val="115000"/>
                        </a:lnSpc>
                        <a:spcAft>
                          <a:spcPts val="0"/>
                        </a:spcAft>
                      </a:pPr>
                      <a:r>
                        <a:rPr lang="en-IN" sz="1600" dirty="0">
                          <a:solidFill>
                            <a:srgbClr val="333333"/>
                          </a:solidFill>
                          <a:latin typeface="Arial"/>
                          <a:ea typeface="Times New Roman"/>
                          <a:cs typeface="Times New Roman"/>
                        </a:rPr>
                        <a:t>Fiscal policy has an impact on the </a:t>
                      </a:r>
                      <a:r>
                        <a:rPr lang="en-IN" sz="1600">
                          <a:solidFill>
                            <a:srgbClr val="333333"/>
                          </a:solidFill>
                          <a:latin typeface="Arial"/>
                          <a:ea typeface="Times New Roman"/>
                          <a:cs typeface="Times New Roman"/>
                        </a:rPr>
                        <a:t>budget </a:t>
                      </a:r>
                      <a:r>
                        <a:rPr lang="en-IN" sz="1600" smtClean="0">
                          <a:solidFill>
                            <a:srgbClr val="333333"/>
                          </a:solidFill>
                          <a:latin typeface="Arial"/>
                          <a:ea typeface="Times New Roman"/>
                          <a:cs typeface="Times New Roman"/>
                        </a:rPr>
                        <a:t>deficit.</a:t>
                      </a:r>
                      <a:endParaRPr lang="en-IN" sz="1600" dirty="0">
                        <a:latin typeface="Calibri"/>
                        <a:ea typeface="Calibri"/>
                        <a:cs typeface="Times New Roman"/>
                      </a:endParaRPr>
                    </a:p>
                  </a:txBody>
                  <a:tcPr marL="76200" marR="76200" marT="76200" marB="76200"/>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99</TotalTime>
  <Words>2969</Words>
  <Application>Microsoft Office PowerPoint</Application>
  <PresentationFormat>On-screen Show (4:3)</PresentationFormat>
  <Paragraphs>355</Paragraphs>
  <Slides>39</Slides>
  <Notes>0</Notes>
  <HiddenSlides>0</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Office Theme</vt:lpstr>
      <vt:lpstr>Business Environment</vt:lpstr>
      <vt:lpstr>Learning Objective</vt:lpstr>
      <vt:lpstr>Business:</vt:lpstr>
      <vt:lpstr> Environment:</vt:lpstr>
      <vt:lpstr> Business Environment:</vt:lpstr>
      <vt:lpstr>Nature of Business Environment</vt:lpstr>
      <vt:lpstr>Uncertainty:</vt:lpstr>
      <vt:lpstr>Objectives of Business Environment</vt:lpstr>
      <vt:lpstr>Technological Planning:</vt:lpstr>
      <vt:lpstr>Types of Business Environment</vt:lpstr>
      <vt:lpstr>Internal Environment: Internal environment refers to factors existing within a business firm.These  factors are generally regarded as controllable factors because the  company has control over these factors.</vt:lpstr>
      <vt:lpstr>Work Environment:</vt:lpstr>
      <vt:lpstr> External Environment</vt:lpstr>
      <vt:lpstr> Micro Environment</vt:lpstr>
      <vt:lpstr>Competitors:</vt:lpstr>
      <vt:lpstr>Macro Environment</vt:lpstr>
      <vt:lpstr>Non Economic Environment</vt:lpstr>
      <vt:lpstr>Political Environment:</vt:lpstr>
      <vt:lpstr> Significance of Business Environment</vt:lpstr>
      <vt:lpstr>Strategy Formulation:</vt:lpstr>
      <vt:lpstr>Environment Scanning</vt:lpstr>
      <vt:lpstr>Need of Environment Scanning</vt:lpstr>
      <vt:lpstr>Strategic Management Starts with Environmental Scanning:</vt:lpstr>
      <vt:lpstr>Process of Environment Scanning</vt:lpstr>
      <vt:lpstr>Environmental analysis process is not static but a dynamic process.</vt:lpstr>
      <vt:lpstr>Defining Variables for Analysis:</vt:lpstr>
      <vt:lpstr>Forecasting Environmental Factors:</vt:lpstr>
      <vt:lpstr>Slide 28</vt:lpstr>
      <vt:lpstr>SWOT Analysis A SWOT analysis is structured planning method used to evaluate  the strengths, weaknesses, opportunities and threats involved in  a project or in a business venture. It involves specifying the  objective of the business venture or project and identifying the  internal and external factors that are favorable and unfavorable to  achieve that objective.</vt:lpstr>
      <vt:lpstr>Economic  Environment</vt:lpstr>
      <vt:lpstr>Important factors of Economic Environment </vt:lpstr>
      <vt:lpstr>Contd....</vt:lpstr>
      <vt:lpstr>Economic Environment at the time of Independence </vt:lpstr>
      <vt:lpstr>Economic Environment since Independence </vt:lpstr>
      <vt:lpstr>Crisis of 1991 </vt:lpstr>
      <vt:lpstr>Reform Measures </vt:lpstr>
      <vt:lpstr>Top 15 Countries by GDP in 2022 </vt:lpstr>
      <vt:lpstr>Difference b/w Monetary &amp; Fiscal Policy</vt:lpstr>
      <vt:lpstr>Difference b/w Monetary &amp; Fiscal Policy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Environment</dc:title>
  <cp:lastModifiedBy>Manoj</cp:lastModifiedBy>
  <cp:revision>12</cp:revision>
  <dcterms:created xsi:type="dcterms:W3CDTF">2021-04-22T19:13:41Z</dcterms:created>
  <dcterms:modified xsi:type="dcterms:W3CDTF">2022-08-23T05:30:31Z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2015-09-23T00:00:00Z</vt:filetime>
  </property>
  <property fmtid="{D5CDD505-2E9C-101B-9397-08002B2CF9AE}" pid="3" name="Creator">
    <vt:lpwstr>pdftk 1.44 - www.pdftk.com</vt:lpwstr>
  </property>
  <property fmtid="{D5CDD505-2E9C-101B-9397-08002B2CF9AE}" pid="4" name="LastSaved">
    <vt:filetime>2021-04-22T00:00:00Z</vt:filetime>
  </property>
</Properties>
</file>