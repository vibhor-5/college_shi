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  <p:embeddedFont>
      <p:font typeface="JetBrains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bfBcT5A6ABvPUfZk+ZTdG/awE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55F8C8-C7C4-4BC2-B022-1FAB3596AD6A}">
  <a:tblStyle styleId="{9755F8C8-C7C4-4BC2-B022-1FAB3596AD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bold.fntdata"/><Relationship Id="rId13" Type="http://schemas.openxmlformats.org/officeDocument/2006/relationships/slide" Target="slides/slide7.xml"/><Relationship Id="rId35" Type="http://schemas.openxmlformats.org/officeDocument/2006/relationships/font" Target="fonts/JetBrainsMono-regular.fntdata"/><Relationship Id="rId12" Type="http://schemas.openxmlformats.org/officeDocument/2006/relationships/slide" Target="slides/slide6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JetBrainsMono-italic.fntdata"/><Relationship Id="rId14" Type="http://schemas.openxmlformats.org/officeDocument/2006/relationships/slide" Target="slides/slide8.xml"/><Relationship Id="rId36" Type="http://schemas.openxmlformats.org/officeDocument/2006/relationships/font" Target="fonts/JetBrainsMono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JetBrainsMon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9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619375" y="2523232"/>
            <a:ext cx="730091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619375" y="3266175"/>
            <a:ext cx="801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Lecture 1: Introduction &amp; Industrial Approach to Problem</a:t>
            </a:r>
            <a:r>
              <a:rPr lang="en-US" sz="18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Solving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619375" y="3847207"/>
            <a:ext cx="6953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Course: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ITIT-3103 Software Engineering  | 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Department: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Information Technology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Institution: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ABV-IIITM Gwalior  | 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Instructor: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Dr. Dheeraj Kodati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476250" y="476250"/>
            <a:ext cx="11715750" cy="4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About Speaker</a:t>
            </a:r>
            <a:endParaRPr b="1" i="0" sz="2850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72236" y="476250"/>
            <a:ext cx="7132321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🎓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Computer Science &amp; Engineering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Institute of Technology (NIT) Warangal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Specialization: Natural Language Processing (NLP) and Large Language Models (LLMs)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🎓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M.S. in Computer Science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Central Missouri, USA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 Experience &amp; Research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11+ years of experience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across: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Industry, Research &amp; Development and Academia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DAAD Postdoctoral Fellow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Hamburg, Germany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areas: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 &amp; Large Language Models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Deep Learning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Bioinformatics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Published research in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reputed journals and A* international conferences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418380" y="1161618"/>
            <a:ext cx="346292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Dheeraj Kodati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Information Technology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ABV-IIITM Gwalior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809625" y="2833687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Understand why Software Engineering is required in modern technological landscapes.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809625" y="3243262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Explore the historical context and implications of the Software Crisis.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09625" y="3652837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Differentiate between unstructured programming and formal software engineering.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809625" y="4062412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Identify industrial development challenges and characteristics of quality software.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809625" y="4471987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Understand the SDLC, stakeholder management, and fundamental SE principles.</a:t>
            </a:r>
            <a:endParaRPr/>
          </a:p>
        </p:txBody>
      </p:sp>
      <p:pic>
        <p:nvPicPr>
          <p:cNvPr descr="image.png"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47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257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667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076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4862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Learning Objectives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47875"/>
            <a:ext cx="5429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476250" y="2047875"/>
            <a:ext cx="5429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Software powers critical infrastructure and everyday applications across society: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476250" y="4076700"/>
            <a:ext cx="5429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Real-world Scale:</a:t>
            </a: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Building an application like WhatsApp for billions of users requires structured planning, continuous maintenance, and security—beyond basic code writing.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571500" y="264556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66750" y="2647950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Online Banking &amp; UPI Payments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571500" y="300275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666750" y="3005137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Aadhaar Infrastructure &amp; IRCTC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571500" y="33599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666750" y="3362325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Amazon, Google Maps &amp; WhatsApp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71500" y="371713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66750" y="3719512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Healthcare Systems &amp; Air Traffic Control</a:t>
            </a:r>
            <a:endParaRPr/>
          </a:p>
        </p:txBody>
      </p:sp>
      <p:pic>
        <p:nvPicPr>
          <p:cNvPr descr="image.png" id="130" name="Google Shape;13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57400"/>
            <a:ext cx="54102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Why Do We Need Software Engineering?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238500"/>
            <a:ext cx="3587799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174" y="3238500"/>
            <a:ext cx="3587799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3238500"/>
            <a:ext cx="3587799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2281237" y="2714625"/>
            <a:ext cx="7629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Software is far more than just executable code. It is a complete engineered product.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723900" y="4000500"/>
            <a:ext cx="203025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Executable Elements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723900" y="4324350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 programs, compiled binaries, scripts, and runtime configuration files.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4549824" y="4000500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Associated Artifacts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4549824" y="4324350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Technical documentation, user manuals, design specs, and test cases.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8375749" y="4000500"/>
            <a:ext cx="17502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Ecosystem &amp; Data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8375749" y="4324350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Databases, installation packages, cloud deployment scripts, and update patches.</a:t>
            </a:r>
            <a:endParaRPr/>
          </a:p>
        </p:txBody>
      </p:sp>
      <p:pic>
        <p:nvPicPr>
          <p:cNvPr descr="image.png" id="148" name="Google Shape;14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35147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351472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51472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What is Software?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959893"/>
            <a:ext cx="5429250" cy="1795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59893"/>
            <a:ext cx="5429250" cy="179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771525" y="3255168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IEEE Definition</a:t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771525" y="3617118"/>
            <a:ext cx="48387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Software Engineering is the systematic, disciplined, and measurable approach to the development, operation, and maintenance of software.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6581775" y="3255168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Core Shift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581775" y="3617118"/>
            <a:ext cx="48387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Moving away from ad-hoc "hacking" or simple programming towards an engineering paradigm emphasizing planning, rigorous analysis, structured design, and quality verification.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What is Software Engineering?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7"/>
          <p:cNvGraphicFramePr/>
          <p:nvPr/>
        </p:nvGraphicFramePr>
        <p:xfrm>
          <a:off x="47625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{9755F8C8-C7C4-4BC2-B022-1FAB3596AD6A}</a:tableStyleId>
              </a:tblPr>
              <a:tblGrid>
                <a:gridCol w="2093725"/>
                <a:gridCol w="4020450"/>
                <a:gridCol w="5125350"/>
              </a:tblGrid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Dimension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Programming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Software Engineering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Writing code &amp; logic implementation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Complete software lifecycle &amp; scalability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Individual or small hobbyist 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Collaborative multi-team enterprise 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Scale &amp; 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 scripts, local apps, few 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Distributed systems, millions of 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Minimal or non-existent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Comprehensive technical &amp; user documentation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7"/>
          <p:cNvSpPr/>
          <p:nvPr/>
        </p:nvSpPr>
        <p:spPr>
          <a:xfrm>
            <a:off x="476250" y="3100387"/>
            <a:ext cx="2093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569964" y="3100387"/>
            <a:ext cx="40204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590407" y="3100387"/>
            <a:ext cx="512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76250" y="3605212"/>
            <a:ext cx="2093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569964" y="3605212"/>
            <a:ext cx="40204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90407" y="3605212"/>
            <a:ext cx="512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6250" y="4110037"/>
            <a:ext cx="2093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569964" y="4110037"/>
            <a:ext cx="40204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590407" y="4110037"/>
            <a:ext cx="512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76250" y="4614862"/>
            <a:ext cx="2093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569964" y="4614862"/>
            <a:ext cx="40204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590407" y="4614862"/>
            <a:ext cx="512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76250" y="5119687"/>
            <a:ext cx="20937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569964" y="5119687"/>
            <a:ext cx="40204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590407" y="5119687"/>
            <a:ext cx="512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Programming vs Software Engineering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/>
        </p:nvSpPr>
        <p:spPr>
          <a:xfrm>
            <a:off x="476250" y="2962275"/>
            <a:ext cx="57007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Common Industrial Failures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6286500" y="2962275"/>
            <a:ext cx="57007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1960s Software Crisis</a:t>
            </a:r>
            <a:endParaRPr/>
          </a:p>
        </p:txBody>
      </p:sp>
      <p:sp>
        <p:nvSpPr>
          <p:cNvPr id="196" name="Google Shape;196;p8"/>
          <p:cNvSpPr txBox="1"/>
          <p:nvPr/>
        </p:nvSpPr>
        <p:spPr>
          <a:xfrm>
            <a:off x="6286500" y="3324225"/>
            <a:ext cx="5429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Rapid hardware growth led to unmanageable software complexity, frequent project failures, and massive cost blowouts. This critical bottleneck gave birth to </a:t>
            </a:r>
            <a:r>
              <a:rPr b="1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as a formal discipline.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571500" y="332184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8"/>
          <p:cNvSpPr txBox="1"/>
          <p:nvPr/>
        </p:nvSpPr>
        <p:spPr>
          <a:xfrm>
            <a:off x="666750" y="3324225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Unclear requirements and poor upfront planning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571500" y="367903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666750" y="3681412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Severe budget overruns and missed deadlines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571500" y="4036218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666750" y="4038600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Communication gaps between stakeholders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571500" y="439340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666750" y="4395787"/>
            <a:ext cx="52387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 defect density and security vulnerabilities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Software Industry Problems &amp; Crisis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69406"/>
            <a:ext cx="3587799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174" y="2869406"/>
            <a:ext cx="3587799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869406"/>
            <a:ext cx="3587799" cy="1976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 txBox="1"/>
          <p:nvPr/>
        </p:nvSpPr>
        <p:spPr>
          <a:xfrm>
            <a:off x="723900" y="3631406"/>
            <a:ext cx="23802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Standardized Processes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723900" y="3955256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Defined workflows like SDLC phases to ensure systematic progression from idea to delivery.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4549824" y="3631406"/>
            <a:ext cx="17902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Quality Assurance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4549824" y="3955256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Rigorous testing strategies, automated CI/CD pipelines, and robust code reviews.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8375749" y="3631406"/>
            <a:ext cx="19302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Tools &amp; Governance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8375749" y="3955256"/>
            <a:ext cx="3092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Version control systems, requirement traceability matrices, and maintenance planning.</a:t>
            </a:r>
            <a:endParaRPr/>
          </a:p>
        </p:txBody>
      </p:sp>
      <p:pic>
        <p:nvPicPr>
          <p:cNvPr descr="image.png" id="221" name="Google Shape;22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31456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31456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14563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How Software Engineering Solves Problems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/>
        </p:nvSpPr>
        <p:spPr>
          <a:xfrm>
            <a:off x="809625" y="2833687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Requirements Gathering:</a:t>
            </a: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Understand customer needs and system specifications.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809625" y="3243262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Analysis &amp; Design:</a:t>
            </a: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Structure system architecture, data models, and UI/UX.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809625" y="3652837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Implementation:</a:t>
            </a: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Write clean, modular, and maintainable source code.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809625" y="4062412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Testing &amp; Deployment:</a:t>
            </a: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Verify functionality, performance, and release to production.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809625" y="4471987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Maintenance:</a:t>
            </a: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Continuous updates, bug fixes, and feature enhancements.</a:t>
            </a:r>
            <a:endParaRPr/>
          </a:p>
        </p:txBody>
      </p:sp>
      <p:pic>
        <p:nvPicPr>
          <p:cNvPr descr="image.png"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847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2575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6671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0767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4862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Software Development Life Cycle (SDLC)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976562"/>
            <a:ext cx="3587799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174" y="2976562"/>
            <a:ext cx="3587799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976562"/>
            <a:ext cx="3587799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 txBox="1"/>
          <p:nvPr/>
        </p:nvSpPr>
        <p:spPr>
          <a:xfrm>
            <a:off x="723900" y="3738562"/>
            <a:ext cx="1800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Reliable &amp; Efficient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723900" y="4062412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Performs consistently without crashing, utilizing optimal CPU and memory resources.</a:t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4549824" y="3738562"/>
            <a:ext cx="17602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Secure &amp; Scalable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4549824" y="4062412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Protects user data against breaches and seamlessly handles growing user loads.</a:t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8375749" y="3738562"/>
            <a:ext cx="126015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Maintainable</a:t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8375749" y="4062412"/>
            <a:ext cx="3092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Structured cleanly so future developers can easily update and refactor code.</a:t>
            </a:r>
            <a:endParaRPr/>
          </a:p>
        </p:txBody>
      </p:sp>
      <p:pic>
        <p:nvPicPr>
          <p:cNvPr descr="image.png" id="257" name="Google Shape;25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32527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32527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5749" y="32527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Characteristics of Good Software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 txBox="1"/>
          <p:nvPr/>
        </p:nvSpPr>
        <p:spPr>
          <a:xfrm>
            <a:off x="476250" y="3264693"/>
            <a:ext cx="57007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Amazon Scale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476250" y="3607593"/>
            <a:ext cx="5429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Handles millions of concurrent transactions, global warehouses, and real-time AI recommendations. Achieved through rigorous distributed system design and microservices.</a:t>
            </a:r>
            <a:endParaRPr/>
          </a:p>
        </p:txBody>
      </p:sp>
      <p:sp>
        <p:nvSpPr>
          <p:cNvPr id="269" name="Google Shape;269;p12"/>
          <p:cNvSpPr txBox="1"/>
          <p:nvPr/>
        </p:nvSpPr>
        <p:spPr>
          <a:xfrm>
            <a:off x="6286500" y="3264693"/>
            <a:ext cx="57007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Core Banking Systems</a:t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6286500" y="3607593"/>
            <a:ext cx="5429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Requires flawless transactional integrity, absolute regulatory compliance, multi-layer encryption, and zero downtime across global nodes.</a:t>
            </a:r>
            <a:endParaRPr/>
          </a:p>
        </p:txBody>
      </p:sp>
      <p:sp>
        <p:nvSpPr>
          <p:cNvPr id="271" name="Google Shape;271;p12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Industrial Case Studies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031331"/>
            <a:ext cx="5429250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31331"/>
            <a:ext cx="5429250" cy="165258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/>
          <p:nvPr/>
        </p:nvSpPr>
        <p:spPr>
          <a:xfrm>
            <a:off x="771525" y="3326606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Fundamental Principles</a:t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771525" y="3545681"/>
            <a:ext cx="48387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Divide and Conquer, Abstraction, Modularity, Reusability, Simplicity, and Incremental Development.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6581775" y="3326606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Modern Engineering Practices</a:t>
            </a:r>
            <a:endParaRPr/>
          </a:p>
        </p:txBody>
      </p:sp>
      <p:sp>
        <p:nvSpPr>
          <p:cNvPr id="283" name="Google Shape;283;p13"/>
          <p:cNvSpPr txBox="1"/>
          <p:nvPr/>
        </p:nvSpPr>
        <p:spPr>
          <a:xfrm>
            <a:off x="6581775" y="3545681"/>
            <a:ext cx="48387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Agile methodologies, DevOps automation, Continuous Integration / Continuous Deployment (CI/CD), and Cloud-native microservices.</a:t>
            </a: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Principles &amp; Modern Paradigm</a:t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 txBox="1"/>
          <p:nvPr/>
        </p:nvSpPr>
        <p:spPr>
          <a:xfrm>
            <a:off x="809625" y="3038475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Software engineering transforms complex societal problems into reliable digital solutions.</a:t>
            </a:r>
            <a:endParaRPr/>
          </a:p>
        </p:txBody>
      </p:sp>
      <p:sp>
        <p:nvSpPr>
          <p:cNvPr id="292" name="Google Shape;292;p14"/>
          <p:cNvSpPr txBox="1"/>
          <p:nvPr/>
        </p:nvSpPr>
        <p:spPr>
          <a:xfrm>
            <a:off x="809625" y="3448050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 evolved directly from the 1960s Software Crisis to curb project failures and cost blowouts.</a:t>
            </a:r>
            <a:endParaRPr/>
          </a:p>
        </p:txBody>
      </p:sp>
      <p:sp>
        <p:nvSpPr>
          <p:cNvPr id="293" name="Google Shape;293;p14"/>
          <p:cNvSpPr txBox="1"/>
          <p:nvPr/>
        </p:nvSpPr>
        <p:spPr>
          <a:xfrm>
            <a:off x="809625" y="3857625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Distinguishes itself from simple programming through systematic lifecycles and governance.</a:t>
            </a:r>
            <a:endParaRPr/>
          </a:p>
        </p:txBody>
      </p:sp>
      <p:sp>
        <p:nvSpPr>
          <p:cNvPr id="294" name="Google Shape;294;p14"/>
          <p:cNvSpPr txBox="1"/>
          <p:nvPr/>
        </p:nvSpPr>
        <p:spPr>
          <a:xfrm>
            <a:off x="809625" y="4267200"/>
            <a:ext cx="1090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Emphasizes high maintainability, rigorous testing, and scalable architecture.</a:t>
            </a:r>
            <a:endParaRPr/>
          </a:p>
        </p:txBody>
      </p:sp>
      <p:pic>
        <p:nvPicPr>
          <p:cNvPr descr="image.png" id="295" name="Google Shape;2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0527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462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8719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2814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4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Lecture Summary</a:t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238125" y="2295525"/>
            <a:ext cx="11715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476250" y="3248025"/>
            <a:ext cx="11239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 for your attention and active participation.</a:t>
            </a:r>
            <a:endParaRPr/>
          </a:p>
        </p:txBody>
      </p:sp>
      <p:sp>
        <p:nvSpPr>
          <p:cNvPr id="308" name="Google Shape;308;p15"/>
          <p:cNvSpPr txBox="1"/>
          <p:nvPr/>
        </p:nvSpPr>
        <p:spPr>
          <a:xfrm>
            <a:off x="476250" y="3676650"/>
            <a:ext cx="1123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"Software Engineering is not just about writing code—it is about building reliable, maintainable, and scalable software systems that solve real-world problems."</a:t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476250" y="4343400"/>
            <a:ext cx="11239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ABV-IIITM Gwalior | Department of Information Technology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6"/>
          <p:cNvSpPr txBox="1"/>
          <p:nvPr/>
        </p:nvSpPr>
        <p:spPr>
          <a:xfrm>
            <a:off x="1571625" y="3533775"/>
            <a:ext cx="10144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https://static.vecteezy.com/system/resources/previews/078/759/349/non_2x/technology-background-digital-screen-with-running-code-and-data-streams-representing-software-development-programming-coding-process-system-engineering-and-modern-digital-technology-innovation-vector.jpg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1571625" y="3952875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476250" y="476250"/>
            <a:ext cx="11715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476250" y="102870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Dheeraj Kodati</dc:creator>
</cp:coreProperties>
</file>