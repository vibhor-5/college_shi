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8" r:id="rId20"/>
    <p:sldId id="280" r:id="rId21"/>
    <p:sldId id="281" r:id="rId22"/>
    <p:sldId id="282" r:id="rId23"/>
    <p:sldId id="284" r:id="rId24"/>
    <p:sldId id="285" r:id="rId25"/>
    <p:sldId id="286" r:id="rId26"/>
    <p:sldId id="288" r:id="rId27"/>
    <p:sldId id="289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3324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8E97"/>
                </a:solidFill>
              </a:defRPr>
            </a:pPr>
            <a:r>
              <a:rPr dirty="0"/>
              <a:t>MODULE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126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32B49"/>
                </a:solidFill>
              </a:defRPr>
            </a:pPr>
            <a:r>
              <a:t>Software Process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5669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A3440"/>
                </a:solidFill>
              </a:defRPr>
            </a:pPr>
            <a:r>
              <a:t>Waterfall • Incremental • Iterative • Spiral • V-Model</a:t>
            </a:r>
            <a:br/>
            <a:r>
              <a:t>Prototype • Agile • Scrum •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51960"/>
            <a:ext cx="5669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2B49"/>
                </a:solidFill>
              </a:defRPr>
            </a:pPr>
            <a:r>
              <a:t>Instructor: Dr. Dheeraj Kodati</a:t>
            </a:r>
          </a:p>
          <a:p>
            <a:pPr>
              <a:defRPr sz="1400">
                <a:solidFill>
                  <a:srgbClr val="667382"/>
                </a:solidFill>
              </a:defRPr>
            </a:pPr>
            <a:r>
              <a:t>Department of Information Technology</a:t>
            </a:r>
          </a:p>
          <a:p>
            <a:pPr>
              <a:defRPr sz="1400">
                <a:solidFill>
                  <a:srgbClr val="667382"/>
                </a:solidFill>
              </a:defRPr>
            </a:pPr>
            <a:r>
              <a:t>ABV–IIITM Gwalior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Sequential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874519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258568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2478024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862072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081528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Implementation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465576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3685031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069079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4288536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Deployment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0" y="4672583"/>
            <a:ext cx="0" cy="182881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4892040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874519"/>
            <a:ext cx="566928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Linear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Explain the purpose and structure of major software process models.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Differentiate plan-driven, iterative, risk-driven and adaptive approaches.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Identify advantages, disadvantages and suitable project contexts.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Understand Scrum as an Agile framework and DevOps as a delivery/operations approach.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Select a suitable model using requirements, risk, feedback and governance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Choosing 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Stable requirements?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High uncertainty?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Waterfall / V-Model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/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507492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Iterative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194560"/>
            <a:ext cx="91440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2194560"/>
            <a:ext cx="86868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3337560"/>
            <a:ext cx="12801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41080" y="3337560"/>
            <a:ext cx="15087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rPr dirty="0"/>
              <a:t>What Is a Software Process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rPr dirty="0"/>
              <a:t>• A process model organizes software activities, work products, reviews and control points.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rPr dirty="0"/>
              <a:t>• It defines how requirements, design, coding, testing, deployment and maintenance are coordinated.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rPr dirty="0"/>
              <a:t>• The model influences feedback frequency, change cost, risk exposure and delivery timing.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rPr dirty="0"/>
              <a:t>• No single model is universally optimal; context determines the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Relative adaptability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Waterfall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801368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01368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1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240279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240279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3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Incremental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679191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2679191"/>
            <a:ext cx="2029967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99815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Iterative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118103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3118103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7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Spiral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557015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557015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Agile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5546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Scrum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rPr dirty="0"/>
              <a:t>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Process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Plan-driven: Waterfall and V-Model emphasize predefined stages and traceability.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Incremental / iterative: development is repeated or delivered in multiple usable versions.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Risk-driven: Spiral makes risk analysis central to each cycle.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Discovery-oriented: Prototype uses early representations to clarify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Adaptive: Agile and Scrum emphasize short feedback loops.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Delivery-oriented: DevOps extends automation and feedback through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Real-world hybrid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 / Spiral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423160"/>
            <a:ext cx="137159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55279" y="2423160"/>
            <a:ext cx="868681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9264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Waterfall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Linear, sequential model in which major phases are completed in order.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Requirements are normally baselined before detailed design and implementation.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Formal reviews, documentation and approvals create clear project gates.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Works best when requirements are stable and technology is well understood.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Sequential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74519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2258568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2478024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862072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081528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465576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685031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69079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4288536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672583"/>
            <a:ext cx="0" cy="182881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4892040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74519"/>
            <a:ext cx="566928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Waterfall —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Requirements Analysis: define and document what the system must do.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System / Software Design: establish architecture, components, interfaces and data.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Implementation: translate the design into source code.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Testing: verify the implemented system against specifications.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Deployment and Maintenance: release the system and address defects or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Sequential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74519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2258568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2478024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862072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081528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465576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685031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69079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4288536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672583"/>
            <a:ext cx="0" cy="182881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4892040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74519"/>
            <a:ext cx="566928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Waterfall —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Simple lifecycle that is easy to explain and manage.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Clear milestones, deliverables and responsibility boundaries.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Strong documentation supports handover and traceability.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Planning and budgeting can be easier when scope is stable.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Useful where formal approvals and contractual baselines are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Sequential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74519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2258568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2478024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862072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081528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465576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685031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69079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4288536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672583"/>
            <a:ext cx="0" cy="182881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4892040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74519"/>
            <a:ext cx="566928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Waterfall —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Late discovery of misunderstood requirements can cause major rework.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Customer feedback is limited during most of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Working software is usually available relatively late.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Changing requirements can disrupt downstream phases.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Less suitable for uncertain, innovative or rapidly changing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Sequential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74519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2258568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2478024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862072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3081528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Implementation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465576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685031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69079"/>
            <a:ext cx="0" cy="18288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4288536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672583"/>
            <a:ext cx="0" cy="182881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4892040"/>
            <a:ext cx="2834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874519"/>
            <a:ext cx="566928" cy="3401568"/>
          </a:xfrm>
          <a:prstGeom prst="roundRect">
            <a:avLst/>
          </a:prstGeom>
          <a:solidFill>
            <a:srgbClr val="F3F7FB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Incremental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The system is divided into multiple functional increments.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Each increment adds usable capability to the product.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Early increments can deliver business value before the entire system is complete.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Later increments can incorporate feedback from earlier releases.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Progressive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9632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6500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Payment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3368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36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124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8E97"/>
                </a:solidFill>
              </a:defRPr>
            </a:pPr>
            <a:r>
              <a:t>Each increment adds usable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Incremental — Development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Identify and prioritize major business capabilities.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Build a minimal but useful first increment.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Test, integrate and release the increment.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Add subsequent functionality while maintaining architectural integrity.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Continuously manage dependencies and regression testing.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Progressive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9632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6500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Payment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3368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36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124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8E97"/>
                </a:solidFill>
              </a:defRPr>
            </a:pPr>
            <a:r>
              <a:t>Each increment adds usable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Incremental —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Early delivery of useful functionality.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Large projects can be divided into manageable releases.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Stakeholders can provide feedback between increments.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Risk is distributed rather than concentrated in one final release.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Progress is visible through working functionality.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Progressive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9632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6500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Payment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33688" y="3200400"/>
            <a:ext cx="118871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368" y="3200400"/>
            <a:ext cx="11887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1240" y="2743200"/>
            <a:ext cx="74980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8E97"/>
                </a:solidFill>
              </a:defRPr>
            </a:pPr>
            <a:r>
              <a:t>Each increment adds usable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Incremental — Industrial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E-commerce: catalog → cart → payment → analytics.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Banking: accounts → transfers → bill payment → investments.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ERP: core records → workflows → reporting → advanced analytics.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Mobile and SaaS products that release capabilities in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Typical industrial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Regulated / safety-critical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95360" y="20025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61120" y="17830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V-Model / Waterfall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Complex high-risk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2642615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61120" y="242316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+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39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Enterprise systems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28269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61120" y="3063239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Incremental / Iterative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Digital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92277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70332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Cloud / SaaS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456285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434340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+ 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9834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AI / ML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52029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49834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Iterative + Prototype + Agile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Iterative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Software is developed through repeated cycles of learning and refinement.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Each iteration revisits requirements, design, implementation and testing.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Feedback from one iteration influences the next.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Useful when the solution is not completely understood at the start.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Repeated learning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764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2167128"/>
            <a:ext cx="1234440" cy="576072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646920" y="2743200"/>
            <a:ext cx="411480" cy="150876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01000" y="4251960"/>
            <a:ext cx="1645920" cy="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89520" y="2743200"/>
            <a:ext cx="411480" cy="1709928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1965960"/>
            <a:ext cx="1234440" cy="77724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Iterative —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Plan the objectives and scope of the iteration.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Design and implement a focused slice of the solution.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Test and evaluate the result.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Analyze feedback, defects and new understanding.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Refine the next iteration based on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Repeated learning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764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2167128"/>
            <a:ext cx="1234440" cy="576072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646920" y="2743200"/>
            <a:ext cx="411480" cy="150876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01000" y="4251960"/>
            <a:ext cx="1645920" cy="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89520" y="2743200"/>
            <a:ext cx="411480" cy="1709928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1965960"/>
            <a:ext cx="1234440" cy="77724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Iterative —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Supports evolving requirements and continuous learning.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Problems can be discovered earlier than in a single final build.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Users can evaluate progressively improved versions.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Useful for complex systems where understanding grows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Repeated learning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764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2167128"/>
            <a:ext cx="1234440" cy="576072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646920" y="2743200"/>
            <a:ext cx="411480" cy="150876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01000" y="4251960"/>
            <a:ext cx="1645920" cy="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89520" y="2743200"/>
            <a:ext cx="411480" cy="1709928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1965960"/>
            <a:ext cx="1234440" cy="77724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Iterative — Industrial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AI and machine-learning products where evaluation changes the design.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User-experience-heavy applications.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Research and innovation projects.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Enterprise systems that evolve through stakeholder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Typical industrial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Regulated / safety-critical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95360" y="20025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61120" y="17830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V-Model / Waterfall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Complex high-risk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2642615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61120" y="242316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+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39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Enterprise systems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28269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61120" y="3063239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Incremental / Iterative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Digital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92277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70332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Cloud / SaaS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456285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434340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+ 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9834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AI / ML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52029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49834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Iterative + Prototype + Agile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Spiral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 risk-driven process model associated with Barry Boehm.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Combines iterative development with explicit risk analysis.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Each spiral cycle determines objectives, analyzes risks, engineers a solution and evaluates results.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The next cycle is planned using evidence from the current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Risk-driven iterative cycles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27432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0" y="29718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09560" y="3200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004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4545"/>
                </a:solidFill>
              </a:defRPr>
            </a:pPr>
            <a:r>
              <a:t>Risk</a:t>
            </a:r>
            <a:br/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Spiral — Four Core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Determine objectives, alternatives and constraints.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Identify, analyze and mitigate the most important risks.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Develop and verify the selected solution or prototype.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Review the results and plan the next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Risk-driven iterative cycles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27432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0" y="29718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09560" y="3200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004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4545"/>
                </a:solidFill>
              </a:defRPr>
            </a:pPr>
            <a:r>
              <a:t>Risk</a:t>
            </a:r>
            <a:br/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Spiral — Advantages &amp;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Advantages: strong risk management, iterative learning and support for prototyping.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Can expose major feasibility problems early.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Disadvantages: higher management overhead and cost.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Requires expertise in identifying, prioritizing and mitigating risks.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Usually excessive for small, predictable projects.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Risk-driven iterative cycles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27432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0" y="29718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09560" y="3200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74519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Evaluate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2628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004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4545"/>
                </a:solidFill>
              </a:defRPr>
            </a:pPr>
            <a:r>
              <a:t>Risk</a:t>
            </a:r>
            <a:br/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V-Model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Sequential development approach emphasizing verification and validation.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Each development activity has a corresponding testing activity.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Test planning begins early rather than waiting until coding is complete.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Strong traceability makes it attractive where evidence and quality gates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Development ↔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Acceptance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Integration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Unit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2084831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1000" y="281635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354787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427939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0100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2396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457200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V-Model — Verification vs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Verification asks: 'Are we building the product right?'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Validation asks: 'Are we building the right product?'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Reviews, inspections and static analysis support verification.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Unit, integration, system and acceptance testing support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Development ↔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Acceptance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Integration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Unit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2084831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1000" y="281635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354787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427939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0100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2396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457200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V-Model — Advantages &amp;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Advantages: early test planning, clear responsibilities and traceability.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Strong alignment between requirements and test levels.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Disadvantages: changes can be expensive after baselines are established.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Less flexible than adaptive approaches when requirements change frequently.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Development ↔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874519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Acceptance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60604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System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33756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Integration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4069080"/>
            <a:ext cx="16002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32B49"/>
                </a:solidFill>
              </a:defRPr>
            </a:pPr>
            <a:r>
              <a:t>Unit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2084831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1000" y="281635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354787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4279392"/>
            <a:ext cx="164592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0100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23960" y="2084831"/>
            <a:ext cx="822960" cy="2624329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4572000"/>
            <a:ext cx="7315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Prototype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Creates an early representation of a system to discover or validate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Users can interact with the prototype and provide concrete feedback.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Useful when requirements, workflows or user interfaces are unclear.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Prototyping can focus on usability, functionality or technical feasibility.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Discover → validate → refine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User</a:t>
            </a:r>
            <a:br/>
            <a:r>
              <a:t>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95020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Validated</a:t>
            </a:r>
            <a:br/>
            <a:r>
              <a:t>Requirements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040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83879" y="2359152"/>
            <a:ext cx="228601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26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69880" y="2359152"/>
            <a:ext cx="0" cy="184708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Prototype —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Throwaway prototype: built for learning, then discarded.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Evolutionary prototype: progressively refined toward a usable product.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Low-fidelity prototype: sketches, wireframes or simple mockups.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High-fidelity prototype: realistic interactions and visual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Discover → validate → refine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User</a:t>
            </a:r>
            <a:br/>
            <a:r>
              <a:t>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95020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Validated</a:t>
            </a:r>
            <a:br/>
            <a:r>
              <a:t>Requirements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040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83879" y="2359152"/>
            <a:ext cx="228601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26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69880" y="2359152"/>
            <a:ext cx="0" cy="184708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Prototype — Advantages &amp;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Advantages: clarifies requirements and improves stakeholder communication.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Can identify usability problems before expensive implementation.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Supports exploration of new ideas and technical feasibility.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Risk: users may mistake a prototype for production-ready software.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Poor prototype architecture should not automatically become production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Discover → validate → refine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7614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User</a:t>
            </a:r>
            <a:br/>
            <a:r>
              <a:t>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84708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950207"/>
            <a:ext cx="9144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Validated</a:t>
            </a:r>
            <a:br/>
            <a:r>
              <a:t>Requirements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040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83879" y="2359152"/>
            <a:ext cx="228601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26880" y="2359152"/>
            <a:ext cx="228600" cy="65836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69880" y="2359152"/>
            <a:ext cx="0" cy="1847088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Agile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 is an adaptive approach emphasizing working software, collaboration and response to change.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Development occurs in short feedback cycles.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Requirements are prioritized and refined as learning occurs.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 is a family of approaches and principles rather than one rigid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Short feedback loops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Backlog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Working</a:t>
            </a:r>
            <a:br/>
            <a:r>
              <a:t>Increment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Adapt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9244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68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66560" y="3657600"/>
            <a:ext cx="384048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6560" y="3977639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8E97"/>
                </a:solidFill>
              </a:defRPr>
            </a:pPr>
            <a:r>
              <a:t>Continuous customer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Agile — Core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Frequent delivery of working functionality.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Close collaboration among customers, product stakeholders and developers.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Short feedback loops and continuous reprioritization.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Continuous attention to technical quality and testing.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Ability to respond to changing business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Short feedback loops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Backlog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Working</a:t>
            </a:r>
            <a:br/>
            <a:r>
              <a:t>Increment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743200"/>
            <a:ext cx="731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Adapt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9244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680" y="3108960"/>
            <a:ext cx="22860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66560" y="3657600"/>
            <a:ext cx="384048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66560" y="3977639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8E97"/>
                </a:solidFill>
              </a:defRPr>
            </a:pPr>
            <a:r>
              <a:t>Continuous customer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Scrum Framework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Scrum is an Agile framework for generating value through adaptive solutions.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Work is organized around a Product Goal and an ordered Product Backlog.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Sprints provide a regular opportunity to create a usable Increment.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Inspection and adaptation are built into the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Scrum roles + Sprint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Product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Scrum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Developers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Daily Scrum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Build &amp;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Retro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741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85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029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12280" y="3840480"/>
            <a:ext cx="365760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Scrum — Accountabilities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Product Owner: maximizes product value and orders the Product Backlog.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Scrum Master: helps establish Scrum and improves team effectiveness.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Developers: create the usable Increment and manage the work needed to do so.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The Scrum Team works as one cohesive unit toward the Product Goal.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Scrum roles + Sprint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Product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Scrum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Developers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Daily Scrum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Build &amp;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Retro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741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85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029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12280" y="3840480"/>
            <a:ext cx="365760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Scrum — Artifacts &amp;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Product Backlog → Product Goal.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 Backlog → Sprint Goal.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 → Definition of Done.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These relationships improve transparency and support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Scrum roles + Sprint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Product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Scrum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Developers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Daily Scrum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Build &amp;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Retro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741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85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029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12280" y="3840480"/>
            <a:ext cx="365760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Scrum —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Sprint: fixed-length period for creating a usable Increment.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 Planning: establish the Sprint Goal and plan the work.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Daily Scrum: inspect progress and adapt the plan.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 Review: inspect the Increment with stakeholders.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Sprint Retrospective: identify process improvements.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Scrum roles + Sprint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Product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Scrum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Developers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Daily Scrum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Build &amp;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3063240"/>
            <a:ext cx="713232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32B49"/>
                </a:solidFill>
              </a:defRPr>
            </a:pPr>
            <a:r>
              <a:t>Retro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741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85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02952" y="3337560"/>
            <a:ext cx="201168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12280" y="3840480"/>
            <a:ext cx="365760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DevOps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 combines development and operations practices to improve software delivery and reliability.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 emphasizes collaboration, automation, continuous feedback and shared responsibility.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CI/CD pipelines automate repeatable build, test and deployment activities.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 complements Agile by extending feedback into release and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Continuous delivery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2259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010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6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015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Operate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Monitor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2551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3024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28048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6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6307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657600"/>
            <a:ext cx="466344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406908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8E97"/>
                </a:solidFill>
              </a:defRPr>
            </a:pPr>
            <a:r>
              <a:t>Automation + monitoring +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DevOps —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Continuous Integration: integrate changes frequently and run automated checks.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Continuous Delivery: keep validated software ready for release.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Continuous Deployment: automatically release validated changes where appropriate.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Monitoring provides operational feedback to the development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Continuous delivery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2259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010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6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015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Operate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Monitor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2551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3024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28048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6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6307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657600"/>
            <a:ext cx="466344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406908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8E97"/>
                </a:solidFill>
              </a:defRPr>
            </a:pPr>
            <a:r>
              <a:t>Automation + monitoring +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DevOps — Key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Version control and collaborative code review.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Automated builds and testing.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Infrastructure as Code and environment automation.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Containers and cloud-native deployment.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Observability through logs, metrics and traces.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Security integrated into the delivery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Continuous delivery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2259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010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6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0152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Operate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2743200"/>
            <a:ext cx="502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50" b="1">
                <a:solidFill>
                  <a:srgbClr val="132B49"/>
                </a:solidFill>
              </a:defRPr>
            </a:pPr>
            <a:r>
              <a:t>Monitor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2551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3024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0536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28048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60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63072" y="3072384"/>
            <a:ext cx="164592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583680" y="3657600"/>
            <a:ext cx="4663440" cy="0"/>
          </a:xfrm>
          <a:prstGeom prst="line">
            <a:avLst/>
          </a:prstGeom>
          <a:ln w="25400">
            <a:solidFill>
              <a:srgbClr val="D07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406908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8E97"/>
                </a:solidFill>
              </a:defRPr>
            </a:pPr>
            <a:r>
              <a:t>Automation + monitoring + feedback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Comparison — Change &amp;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Waterfall / V-Model: relatively low tolerance for late change.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Incremental: changes can be incorporated between releases.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Iterative / Spiral: strong learning and refinement.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Prototype: very strong feedback for unclear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 / Scrum: high adaptability and frequent stakeholder feedback.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DevOps: continuous operational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Relative adaptability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Waterfall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801368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01368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1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240279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240279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3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Incremental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679191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2679191"/>
            <a:ext cx="2029967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99815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Iterative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118103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3118103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7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Spiral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557015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557015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Agile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5546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Scrum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Comparison —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Waterfall: predictability, documentation and clear milestones.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Incremental: early value and staged delivery.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Iterative: continuous learning and refinement.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Spiral: explicit risk management.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V-Model: traceability and early test planning.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Prototype: requirement discovery.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Agile/Scrum: adaptability and collaboration.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DevOps: automation and reliable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Relative adaptability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Waterfall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801368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01368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1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240279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240279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3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Incremental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679191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2679191"/>
            <a:ext cx="2029967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99815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Iterative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118103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3118103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7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Spiral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557015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557015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Agile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5546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Scrum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Comparison — 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Waterfall: expensive late changes.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Incremental: integration and architecture complexity.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Iterative: possible rework and scope expansion.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Spiral: cost and management overhead.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V-Model: limited flexibility for changing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Prototype: risk of confusing prototype with production.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Agile/Scrum: requires collaboration and discipline.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DevOps: requires automation, tooling and cultural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Relative adaptability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Waterfall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801368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01368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1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V-Model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240279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240279"/>
            <a:ext cx="676656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60903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Incremental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679191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2679191"/>
            <a:ext cx="2029967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99815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Iterative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118103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3118103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7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Spiral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557015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557015"/>
            <a:ext cx="2706624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39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3995927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Agile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4434840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5546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Scrum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4873752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943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2A3440"/>
                </a:solidFill>
              </a:defRPr>
            </a:pPr>
            <a:r>
              <a:t>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5312664"/>
            <a:ext cx="3383280" cy="16459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Industrial Application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Regulated / safety-critical → often V-Model or controlled hybrid.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Stable fixed-scope → Waterfall can be appropriate.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Large enterprise capabilities → Incremental / Iterative.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High uncertainty → Spiral + Prototype.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Rapid digital product development → Agile / Scrum.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Cloud-native continuous delivery → Agile + DevOps.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AI/ML experimentation → Iterative + Prototype + Agile.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Typical industrial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Regulated / safety-critical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95360" y="20025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61120" y="17830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V-Model / Waterfall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Complex high-risk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2642615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61120" y="242316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+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39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Enterprise systems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28269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61120" y="3063239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Incremental / Iterative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0332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Digital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92277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70332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Cloud / SaaS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456285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434340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+ 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98348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AI / ML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5202936"/>
            <a:ext cx="320040" cy="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4983480"/>
            <a:ext cx="2103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Iterative + Prototype + Agile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How to Select a 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Are requirements stable or expected to change?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How costly is failure or late discovery?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How much technical uncertainty or risk exists?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How frequently must customers see working software?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What compliance, traceability and documentation are required?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How mature are testing, automation and deployment practices?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Choosing 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Stable requirements?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High uncertainty?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Waterfall / V-Model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/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507492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Iterative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194560"/>
            <a:ext cx="91440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2194560"/>
            <a:ext cx="86868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3337560"/>
            <a:ext cx="12801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41080" y="3337560"/>
            <a:ext cx="15087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Hybrid Process Models in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Real organizations often combine practices rather than follow one textbook model.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V-Model-style verification can coexist with Agile delivery.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Spiral risk analysis can guide iterative prototyping.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 development can be connected to DevOps CI/CD.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The correct hybrid should address the project's actual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Real-world hybrid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 / Spiral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423160"/>
            <a:ext cx="137159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55279" y="2423160"/>
            <a:ext cx="868681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9264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Worked Example — Online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Regulation and security demand strong traceability and testing.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Customers still expect frequent improvements to digital features.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 can validate user workflows before expensive integration.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Agile/Scrum can manage feature delivery; DevOps can automate deployment.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 hybrid approach balances governance with adaptability.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Real-world hybrid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 / Spiral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423160"/>
            <a:ext cx="137159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55279" y="2423160"/>
            <a:ext cx="868681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9264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Worked Example — AI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Model behavior and data quality may evolve during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 the user experience and model interaction early.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Iterate using evaluation results, error analysis and feedback.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 can prioritize experiments and product features.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 practices can automate testing, packaging and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Repeated learning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764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05079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542032"/>
            <a:ext cx="914400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32B49"/>
                </a:solidFill>
              </a:defRPr>
            </a:pPr>
            <a:r>
              <a:t>Refine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2167128"/>
            <a:ext cx="1234440" cy="576072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646920" y="2743200"/>
            <a:ext cx="411480" cy="150876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01000" y="4251960"/>
            <a:ext cx="1645920" cy="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89520" y="2743200"/>
            <a:ext cx="411480" cy="1709928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1965960"/>
            <a:ext cx="1234440" cy="777240"/>
          </a:xfrm>
          <a:prstGeom prst="line">
            <a:avLst/>
          </a:prstGeom>
          <a:ln w="25400">
            <a:solidFill>
              <a:srgbClr val="12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Module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Waterfall: sequential and plan-driven.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Incremental: deliver functionality in stages.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Iterative: learn and refine through repeated cycles.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Spiral: manage uncertainty through risk-driven cycles.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V-Model: align development with verification and validation.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Prototype: discover and validate unclear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Agile/Scrum: adaptive, collaborative, frequent delivery.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DevOps: automate and continuously improve software delivery and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Real-world hybrid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 / Spiral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423160"/>
            <a:ext cx="137159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55279" y="2423160"/>
            <a:ext cx="868681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9264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Quick Review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Which model is most appropriate when requirements are stable and contractual?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Why is the V-Model strongly associated with testing and traceability?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When would a prototype be more useful than detailed up-front specification?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How is Spiral different from a generic iterative approach?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Why are Agile and DevOps complementary rather than identical?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Which process model or hybrid would you choose for a university ERP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Choosing 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2B49"/>
                </a:solidFill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Stable requirements?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High uncertainty?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Waterfall / V-Model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25196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Spiral /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5074920"/>
            <a:ext cx="2057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32B49"/>
                </a:solidFill>
              </a:defRPr>
            </a:pPr>
            <a:r>
              <a:t>Agile / Iterative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360920" y="2194560"/>
            <a:ext cx="91440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2194560"/>
            <a:ext cx="868680" cy="54864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3337560"/>
            <a:ext cx="0" cy="91440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3337560"/>
            <a:ext cx="12801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41080" y="3337560"/>
            <a:ext cx="1508760" cy="1737360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2B49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Process models are tools for managing uncertainty, quality, cost and delivery.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Model selection should consider requirements, risk, feedback, governance and team capability.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Modern industry frequently uses hybrid approaches.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</a:defRPr>
            </a:pPr>
            <a:r>
              <a:t>• Agile/Scrum improve adaptive product development; DevOps extends feedback into delivery and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80160"/>
            <a:ext cx="5486400" cy="4800600"/>
          </a:xfrm>
          <a:prstGeom prst="roundRect">
            <a:avLst/>
          </a:prstGeom>
          <a:solidFill>
            <a:srgbClr val="F3F7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447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9"/>
                </a:solidFill>
              </a:defRPr>
            </a:pPr>
            <a:r>
              <a:t>Real-world hybrid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Agile / Scrum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7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07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Risk / Spiral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749039"/>
            <a:ext cx="1417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32B49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423160"/>
            <a:ext cx="137159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55279" y="2423160"/>
            <a:ext cx="868681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92640" y="2423160"/>
            <a:ext cx="868680" cy="1325879"/>
          </a:xfrm>
          <a:prstGeom prst="line">
            <a:avLst/>
          </a:prstGeom>
          <a:ln w="25400">
            <a:solidFill>
              <a:srgbClr val="2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455664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7382"/>
                </a:solidFill>
              </a:defRPr>
            </a:pPr>
            <a:r>
              <a:t>Dr. Dheeraj Kodati  |  Department of Information Technology  |  ABV–IIITM Gwalior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32B49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3831</Words>
  <Application>Microsoft Office PowerPoint</Application>
  <PresentationFormat>Widescreen</PresentationFormat>
  <Paragraphs>716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Dheeraj Kodati</cp:lastModifiedBy>
  <cp:revision>2</cp:revision>
  <dcterms:created xsi:type="dcterms:W3CDTF">2013-01-27T09:14:16Z</dcterms:created>
  <dcterms:modified xsi:type="dcterms:W3CDTF">2026-08-16T16:43:58Z</dcterms:modified>
  <cp:category/>
</cp:coreProperties>
</file>