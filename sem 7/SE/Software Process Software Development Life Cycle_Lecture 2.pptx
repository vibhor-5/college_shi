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3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091779"/>
            <a:ext cx="1160145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0F172A"/>
                </a:solidFill>
                <a:latin typeface="Plus Jakarta Sans"/>
              </a:rPr>
              <a:t>Module 2: Software Development Life Cycle (SDLC)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51820"/>
            <a:ext cx="7620000" cy="2051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64748B"/>
                </a:solidFill>
                <a:latin typeface="Plus Jakarta Sans"/>
              </a:rPr>
              <a:t>Comprehensive concepts, foundational phases, deliverables, and enterprise advantages of engineering robust software systems.</a:t>
            </a:r>
            <a:endParaRPr lang="en-US" sz="1800" b="0" i="0" u="none" dirty="0">
              <a:solidFill>
                <a:srgbClr val="64748B"/>
              </a:solidFill>
              <a:latin typeface="Plus Jakarta Sans"/>
            </a:endParaRPr>
          </a:p>
          <a:p>
            <a:pPr algn="ctr">
              <a:lnSpc>
                <a:spcPts val="2700"/>
              </a:lnSpc>
            </a:pPr>
            <a:endParaRPr lang="en-US" dirty="0">
              <a:solidFill>
                <a:srgbClr val="64748B"/>
              </a:solidFill>
              <a:latin typeface="Plus Jakarta Sans"/>
            </a:endParaRPr>
          </a:p>
          <a:p>
            <a:pPr algn="ctr">
              <a:lnSpc>
                <a:spcPts val="2700"/>
              </a:lnSpc>
            </a:pPr>
            <a:r>
              <a:rPr lang="en-IN" b="1" dirty="0">
                <a:solidFill>
                  <a:srgbClr val="64748B"/>
                </a:solidFill>
                <a:latin typeface="Inter"/>
              </a:rPr>
              <a:t>Course:</a:t>
            </a:r>
            <a:r>
              <a:rPr lang="en-IN" dirty="0">
                <a:solidFill>
                  <a:srgbClr val="64748B"/>
                </a:solidFill>
                <a:latin typeface="Inter"/>
              </a:rPr>
              <a:t> ITIT-3103 Software Engineering  |  </a:t>
            </a:r>
            <a:r>
              <a:rPr lang="en-IN" b="1" dirty="0">
                <a:solidFill>
                  <a:srgbClr val="64748B"/>
                </a:solidFill>
                <a:latin typeface="Inter"/>
              </a:rPr>
              <a:t>Department:</a:t>
            </a:r>
            <a:r>
              <a:rPr lang="en-IN" dirty="0">
                <a:solidFill>
                  <a:srgbClr val="64748B"/>
                </a:solidFill>
                <a:latin typeface="Inter"/>
              </a:rPr>
              <a:t> Information Technology</a:t>
            </a:r>
            <a:r>
              <a:rPr lang="en-IN" dirty="0"/>
              <a:t>
</a:t>
            </a:r>
            <a:r>
              <a:rPr lang="en-IN" b="1" dirty="0">
                <a:solidFill>
                  <a:srgbClr val="64748B"/>
                </a:solidFill>
                <a:latin typeface="Inter"/>
              </a:rPr>
              <a:t>Institution:</a:t>
            </a:r>
            <a:r>
              <a:rPr lang="en-IN" dirty="0">
                <a:solidFill>
                  <a:srgbClr val="64748B"/>
                </a:solidFill>
                <a:latin typeface="Inter"/>
              </a:rPr>
              <a:t> ABV-IIITM Gwalior  |  </a:t>
            </a:r>
            <a:r>
              <a:rPr lang="en-IN" b="1" dirty="0">
                <a:solidFill>
                  <a:srgbClr val="64748B"/>
                </a:solidFill>
                <a:latin typeface="Inter"/>
              </a:rPr>
              <a:t>Instructor:</a:t>
            </a:r>
            <a:r>
              <a:rPr lang="en-IN" dirty="0">
                <a:solidFill>
                  <a:srgbClr val="64748B"/>
                </a:solidFill>
                <a:latin typeface="Inter"/>
              </a:rPr>
              <a:t> Dr. Dheeraj Kodati</a:t>
            </a:r>
          </a:p>
          <a:p>
            <a:pPr algn="ctr">
              <a:lnSpc>
                <a:spcPts val="2700"/>
              </a:lnSpc>
            </a:pPr>
            <a:endParaRPr sz="1800" b="0" i="0" u="none" dirty="0">
              <a:solidFill>
                <a:srgbClr val="64748B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0538" y="2447925"/>
            <a:ext cx="7390923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Part I: Introduction to SDLC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448050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14612" y="3886200"/>
            <a:ext cx="69627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Defining the bedrock framework for software engineering excellence.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76525"/>
            <a:ext cx="5286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475569"/>
                </a:solidFill>
                <a:latin typeface="Plus Jakarta Sans"/>
              </a:rPr>
              <a:t>Software Development Life Cycle (SDLC)</a:t>
            </a: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 is a structured process and framework used by software teams to design, develop, test, and deploy high-quality software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6195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19500"/>
            <a:ext cx="50958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Standardizes workflow steps to eliminate guesswork.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9909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9097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Ensures alignment between business expectations and technical outputs.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6196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196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Improves overall product quality, cost predictability, and delivery speed.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What is SDLC?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63A957-C49C-C26B-8505-EF8A22BF9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169" y="1515349"/>
            <a:ext cx="6164286" cy="42083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5537"/>
            <a:ext cx="3492549" cy="2962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95537"/>
            <a:ext cx="3492549" cy="2962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95537"/>
            <a:ext cx="3492549" cy="2962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30993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82F6"/>
                </a:solidFill>
                <a:latin typeface="Plus Jakarta Sans"/>
              </a:rPr>
              <a:t>Clarity &amp;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623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Provides a clear roadmap, milestone checks, and predictable execution paths for developers and project managers alike.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30993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82F6"/>
                </a:solidFill>
                <a:latin typeface="Plus Jakarta Sans"/>
              </a:rPr>
              <a:t>Risk 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8623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Identifies bottlenecks, security gaps, and architectural flaws early before they inflate rework costs exponentially.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30993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82F6"/>
                </a:solidFill>
                <a:latin typeface="Plus Jakarta Sans"/>
              </a:rPr>
              <a:t>Stakeholder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8623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Keeps clients, end-users, and engineering teams fully synchronized throughout every stage of building the software.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4796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47962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47962"/>
            <a:ext cx="4286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Why Do We Need SDLC?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30529" y="2447925"/>
            <a:ext cx="7530941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Part II: The 7 Phases of SDLC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448050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581275" y="3886200"/>
            <a:ext cx="70294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From initial conceptualization to ongoing maintenance and retirement.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2326481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475569"/>
                </a:solidFill>
                <a:latin typeface="Plus Jakarta Sans"/>
              </a:rPr>
              <a:t>Requirement Gathering &amp; Analysis:</a:t>
            </a:r>
            <a:r>
              <a:rPr sz="1425" b="0" i="0" u="none">
                <a:solidFill>
                  <a:srgbClr val="475569"/>
                </a:solidFill>
                <a:latin typeface="Plus Jakarta Sans"/>
              </a:rPr>
              <a:t> Extracting core functional and business needs from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2769393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475569"/>
                </a:solidFill>
                <a:latin typeface="Plus Jakarta Sans"/>
              </a:rPr>
              <a:t>System Analysis:</a:t>
            </a:r>
            <a:r>
              <a:rPr sz="1425" b="0" i="0" u="none">
                <a:solidFill>
                  <a:srgbClr val="475569"/>
                </a:solidFill>
                <a:latin typeface="Plus Jakarta Sans"/>
              </a:rPr>
              <a:t> Feasibility studies and detailed modeling of data 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212306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475569"/>
                </a:solidFill>
                <a:latin typeface="Plus Jakarta Sans"/>
              </a:rPr>
              <a:t>Design:</a:t>
            </a:r>
            <a:r>
              <a:rPr sz="1425" b="0" i="0" u="none">
                <a:solidFill>
                  <a:srgbClr val="475569"/>
                </a:solidFill>
                <a:latin typeface="Plus Jakarta Sans"/>
              </a:rPr>
              <a:t> Crafting system architecture, UI/UX layouts, and database schemas.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5" y="3655218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475569"/>
                </a:solidFill>
                <a:latin typeface="Plus Jakarta Sans"/>
              </a:rPr>
              <a:t>Implementation (Coding):</a:t>
            </a:r>
            <a:r>
              <a:rPr sz="1425" b="0" i="0" u="none">
                <a:solidFill>
                  <a:srgbClr val="475569"/>
                </a:solidFill>
                <a:latin typeface="Plus Jakarta Sans"/>
              </a:rPr>
              <a:t> Writing clean, maintainable source code in chosen tech stacks.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75" y="4098131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475569"/>
                </a:solidFill>
                <a:latin typeface="Plus Jakarta Sans"/>
              </a:rPr>
              <a:t>Testing:</a:t>
            </a:r>
            <a:r>
              <a:rPr sz="1425" b="0" i="0" u="none">
                <a:solidFill>
                  <a:srgbClr val="475569"/>
                </a:solidFill>
                <a:latin typeface="Plus Jakarta Sans"/>
              </a:rPr>
              <a:t> Rigorous unit, integration, and user-acceptance testing for bug elimination.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4541043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475569"/>
                </a:solidFill>
                <a:latin typeface="Plus Jakarta Sans"/>
              </a:rPr>
              <a:t>Deployment:</a:t>
            </a:r>
            <a:r>
              <a:rPr sz="1425" b="0" i="0" u="none">
                <a:solidFill>
                  <a:srgbClr val="475569"/>
                </a:solidFill>
                <a:latin typeface="Plus Jakarta Sans"/>
              </a:rPr>
              <a:t> Releasing code safely into live production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983956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1" i="0" u="none">
                <a:solidFill>
                  <a:srgbClr val="475569"/>
                </a:solidFill>
                <a:latin typeface="Plus Jakarta Sans"/>
              </a:rPr>
              <a:t>Maintenance:</a:t>
            </a:r>
            <a:r>
              <a:rPr sz="1425" b="0" i="0" u="none">
                <a:solidFill>
                  <a:srgbClr val="475569"/>
                </a:solidFill>
                <a:latin typeface="Plus Jakarta Sans"/>
              </a:rPr>
              <a:t> Continuous patch management, optimization, and feature enhancements.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9818"/>
            <a:ext cx="10477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02731"/>
            <a:ext cx="1333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45643"/>
            <a:ext cx="1333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88556"/>
            <a:ext cx="1619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31468"/>
            <a:ext cx="133350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574381"/>
            <a:ext cx="142875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017293"/>
            <a:ext cx="133350" cy="219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The 7 Core Phases at a Glance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47937"/>
            <a:ext cx="52863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The foundation of any successful project. Teams work closely with clients and business analysts to document what the software must achieve.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49091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90912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Functional Requirements: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Features, data inputs, and specific business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411956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19562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Non-Functional Requirements: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Performance benchmarks, scalability bounds, and security parameters.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74821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48212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Gathering Methods: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Interviews, surveys, focus groups, and workflow audits.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Phase 1: Requirements Gathering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581275"/>
            <a:ext cx="11049000" cy="25908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581275"/>
          <a:ext cx="1103947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4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Deliverable Document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Primary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Target Audience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SRS Document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 (Software Requirements Specification)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Defines complete functional &amp; non-functional expectations precisely.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Clients, Developers, QA Engineers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Use Case Specifications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Illustrates user-system interactions across distinct scenarios.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UX Designers, Developers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Requirements Traceability Matrix (RTM)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Maps user requirements to test cases to guarantee zero omission.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Project Managers, QA Leads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071812"/>
            <a:ext cx="38000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76291" y="3071812"/>
            <a:ext cx="46748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51131" y="3071812"/>
            <a:ext cx="25646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767137"/>
            <a:ext cx="38000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6291" y="3767137"/>
            <a:ext cx="46748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1131" y="3767137"/>
            <a:ext cx="25646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262" y="4462462"/>
            <a:ext cx="38000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6291" y="4462462"/>
            <a:ext cx="46748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51131" y="4462462"/>
            <a:ext cx="25646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Deliverables: Requirements Phase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76525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Evaluating the gathered requirements through deep technical and economic lenses to determine project viability.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3623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296" y="3429000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Technical Feasibility: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Do our tools and technologies support this vision?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9909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9097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Economic Feasibility: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Is the ROI justifiable against development budgets?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6196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196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Operational Feasibility: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Can the organization adopt and maintain this system?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Phase 2: System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509DCC-9196-B3A0-AB85-1A627D717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0466" y="1717375"/>
            <a:ext cx="6287798" cy="43071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81312"/>
            <a:ext cx="11049000" cy="1990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81312"/>
          <a:ext cx="11039474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0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9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Deliverable Artefact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Description &amp; Significance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Feasibility Report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Comprehensive study detailing financial, technical, and operational viability.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Data Flow Diagrams (DFDs)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Visual models mapping information inputs, data storage nodes, and output channels.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Entity-Relationship (ER)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Conceptual data models outlining core database tables and entity associations.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71850"/>
            <a:ext cx="3290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66405" y="3371850"/>
            <a:ext cx="7749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262" y="3867150"/>
            <a:ext cx="3290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66405" y="3867150"/>
            <a:ext cx="7749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4362450"/>
            <a:ext cx="32901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66405" y="4362450"/>
            <a:ext cx="77493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Deliverables: Analysis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76525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Translating business specifications into structural blueprints that guide software construction.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3623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623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High-Level Design (HLD):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Architecture overview, component relationships, server topology.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9909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9097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Low-Level Design (LLD):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Detailed class diagrams, algorithms, data structures, and APIs.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6196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196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UI/UX Wireframing: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User interface mockups ensuring optimal user experiences.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Phase 3: System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89C831-6DFE-19A0-B083-79BF27D87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137" y="1785308"/>
            <a:ext cx="6134149" cy="43732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81312"/>
            <a:ext cx="11049000" cy="1990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81312"/>
          <a:ext cx="11039474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Design Document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Scope &amp; Specifications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HLD Document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System architecture, subsystem interaction matrices, and hosting setups.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LLD Document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Algorithm designs, database schema definitions, and class specifications.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UI/UX Prototypes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Interactive wireframes and style guides approved by stakeholders.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71850"/>
            <a:ext cx="25327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9019" y="3371850"/>
            <a:ext cx="8506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262" y="3867150"/>
            <a:ext cx="25327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09019" y="3867150"/>
            <a:ext cx="8506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4362450"/>
            <a:ext cx="253275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09019" y="4362450"/>
            <a:ext cx="85067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Deliverables: Design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05112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75569"/>
                </a:solidFill>
                <a:latin typeface="Plus Jakarta Sans"/>
              </a:rPr>
              <a:t>Developers write actual source code based on the approved design specifications, bringing the blueprint to life.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49091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90912"/>
            <a:ext cx="50958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Adherence to strict coding standards and style guides.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86238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62387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Version control systems (e.g., Git) utilization for collaborative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49103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491037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Writing self-documenting code and performing developer unit checks.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F172A"/>
                </a:solidFill>
                <a:latin typeface="Plus Jakarta Sans"/>
              </a:rPr>
              <a:t>Phase 4: Implementation (Coding)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E52832-0CBA-2C0F-0D39-6724DF3EE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125" y="1899713"/>
            <a:ext cx="5876566" cy="4367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81312"/>
            <a:ext cx="11049000" cy="1990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81312"/>
          <a:ext cx="11039474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0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Implementation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Source Code Repository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Clean, production-ready modular code committed to version control.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Unit Test Scripts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Automated scripts verifying individual function and method correctness.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Build Packages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Compiled binaries or deployable packages ready for testing staging.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71850"/>
            <a:ext cx="3110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86919" y="3371850"/>
            <a:ext cx="7928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262" y="3867150"/>
            <a:ext cx="3110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86919" y="3867150"/>
            <a:ext cx="7928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4362450"/>
            <a:ext cx="31106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86919" y="4362450"/>
            <a:ext cx="79288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Deliverables: Implementation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05112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Ensuring software is robust, secure, and bug-free before releasing it to real users.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49091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490912"/>
            <a:ext cx="50958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Unit Testing: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Testing individual modules independently.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86238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862387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Integration Testing: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Checking interactions between coupled subsystems.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49103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491037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System &amp; UAT: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Validating full performance against original business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Phase 5: Testing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81312"/>
            <a:ext cx="11049000" cy="1990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81312"/>
          <a:ext cx="11039474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7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1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Testing Artifact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Test Case Documentation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Detailed scripts covering test scenarios, expected outputs, and actual outcomes.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Bug / Defect Reports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Logs tracking software anomalies, severity levels, and resolution status.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Test Summary Report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Quality sign-off metric report confirming system readiness for release.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71850"/>
            <a:ext cx="294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23803" y="3371850"/>
            <a:ext cx="80919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262" y="3867150"/>
            <a:ext cx="294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23803" y="3867150"/>
            <a:ext cx="80919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4362450"/>
            <a:ext cx="294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3803" y="4362450"/>
            <a:ext cx="80919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Deliverables: Testing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76525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Releasing the verified software application into the production environment for end-user consumption.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3623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623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Automated CI/CD deployment pipelines (e.g., Jenkins, GitHub Actions).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9909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9097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Staged rollouts (Canary releases, blue-green deployment strategies).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6196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196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User onboarding, training materials, and release note publication.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Phase 6: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81312"/>
            <a:ext cx="11049000" cy="1990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81312"/>
          <a:ext cx="11039474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2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Deployment Asset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Production-Ready Release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Fully installed software system operating on live client infrastructure.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User Manuals &amp; Guides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Documentation assisting end-users and administrators in operating the system.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Deployment Runbook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Step-by-step technical procedures for future rollouts or rollbacks.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71850"/>
            <a:ext cx="3112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88705" y="3371850"/>
            <a:ext cx="79270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262" y="3867150"/>
            <a:ext cx="3112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88705" y="3867150"/>
            <a:ext cx="79270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4362450"/>
            <a:ext cx="31124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88705" y="4362450"/>
            <a:ext cx="79270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Deliverables: Deployment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76525"/>
            <a:ext cx="52863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Ongoing support and evolution of the software post-release to ensure continuous operational excellence.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50" y="33623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623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Corrective Maintenance: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Fixing newly discovered bugs or hotfixes.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399097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99097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Adaptive Maintenance: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Updating software to match new OS or hardware environments.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" y="461962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19625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Perfective Maintenance: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Adding new features and optimizing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Phase 7: Maintenance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81312"/>
            <a:ext cx="11049000" cy="1990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81312"/>
          <a:ext cx="11039474" cy="199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7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Maintenance Output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Patch Releases &amp; Updates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Code fixes, security upgrades, and service packs.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68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Change Request 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Documentation recording requested enhancements and bug fixes over time.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68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Performance Audit Reports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Periodic evaluations tracking system uptime, speed, and reliability.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3371850"/>
            <a:ext cx="320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78150" y="3371850"/>
            <a:ext cx="7837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262" y="3867150"/>
            <a:ext cx="320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78150" y="3867150"/>
            <a:ext cx="7837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4362450"/>
            <a:ext cx="32018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78150" y="4362450"/>
            <a:ext cx="78375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Deliverables: Maintenance 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15527" y="2447925"/>
            <a:ext cx="756094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Plus Jakarta Sans"/>
              </a:rPr>
              <a:t>Part III: Advantages of SDLC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0" y="3448050"/>
            <a:ext cx="7620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0262" y="3886200"/>
            <a:ext cx="79914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Why structured life cycles empower high-performing engineering organizations.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5537"/>
            <a:ext cx="3492549" cy="2962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95537"/>
            <a:ext cx="3492549" cy="2962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95537"/>
            <a:ext cx="3492549" cy="2962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30993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82F6"/>
                </a:solidFill>
                <a:latin typeface="Plus Jakarta Sans"/>
              </a:rPr>
              <a:t>Cost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623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Catching defects in the requirements or design phase prevents exponentially higher bug-fix costs during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30993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82F6"/>
                </a:solidFill>
                <a:latin typeface="Plus Jakarta Sans"/>
              </a:rPr>
              <a:t>On-Time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8623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Structured milestones, clear schedules, and rigorous planning eliminate severe project delays and scope creep.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309937"/>
            <a:ext cx="30470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82F6"/>
                </a:solidFill>
                <a:latin typeface="Plus Jakarta Sans"/>
              </a:rPr>
              <a:t>Enhanced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862387"/>
            <a:ext cx="29019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Mandatory testing phases and rigorous documentation ensure the final application is stable, secure, and reliable.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4796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47962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47962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Key Advantages of SDLC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66925"/>
            <a:ext cx="52863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076450"/>
            <a:ext cx="5267325" cy="3600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29337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33700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Complete Visibility: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Management and clients enjoy transparent progress tracking through clear phase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56235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62350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Standardized Documentation: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Ensures seamless staff transitions and knowledge transfer if team members leave.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419100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191000"/>
            <a:ext cx="50958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Plus Jakarta Sans"/>
              </a:rPr>
              <a:t>Scalability: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Establishes repeatable blueprints that can scale across multi-team enterprise projects.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Organizational Benefits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3076575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475569"/>
                </a:solidFill>
                <a:latin typeface="Plus Jakarta Sans"/>
              </a:rPr>
              <a:t>SDLC provides a disciplined engineering blueprint for turning complex business ideas into secure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3519487"/>
            <a:ext cx="107156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475569"/>
                </a:solidFill>
                <a:latin typeface="Plus Jakarta Sans"/>
              </a:rPr>
              <a:t>The 7 core phases (Requirements, Analysis, Design, Implementation, Testing, Deployment, Maintenance) cover the complete software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4233862"/>
            <a:ext cx="1071562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475569"/>
                </a:solidFill>
                <a:latin typeface="Plus Jakarta Sans"/>
              </a:rPr>
              <a:t>Rigorous deliverables in each phase guarantee accountability, traceability, and high product quality.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09912"/>
            <a:ext cx="20955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52825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67200"/>
            <a:ext cx="209550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Module 2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5586" y="2586037"/>
            <a:ext cx="662082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lus Jakarta Sans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7037" y="3748087"/>
            <a:ext cx="62579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Thank you! Let's discuss any queries regarding Module 2: SDLC.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4811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4241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19563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96716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73868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414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414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9576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7291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7291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500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500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0973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624012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https://static.vecteezy.com/system/resources/thumbnails/011/731/307/small/project-management-strategic-plan-to-manage-resources-for-development-working-process-and-schedule-task-completion-concept-smart-businessman-project-manager-manage-multiple-project-dashboards-nt-vector.jpg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04311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www.vecteezy.com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6987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57413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https://www.tutorialspoint.com/system_analysis_and_design/images/data_flow_diagram.jpg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80749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www.tutorialspoint.com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3851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3456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https://vfunction.com/wp-content/uploads/2025/01/uml-class-diagrams.webp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5790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vfunction.com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10037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411718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https://st2.depositphotos.com/57219478/50283/i/450/depositphotos_502836204-stock-photo-developer-python-java-script-html.jpg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35054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www.everypixel.com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81562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88870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https://media.geeksforgeeks.org/wp-content/uploads/20240612131318/Process-of-Debugging-.webp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512206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www.geeksforgeeks.org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653087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66023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https://media.geeksforgeeks.org/wp-content/uploads/20250821153350614262/cicd12.webp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89359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www.geeksforgeeks.org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10991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871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71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527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25993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https://tuxcare.com/wp-content/uploads/2026/05/software-patching-lifecycle.png.webp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493293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tuxcare.com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243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403145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https://www.congruentsoft.com/images/blog-images/offshore/key-steps-to-agile-success-in-distributed-teams.jpg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64818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www.congruentsoft.com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6680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1491</Words>
  <Application>Microsoft Office PowerPoint</Application>
  <PresentationFormat>Widescreen</PresentationFormat>
  <Paragraphs>194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Inter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Dheeraj Kodati</dc:creator>
  <cp:keywords/>
  <dc:description>generated using python-pptx</dc:description>
  <cp:lastModifiedBy>Dheeraj Kodati</cp:lastModifiedBy>
  <cp:revision>4</cp:revision>
  <dcterms:created xsi:type="dcterms:W3CDTF">2013-01-27T09:14:16Z</dcterms:created>
  <dcterms:modified xsi:type="dcterms:W3CDTF">2026-08-09T12:19:39Z</dcterms:modified>
  <cp:category/>
</cp:coreProperties>
</file>