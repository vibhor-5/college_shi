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hIUvzP9o6ymT/cSDPH5yc+07ic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C616D66-F777-43DA-9A58-64860AE54769}">
  <a:tblStyle styleId="{BC616D66-F777-43DA-9A58-64860AE5476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/>
        </p:nvSpPr>
        <p:spPr>
          <a:xfrm>
            <a:off x="0" y="8685212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1.#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 txBox="1"/>
          <p:nvPr/>
        </p:nvSpPr>
        <p:spPr>
          <a:xfrm>
            <a:off x="3884612" y="8685212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fld id="{00000000-1234-1234-1234-123412341234}" type="slidenum">
              <a:rPr b="1" i="1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fld id="{00000000-1234-1234-1234-123412341234}" type="slidenum">
              <a:rPr b="1" i="1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3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3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/>
        </p:nvSpPr>
        <p:spPr>
          <a:xfrm>
            <a:off x="2562225" y="673935"/>
            <a:ext cx="6858000" cy="1231500"/>
          </a:xfrm>
          <a:prstGeom prst="rect">
            <a:avLst/>
          </a:prstGeom>
          <a:solidFill>
            <a:srgbClr val="6666FF"/>
          </a:solidFill>
          <a:ln cap="flat" cmpd="sng" w="9525">
            <a:solidFill>
              <a:schemeClr val="accent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Engineering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Module 1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Introduction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coding software to engineering reliable systems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1" y="1905001"/>
            <a:ext cx="5697537" cy="399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822960" y="646612"/>
            <a:ext cx="2406428" cy="400110"/>
          </a:xfrm>
          <a:prstGeom prst="rect">
            <a:avLst/>
          </a:prstGeom>
          <a:solidFill>
            <a:srgbClr val="6666FF"/>
          </a:solidFill>
          <a:ln cap="flat" cmpd="sng" w="9525">
            <a:solidFill>
              <a:schemeClr val="accent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Think?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822960" y="1234440"/>
            <a:ext cx="10607040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AI can write code in seconds…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do we still need Software Engineers?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happens when the generated software is wrong, insecure, expensive, or impossible to maintain?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/>
        </p:nvSpPr>
        <p:spPr>
          <a:xfrm>
            <a:off x="713559" y="734206"/>
            <a:ext cx="3844642" cy="40011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Simple Real-World Scenario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640080" y="1467612"/>
            <a:ext cx="10607040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an online examination system for 1,00,000 students.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Features: registration, authentication, exams, evaluation, results, reports and security.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Constraints: 8 months, limited budget, multiple developers, 5-year maintenance.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Question: Is programming knowledge alone enough?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/>
        </p:nvSpPr>
        <p:spPr>
          <a:xfrm>
            <a:off x="822960" y="426176"/>
            <a:ext cx="10972800" cy="64008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Can Go Wrong?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822960" y="1234440"/>
            <a:ext cx="10607040" cy="363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 may be incomplete or ambiguous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may not scale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developers may produce incompatible components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may contain defects and security vulnerabilities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may exceed cost or schedule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 may change requirements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Production failures may occur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Someone must verify, maintain and evolve the system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/>
        </p:nvSpPr>
        <p:spPr>
          <a:xfrm>
            <a:off x="757646" y="354330"/>
            <a:ext cx="10972800" cy="64008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Programming vs. Software Engineering</a:t>
            </a:r>
            <a:endParaRPr/>
          </a:p>
        </p:txBody>
      </p:sp>
      <p:sp>
        <p:nvSpPr>
          <p:cNvPr id="116" name="Google Shape;116;p5"/>
          <p:cNvSpPr txBox="1"/>
          <p:nvPr/>
        </p:nvSpPr>
        <p:spPr>
          <a:xfrm>
            <a:off x="757646" y="1422218"/>
            <a:ext cx="10607040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Programming → primarily concerned with implementing solutions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Engineering → systematic development, operation and maintenance of software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Programming is one activity within the larger engineering lifecycle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software product must also be understood, tested, deployed, secured, documented and maintained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Software Engineering Emerged</a:t>
            </a:r>
            <a:endParaRPr/>
          </a:p>
        </p:txBody>
      </p:sp>
      <p:sp>
        <p:nvSpPr>
          <p:cNvPr id="122" name="Google Shape;122;p6"/>
          <p:cNvSpPr txBox="1"/>
          <p:nvPr/>
        </p:nvSpPr>
        <p:spPr>
          <a:xfrm>
            <a:off x="822960" y="1234440"/>
            <a:ext cx="10607040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software projects became increasingly large and complex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Projects experienced cost overruns, schedule delays and poor quality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 changed while development was underway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Maintenance became a major part of software cost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Engineering discipline was needed to manage complexity and quality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/>
          <p:nvPr/>
        </p:nvSpPr>
        <p:spPr>
          <a:xfrm>
            <a:off x="822960" y="466665"/>
            <a:ext cx="10972800" cy="64008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Software Engineering View</a:t>
            </a:r>
            <a:endParaRPr/>
          </a:p>
        </p:txBody>
      </p:sp>
      <p:sp>
        <p:nvSpPr>
          <p:cNvPr id="128" name="Google Shape;128;p7"/>
          <p:cNvSpPr txBox="1"/>
          <p:nvPr/>
        </p:nvSpPr>
        <p:spPr>
          <a:xfrm>
            <a:off x="777240" y="1523198"/>
            <a:ext cx="10607040" cy="2708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should we build? → Requirements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should we build it? → Design &amp; Architecture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we build it systematically? → Process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we know it works? → Verification &amp; Testing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it good enough? → Quality &amp; Metrics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we evolve it? → Maintenance &amp; Evolution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Traditional Software Lifecycle</a:t>
            </a:r>
            <a:endParaRPr/>
          </a:p>
        </p:txBody>
      </p:sp>
      <p:sp>
        <p:nvSpPr>
          <p:cNvPr id="134" name="Google Shape;134;p8"/>
          <p:cNvSpPr txBox="1"/>
          <p:nvPr/>
        </p:nvSpPr>
        <p:spPr>
          <a:xfrm>
            <a:off x="670560" y="1581912"/>
            <a:ext cx="10607040" cy="45550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→ Requirements → Design → Implementation → Testing → Deployment → Maintenance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process models organize these activities differently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Waterfall,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V-Model,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Incremental,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Prototyping,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Spiral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Agile provide different approaches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AI-Assisted Lifecycle</a:t>
            </a:r>
            <a:endParaRPr/>
          </a:p>
        </p:txBody>
      </p:sp>
      <p:sp>
        <p:nvSpPr>
          <p:cNvPr id="140" name="Google Shape;140;p9"/>
          <p:cNvSpPr txBox="1"/>
          <p:nvPr/>
        </p:nvSpPr>
        <p:spPr>
          <a:xfrm>
            <a:off x="822960" y="1234440"/>
            <a:ext cx="10607040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&amp; Requirements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&amp; Design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AI-assisted coding, testing and documentation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Human review + verification + security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Deployment + monitoring + maintenance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 accelerates activities; engineering provides control and accountability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AI Does Well</a:t>
            </a:r>
            <a:endParaRPr/>
          </a:p>
        </p:txBody>
      </p:sp>
      <p:sp>
        <p:nvSpPr>
          <p:cNvPr id="146" name="Google Shape;146;p10"/>
          <p:cNvSpPr txBox="1"/>
          <p:nvPr/>
        </p:nvSpPr>
        <p:spPr>
          <a:xfrm>
            <a:off x="678581" y="1707682"/>
            <a:ext cx="10607040" cy="363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code and boilerplate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unfamiliar code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test cases and test data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Suggest refactoring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 debugging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documentation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 explore design alternatives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Automate repetitive development tasks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AI Does NOT Guarantee</a:t>
            </a:r>
            <a:endParaRPr/>
          </a:p>
        </p:txBody>
      </p:sp>
      <p:sp>
        <p:nvSpPr>
          <p:cNvPr id="152" name="Google Shape;152;p11"/>
          <p:cNvSpPr txBox="1"/>
          <p:nvPr/>
        </p:nvSpPr>
        <p:spPr>
          <a:xfrm>
            <a:off x="822960" y="1234440"/>
            <a:ext cx="10607040" cy="409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Correct requirements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Correct architecture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Correct business logic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Scalability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Reliability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Maintainability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Regulatory or organizational compliance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output must be reviewed and validated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Generated Code ≠ Correct Software</a:t>
            </a:r>
            <a:endParaRPr/>
          </a:p>
        </p:txBody>
      </p:sp>
      <p:sp>
        <p:nvSpPr>
          <p:cNvPr id="158" name="Google Shape;158;p12"/>
          <p:cNvSpPr txBox="1"/>
          <p:nvPr/>
        </p:nvSpPr>
        <p:spPr>
          <a:xfrm>
            <a:off x="594360" y="1581912"/>
            <a:ext cx="10607040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can produce code that compiles but implements the wrong requirement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can miss edge cases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can introduce vulnerabilities or unsafe assumptions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can use outdated or unsuitable approaches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Therefore: Generate → Review → Test → Verify → Monitor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Key Shift in the Engineer’s Role</a:t>
            </a:r>
            <a:endParaRPr/>
          </a:p>
        </p:txBody>
      </p:sp>
      <p:sp>
        <p:nvSpPr>
          <p:cNvPr id="164" name="Google Shape;164;p13"/>
          <p:cNvSpPr txBox="1"/>
          <p:nvPr/>
        </p:nvSpPr>
        <p:spPr>
          <a:xfrm>
            <a:off x="594360" y="1353312"/>
            <a:ext cx="10607040" cy="34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Before: significant effort spent manually writing code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Now: more leverage from AI-assisted implementation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Increased importance of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requirements, architecture, verification, security, quality and system-level thinking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engineer: orchestrates people, tools and AI to deliver reliable software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Engineering + AI</a:t>
            </a:r>
            <a:endParaRPr/>
          </a:p>
        </p:txBody>
      </p:sp>
      <p:sp>
        <p:nvSpPr>
          <p:cNvPr id="170" name="Google Shape;170;p14"/>
          <p:cNvSpPr txBox="1"/>
          <p:nvPr/>
        </p:nvSpPr>
        <p:spPr>
          <a:xfrm>
            <a:off x="594360" y="1634691"/>
            <a:ext cx="10607040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 → AI can refine and summarize; engineer validates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→ AI can suggest alternatives; engineer selects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Coding → AI can generate; engineer reviews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→ AI can generate tests; engineer defines coverage and acceptance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Maintenance → AI can understand legacy code; engineer controls changes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"/>
          <p:cNvSpPr txBox="1"/>
          <p:nvPr/>
        </p:nvSpPr>
        <p:spPr>
          <a:xfrm>
            <a:off x="822960" y="373330"/>
            <a:ext cx="9504145" cy="52322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 Roadmap</a:t>
            </a:r>
            <a:endParaRPr/>
          </a:p>
        </p:txBody>
      </p:sp>
      <p:sp>
        <p:nvSpPr>
          <p:cNvPr id="176" name="Google Shape;176;p15"/>
          <p:cNvSpPr txBox="1"/>
          <p:nvPr/>
        </p:nvSpPr>
        <p:spPr>
          <a:xfrm>
            <a:off x="777240" y="1475072"/>
            <a:ext cx="10607040" cy="2708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Foundations, SDLC &amp; Process Models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 Engineering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Planning, Estimation, Scheduling &amp; Risk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Design, Architecture, UML &amp; Design Patterns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Implementation, Testing &amp; Debugging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Quality, Maintenance, DevOps &amp; Integrated Case Study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1: Foundations &amp; Process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594360" y="1354756"/>
            <a:ext cx="10607040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characteristics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process and SDLC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Waterfall and V-Model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Incremental, Prototyping, Spiral and RAD</a:t>
            </a:r>
            <a:endParaRPr/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Process-model selection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/>
          <p:nvPr/>
        </p:nvSpPr>
        <p:spPr>
          <a:xfrm>
            <a:off x="594360" y="541766"/>
            <a:ext cx="11156482" cy="52322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1: Software characteristics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e Basic Concepts Of Performance Test - Time Behavior | Careers Saigon Technology" id="188" name="Google Shape;18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929" y="2711598"/>
            <a:ext cx="11029343" cy="348113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/>
        </p:nvSpPr>
        <p:spPr>
          <a:xfrm>
            <a:off x="538212" y="1435049"/>
            <a:ext cx="109728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is developed/engineered not manufactured in classic sense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doesn’t wear out but deteriorate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can also be developed component wise and integrated 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 txBox="1"/>
          <p:nvPr/>
        </p:nvSpPr>
        <p:spPr>
          <a:xfrm>
            <a:off x="594360" y="541766"/>
            <a:ext cx="11156482" cy="52322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1: Software Applications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594360" y="1579428"/>
            <a:ext cx="1097280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Software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Software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Embedded Software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application Software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Engineering and Scientific Software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Personal Software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Software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 txBox="1"/>
          <p:nvPr/>
        </p:nvSpPr>
        <p:spPr>
          <a:xfrm>
            <a:off x="938779" y="2127017"/>
            <a:ext cx="11156482" cy="2308324"/>
          </a:xfrm>
          <a:prstGeom prst="rect">
            <a:avLst/>
          </a:prstGeom>
          <a:solidFill>
            <a:srgbClr val="D6E3B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Engineering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develop the efficient quality software in the different application domain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satisfy the various high-level objectives, there is a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need of this systematic approach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which is known as the software engineering.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/>
        </p:nvSpPr>
        <p:spPr>
          <a:xfrm>
            <a:off x="594360" y="541766"/>
            <a:ext cx="11156482" cy="52322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1: Process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491872" y="1207947"/>
            <a:ext cx="11361457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software process means the systematic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set of activities used to develop, deliver, and maintain software.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software process is a structured way of answering: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do we do, in what order, and how do we do it to build good software?</a:t>
            </a:r>
            <a:endParaRPr b="1" i="0" sz="9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2733964" y="3024828"/>
            <a:ext cx="6096000" cy="332398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Problem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↓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Gather Requirements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↓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Analyze Requirements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↓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the System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↓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/ Code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↓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↓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↓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Maintain &amp; Improve</a:t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2970361" y="6467086"/>
            <a:ext cx="56232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sequence of activities constitutes 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process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 txBox="1"/>
          <p:nvPr/>
        </p:nvSpPr>
        <p:spPr>
          <a:xfrm>
            <a:off x="502519" y="477110"/>
            <a:ext cx="11156482" cy="52322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≠ Process Model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48439" y="1207127"/>
            <a:ext cx="11064641" cy="4524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Process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1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What activities are involved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software development?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5" marL="2286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example:</a:t>
            </a:r>
            <a:endParaRPr/>
          </a:p>
          <a:p>
            <a:pPr indent="-114300" lvl="7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 </a:t>
            </a:r>
            <a:endParaRPr/>
          </a:p>
          <a:p>
            <a:pPr indent="-114300" lvl="7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</a:t>
            </a:r>
            <a:endParaRPr/>
          </a:p>
          <a:p>
            <a:pPr indent="-114300" lvl="7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 </a:t>
            </a:r>
            <a:endParaRPr/>
          </a:p>
          <a:p>
            <a:pPr indent="-114300" lvl="7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</a:t>
            </a:r>
            <a:endParaRPr/>
          </a:p>
          <a:p>
            <a:pPr indent="-114300" lvl="7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Deployment </a:t>
            </a:r>
            <a:endParaRPr/>
          </a:p>
          <a:p>
            <a:pPr indent="-114300" lvl="7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Maintenance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Model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1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How are these activities organized and carried out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5" marL="2286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example:</a:t>
            </a:r>
            <a:endParaRPr/>
          </a:p>
          <a:p>
            <a:pPr indent="-114300" lvl="5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Waterfall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activities largely performed sequentially </a:t>
            </a:r>
            <a:endParaRPr/>
          </a:p>
          <a:p>
            <a:pPr indent="-114300" lvl="5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Incremental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software developed in increments </a:t>
            </a:r>
            <a:endParaRPr/>
          </a:p>
          <a:p>
            <a:pPr indent="-114300" lvl="5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Spiral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development organized around iterative risk analysis </a:t>
            </a:r>
            <a:endParaRPr/>
          </a:p>
          <a:p>
            <a:pPr indent="-114300" lvl="5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Agile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short iterations/sprints with continuous feedback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/>
        </p:nvSpPr>
        <p:spPr>
          <a:xfrm>
            <a:off x="410678" y="538211"/>
            <a:ext cx="11156482" cy="52322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 a software process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315347" y="1208741"/>
            <a:ext cx="11347145" cy="5355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“If ten developers are asked to build a large software system, should everyone simply start coding?”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If not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 process → SDLC → process models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Without a defined process, a software project can become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often leads to:</a:t>
            </a:r>
            <a:endParaRPr/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unclear requirements </a:t>
            </a:r>
            <a:endParaRPr/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rework </a:t>
            </a:r>
            <a:endParaRPr/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poor coordination </a:t>
            </a:r>
            <a:endParaRPr/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missed deadlines </a:t>
            </a:r>
            <a:endParaRPr/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 overruns </a:t>
            </a:r>
            <a:endParaRPr/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defects </a:t>
            </a:r>
            <a:endParaRPr/>
          </a:p>
          <a:p>
            <a:pPr indent="-285750" lvl="2" marL="1200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difficult maintenance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good software process provides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discipline, coordination, visibility, quality control, and repeatability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/>
        </p:nvSpPr>
        <p:spPr>
          <a:xfrm>
            <a:off x="410678" y="538211"/>
            <a:ext cx="11156482" cy="52322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Defined Life Cycle (SDLC)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410677" y="1387917"/>
            <a:ext cx="1104241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SDLC describes the major 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activities involved in taking software from an initial idea or requirement to a working system and its maintenance.</a:t>
            </a:r>
            <a:endParaRPr/>
          </a:p>
        </p:txBody>
      </p:sp>
      <p:sp>
        <p:nvSpPr>
          <p:cNvPr id="227" name="Google Shape;227;p23"/>
          <p:cNvSpPr/>
          <p:nvPr/>
        </p:nvSpPr>
        <p:spPr>
          <a:xfrm>
            <a:off x="7887855" y="1949637"/>
            <a:ext cx="4140028" cy="4524315"/>
          </a:xfrm>
          <a:prstGeom prst="rect">
            <a:avLst/>
          </a:prstGeom>
          <a:solidFill>
            <a:srgbClr val="DDD9C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↓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Planning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↓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Analysis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↓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↓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 / Coding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↓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↓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↓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Maintenance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↺</a:t>
            </a:r>
            <a:endParaRPr/>
          </a:p>
        </p:txBody>
      </p:sp>
      <p:graphicFrame>
        <p:nvGraphicFramePr>
          <p:cNvPr id="228" name="Google Shape;228;p23"/>
          <p:cNvGraphicFramePr/>
          <p:nvPr/>
        </p:nvGraphicFramePr>
        <p:xfrm>
          <a:off x="576137" y="20864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{BC616D66-F777-43DA-9A58-64860AE54769}</a:tableStyleId>
              </a:tblPr>
              <a:tblGrid>
                <a:gridCol w="2382075"/>
                <a:gridCol w="2382075"/>
                <a:gridCol w="2382075"/>
              </a:tblGrid>
              <a:tr h="31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Phase</a:t>
                      </a:r>
                      <a:endParaRPr/>
                    </a:p>
                  </a:txBody>
                  <a:tcPr marT="39700" marB="39700" marR="79400" marL="79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Main question</a:t>
                      </a:r>
                      <a:endParaRPr/>
                    </a:p>
                  </a:txBody>
                  <a:tcPr marT="39700" marB="39700" marR="79400" marL="79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Typical activities</a:t>
                      </a:r>
                      <a:endParaRPr/>
                    </a:p>
                  </a:txBody>
                  <a:tcPr marT="39700" marB="39700" marR="79400" marL="79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5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1. Requirements</a:t>
                      </a:r>
                      <a:endParaRPr sz="1600"/>
                    </a:p>
                  </a:txBody>
                  <a:tcPr marT="39700" marB="39700" marR="79400" marL="79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What does the customer need?</a:t>
                      </a:r>
                      <a:endParaRPr/>
                    </a:p>
                  </a:txBody>
                  <a:tcPr marT="39700" marB="39700" marR="79400" marL="79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Requirement gathering, SRS</a:t>
                      </a:r>
                      <a:endParaRPr/>
                    </a:p>
                  </a:txBody>
                  <a:tcPr marT="39700" marB="39700" marR="79400" marL="79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5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2. Planning</a:t>
                      </a:r>
                      <a:endParaRPr sz="1600"/>
                    </a:p>
                  </a:txBody>
                  <a:tcPr marT="39700" marB="39700" marR="79400" marL="79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How will we develop it?</a:t>
                      </a:r>
                      <a:endParaRPr/>
                    </a:p>
                  </a:txBody>
                  <a:tcPr marT="39700" marB="39700" marR="79400" marL="79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Cost, schedule, resources, risks</a:t>
                      </a:r>
                      <a:endParaRPr/>
                    </a:p>
                  </a:txBody>
                  <a:tcPr marT="39700" marB="39700" marR="79400" marL="79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5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3. Analysis</a:t>
                      </a:r>
                      <a:endParaRPr sz="1600"/>
                    </a:p>
                  </a:txBody>
                  <a:tcPr marT="39700" marB="39700" marR="79400" marL="79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What exactly should the system do?</a:t>
                      </a:r>
                      <a:endParaRPr/>
                    </a:p>
                  </a:txBody>
                  <a:tcPr marT="39700" marB="39700" marR="79400" marL="79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System analysis, feasibility</a:t>
                      </a:r>
                      <a:endParaRPr/>
                    </a:p>
                  </a:txBody>
                  <a:tcPr marT="39700" marB="39700" marR="79400" marL="79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5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4. Design</a:t>
                      </a:r>
                      <a:endParaRPr sz="1600"/>
                    </a:p>
                  </a:txBody>
                  <a:tcPr marT="39700" marB="39700" marR="79400" marL="79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How will we build it?</a:t>
                      </a:r>
                      <a:endParaRPr/>
                    </a:p>
                  </a:txBody>
                  <a:tcPr marT="39700" marB="39700" marR="79400" marL="79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Architecture, database, UI, components</a:t>
                      </a:r>
                      <a:endParaRPr/>
                    </a:p>
                  </a:txBody>
                  <a:tcPr marT="39700" marB="39700" marR="79400" marL="79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1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5. Implementation</a:t>
                      </a:r>
                      <a:endParaRPr sz="1600"/>
                    </a:p>
                  </a:txBody>
                  <a:tcPr marT="39700" marB="39700" marR="79400" marL="79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How do we construct it?</a:t>
                      </a:r>
                      <a:endParaRPr/>
                    </a:p>
                  </a:txBody>
                  <a:tcPr marT="39700" marB="39700" marR="79400" marL="79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Programming, integration</a:t>
                      </a:r>
                      <a:endParaRPr/>
                    </a:p>
                  </a:txBody>
                  <a:tcPr marT="39700" marB="39700" marR="79400" marL="79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5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6. Testing</a:t>
                      </a:r>
                      <a:endParaRPr sz="1600"/>
                    </a:p>
                  </a:txBody>
                  <a:tcPr marT="39700" marB="39700" marR="79400" marL="79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Does it work correctly?</a:t>
                      </a:r>
                      <a:endParaRPr/>
                    </a:p>
                  </a:txBody>
                  <a:tcPr marT="39700" marB="39700" marR="79400" marL="79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Unit, integration, system, acceptance testing</a:t>
                      </a:r>
                      <a:endParaRPr/>
                    </a:p>
                  </a:txBody>
                  <a:tcPr marT="39700" marB="39700" marR="79400" marL="79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5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7. Deployment</a:t>
                      </a:r>
                      <a:endParaRPr sz="1600"/>
                    </a:p>
                  </a:txBody>
                  <a:tcPr marT="39700" marB="39700" marR="79400" marL="79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How do we deliver it?</a:t>
                      </a:r>
                      <a:endParaRPr/>
                    </a:p>
                  </a:txBody>
                  <a:tcPr marT="39700" marB="39700" marR="79400" marL="79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Installation, release, configuration</a:t>
                      </a:r>
                      <a:endParaRPr/>
                    </a:p>
                  </a:txBody>
                  <a:tcPr marT="39700" marB="39700" marR="79400" marL="79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5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8. Maintenance</a:t>
                      </a:r>
                      <a:endParaRPr sz="1600"/>
                    </a:p>
                  </a:txBody>
                  <a:tcPr marT="39700" marB="39700" marR="79400" marL="79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How do we keep it useful?</a:t>
                      </a:r>
                      <a:endParaRPr/>
                    </a:p>
                  </a:txBody>
                  <a:tcPr marT="39700" marB="39700" marR="79400" marL="79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Bug fixes, updates, enhancements</a:t>
                      </a:r>
                      <a:endParaRPr/>
                    </a:p>
                  </a:txBody>
                  <a:tcPr marT="39700" marB="39700" marR="79400" marL="79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 txBox="1"/>
          <p:nvPr/>
        </p:nvSpPr>
        <p:spPr>
          <a:xfrm>
            <a:off x="410678" y="538211"/>
            <a:ext cx="11156482" cy="52322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Process Model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4"/>
          <p:cNvSpPr/>
          <p:nvPr/>
        </p:nvSpPr>
        <p:spPr>
          <a:xfrm>
            <a:off x="467712" y="1249371"/>
            <a:ext cx="11042413" cy="56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SDLC is not itself a development model.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distinction is important: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SDLC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describes the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activities/phases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involved in software development.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process model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describes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those activities are organized and performed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For more details, refer the PDF document provided in GCR.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1781" y="2837442"/>
            <a:ext cx="9713078" cy="3175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