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428" r:id="rId2"/>
    <p:sldId id="406" r:id="rId3"/>
    <p:sldId id="407" r:id="rId4"/>
    <p:sldId id="354" r:id="rId5"/>
    <p:sldId id="409" r:id="rId6"/>
    <p:sldId id="408" r:id="rId7"/>
    <p:sldId id="410" r:id="rId8"/>
    <p:sldId id="411" r:id="rId9"/>
    <p:sldId id="412" r:id="rId10"/>
    <p:sldId id="413" r:id="rId11"/>
    <p:sldId id="353" r:id="rId12"/>
    <p:sldId id="351" r:id="rId13"/>
    <p:sldId id="405" r:id="rId14"/>
    <p:sldId id="414" r:id="rId15"/>
    <p:sldId id="415" r:id="rId16"/>
    <p:sldId id="416" r:id="rId17"/>
    <p:sldId id="417" r:id="rId18"/>
    <p:sldId id="418" r:id="rId19"/>
    <p:sldId id="419" r:id="rId20"/>
    <p:sldId id="420" r:id="rId21"/>
    <p:sldId id="358" r:id="rId22"/>
    <p:sldId id="422" r:id="rId23"/>
    <p:sldId id="423" r:id="rId24"/>
    <p:sldId id="360" r:id="rId25"/>
    <p:sldId id="361" r:id="rId26"/>
    <p:sldId id="424" r:id="rId27"/>
    <p:sldId id="364" r:id="rId28"/>
    <p:sldId id="426" r:id="rId29"/>
    <p:sldId id="425" r:id="rId30"/>
    <p:sldId id="366" r:id="rId31"/>
    <p:sldId id="378"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00" autoAdjust="0"/>
    <p:restoredTop sz="88053" autoAdjust="0"/>
  </p:normalViewPr>
  <p:slideViewPr>
    <p:cSldViewPr>
      <p:cViewPr>
        <p:scale>
          <a:sx n="102" d="100"/>
          <a:sy n="102" d="100"/>
        </p:scale>
        <p:origin x="2016" y="192"/>
      </p:cViewPr>
      <p:guideLst>
        <p:guide orient="horz" pos="2160"/>
        <p:guide pos="2880"/>
      </p:guideLst>
    </p:cSldViewPr>
  </p:slideViewPr>
  <p:outlineViewPr>
    <p:cViewPr>
      <p:scale>
        <a:sx n="33" d="100"/>
        <a:sy n="33" d="100"/>
      </p:scale>
      <p:origin x="0" y="1536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8/17/26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8/17/26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much difference </a:t>
            </a:r>
            <a:r>
              <a:rPr lang="en-US" sz="1200" i="0" kern="1200" dirty="0">
                <a:solidFill>
                  <a:schemeClr val="tx1"/>
                </a:solidFill>
                <a:effectLst/>
                <a:latin typeface="+mn-lt"/>
                <a:ea typeface="+mn-ea"/>
                <a:cs typeface="+mn-cs"/>
              </a:rPr>
              <a:t>does</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manager make in how an organization performs? The dominant view in management theory and society in general is that managers are directly responsible for an organization’s success or failure. We call this perspective the </a:t>
            </a:r>
            <a:r>
              <a:rPr lang="en-US" sz="1200" b="1" kern="1200" dirty="0">
                <a:solidFill>
                  <a:schemeClr val="tx1"/>
                </a:solidFill>
                <a:effectLst/>
                <a:latin typeface="+mn-lt"/>
                <a:ea typeface="+mn-ea"/>
                <a:cs typeface="+mn-cs"/>
              </a:rPr>
              <a:t>omnipotent view of management</a:t>
            </a:r>
            <a:r>
              <a:rPr lang="en-US" sz="1200" kern="1200" dirty="0">
                <a:solidFill>
                  <a:schemeClr val="tx1"/>
                </a:solidFill>
                <a:effectLst/>
                <a:latin typeface="+mn-lt"/>
                <a:ea typeface="+mn-ea"/>
                <a:cs typeface="+mn-cs"/>
              </a:rPr>
              <a:t>. In contrast, others have argued that much of an organization’s success or failure is due to external forces outside managers’ control. This perspective is called the </a:t>
            </a:r>
            <a:r>
              <a:rPr lang="en-US" sz="1200" b="1" kern="1200" dirty="0">
                <a:solidFill>
                  <a:schemeClr val="tx1"/>
                </a:solidFill>
                <a:effectLst/>
                <a:latin typeface="+mn-lt"/>
                <a:ea typeface="+mn-ea"/>
                <a:cs typeface="+mn-cs"/>
              </a:rPr>
              <a:t>symbolic view of management</a:t>
            </a:r>
            <a:r>
              <a:rPr lang="en-US" sz="120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1455256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reality, managers are neither all-powerful nor helpless. But their decisions and actions are constrained. As you can see in Exhibit 3-1, external constraints come from the organization’s environment and internal constraints come from the organization’s culture.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602036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62579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economic component encompasses factors such as interest rates, inflation, changes in disposable income, stock market fluctuations, and business cycle stages.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demographic component is concerned with trends in population characteristics such as age, race, gender, education level, geographic location, income, and family composition.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political/legal component looks at federal, state, and local laws as well as global laws and laws of other countries. It also includes a country’s political conditions and stability.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sociocultural component is concerned with societal and cultural factors such as values, attitudes, trends, traditions, lifestyles, beliefs, tastes, and patterns of behavior.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technological component is concerned with scientific or industrial innovations.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global component encompasses those issues associated with globalization and a world economy.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62977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1455553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Like many global businesses, Nestlé is facing increased commodity costs. The maker of products from Crunch chocolate bars to Nescafé coffee to Purina pet food has seen the price of chocolate, for instance, increase by nearly 30 percent in five years. Overall, Nestlé spends more than $30 billion a year on raw materials.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Rising costs are also affecting the cost of sushi. Higher global demand for fish and the Japanese and U.S. currency exchange rates are influencing prices.</a:t>
            </a:r>
          </a:p>
          <a:p>
            <a:endParaRPr lang="en-US" dirty="0"/>
          </a:p>
          <a:p>
            <a:r>
              <a:rPr lang="en-US" sz="1200" kern="1200" dirty="0">
                <a:solidFill>
                  <a:schemeClr val="tx1"/>
                </a:solidFill>
                <a:effectLst/>
                <a:latin typeface="+mn-lt"/>
                <a:ea typeface="+mn-ea"/>
                <a:cs typeface="+mn-cs"/>
              </a:rPr>
              <a:t>Commodity (raw materials) costs are just one of the many volatile economic factors facing organizations.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568092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lingering global economic challenges—once described as the “Great Recession” by some analysts—began with the turmoil in the </a:t>
            </a:r>
            <a:r>
              <a:rPr lang="en-US" sz="1200" kern="1200" dirty="0">
                <a:solidFill>
                  <a:schemeClr val="tx1"/>
                </a:solidFill>
                <a:latin typeface="+mn-lt"/>
                <a:ea typeface="+mn-ea"/>
                <a:cs typeface="+mn-cs"/>
              </a:rPr>
              <a:t>U.S.</a:t>
            </a:r>
            <a:r>
              <a:rPr lang="en-US" sz="1200" dirty="0"/>
              <a:t> housing market.</a:t>
            </a:r>
          </a:p>
          <a:p>
            <a:endParaRPr lang="en-US" sz="1200" dirty="0"/>
          </a:p>
          <a:p>
            <a:r>
              <a:rPr lang="en-US" sz="1200" dirty="0"/>
              <a:t>As credit markets collapsed, businesses were impacted. Credit was no longer readily available to fund businesses. Economic difficulties spread across the globe.</a:t>
            </a:r>
          </a:p>
          <a:p>
            <a:endParaRPr lang="en-US" sz="1200" dirty="0"/>
          </a:p>
          <a:p>
            <a:r>
              <a:rPr lang="en-US" sz="1200" dirty="0"/>
              <a:t>The fragile economic recovery continues to be a business constraint.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1325293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As economic growth has languished and sputtered, and as people’s belief that anyone could prosper declined, social discontent over growing income gaps has increased. </a:t>
            </a:r>
          </a:p>
          <a:p>
            <a:endParaRPr lang="en-US" sz="1200" dirty="0"/>
          </a:p>
          <a:p>
            <a:r>
              <a:rPr lang="en-US" sz="1200" dirty="0"/>
              <a:t>Business leaders must realize that societal attitudes in the economic context have the potential to create constraints.</a:t>
            </a:r>
          </a:p>
          <a:p>
            <a:endParaRPr 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bottom line is that business leaders need to recognize how societal attitudes in the economic context also may create constraints as they make decisions and manage their businesses.</a:t>
            </a:r>
            <a:endParaRPr lang="en-US" dirty="0"/>
          </a:p>
          <a:p>
            <a:endParaRPr lang="en-US" sz="12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234459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size and characteristics of a country’s population can have a significant effect on what it’s able to achieve in politics, economics, and culture.</a:t>
            </a:r>
          </a:p>
          <a:p>
            <a:endParaRPr lang="en-US" dirty="0"/>
          </a:p>
          <a:p>
            <a:r>
              <a:rPr lang="en-US" dirty="0"/>
              <a:t>Baby Boomers Born between 1946 and 1964, one of the largest and most influential demographic groups in history.</a:t>
            </a:r>
          </a:p>
          <a:p>
            <a:endParaRPr lang="en-US" dirty="0"/>
          </a:p>
          <a:p>
            <a:r>
              <a:rPr lang="en-US" dirty="0"/>
              <a:t>Gen Y or (</a:t>
            </a:r>
            <a:r>
              <a:rPr lang="en-US" dirty="0" err="1"/>
              <a:t>Millennials</a:t>
            </a:r>
            <a:r>
              <a:rPr lang="en-US" dirty="0"/>
              <a:t>)—Children of Baby Boomers, born between 1978 and 1994, making an impact on technology and the workplace.</a:t>
            </a:r>
          </a:p>
          <a:p>
            <a:endParaRPr lang="en-US" dirty="0"/>
          </a:p>
          <a:p>
            <a:r>
              <a:rPr lang="en-US" dirty="0"/>
              <a:t>Post-</a:t>
            </a:r>
            <a:r>
              <a:rPr lang="en-US" dirty="0" err="1"/>
              <a:t>Millennials</a:t>
            </a:r>
            <a:r>
              <a:rPr lang="en-US" dirty="0"/>
              <a:t>–The youngest group identified age group–basically teens and middle-</a:t>
            </a:r>
            <a:r>
              <a:rPr lang="en-US" dirty="0" err="1"/>
              <a:t>schoolers</a:t>
            </a:r>
            <a:r>
              <a:rPr lang="en-US" dirty="0"/>
              <a:t>. They have also been called the iGeneration because advances in technology have customized everything to the individual.</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Population experts say it’s too early to tell whether elementary school-aged children and younger are part of this demographic group or whether the world they live in will be so different that they’ll comprise a different demographic cohort.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Although this youngest group has not officially been “named,” some are referring to them as “Gen Z” or the “touch-screen generation.”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1926950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Gen Y is an important demographic at Facebook, where most employees are under 40. The company values the passion and pioneering spirit of its young employees who embrace the challenges of building groundbreaking technology and of working in a fast-paced environment with considerable change and ambiguity.</a:t>
            </a:r>
          </a:p>
          <a:p>
            <a:br>
              <a:rPr lang="en-US" sz="1200"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Source: Paul Sakuma/AP Images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454396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any or all external environmental conditions (economic, demographic, technological, globalization, etc.) change, one of the most powerful constraints managers face is the impact of such changes on jobs and employment—both in poor conditions and in good conditions. The power of this constraint was painfully obvious during the last global recession as millions of jobs were eliminated and unemployment rates rose to levels not seen in many years. Businesses have been slow to reinstate jobs, creating continued hardships for those individuals looking for work. </a:t>
            </a:r>
          </a:p>
          <a:p>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Not only do changes in external conditions affect the types of jobs that are available, they affect how those jobs are created and managed. For instance, work tasks may be done by freelancers hired to work on an as-needed basis, or by temporary workers who work full-time but are not permanent employees, or by individuals who share jobs.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1100985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first dimension of uncertainty is the degree of change. If the components in an organization’s environment change frequently, it’s a </a:t>
            </a:r>
            <a:r>
              <a:rPr lang="en-US" sz="1200" i="1" kern="1200" dirty="0">
                <a:solidFill>
                  <a:schemeClr val="tx1"/>
                </a:solidFill>
                <a:effectLst/>
                <a:latin typeface="+mn-lt"/>
                <a:ea typeface="+mn-ea"/>
                <a:cs typeface="+mn-cs"/>
              </a:rPr>
              <a:t>dynamic </a:t>
            </a:r>
            <a:r>
              <a:rPr lang="en-US" sz="1200" kern="1200" dirty="0">
                <a:solidFill>
                  <a:schemeClr val="tx1"/>
                </a:solidFill>
                <a:effectLst/>
                <a:latin typeface="+mn-lt"/>
                <a:ea typeface="+mn-ea"/>
                <a:cs typeface="+mn-cs"/>
              </a:rPr>
              <a:t>environment. If change is minimal, it’s a </a:t>
            </a:r>
            <a:r>
              <a:rPr lang="en-US" sz="1200" i="1" kern="1200" dirty="0">
                <a:solidFill>
                  <a:schemeClr val="tx1"/>
                </a:solidFill>
                <a:effectLst/>
                <a:latin typeface="+mn-lt"/>
                <a:ea typeface="+mn-ea"/>
                <a:cs typeface="+mn-cs"/>
              </a:rPr>
              <a:t>stable </a:t>
            </a:r>
            <a:r>
              <a:rPr lang="en-US" sz="1200" kern="1200" dirty="0">
                <a:solidFill>
                  <a:schemeClr val="tx1"/>
                </a:solidFill>
                <a:effectLst/>
                <a:latin typeface="+mn-lt"/>
                <a:ea typeface="+mn-ea"/>
                <a:cs typeface="+mn-cs"/>
              </a:rPr>
              <a:t>one. A stable environment might be one with no new competitors, few technological breakthroughs by current competitors, little activity by pressure groups to influence the organization, and so forth. When we talk about degree of change, we mean change that’s unpredictable. If change can be accurately anticipated, it’s not an uncertainty for managers.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other dimension of uncertainty describes the degree of </a:t>
            </a:r>
            <a:r>
              <a:rPr lang="en-US" sz="1200" b="1" kern="1200" dirty="0">
                <a:solidFill>
                  <a:schemeClr val="tx1"/>
                </a:solidFill>
                <a:effectLst/>
                <a:latin typeface="+mn-lt"/>
                <a:ea typeface="+mn-ea"/>
                <a:cs typeface="+mn-cs"/>
              </a:rPr>
              <a:t>environmental complexity</a:t>
            </a:r>
            <a:r>
              <a:rPr lang="en-US" sz="1200" kern="1200" dirty="0">
                <a:solidFill>
                  <a:schemeClr val="tx1"/>
                </a:solidFill>
                <a:effectLst/>
                <a:latin typeface="+mn-lt"/>
                <a:ea typeface="+mn-ea"/>
                <a:cs typeface="+mn-cs"/>
              </a:rPr>
              <a:t>, which looks at the number of components in an organization’s environment and the extent of the knowledge that the organization has about those</a:t>
            </a:r>
            <a:r>
              <a:rPr lang="en-US" sz="1200" kern="1200" baseline="0" dirty="0">
                <a:solidFill>
                  <a:schemeClr val="tx1"/>
                </a:solidFill>
                <a:effectLst/>
                <a:latin typeface="+mn-lt"/>
                <a:ea typeface="+mn-ea"/>
                <a:cs typeface="+mn-cs"/>
              </a:rPr>
              <a:t> c</a:t>
            </a:r>
            <a:r>
              <a:rPr lang="en-US" sz="1200" kern="1200" dirty="0">
                <a:solidFill>
                  <a:schemeClr val="tx1"/>
                </a:solidFill>
                <a:effectLst/>
                <a:latin typeface="+mn-lt"/>
                <a:ea typeface="+mn-ea"/>
                <a:cs typeface="+mn-cs"/>
              </a:rPr>
              <a:t>omponents. An organization with fewer competitors, customers, suppliers, government agencies, and so forth faces a less complex and uncertain environment. Complexity is also measured in terms of the knowledge an organization needs about its environment.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28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934624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Environmental uncertainty </a:t>
            </a:r>
            <a:r>
              <a:rPr lang="en-US" sz="1200" kern="1200" dirty="0">
                <a:solidFill>
                  <a:schemeClr val="tx1"/>
                </a:solidFill>
                <a:effectLst/>
                <a:latin typeface="+mn-lt"/>
                <a:ea typeface="+mn-ea"/>
                <a:cs typeface="+mn-cs"/>
              </a:rPr>
              <a:t>refers to the degree of change and complexity in an organization’s environment. The matrix in Exhibit 3-3 shows these two aspects.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Looking at Exhibit 3-3, each of the four cells represents different combinations of degree of complexity and degree of change. Cell 1 (stable and simple environment) represents the lowest level of environmental uncertainty and cell 4 (dynamic and complex environment) the highest. Not surprisingly, managers have the greatest influence on organizational outcomes in cell 1 and the least in cell 4. Because uncertainty poses a threat to an organization’s effectiveness, managers try to minimize it.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1875576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The nature of stakeholder relationships is another way in which the environment influences managers. The more obvious and secure these relationships, the more influence managers will have over organizational outcomes.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Stakeholders </a:t>
            </a:r>
            <a:r>
              <a:rPr lang="en-US" sz="1200" kern="1200" dirty="0">
                <a:solidFill>
                  <a:schemeClr val="tx1"/>
                </a:solidFill>
                <a:effectLst/>
                <a:latin typeface="+mn-lt"/>
                <a:ea typeface="+mn-ea"/>
                <a:cs typeface="+mn-cs"/>
              </a:rPr>
              <a:t>are any constituencies in the organization’s environment affected by an organization’s decisions and actions. These groups have a stake in or are significantly influenced by what the organization does. In turn, these groups can influence the organization.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Management researchers who have looked at this issue are finding that managers of high-performing companies tend to consider the interests of all major stakeholder groups as they make decisions. </a:t>
            </a:r>
          </a:p>
          <a:p>
            <a:endParaRPr lang="en-US" sz="12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1836812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Exhibit 3-4 identifies some of an organization’s most common stakeholders. Note that these stakeholders include internal and external groups. Why? Because both can affect what an organization does and how it operates. For instance, the Dodd-Frank Act requires that many U.S. companies report their executives’ compensation in publicly available sources and in a manner that can be easily comprehended by the public at large. How would this information affect stakeholders?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2032701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Another reason for managing external stakeholder relationships is that it’s the “right” thing to do. Because an organization depends on these external groups as sources of inputs (resources) and as outlets for outputs (goods and services), managers need to consider their interests as they make decisions.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14206981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Just as each individual has a unique personality—traits and characteristics influence the way we act and interact with others. An organization, too, has a personality, which is referred to as organizational culture.</a:t>
            </a:r>
          </a:p>
          <a:p>
            <a:r>
              <a:rPr lang="en-US" sz="1200" dirty="0"/>
              <a:t>An organization’s culture can make employees feel included, empowered, and supported or it can make them feel the opposite. </a:t>
            </a:r>
          </a:p>
          <a:p>
            <a:endParaRPr 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Because culture can be a very powerful agent in organizations, it is very important for managers to pay attention to it.</a:t>
            </a:r>
          </a:p>
          <a:p>
            <a:endParaRPr lang="en-US" sz="12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187285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most organizations, these shared values and practices have evolved over time and determine, to a large extent, how “things are done around here.”</a:t>
            </a:r>
          </a:p>
          <a:p>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Our definition of culture implies three things. First, culture is a </a:t>
            </a:r>
            <a:r>
              <a:rPr lang="en-US" sz="1200" i="1" kern="1200" dirty="0">
                <a:solidFill>
                  <a:schemeClr val="tx1"/>
                </a:solidFill>
                <a:effectLst/>
                <a:latin typeface="+mn-lt"/>
                <a:ea typeface="+mn-ea"/>
                <a:cs typeface="+mn-cs"/>
              </a:rPr>
              <a:t>perception. </a:t>
            </a:r>
            <a:r>
              <a:rPr lang="en-US" sz="1200" kern="1200" dirty="0">
                <a:solidFill>
                  <a:schemeClr val="tx1"/>
                </a:solidFill>
                <a:effectLst/>
                <a:latin typeface="+mn-lt"/>
                <a:ea typeface="+mn-ea"/>
                <a:cs typeface="+mn-cs"/>
              </a:rPr>
              <a:t>It’s not something that can be physically touched or seen, but employees perceive it on the basis of what they experience within the organization. Second, organizational culture is </a:t>
            </a:r>
            <a:r>
              <a:rPr lang="en-US" sz="1200" i="1" kern="1200" dirty="0">
                <a:solidFill>
                  <a:schemeClr val="tx1"/>
                </a:solidFill>
                <a:effectLst/>
                <a:latin typeface="+mn-lt"/>
                <a:ea typeface="+mn-ea"/>
                <a:cs typeface="+mn-cs"/>
              </a:rPr>
              <a:t>descriptive. </a:t>
            </a:r>
            <a:r>
              <a:rPr lang="en-US" sz="1200" kern="1200" dirty="0">
                <a:solidFill>
                  <a:schemeClr val="tx1"/>
                </a:solidFill>
                <a:effectLst/>
                <a:latin typeface="+mn-lt"/>
                <a:ea typeface="+mn-ea"/>
                <a:cs typeface="+mn-cs"/>
              </a:rPr>
              <a:t>It’s concerned with how members perceive the culture and describe it, not with whether they like it. Finally, even though individuals may have different backgrounds or work at different organizational levels, they tend to describe the organization’s culture in similar terms. That’s the </a:t>
            </a:r>
            <a:r>
              <a:rPr lang="en-US" sz="1200" i="1" kern="1200" dirty="0">
                <a:solidFill>
                  <a:schemeClr val="tx1"/>
                </a:solidFill>
                <a:effectLst/>
                <a:latin typeface="+mn-lt"/>
                <a:ea typeface="+mn-ea"/>
                <a:cs typeface="+mn-cs"/>
              </a:rPr>
              <a:t>shared </a:t>
            </a:r>
            <a:r>
              <a:rPr lang="en-US" sz="1200" kern="1200" dirty="0">
                <a:solidFill>
                  <a:schemeClr val="tx1"/>
                </a:solidFill>
                <a:effectLst/>
                <a:latin typeface="+mn-lt"/>
                <a:ea typeface="+mn-ea"/>
                <a:cs typeface="+mn-cs"/>
              </a:rPr>
              <a:t>aspect of culture. </a:t>
            </a:r>
            <a:endParaRPr lang="en-US" dirty="0"/>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17883058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Research suggests seven dimensions that seem to capture the essence of an organization’s culture. These dimensions (shown in Exhibit 3-5) range from low to high, meaning it’s not very typical of the culture (low) or is very typical of the culture (high). Describing an organization using these seven dimensions gives a composite picture of the organization’s culture.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8958227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In many organizations, one cultural dimension often is emphasized more than the others and essentially shapes the organization’s personality and the way the organization works. </a:t>
            </a:r>
            <a:r>
              <a:rPr lang="en-US" sz="1200" kern="1200" dirty="0">
                <a:solidFill>
                  <a:schemeClr val="tx1"/>
                </a:solidFill>
                <a:effectLst/>
                <a:latin typeface="+mn-lt"/>
                <a:ea typeface="+mn-ea"/>
                <a:cs typeface="+mn-cs"/>
              </a:rPr>
              <a:t>Exhibit 3-6 describes how the dimensions can create significantly different cultures.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1150816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Exhibit 3-6 illustrates how the dimensions of culture can create significantly different cultures.</a:t>
            </a:r>
          </a:p>
          <a:p>
            <a:r>
              <a:rPr lang="en-US" sz="1200" dirty="0"/>
              <a:t>Both Organization A and Organization B are manufacturing firms, but each company emphasizes a different dimension that have shaped organizational culture.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417527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Strong cultures have a greater influence on employees than weaker cultures. (Exhibit 3-7 contrasts strong and weak cultures.)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more employees accept the organization’s key values and the greater their commitment to those values, the stronger the culture. Most organizations have moderate to strong cultures; that is, there is relatively high agreement on what’s important, what defines “good” employee behavior, what it takes to get ahead, and so forth. The stronger a culture becomes, the more it affects the way managers plan, organize, lead, and control. </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901409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Why is having a strong culture important? For one thing, in organizations with strong cultures, employees are more loyal than employees in organizations with weak cultures.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Research also suggests that strong cultures are associated with high organizational performance. However, the drawback is that a strong culture also might prevent employees from trying new approaches, especially when conditions change rapidly.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20434966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Company founders are not constrained by previous customs or approaches and can establish the early culture by articulating a vision of what they want the organization to be. Also, the small size of most new organizations makes it easier to instill that vision with all organizational members.</a:t>
            </a:r>
          </a:p>
          <a:p>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Once the culture is in place, however, certain organizational practices help maintain it. For instance, during the employee selection process, managers typically judge job candidates not only on the job requirements, but also on how well they might into the organization.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At the same time, job candidates find out information about the organization and determine whether they are comfortable with what they see.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Through what they say and how they behave, top managers establish norms that filter down through the organization and can have a positive effect on employees’ behaviors. For instance, Gravity CEO, Dan Price, raised the minimum wage at his firm to $70,000 annually and has cut his million dollar salary to fund those pay increases. Since making this decision, Gravity’s financial performance has soared.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However, as we’ve seen in numerous corporate ethics scandals, the actions of top managers also can lead to undesirable outcomes. </a:t>
            </a:r>
            <a:endParaRPr lang="en-US" dirty="0"/>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248390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Exhibit 3-8 illustrates how an organization’s culture is established and maintained.</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11641329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Organizational “stories” typically contain a narrative of significant events or people, including such things as the organization’s founders, rule breaking, reactions to past mistakes, and so forth. To help employees learn the culture, organizational stories anchor the present in the past, provide explanations and legitimacy for current practices, exemplify what is important to the organization, and provide compelling pictures of an organization’s goals.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Corporate rituals are repetitive sequences of activities that express and reinforce the important values and goals of the organization. One of the best-known corporate rituals is Mary Kay Cosmetics’ annual awards ceremony for its sales representatives.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layout of an organization’s facilities, how employees dress, the types of automobiles provided to top executives, and the availability of corporate aircraft are examples of material symbols. Others include the size of offices, the elegance of furnishings, executive “perks” (extra benefits provided to managers such as health club memberships, use of company-owned facilities, and so forth), employee fitness centers or on-site dining facilities, and reserved parking spaces for certain employees.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Many organizations and units within organizations use language as a way to identify and unite members of a culture. Over time, organizations often develop unique terms to describe equipment, key personnel, suppliers, customers, processes, or products related to its business. New employees are frequently overwhelmed with acronyms and jargon that, after a short period of time, become a natural part of their language. Once learned, this language acts as a common denominator that bonds members.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14526363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Such constraints are rarely explicit. They’re not written down. It’s unlikely they’ll even be spoken. But they’re there, and all managers quickly learn what to do and not do in their organization. </a:t>
            </a:r>
          </a:p>
          <a:p>
            <a:endParaRPr 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link between values such as these and managerial behavior is fairly straightforward. Take, for example, a so-called “ready-aim- re” culture. In such an organization, managers will study and analyze proposed projects endlessly before committing to them. However, in a “ready-</a:t>
            </a:r>
            <a:r>
              <a:rPr lang="en-US" sz="1200" i="1" kern="1200" dirty="0">
                <a:solidFill>
                  <a:schemeClr val="tx1"/>
                </a:solidFill>
                <a:effectLst/>
                <a:latin typeface="+mn-lt"/>
                <a:ea typeface="+mn-ea"/>
                <a:cs typeface="+mn-cs"/>
              </a:rPr>
              <a:t> re</a:t>
            </a:r>
            <a:r>
              <a:rPr lang="en-US" sz="1200" kern="1200" dirty="0">
                <a:solidFill>
                  <a:schemeClr val="tx1"/>
                </a:solidFill>
                <a:effectLst/>
                <a:latin typeface="+mn-lt"/>
                <a:ea typeface="+mn-ea"/>
                <a:cs typeface="+mn-cs"/>
              </a:rPr>
              <a:t>-aim” culture, managers take action and then analyze what has been done. </a:t>
            </a:r>
            <a:endParaRPr lang="en-US" dirty="0"/>
          </a:p>
          <a:p>
            <a:endParaRPr lang="en-US" sz="12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14262088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shown in Exhibit 3-9, a manager’s decisions are influenced by the culture in which he or she operates. An organization’s culture, especially a strong one, influences and constrains the way managers plan, organize, lead, and control.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3514210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important is culture to innovation? In a survey of senior executives, over half said that the most important driver of innovation for companies was a supportive corporate culture. But not every company has established an adequate culture to foster innovation. In a survey of employees, about half expressed that a culture of management support is very important to the generation of innovative ideas, but only 20 percent believe that management actually provides such support.</a:t>
            </a:r>
          </a:p>
          <a:p>
            <a:r>
              <a:rPr lang="en-US" sz="1200" kern="1200" dirty="0">
                <a:solidFill>
                  <a:schemeClr val="tx1"/>
                </a:solidFill>
                <a:effectLst/>
                <a:latin typeface="+mn-lt"/>
                <a:ea typeface="+mn-ea"/>
                <a:cs typeface="+mn-cs"/>
              </a:rPr>
              <a:t> </a:t>
            </a:r>
            <a:endParaRPr lang="en-US" dirty="0"/>
          </a:p>
          <a:p>
            <a:r>
              <a:rPr lang="en-US" sz="1200" kern="1200" dirty="0">
                <a:solidFill>
                  <a:schemeClr val="tx1"/>
                </a:solidFill>
                <a:effectLst/>
                <a:latin typeface="+mn-lt"/>
                <a:ea typeface="+mn-ea"/>
                <a:cs typeface="+mn-cs"/>
              </a:rPr>
              <a:t>What does an innovative culture look like? According to Swedish researcher Goran Ekvall, it would be characterized by the bullet</a:t>
            </a:r>
            <a:r>
              <a:rPr lang="en-US" sz="1200" kern="1200" baseline="0" dirty="0">
                <a:solidFill>
                  <a:schemeClr val="tx1"/>
                </a:solidFill>
                <a:effectLst/>
                <a:latin typeface="+mn-lt"/>
                <a:ea typeface="+mn-ea"/>
                <a:cs typeface="+mn-cs"/>
              </a:rPr>
              <a:t> points listed on the slide.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15880189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What does a customer-responsive culture look like? Exhibit 3-10 describes five characteristics of customer-responsive cultures and offers suggestions as to what managers can do to create that type of culture.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9102712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BDF791E7-750C-8341-AAFB-569D9EBD860C}" type="datetime1">
              <a:rPr lang="en-US" smtClean="0"/>
              <a:pPr/>
              <a:t>8/17/26</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a:t>Copyright © 2018 Pearson Education, Inc.</a:t>
            </a:r>
          </a:p>
        </p:txBody>
      </p:sp>
      <p:sp>
        <p:nvSpPr>
          <p:cNvPr id="4" name="Date Placeholder 3"/>
          <p:cNvSpPr>
            <a:spLocks noGrp="1"/>
          </p:cNvSpPr>
          <p:nvPr>
            <p:ph type="dt" sz="half" idx="11"/>
          </p:nvPr>
        </p:nvSpPr>
        <p:spPr/>
        <p:txBody>
          <a:bodyPr/>
          <a:lstStyle/>
          <a:p>
            <a:fld id="{42FB9264-E59D-4043-9483-B863A08BF7FA}" type="datetime1">
              <a:rPr lang="en-US" smtClean="0"/>
              <a:pPr/>
              <a:t>8/17/26</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1"/>
          </p:nvPr>
        </p:nvSpPr>
        <p:spPr/>
        <p:txBody>
          <a:bodyPr/>
          <a:lstStyle/>
          <a:p>
            <a:fld id="{2C3A0B96-8BDC-3940-87A4-7335ADF41F82}" type="datetime1">
              <a:rPr lang="en-US" smtClean="0"/>
              <a:pPr/>
              <a:t>8/17/26</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8/17/26</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309878BC-7C7D-8B4D-8C72-5012D25A75FF}" type="datetime1">
              <a:rPr lang="en-US" smtClean="0"/>
              <a:pPr/>
              <a:t>8/17/26</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a:xfrm>
            <a:off x="6335713" y="137160"/>
            <a:ext cx="2133600" cy="182880"/>
          </a:xfrm>
        </p:spPr>
        <p:txBody>
          <a:bodyPr/>
          <a:lstStyle>
            <a:lvl1pPr>
              <a:defRPr>
                <a:solidFill>
                  <a:schemeClr val="tx1"/>
                </a:solidFill>
              </a:defRPr>
            </a:lvl1pPr>
          </a:lstStyle>
          <a:p>
            <a:endParaRPr lang="en-US" dirty="0"/>
          </a:p>
        </p:txBody>
      </p:sp>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F71CB5E4-2482-7B44-B2CD-545334C269B9}" type="datetime1">
              <a:rPr lang="en-US" smtClean="0"/>
              <a:pPr/>
              <a:t>8/17/26</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2233C098-7E69-2F4E-8219-6B630AF7AB62}" type="datetime1">
              <a:rPr lang="en-US" smtClean="0"/>
              <a:pPr/>
              <a:t>8/17/26</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3" name="Date Placeholder 2"/>
          <p:cNvSpPr>
            <a:spLocks noGrp="1"/>
          </p:cNvSpPr>
          <p:nvPr>
            <p:ph type="dt" sz="half" idx="10"/>
          </p:nvPr>
        </p:nvSpPr>
        <p:spPr/>
        <p:txBody>
          <a:bodyPr/>
          <a:lstStyle/>
          <a:p>
            <a:fld id="{FAA56894-5F48-BC43-8C04-BBB42A2EF5DA}" type="datetime1">
              <a:rPr lang="en-US" smtClean="0"/>
              <a:pPr/>
              <a:t>8/17/26</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8/17/26</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a:t>Copyright © 2018 Pearson Education, Inc.</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8/17/26</a:t>
            </a:fld>
            <a:endParaRPr lang="en-US" dirty="0"/>
          </a:p>
        </p:txBody>
      </p:sp>
      <p:pic>
        <p:nvPicPr>
          <p:cNvPr id="7" name="Picture 6" descr="Pearson Logo"/>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0C340-6256-34F1-4238-2BC75E4F9894}"/>
              </a:ext>
            </a:extLst>
          </p:cNvPr>
          <p:cNvSpPr>
            <a:spLocks noGrp="1"/>
          </p:cNvSpPr>
          <p:nvPr>
            <p:ph type="ctrTitle"/>
          </p:nvPr>
        </p:nvSpPr>
        <p:spPr/>
        <p:txBody>
          <a:bodyPr/>
          <a:lstStyle/>
          <a:p>
            <a:r>
              <a:rPr lang="en-US" dirty="0"/>
              <a:t>Managing the External Environment and the Organization’s Culture</a:t>
            </a:r>
          </a:p>
        </p:txBody>
      </p:sp>
      <p:sp>
        <p:nvSpPr>
          <p:cNvPr id="3" name="Subtitle 2">
            <a:extLst>
              <a:ext uri="{FF2B5EF4-FFF2-40B4-BE49-F238E27FC236}">
                <a16:creationId xmlns:a16="http://schemas.microsoft.com/office/drawing/2014/main" id="{F831C707-3B6B-F36A-7E3B-D4913736DD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45995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Manager: Omnipotent or Symbolic?</a:t>
            </a:r>
          </a:p>
        </p:txBody>
      </p:sp>
      <p:sp>
        <p:nvSpPr>
          <p:cNvPr id="3" name="Content Placeholder 2"/>
          <p:cNvSpPr>
            <a:spLocks noGrp="1"/>
          </p:cNvSpPr>
          <p:nvPr>
            <p:ph idx="1"/>
          </p:nvPr>
        </p:nvSpPr>
        <p:spPr/>
        <p:txBody>
          <a:bodyPr/>
          <a:lstStyle/>
          <a:p>
            <a:r>
              <a:rPr lang="en-US" sz="2400" b="1" dirty="0"/>
              <a:t>Omnipotent view</a:t>
            </a:r>
            <a:r>
              <a:rPr lang="en-US" sz="2400" dirty="0"/>
              <a:t>: managers are directly responsible for an organization’s success or failure</a:t>
            </a:r>
          </a:p>
          <a:p>
            <a:r>
              <a:rPr lang="en-US" sz="2400" dirty="0"/>
              <a:t>Examples: corporate turnaround, direct blame for scandals </a:t>
            </a:r>
          </a:p>
          <a:p>
            <a:r>
              <a:rPr lang="en-US" sz="2400" b="1" dirty="0"/>
              <a:t>Symbolic view</a:t>
            </a:r>
            <a:r>
              <a:rPr lang="en-US" sz="2400" dirty="0"/>
              <a:t>: much of an organization’s success or failure is due to external forces outside managers’ control</a:t>
            </a:r>
          </a:p>
          <a:p>
            <a:r>
              <a:rPr lang="en-US" sz="2400" dirty="0"/>
              <a:t>Examples: economic recession, industry-wide disruption, natural disasters and pandemics </a:t>
            </a:r>
          </a:p>
        </p:txBody>
      </p:sp>
    </p:spTree>
    <p:extLst>
      <p:ext uri="{BB962C8B-B14F-4D97-AF65-F5344CB8AC3E}">
        <p14:creationId xmlns:p14="http://schemas.microsoft.com/office/powerpoint/2010/main" val="760081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Managerial Constraints</a:t>
            </a:r>
          </a:p>
        </p:txBody>
      </p:sp>
      <p:sp>
        <p:nvSpPr>
          <p:cNvPr id="3" name="Content Placeholder 2"/>
          <p:cNvSpPr>
            <a:spLocks noGrp="1"/>
          </p:cNvSpPr>
          <p:nvPr>
            <p:ph idx="1"/>
          </p:nvPr>
        </p:nvSpPr>
        <p:spPr/>
        <p:txBody>
          <a:bodyPr/>
          <a:lstStyle/>
          <a:p>
            <a:r>
              <a:rPr lang="en-US" sz="2800" dirty="0"/>
              <a:t>In</a:t>
            </a:r>
            <a:r>
              <a:rPr lang="en-US" sz="2800" b="1" dirty="0"/>
              <a:t> </a:t>
            </a:r>
            <a:r>
              <a:rPr lang="en-US" sz="2800" dirty="0"/>
              <a:t>reality, managers are neither all-powerful nor helpless. But their decisions and actions are constrained.</a:t>
            </a:r>
          </a:p>
          <a:p>
            <a:r>
              <a:rPr lang="en-US" sz="2800" dirty="0"/>
              <a:t>External constraints come from the organization’s environment and internal constraints come from the organization’s culture</a:t>
            </a:r>
          </a:p>
        </p:txBody>
      </p:sp>
    </p:spTree>
    <p:extLst>
      <p:ext uri="{BB962C8B-B14F-4D97-AF65-F5344CB8AC3E}">
        <p14:creationId xmlns:p14="http://schemas.microsoft.com/office/powerpoint/2010/main" val="1514020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igure has a box at center labeled Managerial Discretion. An arrow on the left points into the box, and is labeled Organizational Environment. An arrow on the right points into the box and is labeled Organizational Culture."/>
          <p:cNvSpPr>
            <a:spLocks noGrp="1"/>
          </p:cNvSpPr>
          <p:nvPr>
            <p:ph type="title"/>
          </p:nvPr>
        </p:nvSpPr>
        <p:spPr/>
        <p:txBody>
          <a:bodyPr/>
          <a:lstStyle/>
          <a:p>
            <a:r>
              <a:rPr lang="en-US" dirty="0"/>
              <a:t>Exhibit 3-1</a:t>
            </a:r>
            <a:br>
              <a:rPr lang="en-US" dirty="0"/>
            </a:br>
            <a:r>
              <a:rPr lang="en-US" dirty="0"/>
              <a:t>Constraints on Managerial Discretion</a:t>
            </a:r>
          </a:p>
        </p:txBody>
      </p:sp>
      <p:pic>
        <p:nvPicPr>
          <p:cNvPr id="6" name="Picture 2" descr="A diagram shows that both organizational environment and organizational culture affects managerial discretion. "/>
          <p:cNvPicPr>
            <a:picLocks noChangeAspect="1" noChangeArrowheads="1"/>
          </p:cNvPicPr>
          <p:nvPr/>
        </p:nvPicPr>
        <p:blipFill>
          <a:blip r:embed="rId3" cstate="print"/>
          <a:srcRect/>
          <a:stretch>
            <a:fillRect/>
          </a:stretch>
        </p:blipFill>
        <p:spPr bwMode="auto">
          <a:xfrm>
            <a:off x="247401" y="2746329"/>
            <a:ext cx="8671422" cy="1409592"/>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a:t>Exhibit 3-1 shows that external constraints come from the organization’s environment and internal constraints come from the organization’s culture.</a:t>
            </a:r>
          </a:p>
        </p:txBody>
      </p:sp>
    </p:spTree>
    <p:extLst>
      <p:ext uri="{BB962C8B-B14F-4D97-AF65-F5344CB8AC3E}">
        <p14:creationId xmlns:p14="http://schemas.microsoft.com/office/powerpoint/2010/main" val="1830057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External Environment</a:t>
            </a:r>
          </a:p>
        </p:txBody>
      </p:sp>
      <p:sp>
        <p:nvSpPr>
          <p:cNvPr id="3" name="Content Placeholder 2"/>
          <p:cNvSpPr>
            <a:spLocks noGrp="1"/>
          </p:cNvSpPr>
          <p:nvPr>
            <p:ph idx="1"/>
          </p:nvPr>
        </p:nvSpPr>
        <p:spPr/>
        <p:txBody>
          <a:bodyPr/>
          <a:lstStyle/>
          <a:p>
            <a:r>
              <a:rPr lang="en-US" sz="2800" dirty="0"/>
              <a:t>Those factors and forces outside the organization that affect its performance</a:t>
            </a:r>
          </a:p>
          <a:p>
            <a:pPr lvl="1"/>
            <a:r>
              <a:rPr lang="en-US" sz="2800" dirty="0"/>
              <a:t>Economic</a:t>
            </a:r>
          </a:p>
          <a:p>
            <a:pPr lvl="1"/>
            <a:r>
              <a:rPr lang="en-US" sz="2800" dirty="0"/>
              <a:t>Demographic</a:t>
            </a:r>
          </a:p>
          <a:p>
            <a:pPr lvl="1"/>
            <a:r>
              <a:rPr lang="en-US" sz="2800" dirty="0"/>
              <a:t>Political/Legal</a:t>
            </a:r>
          </a:p>
          <a:p>
            <a:pPr lvl="1"/>
            <a:r>
              <a:rPr lang="en-US" sz="2800" dirty="0"/>
              <a:t>Sociocultural</a:t>
            </a:r>
          </a:p>
          <a:p>
            <a:pPr lvl="1"/>
            <a:r>
              <a:rPr lang="en-US" sz="2800" dirty="0"/>
              <a:t>Technological</a:t>
            </a:r>
          </a:p>
          <a:p>
            <a:pPr lvl="1"/>
            <a:r>
              <a:rPr lang="en-US" sz="2800" dirty="0"/>
              <a:t>Global</a:t>
            </a:r>
          </a:p>
        </p:txBody>
      </p:sp>
    </p:spTree>
    <p:extLst>
      <p:ext uri="{BB962C8B-B14F-4D97-AF65-F5344CB8AC3E}">
        <p14:creationId xmlns:p14="http://schemas.microsoft.com/office/powerpoint/2010/main" val="1444108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igure has a box at center labeled Managerial Discretion. An arrow on the left points into the box, and is labeled Organizational Environment. An arrow on the right points into the box and is labeled Organizational Culture."/>
          <p:cNvSpPr>
            <a:spLocks noGrp="1"/>
          </p:cNvSpPr>
          <p:nvPr>
            <p:ph type="title"/>
          </p:nvPr>
        </p:nvSpPr>
        <p:spPr/>
        <p:txBody>
          <a:bodyPr/>
          <a:lstStyle/>
          <a:p>
            <a:r>
              <a:rPr lang="en-US" dirty="0"/>
              <a:t>Exhibit 3-2</a:t>
            </a:r>
            <a:br>
              <a:rPr lang="en-US" dirty="0"/>
            </a:br>
            <a:r>
              <a:rPr lang="en-US" dirty="0"/>
              <a:t>Components of External Environment</a:t>
            </a:r>
          </a:p>
        </p:txBody>
      </p:sp>
      <p:pic>
        <p:nvPicPr>
          <p:cNvPr id="7" name="Picture 2" descr="The organization has external components as follows:&#10;• Political/legal&#10;• Demographics&#10;• Economic&#10;• Sociocultural&#10;• Technological&#10;• Global."/>
          <p:cNvPicPr>
            <a:picLocks noChangeAspect="1" noChangeArrowheads="1"/>
          </p:cNvPicPr>
          <p:nvPr/>
        </p:nvPicPr>
        <p:blipFill>
          <a:blip r:embed="rId3" cstate="print"/>
          <a:srcRect/>
          <a:stretch>
            <a:fillRect/>
          </a:stretch>
        </p:blipFill>
        <p:spPr bwMode="auto">
          <a:xfrm>
            <a:off x="279217" y="1841686"/>
            <a:ext cx="8585566" cy="2946028"/>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a:t>Exhibit 3-2 shows the different components that make up the external environment.</a:t>
            </a:r>
          </a:p>
        </p:txBody>
      </p:sp>
    </p:spTree>
    <p:extLst>
      <p:ext uri="{BB962C8B-B14F-4D97-AF65-F5344CB8AC3E}">
        <p14:creationId xmlns:p14="http://schemas.microsoft.com/office/powerpoint/2010/main" val="801224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Economic Environment</a:t>
            </a:r>
          </a:p>
        </p:txBody>
      </p:sp>
      <p:sp>
        <p:nvSpPr>
          <p:cNvPr id="3" name="Content Placeholder 2"/>
          <p:cNvSpPr>
            <a:spLocks noGrp="1"/>
          </p:cNvSpPr>
          <p:nvPr>
            <p:ph idx="1"/>
          </p:nvPr>
        </p:nvSpPr>
        <p:spPr/>
        <p:txBody>
          <a:bodyPr/>
          <a:lstStyle/>
          <a:p>
            <a:r>
              <a:rPr lang="en-US" sz="2800" dirty="0"/>
              <a:t>Managers need to be aware of the economic context so they can make the best decisions for their organizations.</a:t>
            </a:r>
          </a:p>
          <a:p>
            <a:r>
              <a:rPr lang="en-US" sz="2800" dirty="0"/>
              <a:t>Factors: interest rates, inflation, disposable income, stock market fluctuations, (growth, peak, drop, recovery) </a:t>
            </a:r>
          </a:p>
        </p:txBody>
      </p:sp>
    </p:spTree>
    <p:extLst>
      <p:ext uri="{BB962C8B-B14F-4D97-AF65-F5344CB8AC3E}">
        <p14:creationId xmlns:p14="http://schemas.microsoft.com/office/powerpoint/2010/main" val="991298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Global Economy and the Economic Context</a:t>
            </a:r>
          </a:p>
        </p:txBody>
      </p:sp>
      <p:sp>
        <p:nvSpPr>
          <p:cNvPr id="3" name="Content Placeholder 2"/>
          <p:cNvSpPr>
            <a:spLocks noGrp="1"/>
          </p:cNvSpPr>
          <p:nvPr>
            <p:ph idx="1"/>
          </p:nvPr>
        </p:nvSpPr>
        <p:spPr/>
        <p:txBody>
          <a:bodyPr/>
          <a:lstStyle/>
          <a:p>
            <a:r>
              <a:rPr lang="en-US" sz="2800" dirty="0"/>
              <a:t>The global component encompasses those issues associated with globalization and a world economy. </a:t>
            </a:r>
          </a:p>
          <a:p>
            <a:r>
              <a:rPr lang="en-US" sz="2800" dirty="0"/>
              <a:t>Examples: </a:t>
            </a:r>
            <a:r>
              <a:rPr lang="en-IN" sz="2800" dirty="0"/>
              <a:t>cross-border manufacturing, global commodity markets like crude oil prices by OPEC</a:t>
            </a:r>
            <a:endParaRPr lang="en-US" sz="2800" dirty="0"/>
          </a:p>
        </p:txBody>
      </p:sp>
    </p:spTree>
    <p:extLst>
      <p:ext uri="{BB962C8B-B14F-4D97-AF65-F5344CB8AC3E}">
        <p14:creationId xmlns:p14="http://schemas.microsoft.com/office/powerpoint/2010/main" val="1141476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Inequality and the Economic Context</a:t>
            </a:r>
          </a:p>
        </p:txBody>
      </p:sp>
      <p:sp>
        <p:nvSpPr>
          <p:cNvPr id="3" name="Content Placeholder 2"/>
          <p:cNvSpPr>
            <a:spLocks noGrp="1"/>
          </p:cNvSpPr>
          <p:nvPr>
            <p:ph idx="1"/>
          </p:nvPr>
        </p:nvSpPr>
        <p:spPr/>
        <p:txBody>
          <a:bodyPr/>
          <a:lstStyle/>
          <a:p>
            <a:r>
              <a:rPr lang="en-US" sz="2800" dirty="0"/>
              <a:t>Polls show that in many countries, people believe that the gap between the rich and poor is problematic.</a:t>
            </a:r>
          </a:p>
          <a:p>
            <a:r>
              <a:rPr lang="en-US" sz="2800" dirty="0"/>
              <a:t>Public concerns: Social divisions, limited education and high-paying jobs. political influences</a:t>
            </a:r>
          </a:p>
          <a:p>
            <a:r>
              <a:rPr lang="en-US" sz="2800" dirty="0"/>
              <a:t>Proposed solutions: better education, fair wages, support programs </a:t>
            </a:r>
          </a:p>
        </p:txBody>
      </p:sp>
    </p:spTree>
    <p:extLst>
      <p:ext uri="{BB962C8B-B14F-4D97-AF65-F5344CB8AC3E}">
        <p14:creationId xmlns:p14="http://schemas.microsoft.com/office/powerpoint/2010/main" val="928345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Demographic Environment</a:t>
            </a:r>
          </a:p>
        </p:txBody>
      </p:sp>
      <p:sp>
        <p:nvSpPr>
          <p:cNvPr id="3" name="Content Placeholder 2"/>
          <p:cNvSpPr>
            <a:spLocks noGrp="1"/>
          </p:cNvSpPr>
          <p:nvPr>
            <p:ph idx="1"/>
          </p:nvPr>
        </p:nvSpPr>
        <p:spPr/>
        <p:txBody>
          <a:bodyPr/>
          <a:lstStyle/>
          <a:p>
            <a:r>
              <a:rPr lang="en-US" sz="2200" dirty="0"/>
              <a:t>Age is a particularly important demographic since the workplace often has different age groups all working together</a:t>
            </a:r>
          </a:p>
          <a:p>
            <a:pPr lvl="1"/>
            <a:r>
              <a:rPr lang="en-US" sz="2200" dirty="0"/>
              <a:t>Gen X/Baby Boomers (1946-1964) – Project Director prefers face-to-face meetings, value structure, dedication, ask for comprehensive printed report  </a:t>
            </a:r>
          </a:p>
          <a:p>
            <a:pPr lvl="1"/>
            <a:r>
              <a:rPr lang="en-US" sz="2200" dirty="0"/>
              <a:t>Gen Y/Millennials (1978-1994) – Project Manager prefer collaborative tools like Teams, streamline process using tech, work-life balance</a:t>
            </a:r>
          </a:p>
          <a:p>
            <a:pPr lvl="1"/>
            <a:r>
              <a:rPr lang="en-US" sz="2200" dirty="0"/>
              <a:t>Post-Millennials/Gen Z/touch screen generation/</a:t>
            </a:r>
            <a:r>
              <a:rPr lang="en-US" sz="2200" dirty="0" err="1"/>
              <a:t>iGeneration</a:t>
            </a:r>
            <a:r>
              <a:rPr lang="en-US" sz="2200" dirty="0"/>
              <a:t> – Intern prefers instant, visual communication, cloud-based files, software interfaces to be intuitive like smartphone apps </a:t>
            </a:r>
          </a:p>
        </p:txBody>
      </p:sp>
    </p:spTree>
    <p:extLst>
      <p:ext uri="{BB962C8B-B14F-4D97-AF65-F5344CB8AC3E}">
        <p14:creationId xmlns:p14="http://schemas.microsoft.com/office/powerpoint/2010/main" val="853767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 Y</a:t>
            </a:r>
          </a:p>
        </p:txBody>
      </p:sp>
      <p:sp>
        <p:nvSpPr>
          <p:cNvPr id="3" name="Content Placeholder 2" descr="Photograph of two women talking and laughing. They are standing in front of a mural with the facebook name prominent."/>
          <p:cNvSpPr>
            <a:spLocks noGrp="1"/>
          </p:cNvSpPr>
          <p:nvPr>
            <p:ph idx="1"/>
          </p:nvPr>
        </p:nvSpPr>
        <p:spPr>
          <a:xfrm>
            <a:off x="457200" y="1600200"/>
            <a:ext cx="4043996" cy="4525963"/>
          </a:xfrm>
        </p:spPr>
        <p:txBody>
          <a:bodyPr/>
          <a:lstStyle/>
          <a:p>
            <a:pPr marL="0" lvl="0" indent="0">
              <a:spcBef>
                <a:spcPts val="0"/>
              </a:spcBef>
              <a:buClrTx/>
              <a:buSzTx/>
              <a:buNone/>
              <a:defRPr/>
            </a:pPr>
            <a:r>
              <a:rPr lang="en-US" sz="2000" dirty="0"/>
              <a:t>Gen Y is an important demographic at Facebook, where most employees are under 40.</a:t>
            </a:r>
          </a:p>
          <a:p>
            <a:pPr marL="0" indent="0">
              <a:spcBef>
                <a:spcPts val="0"/>
              </a:spcBef>
              <a:buClrTx/>
              <a:buSzTx/>
              <a:buNone/>
              <a:defRPr/>
            </a:pPr>
            <a:endParaRPr lang="en-US" sz="2000" dirty="0"/>
          </a:p>
          <a:p>
            <a:pPr marL="0" indent="0">
              <a:spcBef>
                <a:spcPts val="0"/>
              </a:spcBef>
              <a:buClrTx/>
              <a:buSzTx/>
              <a:buNone/>
              <a:defRPr/>
            </a:pPr>
            <a:r>
              <a:rPr lang="en-US" sz="2000" dirty="0"/>
              <a:t>The company values the passion of its young employees who build groundbreaking technology and working in an environment with change and ambiguity.</a:t>
            </a:r>
          </a:p>
          <a:p>
            <a:pPr marL="0" lvl="0" indent="0">
              <a:spcBef>
                <a:spcPts val="0"/>
              </a:spcBef>
              <a:buClrTx/>
              <a:buSzTx/>
              <a:buNone/>
              <a:defRPr/>
            </a:pPr>
            <a:endParaRPr lang="en-US" sz="2000" dirty="0"/>
          </a:p>
        </p:txBody>
      </p:sp>
      <p:pic>
        <p:nvPicPr>
          <p:cNvPr id="6" name="Picture 2" descr="Photograph of two young women, talking and laughing. They are standing in front of a mural. The facebook name is prominent on the mural."/>
          <p:cNvPicPr>
            <a:picLocks noChangeAspect="1" noChangeArrowheads="1"/>
          </p:cNvPicPr>
          <p:nvPr/>
        </p:nvPicPr>
        <p:blipFill>
          <a:blip r:embed="rId3" cstate="print"/>
          <a:srcRect l="18956" r="18956"/>
          <a:stretch>
            <a:fillRect/>
          </a:stretch>
        </p:blipFill>
        <p:spPr bwMode="auto">
          <a:xfrm>
            <a:off x="4607793" y="1905000"/>
            <a:ext cx="4043996" cy="4361170"/>
          </a:xfrm>
          <a:prstGeom prst="rect">
            <a:avLst/>
          </a:prstGeom>
          <a:noFill/>
          <a:ln w="9525">
            <a:noFill/>
            <a:miter lim="800000"/>
            <a:headEnd/>
            <a:tailEnd/>
          </a:ln>
        </p:spPr>
      </p:pic>
    </p:spTree>
    <p:extLst>
      <p:ext uri="{BB962C8B-B14F-4D97-AF65-F5344CB8AC3E}">
        <p14:creationId xmlns:p14="http://schemas.microsoft.com/office/powerpoint/2010/main" val="1374046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the External Environment Affects Managers</a:t>
            </a:r>
          </a:p>
        </p:txBody>
      </p:sp>
      <p:sp>
        <p:nvSpPr>
          <p:cNvPr id="3" name="Content Placeholder 2"/>
          <p:cNvSpPr>
            <a:spLocks noGrp="1"/>
          </p:cNvSpPr>
          <p:nvPr>
            <p:ph idx="1"/>
          </p:nvPr>
        </p:nvSpPr>
        <p:spPr/>
        <p:txBody>
          <a:bodyPr/>
          <a:lstStyle/>
          <a:p>
            <a:r>
              <a:rPr lang="en-US" sz="2800" b="1" dirty="0"/>
              <a:t>Jobs and Employment</a:t>
            </a:r>
            <a:r>
              <a:rPr lang="en-US" sz="2800" dirty="0"/>
              <a:t>: the impact of external factors on jobs and employment is one of the most powerful constraints managers face</a:t>
            </a:r>
          </a:p>
          <a:p>
            <a:r>
              <a:rPr lang="en-IN" sz="2800" dirty="0"/>
              <a:t>Economic shifts, recessions, and </a:t>
            </a:r>
            <a:r>
              <a:rPr lang="en-IN" sz="2800" dirty="0" err="1"/>
              <a:t>labor</a:t>
            </a:r>
            <a:r>
              <a:rPr lang="en-IN" sz="2800" dirty="0"/>
              <a:t> market changes lead to Layoffs or Staffing models such as using freelancers or </a:t>
            </a:r>
            <a:r>
              <a:rPr lang="en-US" sz="2800" dirty="0"/>
              <a:t>temporary workers </a:t>
            </a:r>
          </a:p>
          <a:p>
            <a:endParaRPr lang="en-US" sz="2800" dirty="0"/>
          </a:p>
        </p:txBody>
      </p:sp>
    </p:spTree>
    <p:extLst>
      <p:ext uri="{BB962C8B-B14F-4D97-AF65-F5344CB8AC3E}">
        <p14:creationId xmlns:p14="http://schemas.microsoft.com/office/powerpoint/2010/main" val="811449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Assessing Environmental Uncertainty</a:t>
            </a:r>
          </a:p>
        </p:txBody>
      </p:sp>
      <p:sp>
        <p:nvSpPr>
          <p:cNvPr id="3" name="Content Placeholder 2"/>
          <p:cNvSpPr>
            <a:spLocks noGrp="1"/>
          </p:cNvSpPr>
          <p:nvPr>
            <p:ph idx="1"/>
          </p:nvPr>
        </p:nvSpPr>
        <p:spPr/>
        <p:txBody>
          <a:bodyPr/>
          <a:lstStyle/>
          <a:p>
            <a:r>
              <a:rPr lang="en-US" sz="2800" b="1" dirty="0"/>
              <a:t>Environmental uncertainty:</a:t>
            </a:r>
            <a:r>
              <a:rPr lang="en-US" sz="2800" dirty="0"/>
              <a:t> the degree of change and complexity in an organization’s environment</a:t>
            </a:r>
          </a:p>
          <a:p>
            <a:pPr lvl="1"/>
            <a:r>
              <a:rPr lang="en-US" sz="2800" dirty="0"/>
              <a:t>Change: stable to dynamic</a:t>
            </a:r>
          </a:p>
          <a:p>
            <a:pPr lvl="1"/>
            <a:r>
              <a:rPr lang="en-US" sz="2800" dirty="0"/>
              <a:t>Complexity: simple to complex</a:t>
            </a:r>
          </a:p>
        </p:txBody>
      </p:sp>
    </p:spTree>
    <p:extLst>
      <p:ext uri="{BB962C8B-B14F-4D97-AF65-F5344CB8AC3E}">
        <p14:creationId xmlns:p14="http://schemas.microsoft.com/office/powerpoint/2010/main" val="2132973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igure has a box at center labeled Managerial Discretion. An arrow on the left points into the box, and is labeled Organizational Environment. An arrow on the right points into the box and is labeled Organizational Culture."/>
          <p:cNvSpPr>
            <a:spLocks noGrp="1"/>
          </p:cNvSpPr>
          <p:nvPr>
            <p:ph type="title"/>
          </p:nvPr>
        </p:nvSpPr>
        <p:spPr/>
        <p:txBody>
          <a:bodyPr/>
          <a:lstStyle/>
          <a:p>
            <a:r>
              <a:rPr lang="en-US" dirty="0"/>
              <a:t>Exhibit 3-3</a:t>
            </a:r>
            <a:br>
              <a:rPr lang="en-US" dirty="0"/>
            </a:br>
            <a:r>
              <a:rPr lang="en-US" dirty="0"/>
              <a:t>Environmental Uncertainty Matrix</a:t>
            </a:r>
          </a:p>
        </p:txBody>
      </p:sp>
      <p:pic>
        <p:nvPicPr>
          <p:cNvPr id="6" name="Picture 2" descr="Degree of change being stable and dynamic versus degree of complexity being complex and simple shows the following environmental uncertainty matrix.&#10;Cell 1: Simple, Stable.&#10;• Stable and predictable environment &#10;• Few components in environment&#10;• Components are somewhat similar and remain basically the same&#10;• Minimal need for sophisticated knowledge of components&#10;Cell 2: Simple, Dynamic.&#10;• Dynamic and unpredictable environment&#10;• Few components in environment&#10;• Components are somewhat similar but are continually changing&#10;• Minimal need for sophisticated knowledge of components&#10;Cell 3: Complex, Stable.&#10;• Stable and predictable environment &#10;• Many components in environment &#10;• Components are not similar to one another and remain basically all the same&#10;• High need for sophisticated knowledge of components&#10;Cell 4: Complex, Dynamic.&#10;• Dynamic and unpredictable environment &#10;• Many components in the environment &#10;• Components are not similar to one another and are continually changing&#10;• High need for sophisticated knowledge of components."/>
          <p:cNvPicPr>
            <a:picLocks noChangeAspect="1" noChangeArrowheads="1"/>
          </p:cNvPicPr>
          <p:nvPr/>
        </p:nvPicPr>
        <p:blipFill>
          <a:blip r:embed="rId3" cstate="print"/>
          <a:srcRect/>
          <a:stretch>
            <a:fillRect/>
          </a:stretch>
        </p:blipFill>
        <p:spPr bwMode="auto">
          <a:xfrm>
            <a:off x="113374" y="1295400"/>
            <a:ext cx="8917253" cy="4443001"/>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a:t>Exhibit 3-3 shows the two aspects of environmental uncertainty, change and complexity.</a:t>
            </a:r>
          </a:p>
        </p:txBody>
      </p:sp>
      <p:sp>
        <p:nvSpPr>
          <p:cNvPr id="4" name="TextBox 3">
            <a:extLst>
              <a:ext uri="{FF2B5EF4-FFF2-40B4-BE49-F238E27FC236}">
                <a16:creationId xmlns:a16="http://schemas.microsoft.com/office/drawing/2014/main" id="{88AAC675-3286-DD7B-FC5F-B920A436D222}"/>
              </a:ext>
            </a:extLst>
          </p:cNvPr>
          <p:cNvSpPr txBox="1"/>
          <p:nvPr/>
        </p:nvSpPr>
        <p:spPr>
          <a:xfrm>
            <a:off x="1828800" y="1968268"/>
            <a:ext cx="2743200" cy="400110"/>
          </a:xfrm>
          <a:prstGeom prst="rect">
            <a:avLst/>
          </a:prstGeom>
          <a:noFill/>
        </p:spPr>
        <p:txBody>
          <a:bodyPr wrap="square" rtlCol="0">
            <a:spAutoFit/>
          </a:bodyPr>
          <a:lstStyle/>
          <a:p>
            <a:r>
              <a:rPr lang="en-US" sz="2000" b="1" dirty="0">
                <a:solidFill>
                  <a:srgbClr val="FF0000"/>
                </a:solidFill>
              </a:rPr>
              <a:t>Local Dry Cleaners</a:t>
            </a:r>
          </a:p>
        </p:txBody>
      </p:sp>
      <p:sp>
        <p:nvSpPr>
          <p:cNvPr id="5" name="TextBox 4">
            <a:extLst>
              <a:ext uri="{FF2B5EF4-FFF2-40B4-BE49-F238E27FC236}">
                <a16:creationId xmlns:a16="http://schemas.microsoft.com/office/drawing/2014/main" id="{38ADE762-596B-E951-C85B-21AC07772AE5}"/>
              </a:ext>
            </a:extLst>
          </p:cNvPr>
          <p:cNvSpPr txBox="1"/>
          <p:nvPr/>
        </p:nvSpPr>
        <p:spPr>
          <a:xfrm>
            <a:off x="5867400" y="1968268"/>
            <a:ext cx="2895600" cy="400110"/>
          </a:xfrm>
          <a:prstGeom prst="rect">
            <a:avLst/>
          </a:prstGeom>
          <a:noFill/>
        </p:spPr>
        <p:txBody>
          <a:bodyPr wrap="square" rtlCol="0">
            <a:spAutoFit/>
          </a:bodyPr>
          <a:lstStyle/>
          <a:p>
            <a:r>
              <a:rPr lang="en-US" sz="2000" b="1" dirty="0">
                <a:solidFill>
                  <a:srgbClr val="FF0000"/>
                </a:solidFill>
              </a:rPr>
              <a:t>Fast-fashion Boutique</a:t>
            </a:r>
          </a:p>
        </p:txBody>
      </p:sp>
      <p:sp>
        <p:nvSpPr>
          <p:cNvPr id="7" name="TextBox 6">
            <a:extLst>
              <a:ext uri="{FF2B5EF4-FFF2-40B4-BE49-F238E27FC236}">
                <a16:creationId xmlns:a16="http://schemas.microsoft.com/office/drawing/2014/main" id="{93B0CECF-9724-541A-188A-09D3FB10362E}"/>
              </a:ext>
            </a:extLst>
          </p:cNvPr>
          <p:cNvSpPr txBox="1"/>
          <p:nvPr/>
        </p:nvSpPr>
        <p:spPr>
          <a:xfrm>
            <a:off x="1676400" y="3810000"/>
            <a:ext cx="3810000" cy="400110"/>
          </a:xfrm>
          <a:prstGeom prst="rect">
            <a:avLst/>
          </a:prstGeom>
          <a:noFill/>
        </p:spPr>
        <p:txBody>
          <a:bodyPr wrap="square" rtlCol="0">
            <a:spAutoFit/>
          </a:bodyPr>
          <a:lstStyle/>
          <a:p>
            <a:r>
              <a:rPr lang="en-US" sz="2000" b="1" dirty="0">
                <a:solidFill>
                  <a:srgbClr val="FF0000"/>
                </a:solidFill>
              </a:rPr>
              <a:t>Appliance Manufacturers</a:t>
            </a:r>
          </a:p>
        </p:txBody>
      </p:sp>
      <p:sp>
        <p:nvSpPr>
          <p:cNvPr id="8" name="TextBox 7">
            <a:extLst>
              <a:ext uri="{FF2B5EF4-FFF2-40B4-BE49-F238E27FC236}">
                <a16:creationId xmlns:a16="http://schemas.microsoft.com/office/drawing/2014/main" id="{6D1E894D-F2C4-2F39-B8E9-90DB6A118D14}"/>
              </a:ext>
            </a:extLst>
          </p:cNvPr>
          <p:cNvSpPr txBox="1"/>
          <p:nvPr/>
        </p:nvSpPr>
        <p:spPr>
          <a:xfrm>
            <a:off x="5486400" y="3810000"/>
            <a:ext cx="3505200" cy="400110"/>
          </a:xfrm>
          <a:prstGeom prst="rect">
            <a:avLst/>
          </a:prstGeom>
          <a:noFill/>
        </p:spPr>
        <p:txBody>
          <a:bodyPr wrap="square" rtlCol="0">
            <a:spAutoFit/>
          </a:bodyPr>
          <a:lstStyle/>
          <a:p>
            <a:r>
              <a:rPr lang="en-US" sz="2000" b="1" dirty="0">
                <a:solidFill>
                  <a:srgbClr val="FF0000"/>
                </a:solidFill>
              </a:rPr>
              <a:t>Smartphone &amp; Tech-giants</a:t>
            </a:r>
          </a:p>
        </p:txBody>
      </p:sp>
    </p:spTree>
    <p:extLst>
      <p:ext uri="{BB962C8B-B14F-4D97-AF65-F5344CB8AC3E}">
        <p14:creationId xmlns:p14="http://schemas.microsoft.com/office/powerpoint/2010/main" val="278784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Stakeholder Relationships</a:t>
            </a:r>
          </a:p>
        </p:txBody>
      </p:sp>
      <p:sp>
        <p:nvSpPr>
          <p:cNvPr id="3" name="Content Placeholder 2"/>
          <p:cNvSpPr>
            <a:spLocks noGrp="1"/>
          </p:cNvSpPr>
          <p:nvPr>
            <p:ph idx="1"/>
          </p:nvPr>
        </p:nvSpPr>
        <p:spPr/>
        <p:txBody>
          <a:bodyPr/>
          <a:lstStyle/>
          <a:p>
            <a:r>
              <a:rPr lang="en-US" sz="2800" b="1" dirty="0"/>
              <a:t>Stakeholders:</a:t>
            </a:r>
            <a:r>
              <a:rPr lang="en-US" sz="2800" dirty="0"/>
              <a:t> any constituencies in the organization’s environment that are affected by an organization’s decisions and actions (shareholders, employees, customers, suppliers, and communities)</a:t>
            </a:r>
          </a:p>
          <a:p>
            <a:r>
              <a:rPr lang="en-US" sz="2800" dirty="0"/>
              <a:t>Managers of high-performing companies tend to consider the interests of all major stakeholder groups as they make decisions. </a:t>
            </a:r>
          </a:p>
          <a:p>
            <a:r>
              <a:rPr lang="en-US" sz="2800" dirty="0"/>
              <a:t>Example: New Factory Launch </a:t>
            </a:r>
          </a:p>
        </p:txBody>
      </p:sp>
    </p:spTree>
    <p:extLst>
      <p:ext uri="{BB962C8B-B14F-4D97-AF65-F5344CB8AC3E}">
        <p14:creationId xmlns:p14="http://schemas.microsoft.com/office/powerpoint/2010/main" val="2136604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igure has a box at center labeled Managerial Discretion. An arrow on the left points into the box, and is labeled Organizational Environment. An arrow on the right points into the box and is labeled Organizational Culture."/>
          <p:cNvSpPr>
            <a:spLocks noGrp="1"/>
          </p:cNvSpPr>
          <p:nvPr>
            <p:ph type="title"/>
          </p:nvPr>
        </p:nvSpPr>
        <p:spPr/>
        <p:txBody>
          <a:bodyPr/>
          <a:lstStyle/>
          <a:p>
            <a:r>
              <a:rPr lang="en-US" dirty="0"/>
              <a:t>Exhibit 3-4</a:t>
            </a:r>
            <a:br>
              <a:rPr lang="en-US" dirty="0"/>
            </a:br>
            <a:r>
              <a:rPr lang="en-US" dirty="0"/>
              <a:t>Organizational Stakeholders</a:t>
            </a:r>
          </a:p>
        </p:txBody>
      </p:sp>
      <p:pic>
        <p:nvPicPr>
          <p:cNvPr id="7" name="Picture 2" descr="The organizational stakeholders are:&#10;• Customers&#10;• Social and political action groups&#10;• Competitors&#10;• Trade and industry associations&#10;• Governments&#10;• Media&#10;• Suppliers&#10;• Communities&#10;• Shareholders&#10;• Unions&#10;• Employees."/>
          <p:cNvPicPr>
            <a:picLocks noChangeAspect="1" noChangeArrowheads="1"/>
          </p:cNvPicPr>
          <p:nvPr/>
        </p:nvPicPr>
        <p:blipFill>
          <a:blip r:embed="rId3" cstate="print"/>
          <a:srcRect/>
          <a:stretch>
            <a:fillRect/>
          </a:stretch>
        </p:blipFill>
        <p:spPr bwMode="auto">
          <a:xfrm>
            <a:off x="308765" y="1382447"/>
            <a:ext cx="8526471" cy="4416958"/>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a:t>Exhibit 3-4 identifies some of an organization’s most common stakeholders</a:t>
            </a:r>
          </a:p>
        </p:txBody>
      </p:sp>
    </p:spTree>
    <p:extLst>
      <p:ext uri="{BB962C8B-B14F-4D97-AF65-F5344CB8AC3E}">
        <p14:creationId xmlns:p14="http://schemas.microsoft.com/office/powerpoint/2010/main" val="622759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Good Stakeholder Relationships</a:t>
            </a:r>
          </a:p>
        </p:txBody>
      </p:sp>
      <p:sp>
        <p:nvSpPr>
          <p:cNvPr id="3" name="Content Placeholder 2"/>
          <p:cNvSpPr>
            <a:spLocks noGrp="1"/>
          </p:cNvSpPr>
          <p:nvPr>
            <p:ph idx="1"/>
          </p:nvPr>
        </p:nvSpPr>
        <p:spPr/>
        <p:txBody>
          <a:bodyPr/>
          <a:lstStyle/>
          <a:p>
            <a:r>
              <a:rPr lang="en-US" sz="2800" dirty="0"/>
              <a:t>Improved predictability of environmental changes</a:t>
            </a:r>
          </a:p>
          <a:p>
            <a:pPr lvl="1"/>
            <a:r>
              <a:rPr lang="en-US" sz="2800" dirty="0"/>
              <a:t>Upcoming regulations in the industry </a:t>
            </a:r>
          </a:p>
          <a:p>
            <a:r>
              <a:rPr lang="en-US" sz="2800" dirty="0"/>
              <a:t>Increased successful innovations</a:t>
            </a:r>
          </a:p>
          <a:p>
            <a:pPr lvl="1"/>
            <a:r>
              <a:rPr lang="en-US" sz="2800" dirty="0"/>
              <a:t>Software companies </a:t>
            </a:r>
          </a:p>
          <a:p>
            <a:r>
              <a:rPr lang="en-US" sz="2800" dirty="0"/>
              <a:t>Increased trust among stakeholders</a:t>
            </a:r>
          </a:p>
          <a:p>
            <a:pPr lvl="1"/>
            <a:r>
              <a:rPr lang="en-US" sz="2800" dirty="0"/>
              <a:t>Company difficult times </a:t>
            </a:r>
          </a:p>
          <a:p>
            <a:r>
              <a:rPr lang="en-US" sz="2800" dirty="0"/>
              <a:t>Greater organizational flexibility to reduce the impact of change</a:t>
            </a:r>
          </a:p>
          <a:p>
            <a:pPr lvl="1"/>
            <a:r>
              <a:rPr lang="en-US" sz="2800" dirty="0"/>
              <a:t>Sudden global crisis </a:t>
            </a:r>
          </a:p>
        </p:txBody>
      </p:sp>
    </p:spTree>
    <p:extLst>
      <p:ext uri="{BB962C8B-B14F-4D97-AF65-F5344CB8AC3E}">
        <p14:creationId xmlns:p14="http://schemas.microsoft.com/office/powerpoint/2010/main" val="1501547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Organizational Culture?</a:t>
            </a:r>
          </a:p>
        </p:txBody>
      </p:sp>
      <p:sp>
        <p:nvSpPr>
          <p:cNvPr id="3" name="Content Placeholder 2"/>
          <p:cNvSpPr>
            <a:spLocks noGrp="1"/>
          </p:cNvSpPr>
          <p:nvPr>
            <p:ph idx="1"/>
          </p:nvPr>
        </p:nvSpPr>
        <p:spPr/>
        <p:txBody>
          <a:bodyPr/>
          <a:lstStyle/>
          <a:p>
            <a:r>
              <a:rPr lang="en-IN" sz="2800" dirty="0"/>
              <a:t>Organizational culture represents the unique “personality” of the workplace. </a:t>
            </a:r>
          </a:p>
          <a:p>
            <a:r>
              <a:rPr lang="en-IN" sz="2800" dirty="0"/>
              <a:t>Organizational culture is the shared set of values, beliefs, attitudes, and core </a:t>
            </a:r>
            <a:r>
              <a:rPr lang="en-IN" sz="2800" dirty="0" err="1"/>
              <a:t>behaviors</a:t>
            </a:r>
            <a:r>
              <a:rPr lang="en-IN" sz="2800" dirty="0"/>
              <a:t> that shape how people interact and work inside a company. </a:t>
            </a:r>
          </a:p>
          <a:p>
            <a:r>
              <a:rPr lang="en-IN" sz="2800" dirty="0"/>
              <a:t>It sets one company apart from another through unwritten rules, common habits, and core beliefs that dictate how people treat each other and do their jobs. </a:t>
            </a:r>
            <a:endParaRPr lang="en-US" sz="2800" dirty="0"/>
          </a:p>
        </p:txBody>
      </p:sp>
    </p:spTree>
    <p:extLst>
      <p:ext uri="{BB962C8B-B14F-4D97-AF65-F5344CB8AC3E}">
        <p14:creationId xmlns:p14="http://schemas.microsoft.com/office/powerpoint/2010/main" val="629038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Culture</a:t>
            </a:r>
          </a:p>
        </p:txBody>
      </p:sp>
      <p:sp>
        <p:nvSpPr>
          <p:cNvPr id="3" name="Content Placeholder 2"/>
          <p:cNvSpPr>
            <a:spLocks noGrp="1"/>
          </p:cNvSpPr>
          <p:nvPr>
            <p:ph idx="1"/>
          </p:nvPr>
        </p:nvSpPr>
        <p:spPr/>
        <p:txBody>
          <a:bodyPr/>
          <a:lstStyle/>
          <a:p>
            <a:r>
              <a:rPr lang="en-US" sz="2400" dirty="0"/>
              <a:t>First, culture is a </a:t>
            </a:r>
            <a:r>
              <a:rPr lang="en-US" sz="2400" i="1" dirty="0"/>
              <a:t>perception. </a:t>
            </a:r>
            <a:r>
              <a:rPr lang="en-US" sz="2400" dirty="0"/>
              <a:t>It’s not something that can be physically touched or seen, but employees perceive it on the basis of what they experience within the organization. </a:t>
            </a:r>
          </a:p>
          <a:p>
            <a:r>
              <a:rPr lang="en-US" sz="2400" dirty="0"/>
              <a:t>Second, organizational culture is </a:t>
            </a:r>
            <a:r>
              <a:rPr lang="en-US" sz="2400" i="1" dirty="0"/>
              <a:t>descriptive. </a:t>
            </a:r>
            <a:r>
              <a:rPr lang="en-US" sz="2400" dirty="0"/>
              <a:t>It’s concerned with how members perceive the culture and describe it, not with whether they like it. </a:t>
            </a:r>
          </a:p>
          <a:p>
            <a:r>
              <a:rPr lang="en-US" sz="2400" dirty="0"/>
              <a:t>Finally, even though individuals may have different backgrounds or work at different organizational levels, they tend to describe the organization’s culture in similar terms. That’s the </a:t>
            </a:r>
            <a:r>
              <a:rPr lang="en-US" sz="2400" i="1" dirty="0"/>
              <a:t>shared </a:t>
            </a:r>
            <a:r>
              <a:rPr lang="en-US" sz="2400" dirty="0"/>
              <a:t>aspect of culture. </a:t>
            </a:r>
          </a:p>
          <a:p>
            <a:endParaRPr lang="en-US" sz="2400" dirty="0"/>
          </a:p>
        </p:txBody>
      </p:sp>
    </p:spTree>
    <p:extLst>
      <p:ext uri="{BB962C8B-B14F-4D97-AF65-F5344CB8AC3E}">
        <p14:creationId xmlns:p14="http://schemas.microsoft.com/office/powerpoint/2010/main" val="1370345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igure has a box at center labeled Managerial Discretion. An arrow on the left points into the box, and is labeled Organizational Environment. An arrow on the right points into the box and is labeled Organizational Culture."/>
          <p:cNvSpPr>
            <a:spLocks noGrp="1"/>
          </p:cNvSpPr>
          <p:nvPr>
            <p:ph type="title"/>
          </p:nvPr>
        </p:nvSpPr>
        <p:spPr/>
        <p:txBody>
          <a:bodyPr/>
          <a:lstStyle/>
          <a:p>
            <a:r>
              <a:rPr lang="en-US" dirty="0"/>
              <a:t>Exhibit 3-5</a:t>
            </a:r>
            <a:br>
              <a:rPr lang="en-US" dirty="0"/>
            </a:br>
            <a:r>
              <a:rPr lang="en-US" dirty="0"/>
              <a:t>Dimensions of Organizational Culture</a:t>
            </a:r>
          </a:p>
        </p:txBody>
      </p:sp>
      <p:pic>
        <p:nvPicPr>
          <p:cNvPr id="6" name="Picture 5" descr="The organizational skills are as follows:&#10;• Attention to detail: Degree to which employees are expected to exhibit precision, analysis, and attention to detail&#10;• Outcome orientation: Degree to which managers focus on results or outcomes rather than on how these outcomes are achieved&#10;• People orientation: Degree to which management decisions take into account the effects on people in the organization&#10;• Team orientation: Degree to which work is organized around teams rather than individuals&#10;• Aggressiveness: Degree to which employees are aggressive and competitive rather than cooperative&#10;• Stability: Degree to which organizational decisions and actions emphasize maintaining the status quo&#10;• Innovation and risk taking: Degree to which employees are encouraged to be innovative and to take risks&#10;"/>
          <p:cNvPicPr>
            <a:picLocks noChangeAspect="1"/>
          </p:cNvPicPr>
          <p:nvPr/>
        </p:nvPicPr>
        <p:blipFill>
          <a:blip r:embed="rId3" cstate="print"/>
          <a:stretch>
            <a:fillRect/>
          </a:stretch>
        </p:blipFill>
        <p:spPr>
          <a:xfrm>
            <a:off x="504257" y="1285875"/>
            <a:ext cx="8135487" cy="4585456"/>
          </a:xfrm>
          <a:prstGeom prst="rect">
            <a:avLst/>
          </a:prstGeom>
        </p:spPr>
      </p:pic>
      <p:sp>
        <p:nvSpPr>
          <p:cNvPr id="3" name="Text Placeholder 2" descr="Box at center of figure is labeled Organizational Culture. Seven boxes encircle it, each connected to it by a line. The boxes are labeled: Attention to Detail, Outcome Orientation, People Orientation, Team Orientation, Aggressiveness, Stability, and Innovation and Risk Taking. There is a speech blurb connected to each of the seven boxes, describing the dimension in more detail."/>
          <p:cNvSpPr>
            <a:spLocks noGrp="1"/>
          </p:cNvSpPr>
          <p:nvPr>
            <p:ph type="body" sz="quarter" idx="13"/>
          </p:nvPr>
        </p:nvSpPr>
        <p:spPr/>
        <p:txBody>
          <a:bodyPr/>
          <a:lstStyle/>
          <a:p>
            <a:r>
              <a:rPr lang="en-US" sz="1600" dirty="0"/>
              <a:t>Exhibit 3-5 identifies the seven dimensions of organizational culture.</a:t>
            </a:r>
          </a:p>
        </p:txBody>
      </p:sp>
    </p:spTree>
    <p:extLst>
      <p:ext uri="{BB962C8B-B14F-4D97-AF65-F5344CB8AC3E}">
        <p14:creationId xmlns:p14="http://schemas.microsoft.com/office/powerpoint/2010/main" val="704594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Contrasting Organizational Culture</a:t>
            </a:r>
          </a:p>
        </p:txBody>
      </p:sp>
      <p:sp>
        <p:nvSpPr>
          <p:cNvPr id="3" name="Content Placeholder 2"/>
          <p:cNvSpPr>
            <a:spLocks noGrp="1"/>
          </p:cNvSpPr>
          <p:nvPr>
            <p:ph idx="1"/>
          </p:nvPr>
        </p:nvSpPr>
        <p:spPr/>
        <p:txBody>
          <a:bodyPr/>
          <a:lstStyle/>
          <a:p>
            <a:r>
              <a:rPr lang="en-US" sz="2000" dirty="0"/>
              <a:t>At Tesla Motors, the focus is product innovation (innovation and risk taking).</a:t>
            </a:r>
          </a:p>
          <a:p>
            <a:r>
              <a:rPr lang="en-US" sz="2000" dirty="0"/>
              <a:t>In contrast, Southwest Airlines has made its employees a central part of its culture.</a:t>
            </a:r>
          </a:p>
          <a:p>
            <a:r>
              <a:rPr lang="en-IN" sz="2000" dirty="0" err="1"/>
              <a:t>Blinkit</a:t>
            </a:r>
            <a:r>
              <a:rPr lang="en-IN" sz="2000" dirty="0"/>
              <a:t> / Zomato: In the ultra-competitive quick-commerce space, the focus is on aggressive operational speed (performance metrics, micro-efficiency, and rapid localized execution).</a:t>
            </a:r>
          </a:p>
          <a:p>
            <a:r>
              <a:rPr lang="en-IN" sz="2000" dirty="0"/>
              <a:t>Godrej Group: (Trust and Wellbeing Heritage): As a classic legacy conglomerate, Godrej focuses on trust and wellbeing heritage (empathetic, people-first corporate culture).</a:t>
            </a:r>
            <a:endParaRPr lang="en-US" sz="2000" dirty="0"/>
          </a:p>
        </p:txBody>
      </p:sp>
    </p:spTree>
    <p:extLst>
      <p:ext uri="{BB962C8B-B14F-4D97-AF65-F5344CB8AC3E}">
        <p14:creationId xmlns:p14="http://schemas.microsoft.com/office/powerpoint/2010/main" val="969739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3-6</a:t>
            </a:r>
            <a:br>
              <a:rPr lang="en-US" dirty="0"/>
            </a:br>
            <a:r>
              <a:rPr lang="en-US" dirty="0"/>
              <a:t>Contrasting Organizational Culture</a:t>
            </a:r>
          </a:p>
        </p:txBody>
      </p:sp>
      <p:sp>
        <p:nvSpPr>
          <p:cNvPr id="3" name="Content Placeholder 2" descr="Photograph of two women talking and laughing. They are standing in front of a mural with the facebook name prominent."/>
          <p:cNvSpPr>
            <a:spLocks noGrp="1"/>
          </p:cNvSpPr>
          <p:nvPr>
            <p:ph idx="1"/>
          </p:nvPr>
        </p:nvSpPr>
        <p:spPr/>
        <p:txBody>
          <a:bodyPr/>
          <a:lstStyle/>
          <a:p>
            <a:pPr>
              <a:spcBef>
                <a:spcPts val="1200"/>
              </a:spcBef>
              <a:buSzPct val="100000"/>
              <a:defRPr/>
            </a:pPr>
            <a:r>
              <a:rPr lang="en-US" dirty="0"/>
              <a:t>Risk-taking and change discouraged</a:t>
            </a:r>
          </a:p>
          <a:p>
            <a:pPr>
              <a:spcBef>
                <a:spcPts val="1200"/>
              </a:spcBef>
              <a:buSzPct val="100000"/>
              <a:defRPr/>
            </a:pPr>
            <a:r>
              <a:rPr lang="en-US" dirty="0"/>
              <a:t>Creativity discouraged</a:t>
            </a:r>
          </a:p>
          <a:p>
            <a:pPr>
              <a:spcBef>
                <a:spcPts val="1200"/>
              </a:spcBef>
              <a:buSzPct val="100000"/>
              <a:defRPr/>
            </a:pPr>
            <a:r>
              <a:rPr lang="en-US" dirty="0"/>
              <a:t>Close managerial supervision</a:t>
            </a:r>
          </a:p>
          <a:p>
            <a:pPr>
              <a:spcBef>
                <a:spcPts val="1200"/>
              </a:spcBef>
              <a:spcAft>
                <a:spcPts val="5400"/>
              </a:spcAft>
              <a:buSzPct val="100000"/>
              <a:defRPr/>
            </a:pPr>
            <a:r>
              <a:rPr lang="en-US" dirty="0"/>
              <a:t>Work designed around individual employees</a:t>
            </a:r>
          </a:p>
        </p:txBody>
      </p:sp>
      <p:pic>
        <p:nvPicPr>
          <p:cNvPr id="9" name="Picture 3" descr="Graphic is made of three icons. The first shows a tall stack of paperwork. The second depicts a traditional top-down organizational chart. The third is a stick figure of a single person."/>
          <p:cNvPicPr>
            <a:picLocks noChangeAspect="1" noChangeArrowheads="1"/>
          </p:cNvPicPr>
          <p:nvPr/>
        </p:nvPicPr>
        <p:blipFill>
          <a:blip r:embed="rId3" cstate="print"/>
          <a:srcRect/>
          <a:stretch>
            <a:fillRect/>
          </a:stretch>
        </p:blipFill>
        <p:spPr bwMode="auto">
          <a:xfrm>
            <a:off x="4772634" y="1546055"/>
            <a:ext cx="4293201" cy="1459689"/>
          </a:xfrm>
          <a:prstGeom prst="rect">
            <a:avLst/>
          </a:prstGeom>
          <a:noFill/>
          <a:ln w="9525">
            <a:noFill/>
            <a:miter lim="800000"/>
            <a:headEnd/>
            <a:tailEnd/>
          </a:ln>
        </p:spPr>
      </p:pic>
      <p:sp>
        <p:nvSpPr>
          <p:cNvPr id="4" name="Content Placeholder 3"/>
          <p:cNvSpPr>
            <a:spLocks noGrp="1"/>
          </p:cNvSpPr>
          <p:nvPr>
            <p:ph idx="13"/>
          </p:nvPr>
        </p:nvSpPr>
        <p:spPr/>
        <p:txBody>
          <a:bodyPr/>
          <a:lstStyle/>
          <a:p>
            <a:pPr>
              <a:spcBef>
                <a:spcPts val="1200"/>
              </a:spcBef>
              <a:buSzTx/>
              <a:defRPr/>
            </a:pPr>
            <a:r>
              <a:rPr lang="en-US" dirty="0"/>
              <a:t>Risk-taking and change rewarded</a:t>
            </a:r>
          </a:p>
          <a:p>
            <a:pPr>
              <a:spcBef>
                <a:spcPts val="1200"/>
              </a:spcBef>
              <a:buSzTx/>
              <a:defRPr/>
            </a:pPr>
            <a:r>
              <a:rPr lang="en-US" dirty="0"/>
              <a:t>Creativity and innovation rewarded</a:t>
            </a:r>
          </a:p>
          <a:p>
            <a:pPr>
              <a:spcBef>
                <a:spcPts val="1200"/>
              </a:spcBef>
              <a:buSzTx/>
              <a:defRPr/>
            </a:pPr>
            <a:r>
              <a:rPr lang="en-US" dirty="0"/>
              <a:t>Management trusts employees</a:t>
            </a:r>
          </a:p>
          <a:p>
            <a:pPr>
              <a:spcBef>
                <a:spcPts val="1200"/>
              </a:spcBef>
              <a:buSzTx/>
              <a:defRPr/>
            </a:pPr>
            <a:r>
              <a:rPr lang="en-US" dirty="0"/>
              <a:t>Work designed around teams</a:t>
            </a:r>
          </a:p>
        </p:txBody>
      </p:sp>
      <p:pic>
        <p:nvPicPr>
          <p:cNvPr id="10" name="Picture 5" descr="Graphic is made of three icons. The first shows a lightbulb. The second depicts a non-traditional, more interactive organizational chart. The third shows stick figures of three people. "/>
          <p:cNvPicPr>
            <a:picLocks noChangeAspect="1" noChangeArrowheads="1"/>
          </p:cNvPicPr>
          <p:nvPr/>
        </p:nvPicPr>
        <p:blipFill>
          <a:blip r:embed="rId4" cstate="print"/>
          <a:srcRect/>
          <a:stretch>
            <a:fillRect/>
          </a:stretch>
        </p:blipFill>
        <p:spPr bwMode="auto">
          <a:xfrm>
            <a:off x="4528001" y="3949792"/>
            <a:ext cx="4507598" cy="1784258"/>
          </a:xfrm>
          <a:prstGeom prst="rect">
            <a:avLst/>
          </a:prstGeom>
          <a:noFill/>
          <a:ln w="9525">
            <a:noFill/>
            <a:miter lim="800000"/>
            <a:headEnd/>
            <a:tailEnd/>
          </a:ln>
        </p:spPr>
      </p:pic>
    </p:spTree>
    <p:extLst>
      <p:ext uri="{BB962C8B-B14F-4D97-AF65-F5344CB8AC3E}">
        <p14:creationId xmlns:p14="http://schemas.microsoft.com/office/powerpoint/2010/main" val="847905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Strong Cultures</a:t>
            </a:r>
          </a:p>
        </p:txBody>
      </p:sp>
      <p:sp>
        <p:nvSpPr>
          <p:cNvPr id="3" name="Content Placeholder 2"/>
          <p:cNvSpPr>
            <a:spLocks noGrp="1"/>
          </p:cNvSpPr>
          <p:nvPr>
            <p:ph idx="1"/>
          </p:nvPr>
        </p:nvSpPr>
        <p:spPr/>
        <p:txBody>
          <a:bodyPr/>
          <a:lstStyle/>
          <a:p>
            <a:r>
              <a:rPr lang="en-US" sz="2400" b="1" dirty="0"/>
              <a:t>Strong cultures</a:t>
            </a:r>
            <a:r>
              <a:rPr lang="en-US" sz="2400" dirty="0"/>
              <a:t>: organizational cultures in which the key values are accepted by their employees, which leads to their greater commitment to those values. </a:t>
            </a:r>
          </a:p>
          <a:p>
            <a:r>
              <a:rPr lang="en-US" sz="2400" dirty="0"/>
              <a:t>There is relatively high agreement on what’s important, what defines “good” employee behavior, what it takes to get ahead. </a:t>
            </a:r>
          </a:p>
          <a:p>
            <a:r>
              <a:rPr lang="en-US" sz="2400" dirty="0"/>
              <a:t>Strong cultures have a greater influence on employees and the way managers plan, organize, lead, and control. </a:t>
            </a:r>
          </a:p>
        </p:txBody>
      </p:sp>
    </p:spTree>
    <p:extLst>
      <p:ext uri="{BB962C8B-B14F-4D97-AF65-F5344CB8AC3E}">
        <p14:creationId xmlns:p14="http://schemas.microsoft.com/office/powerpoint/2010/main" val="1489564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3-7</a:t>
            </a:r>
            <a:br>
              <a:rPr lang="en-US" dirty="0"/>
            </a:br>
            <a:r>
              <a:rPr lang="en-US" dirty="0"/>
              <a:t>Strong Versus Weak Cultures</a:t>
            </a:r>
          </a:p>
        </p:txBody>
      </p:sp>
      <p:graphicFrame>
        <p:nvGraphicFramePr>
          <p:cNvPr id="5" name="Table 4"/>
          <p:cNvGraphicFramePr>
            <a:graphicFrameLocks noGrp="1"/>
          </p:cNvGraphicFramePr>
          <p:nvPr>
            <p:extLst>
              <p:ext uri="{D42A27DB-BD31-4B8C-83A1-F6EECF244321}">
                <p14:modId xmlns:p14="http://schemas.microsoft.com/office/powerpoint/2010/main" val="877114022"/>
              </p:ext>
            </p:extLst>
          </p:nvPr>
        </p:nvGraphicFramePr>
        <p:xfrm>
          <a:off x="190500" y="1752598"/>
          <a:ext cx="8763000" cy="3721918"/>
        </p:xfrm>
        <a:graphic>
          <a:graphicData uri="http://schemas.openxmlformats.org/drawingml/2006/table">
            <a:tbl>
              <a:tblPr firstRow="1" bandRow="1">
                <a:tableStyleId>{3B4B98B0-60AC-42C2-AFA5-B58CD77FA1E5}</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67438">
                <a:tc>
                  <a:txBody>
                    <a:bodyPr/>
                    <a:lstStyle/>
                    <a:p>
                      <a:r>
                        <a:rPr lang="en-US" dirty="0"/>
                        <a:t>Strong Cultures</a:t>
                      </a:r>
                    </a:p>
                  </a:txBody>
                  <a:tcPr/>
                </a:tc>
                <a:tc>
                  <a:txBody>
                    <a:bodyPr/>
                    <a:lstStyle/>
                    <a:p>
                      <a:r>
                        <a:rPr lang="en-US" dirty="0"/>
                        <a:t>Weak Cultures</a:t>
                      </a:r>
                    </a:p>
                  </a:txBody>
                  <a:tcPr/>
                </a:tc>
                <a:extLst>
                  <a:ext uri="{0D108BD9-81ED-4DB2-BD59-A6C34878D82A}">
                    <a16:rowId xmlns:a16="http://schemas.microsoft.com/office/drawing/2014/main" val="10000"/>
                  </a:ext>
                </a:extLst>
              </a:tr>
              <a:tr h="699364">
                <a:tc>
                  <a:txBody>
                    <a:bodyPr/>
                    <a:lstStyle/>
                    <a:p>
                      <a:r>
                        <a:rPr lang="en-US" dirty="0"/>
                        <a:t>Values widely</a:t>
                      </a:r>
                      <a:r>
                        <a:rPr lang="en-US" baseline="0" dirty="0"/>
                        <a:t> shared</a:t>
                      </a:r>
                      <a:endParaRPr lang="en-US" dirty="0"/>
                    </a:p>
                  </a:txBody>
                  <a:tcPr/>
                </a:tc>
                <a:tc>
                  <a:txBody>
                    <a:bodyPr/>
                    <a:lstStyle/>
                    <a:p>
                      <a:r>
                        <a:rPr lang="en-US" dirty="0"/>
                        <a:t>Values</a:t>
                      </a:r>
                      <a:r>
                        <a:rPr lang="en-US" baseline="0" dirty="0"/>
                        <a:t> limited to a few people – usually top management</a:t>
                      </a:r>
                      <a:endParaRPr lang="en-US" dirty="0"/>
                    </a:p>
                  </a:txBody>
                  <a:tcPr/>
                </a:tc>
                <a:extLst>
                  <a:ext uri="{0D108BD9-81ED-4DB2-BD59-A6C34878D82A}">
                    <a16:rowId xmlns:a16="http://schemas.microsoft.com/office/drawing/2014/main" val="10001"/>
                  </a:ext>
                </a:extLst>
              </a:tr>
              <a:tr h="367438">
                <a:tc>
                  <a:txBody>
                    <a:bodyPr/>
                    <a:lstStyle/>
                    <a:p>
                      <a:r>
                        <a:rPr lang="en-US" dirty="0"/>
                        <a:t>Culture conveys consistent messages about what’s important</a:t>
                      </a:r>
                    </a:p>
                  </a:txBody>
                  <a:tcPr/>
                </a:tc>
                <a:tc>
                  <a:txBody>
                    <a:bodyPr/>
                    <a:lstStyle/>
                    <a:p>
                      <a:r>
                        <a:rPr lang="en-US" dirty="0"/>
                        <a:t>Culture sends contradictory messages about what’s important</a:t>
                      </a:r>
                    </a:p>
                  </a:txBody>
                  <a:tcPr/>
                </a:tc>
                <a:extLst>
                  <a:ext uri="{0D108BD9-81ED-4DB2-BD59-A6C34878D82A}">
                    <a16:rowId xmlns:a16="http://schemas.microsoft.com/office/drawing/2014/main" val="10002"/>
                  </a:ext>
                </a:extLst>
              </a:tr>
              <a:tr h="367438">
                <a:tc>
                  <a:txBody>
                    <a:bodyPr/>
                    <a:lstStyle/>
                    <a:p>
                      <a:r>
                        <a:rPr lang="en-US" dirty="0"/>
                        <a:t>Employees strongly identify with culture</a:t>
                      </a:r>
                    </a:p>
                  </a:txBody>
                  <a:tcPr/>
                </a:tc>
                <a:tc>
                  <a:txBody>
                    <a:bodyPr/>
                    <a:lstStyle/>
                    <a:p>
                      <a:r>
                        <a:rPr lang="en-US" dirty="0"/>
                        <a:t>Employees have little identification</a:t>
                      </a:r>
                      <a:r>
                        <a:rPr lang="en-US" baseline="0" dirty="0"/>
                        <a:t> with culture</a:t>
                      </a:r>
                      <a:endParaRPr lang="en-US" dirty="0"/>
                    </a:p>
                  </a:txBody>
                  <a:tcPr/>
                </a:tc>
                <a:extLst>
                  <a:ext uri="{0D108BD9-81ED-4DB2-BD59-A6C34878D82A}">
                    <a16:rowId xmlns:a16="http://schemas.microsoft.com/office/drawing/2014/main" val="10004"/>
                  </a:ext>
                </a:extLst>
              </a:tr>
              <a:tr h="367438">
                <a:tc>
                  <a:txBody>
                    <a:bodyPr/>
                    <a:lstStyle/>
                    <a:p>
                      <a:r>
                        <a:rPr lang="en-US" dirty="0"/>
                        <a:t>Strong connection between shared values and behaviors</a:t>
                      </a:r>
                    </a:p>
                  </a:txBody>
                  <a:tcPr/>
                </a:tc>
                <a:tc>
                  <a:txBody>
                    <a:bodyPr/>
                    <a:lstStyle/>
                    <a:p>
                      <a:r>
                        <a:rPr lang="en-US" dirty="0"/>
                        <a:t>Little connection between shared values and behaviors</a:t>
                      </a:r>
                    </a:p>
                  </a:txBody>
                  <a:tcPr/>
                </a:tc>
                <a:extLst>
                  <a:ext uri="{0D108BD9-81ED-4DB2-BD59-A6C34878D82A}">
                    <a16:rowId xmlns:a16="http://schemas.microsoft.com/office/drawing/2014/main" val="10005"/>
                  </a:ext>
                </a:extLst>
              </a:tr>
              <a:tr h="367438">
                <a:tc>
                  <a:txBody>
                    <a:bodyPr/>
                    <a:lstStyle/>
                    <a:p>
                      <a:r>
                        <a:rPr lang="en-US" dirty="0"/>
                        <a:t>Employees are more loyal </a:t>
                      </a:r>
                    </a:p>
                  </a:txBody>
                  <a:tcPr/>
                </a:tc>
                <a:tc>
                  <a:txBody>
                    <a:bodyPr/>
                    <a:lstStyle/>
                    <a:p>
                      <a:r>
                        <a:rPr lang="en-US" dirty="0"/>
                        <a:t>Little employee loyalty </a:t>
                      </a:r>
                    </a:p>
                  </a:txBody>
                  <a:tcPr/>
                </a:tc>
                <a:extLst>
                  <a:ext uri="{0D108BD9-81ED-4DB2-BD59-A6C34878D82A}">
                    <a16:rowId xmlns:a16="http://schemas.microsoft.com/office/drawing/2014/main" val="1180578430"/>
                  </a:ext>
                </a:extLst>
              </a:tr>
              <a:tr h="367438">
                <a:tc>
                  <a:txBody>
                    <a:bodyPr/>
                    <a:lstStyle/>
                    <a:p>
                      <a:r>
                        <a:rPr lang="en-US" dirty="0"/>
                        <a:t>High organizational performance </a:t>
                      </a:r>
                    </a:p>
                  </a:txBody>
                  <a:tcPr/>
                </a:tc>
                <a:tc>
                  <a:txBody>
                    <a:bodyPr/>
                    <a:lstStyle/>
                    <a:p>
                      <a:r>
                        <a:rPr lang="en-US" dirty="0"/>
                        <a:t>Low organizational performance </a:t>
                      </a:r>
                    </a:p>
                  </a:txBody>
                  <a:tcPr/>
                </a:tc>
                <a:extLst>
                  <a:ext uri="{0D108BD9-81ED-4DB2-BD59-A6C34878D82A}">
                    <a16:rowId xmlns:a16="http://schemas.microsoft.com/office/drawing/2014/main" val="680051989"/>
                  </a:ext>
                </a:extLst>
              </a:tr>
            </a:tbl>
          </a:graphicData>
        </a:graphic>
      </p:graphicFrame>
    </p:spTree>
    <p:extLst>
      <p:ext uri="{BB962C8B-B14F-4D97-AF65-F5344CB8AC3E}">
        <p14:creationId xmlns:p14="http://schemas.microsoft.com/office/powerpoint/2010/main" val="815143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Culture Comes From and How it Continues</a:t>
            </a:r>
          </a:p>
        </p:txBody>
      </p:sp>
      <p:sp>
        <p:nvSpPr>
          <p:cNvPr id="3" name="Content Placeholder 2"/>
          <p:cNvSpPr>
            <a:spLocks noGrp="1"/>
          </p:cNvSpPr>
          <p:nvPr>
            <p:ph idx="1"/>
          </p:nvPr>
        </p:nvSpPr>
        <p:spPr/>
        <p:txBody>
          <a:bodyPr/>
          <a:lstStyle/>
          <a:p>
            <a:r>
              <a:rPr lang="en-US" dirty="0"/>
              <a:t>The original source of the culture usually reflects the vision of the founders.</a:t>
            </a:r>
          </a:p>
          <a:p>
            <a:r>
              <a:rPr lang="en-US" dirty="0"/>
              <a:t>Once the culture is in place, certain organizational practices help maintain it. For example, during employee selection </a:t>
            </a:r>
          </a:p>
          <a:p>
            <a:r>
              <a:rPr lang="en-US" dirty="0"/>
              <a:t>The actions of top managers also have a major impact on the organization’s culture.</a:t>
            </a:r>
          </a:p>
          <a:p>
            <a:r>
              <a:rPr lang="en-US" dirty="0"/>
              <a:t>For instance, Gravity Payments CEO, Dan Price, raised the minimum wage at his firm to $70,000 annually and has cut his million dollar salary to fund those pay increases. Since making this decision, Gravity’s financial performance has soared. </a:t>
            </a:r>
          </a:p>
          <a:p>
            <a:r>
              <a:rPr lang="en-IN" dirty="0"/>
              <a:t>A significant public debate erupted when TCS engaged in a targeted restructuring exercise that impacted roughly 2% of its workforce (around 12,000 positions), primarily targeting mid-to-senior levels. The layoffs triggered massive online and media backlash when annual reports concurrently revealed CEO K </a:t>
            </a:r>
            <a:r>
              <a:rPr lang="en-IN" dirty="0" err="1"/>
              <a:t>Krithivasan's</a:t>
            </a:r>
            <a:r>
              <a:rPr lang="en-IN" dirty="0"/>
              <a:t> salary package of Rs. 26.52 crore. Social media and industry watchdogs highlighted this as a distinct departure from the historical "people-first, lifetime employment" reputation of the Tata brand,</a:t>
            </a:r>
            <a:endParaRPr lang="en-US" dirty="0"/>
          </a:p>
        </p:txBody>
      </p:sp>
    </p:spTree>
    <p:extLst>
      <p:ext uri="{BB962C8B-B14F-4D97-AF65-F5344CB8AC3E}">
        <p14:creationId xmlns:p14="http://schemas.microsoft.com/office/powerpoint/2010/main" val="1961971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igure has a box at center labeled Managerial Discretion. An arrow on the left points into the box, and is labeled Organizational Environment. An arrow on the right points into the box and is labeled Organizational Culture."/>
          <p:cNvSpPr>
            <a:spLocks noGrp="1"/>
          </p:cNvSpPr>
          <p:nvPr>
            <p:ph type="title"/>
          </p:nvPr>
        </p:nvSpPr>
        <p:spPr/>
        <p:txBody>
          <a:bodyPr/>
          <a:lstStyle/>
          <a:p>
            <a:r>
              <a:rPr lang="en-US" dirty="0"/>
              <a:t>Exhibit 3-8</a:t>
            </a:r>
            <a:br>
              <a:rPr lang="en-US" dirty="0"/>
            </a:br>
            <a:r>
              <a:rPr lang="en-US" dirty="0"/>
              <a:t>Establishing and Maintaining Culture</a:t>
            </a:r>
          </a:p>
        </p:txBody>
      </p:sp>
      <p:pic>
        <p:nvPicPr>
          <p:cNvPr id="7" name="Picture 6" descr="A diagram for establishing and maintaining culture. It shows philosophy of organization’s founders leads to selection criteria which further leads to top management and socialization which together leads to organization’s culture."/>
          <p:cNvPicPr>
            <a:picLocks noChangeAspect="1"/>
          </p:cNvPicPr>
          <p:nvPr/>
        </p:nvPicPr>
        <p:blipFill>
          <a:blip r:embed="rId3" cstate="print"/>
          <a:stretch>
            <a:fillRect/>
          </a:stretch>
        </p:blipFill>
        <p:spPr>
          <a:xfrm>
            <a:off x="45268" y="2298072"/>
            <a:ext cx="9053465" cy="2414257"/>
          </a:xfrm>
          <a:prstGeom prst="rect">
            <a:avLst/>
          </a:prstGeom>
        </p:spPr>
      </p:pic>
      <p:sp>
        <p:nvSpPr>
          <p:cNvPr id="3" name="Text Placeholder 2" descr="Box at center of figure is labeled Organizational Culture. Seven boxes encircle it, each connected to it by a line. The boxes are labeled: Attention to Detail, Outcome Orientation, People Orientation, Team Orientation, Aggressiveness, Stability, and Innovation and Risk Taking. There is a speech blurb connected to each of the seven boxes, describing the dimension in more detail."/>
          <p:cNvSpPr>
            <a:spLocks noGrp="1"/>
          </p:cNvSpPr>
          <p:nvPr>
            <p:ph type="body" sz="quarter" idx="13"/>
          </p:nvPr>
        </p:nvSpPr>
        <p:spPr/>
        <p:txBody>
          <a:bodyPr/>
          <a:lstStyle/>
          <a:p>
            <a:r>
              <a:rPr lang="en-US" sz="1600" dirty="0"/>
              <a:t>Exhibit 3-8 illustrates how an organization’s culture is established and maintained.</a:t>
            </a:r>
          </a:p>
        </p:txBody>
      </p:sp>
      <p:sp>
        <p:nvSpPr>
          <p:cNvPr id="4" name="TextBox 3">
            <a:extLst>
              <a:ext uri="{FF2B5EF4-FFF2-40B4-BE49-F238E27FC236}">
                <a16:creationId xmlns:a16="http://schemas.microsoft.com/office/drawing/2014/main" id="{B320F210-32BA-5D75-DBAF-10670925E655}"/>
              </a:ext>
            </a:extLst>
          </p:cNvPr>
          <p:cNvSpPr txBox="1"/>
          <p:nvPr/>
        </p:nvSpPr>
        <p:spPr>
          <a:xfrm>
            <a:off x="152400" y="4006241"/>
            <a:ext cx="2133600" cy="1323439"/>
          </a:xfrm>
          <a:prstGeom prst="rect">
            <a:avLst/>
          </a:prstGeom>
          <a:noFill/>
        </p:spPr>
        <p:txBody>
          <a:bodyPr wrap="square" rtlCol="0">
            <a:spAutoFit/>
          </a:bodyPr>
          <a:lstStyle/>
          <a:p>
            <a:r>
              <a:rPr lang="en-US" sz="2000" dirty="0"/>
              <a:t>Culture starts with founders’ vision, values, and core beliefs</a:t>
            </a:r>
          </a:p>
        </p:txBody>
      </p:sp>
      <p:sp>
        <p:nvSpPr>
          <p:cNvPr id="5" name="TextBox 4">
            <a:extLst>
              <a:ext uri="{FF2B5EF4-FFF2-40B4-BE49-F238E27FC236}">
                <a16:creationId xmlns:a16="http://schemas.microsoft.com/office/drawing/2014/main" id="{2FC73115-9DDD-7724-D872-5EE1FF994798}"/>
              </a:ext>
            </a:extLst>
          </p:cNvPr>
          <p:cNvSpPr txBox="1"/>
          <p:nvPr/>
        </p:nvSpPr>
        <p:spPr>
          <a:xfrm>
            <a:off x="2590800" y="4038600"/>
            <a:ext cx="1828800" cy="1323439"/>
          </a:xfrm>
          <a:prstGeom prst="rect">
            <a:avLst/>
          </a:prstGeom>
          <a:noFill/>
        </p:spPr>
        <p:txBody>
          <a:bodyPr wrap="square" rtlCol="0">
            <a:spAutoFit/>
          </a:bodyPr>
          <a:lstStyle/>
          <a:p>
            <a:r>
              <a:rPr lang="en-US" sz="2000" dirty="0"/>
              <a:t>Screening candidates using specific criteria</a:t>
            </a:r>
          </a:p>
        </p:txBody>
      </p:sp>
      <p:sp>
        <p:nvSpPr>
          <p:cNvPr id="6" name="TextBox 5">
            <a:extLst>
              <a:ext uri="{FF2B5EF4-FFF2-40B4-BE49-F238E27FC236}">
                <a16:creationId xmlns:a16="http://schemas.microsoft.com/office/drawing/2014/main" id="{2E08A61E-EFEA-29C9-D3D2-5FC09A7EE317}"/>
              </a:ext>
            </a:extLst>
          </p:cNvPr>
          <p:cNvSpPr txBox="1"/>
          <p:nvPr/>
        </p:nvSpPr>
        <p:spPr>
          <a:xfrm>
            <a:off x="4558430" y="1442269"/>
            <a:ext cx="2819400" cy="1015663"/>
          </a:xfrm>
          <a:prstGeom prst="rect">
            <a:avLst/>
          </a:prstGeom>
          <a:noFill/>
        </p:spPr>
        <p:txBody>
          <a:bodyPr wrap="square" rtlCol="0">
            <a:spAutoFit/>
          </a:bodyPr>
          <a:lstStyle/>
          <a:p>
            <a:r>
              <a:rPr lang="en-US" sz="2000" dirty="0"/>
              <a:t>Establish behavioral norms through actions, words, decisions</a:t>
            </a:r>
          </a:p>
        </p:txBody>
      </p:sp>
      <p:sp>
        <p:nvSpPr>
          <p:cNvPr id="8" name="TextBox 7">
            <a:extLst>
              <a:ext uri="{FF2B5EF4-FFF2-40B4-BE49-F238E27FC236}">
                <a16:creationId xmlns:a16="http://schemas.microsoft.com/office/drawing/2014/main" id="{CA6EA779-0E90-2822-40A0-7C12AC19EDCD}"/>
              </a:ext>
            </a:extLst>
          </p:cNvPr>
          <p:cNvSpPr txBox="1"/>
          <p:nvPr/>
        </p:nvSpPr>
        <p:spPr>
          <a:xfrm>
            <a:off x="4724400" y="4495800"/>
            <a:ext cx="2133600" cy="707886"/>
          </a:xfrm>
          <a:prstGeom prst="rect">
            <a:avLst/>
          </a:prstGeom>
          <a:noFill/>
        </p:spPr>
        <p:txBody>
          <a:bodyPr wrap="square" rtlCol="0">
            <a:spAutoFit/>
          </a:bodyPr>
          <a:lstStyle/>
          <a:p>
            <a:r>
              <a:rPr lang="en-US" sz="2000" dirty="0"/>
              <a:t>Training to adapt to culture</a:t>
            </a:r>
          </a:p>
        </p:txBody>
      </p:sp>
      <p:sp>
        <p:nvSpPr>
          <p:cNvPr id="9" name="TextBox 8">
            <a:extLst>
              <a:ext uri="{FF2B5EF4-FFF2-40B4-BE49-F238E27FC236}">
                <a16:creationId xmlns:a16="http://schemas.microsoft.com/office/drawing/2014/main" id="{73730D2B-0A32-A58A-CED6-72FA88F50C04}"/>
              </a:ext>
            </a:extLst>
          </p:cNvPr>
          <p:cNvSpPr txBox="1"/>
          <p:nvPr/>
        </p:nvSpPr>
        <p:spPr>
          <a:xfrm>
            <a:off x="5638800" y="3185020"/>
            <a:ext cx="1371600" cy="400110"/>
          </a:xfrm>
          <a:prstGeom prst="rect">
            <a:avLst/>
          </a:prstGeom>
          <a:noFill/>
        </p:spPr>
        <p:txBody>
          <a:bodyPr wrap="square" rtlCol="0">
            <a:spAutoFit/>
          </a:bodyPr>
          <a:lstStyle/>
          <a:p>
            <a:r>
              <a:rPr lang="en-US" sz="2000" dirty="0"/>
              <a:t>Dictating</a:t>
            </a:r>
          </a:p>
        </p:txBody>
      </p:sp>
    </p:spTree>
    <p:extLst>
      <p:ext uri="{BB962C8B-B14F-4D97-AF65-F5344CB8AC3E}">
        <p14:creationId xmlns:p14="http://schemas.microsoft.com/office/powerpoint/2010/main" val="107015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Employees Learn Culture</a:t>
            </a:r>
          </a:p>
        </p:txBody>
      </p:sp>
      <p:sp>
        <p:nvSpPr>
          <p:cNvPr id="3" name="Content Placeholder 2"/>
          <p:cNvSpPr>
            <a:spLocks noGrp="1"/>
          </p:cNvSpPr>
          <p:nvPr>
            <p:ph idx="1"/>
          </p:nvPr>
        </p:nvSpPr>
        <p:spPr/>
        <p:txBody>
          <a:bodyPr/>
          <a:lstStyle/>
          <a:p>
            <a:r>
              <a:rPr lang="en-US" sz="2000" dirty="0"/>
              <a:t>Stories: a narrative of significant events or people, including such things as the organization’s founders, rule breaking, reactions to past mistakes. </a:t>
            </a:r>
          </a:p>
          <a:p>
            <a:r>
              <a:rPr lang="en-US" sz="2000" dirty="0"/>
              <a:t>Rituals: repetitive sequences of activities that express the important values and goals of the organization. </a:t>
            </a:r>
          </a:p>
          <a:p>
            <a:r>
              <a:rPr lang="en-US" sz="2000" dirty="0"/>
              <a:t>Material Artifacts: layout of an organization’s facilities, how employees dress, the types of automobiles provided to top executives, the size of offices, the elegance of furnishings, extra benefits, employee fitness centers and reserved parking spaces</a:t>
            </a:r>
          </a:p>
          <a:p>
            <a:r>
              <a:rPr lang="en-US" sz="2000" dirty="0"/>
              <a:t>Language: unique terms to describe equipment, key personnel, suppliers, customers, processes, or products related to its business. </a:t>
            </a:r>
          </a:p>
        </p:txBody>
      </p:sp>
    </p:spTree>
    <p:extLst>
      <p:ext uri="{BB962C8B-B14F-4D97-AF65-F5344CB8AC3E}">
        <p14:creationId xmlns:p14="http://schemas.microsoft.com/office/powerpoint/2010/main" val="1237058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Culture Affects Managers</a:t>
            </a:r>
          </a:p>
        </p:txBody>
      </p:sp>
      <p:sp>
        <p:nvSpPr>
          <p:cNvPr id="3" name="Content Placeholder 2"/>
          <p:cNvSpPr>
            <a:spLocks noGrp="1"/>
          </p:cNvSpPr>
          <p:nvPr>
            <p:ph idx="1"/>
          </p:nvPr>
        </p:nvSpPr>
        <p:spPr/>
        <p:txBody>
          <a:bodyPr/>
          <a:lstStyle/>
          <a:p>
            <a:r>
              <a:rPr lang="en-US" sz="2800" dirty="0"/>
              <a:t>Because an organization’s culture constrains what they can and cannot do and how they manage, it’s particularly relevant to managers.</a:t>
            </a:r>
          </a:p>
          <a:p>
            <a:r>
              <a:rPr lang="en-US" sz="2800" dirty="0"/>
              <a:t>For example, “ready-aim- fire” culture in which managers will study and analyze proposed projects before committing to them. However, in a “ready-</a:t>
            </a:r>
            <a:r>
              <a:rPr lang="en-US" sz="2800" i="1" dirty="0"/>
              <a:t> fire</a:t>
            </a:r>
            <a:r>
              <a:rPr lang="en-US" sz="2800" dirty="0"/>
              <a:t>-aim” culture, managers take action and then analyze what has been done. </a:t>
            </a:r>
          </a:p>
        </p:txBody>
      </p:sp>
    </p:spTree>
    <p:extLst>
      <p:ext uri="{BB962C8B-B14F-4D97-AF65-F5344CB8AC3E}">
        <p14:creationId xmlns:p14="http://schemas.microsoft.com/office/powerpoint/2010/main" val="1786353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igure has a box at center labeled Managerial Discretion. An arrow on the left points into the box, and is labeled Organizational Environment. An arrow on the right points into the box and is labeled Organizational Culture."/>
          <p:cNvSpPr>
            <a:spLocks noGrp="1"/>
          </p:cNvSpPr>
          <p:nvPr>
            <p:ph type="title"/>
          </p:nvPr>
        </p:nvSpPr>
        <p:spPr/>
        <p:txBody>
          <a:bodyPr/>
          <a:lstStyle/>
          <a:p>
            <a:r>
              <a:rPr lang="en-US" sz="2800" dirty="0"/>
              <a:t>Exhibit 3-9</a:t>
            </a:r>
            <a:br>
              <a:rPr lang="en-US" sz="2800" dirty="0"/>
            </a:br>
            <a:r>
              <a:rPr lang="en-US" sz="2800" dirty="0"/>
              <a:t>Types of Managerial Decisions Affected by Culture</a:t>
            </a:r>
          </a:p>
        </p:txBody>
      </p:sp>
      <p:pic>
        <p:nvPicPr>
          <p:cNvPr id="6" name="Picture 2" descr="Culture affecting the managerial decisions are as follows:&#10;Planning&#10;• The degree of risk that plans should contain.&#10;• Whether plans should be developed by individuals or teams.&#10;• The degree of environmental scanning in which management will engage.&#10;Leading&#10;• The degree to which managers are concerned with increasing employee job satisfaction.&#10;• What leadership styles are appropriate.&#10;• Whether all disagreements-even constructive ones- should be eliminated.&#10;Organizing&#10;• How much autonomy should be designed into employees’ jobs.&#10;• Whether tasks should be done by individuals or in teams.&#10;• The degree to which department managers interact with each other.&#10;Controlling&#10;• whether to impose external controls or to allow employees to control their own actions.&#10;• What criteria should be emphasized in employee performance evaluations.&#10;• What repercussions will occur from exceeding one’s budget.&#10;"/>
          <p:cNvPicPr>
            <a:picLocks noChangeAspect="1" noChangeArrowheads="1"/>
          </p:cNvPicPr>
          <p:nvPr/>
        </p:nvPicPr>
        <p:blipFill>
          <a:blip r:embed="rId3" cstate="print"/>
          <a:srcRect/>
          <a:stretch>
            <a:fillRect/>
          </a:stretch>
        </p:blipFill>
        <p:spPr bwMode="auto">
          <a:xfrm>
            <a:off x="731276" y="1243608"/>
            <a:ext cx="7833849" cy="4416958"/>
          </a:xfrm>
          <a:prstGeom prst="rect">
            <a:avLst/>
          </a:prstGeom>
          <a:noFill/>
          <a:ln w="9525">
            <a:noFill/>
            <a:miter lim="800000"/>
            <a:headEnd/>
            <a:tailEnd/>
          </a:ln>
        </p:spPr>
      </p:pic>
      <p:sp>
        <p:nvSpPr>
          <p:cNvPr id="3" name="Text Placeholder 2" descr="Box at center of figure is labeled Organizational Culture. Seven boxes encircle it, each connected to it by a line. The boxes are labeled: Attention to Detail, Outcome Orientation, People Orientation, Team Orientation, Aggressiveness, Stability, and Innovation and Risk Taking. There is a speech blurb connected to each of the seven boxes, describing the dimension in more detail."/>
          <p:cNvSpPr>
            <a:spLocks noGrp="1"/>
          </p:cNvSpPr>
          <p:nvPr>
            <p:ph type="body" sz="quarter" idx="13"/>
          </p:nvPr>
        </p:nvSpPr>
        <p:spPr/>
        <p:txBody>
          <a:bodyPr/>
          <a:lstStyle/>
          <a:p>
            <a:r>
              <a:rPr lang="en-US" sz="1600" dirty="0"/>
              <a:t>As shown in Exhibit 3-9, a manager’s decisions are influenced by the culture in which he or she operates.</a:t>
            </a:r>
          </a:p>
        </p:txBody>
      </p:sp>
    </p:spTree>
    <p:extLst>
      <p:ext uri="{BB962C8B-B14F-4D97-AF65-F5344CB8AC3E}">
        <p14:creationId xmlns:p14="http://schemas.microsoft.com/office/powerpoint/2010/main" val="1989891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Creating an Innovative Culture</a:t>
            </a:r>
            <a:endParaRPr lang="en-US" dirty="0"/>
          </a:p>
        </p:txBody>
      </p:sp>
      <p:sp>
        <p:nvSpPr>
          <p:cNvPr id="3" name="Content Placeholder 2"/>
          <p:cNvSpPr>
            <a:spLocks noGrp="1"/>
          </p:cNvSpPr>
          <p:nvPr>
            <p:ph idx="1"/>
          </p:nvPr>
        </p:nvSpPr>
        <p:spPr/>
        <p:txBody>
          <a:bodyPr/>
          <a:lstStyle/>
          <a:p>
            <a:r>
              <a:rPr lang="en-US" sz="2400" dirty="0"/>
              <a:t>Employee involvement in long-term goals and feel their job is meaningful </a:t>
            </a:r>
          </a:p>
          <a:p>
            <a:pPr marL="256032" lvl="1" indent="-256032">
              <a:spcBef>
                <a:spcPts val="1500"/>
              </a:spcBef>
              <a:buSzPct val="100000"/>
              <a:buFont typeface="Arial" panose="020B0604020202020204" pitchFamily="34" charset="0"/>
              <a:buChar char="•"/>
            </a:pPr>
            <a:r>
              <a:rPr lang="en-US" sz="2400" dirty="0"/>
              <a:t>Employees have autonomy for initiatives </a:t>
            </a:r>
          </a:p>
          <a:p>
            <a:pPr marL="256032" lvl="1" indent="-256032">
              <a:spcBef>
                <a:spcPts val="1500"/>
              </a:spcBef>
              <a:buSzPct val="100000"/>
              <a:buFont typeface="Arial" panose="020B0604020202020204" pitchFamily="34" charset="0"/>
              <a:buChar char="•"/>
            </a:pPr>
            <a:r>
              <a:rPr lang="en-US" sz="2400" dirty="0"/>
              <a:t>Trust and openness to sharing new ideas </a:t>
            </a:r>
          </a:p>
          <a:p>
            <a:pPr marL="256032" lvl="1" indent="-256032">
              <a:spcBef>
                <a:spcPts val="1500"/>
              </a:spcBef>
              <a:buSzPct val="100000"/>
              <a:buFont typeface="Arial" panose="020B0604020202020204" pitchFamily="34" charset="0"/>
              <a:buChar char="•"/>
            </a:pPr>
            <a:r>
              <a:rPr lang="en-US" sz="2400" dirty="0"/>
              <a:t>Playfulness/humor atmosphere reduces stress and sparks innovation </a:t>
            </a:r>
          </a:p>
          <a:p>
            <a:pPr marL="256032" lvl="1" indent="-256032">
              <a:spcBef>
                <a:spcPts val="1500"/>
              </a:spcBef>
              <a:buSzPct val="100000"/>
              <a:buFont typeface="Arial" panose="020B0604020202020204" pitchFamily="34" charset="0"/>
              <a:buChar char="•"/>
            </a:pPr>
            <a:r>
              <a:rPr lang="en-US" sz="2400" dirty="0"/>
              <a:t>Debates and discussions on differing views, and questioning the status quo </a:t>
            </a:r>
          </a:p>
          <a:p>
            <a:pPr marL="256032" lvl="1" indent="-256032">
              <a:spcBef>
                <a:spcPts val="1500"/>
              </a:spcBef>
              <a:buSzPct val="100000"/>
              <a:buFont typeface="Arial" panose="020B0604020202020204" pitchFamily="34" charset="0"/>
              <a:buChar char="•"/>
            </a:pPr>
            <a:r>
              <a:rPr lang="en-US" sz="2400" dirty="0"/>
              <a:t>Risk taking and failure is treated as learning opportunity </a:t>
            </a:r>
          </a:p>
        </p:txBody>
      </p:sp>
    </p:spTree>
    <p:extLst>
      <p:ext uri="{BB962C8B-B14F-4D97-AF65-F5344CB8AC3E}">
        <p14:creationId xmlns:p14="http://schemas.microsoft.com/office/powerpoint/2010/main" val="2050981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Headers: Characteristic, Programmed Decisions, Nonprogrammed Decisions"/>
          <p:cNvSpPr>
            <a:spLocks noGrp="1"/>
          </p:cNvSpPr>
          <p:nvPr>
            <p:ph type="title"/>
          </p:nvPr>
        </p:nvSpPr>
        <p:spPr/>
        <p:txBody>
          <a:bodyPr/>
          <a:lstStyle/>
          <a:p>
            <a:r>
              <a:rPr lang="en-US" dirty="0"/>
              <a:t>Exhibit 3-10</a:t>
            </a:r>
            <a:br>
              <a:rPr lang="en-US" dirty="0"/>
            </a:br>
            <a:r>
              <a:rPr lang="en-US" dirty="0"/>
              <a:t>Creating a Customer Responsive Culture</a:t>
            </a:r>
          </a:p>
        </p:txBody>
      </p:sp>
      <p:graphicFrame>
        <p:nvGraphicFramePr>
          <p:cNvPr id="6" name="Table 5" descr="Headers: Characteristics of Customer Responsive Culture, Suggestions for Managers"/>
          <p:cNvGraphicFramePr>
            <a:graphicFrameLocks noGrp="1"/>
          </p:cNvGraphicFramePr>
          <p:nvPr>
            <p:extLst>
              <p:ext uri="{D42A27DB-BD31-4B8C-83A1-F6EECF244321}">
                <p14:modId xmlns:p14="http://schemas.microsoft.com/office/powerpoint/2010/main" val="183292030"/>
              </p:ext>
            </p:extLst>
          </p:nvPr>
        </p:nvGraphicFramePr>
        <p:xfrm>
          <a:off x="190500" y="1673012"/>
          <a:ext cx="8763000" cy="4422988"/>
        </p:xfrm>
        <a:graphic>
          <a:graphicData uri="http://schemas.openxmlformats.org/drawingml/2006/table">
            <a:tbl>
              <a:tblPr firstRow="1" bandRow="1">
                <a:tableStyleId>{3B4B98B0-60AC-42C2-AFA5-B58CD77FA1E5}</a:tableStyleId>
              </a:tblPr>
              <a:tblGrid>
                <a:gridCol w="29718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694267">
                <a:tc>
                  <a:txBody>
                    <a:bodyPr/>
                    <a:lstStyle/>
                    <a:p>
                      <a:r>
                        <a:rPr lang="en-US" sz="1600" dirty="0"/>
                        <a:t>Characteristics of Customer Responsive Culture</a:t>
                      </a:r>
                    </a:p>
                  </a:txBody>
                  <a:tcPr/>
                </a:tc>
                <a:tc>
                  <a:txBody>
                    <a:bodyPr/>
                    <a:lstStyle/>
                    <a:p>
                      <a:r>
                        <a:rPr lang="en-US" sz="1600" dirty="0"/>
                        <a:t>Suggestions for Managers</a:t>
                      </a:r>
                    </a:p>
                  </a:txBody>
                  <a:tcPr/>
                </a:tc>
                <a:extLst>
                  <a:ext uri="{0D108BD9-81ED-4DB2-BD59-A6C34878D82A}">
                    <a16:rowId xmlns:a16="http://schemas.microsoft.com/office/drawing/2014/main" val="10000"/>
                  </a:ext>
                </a:extLst>
              </a:tr>
              <a:tr h="694267">
                <a:tc>
                  <a:txBody>
                    <a:bodyPr/>
                    <a:lstStyle/>
                    <a:p>
                      <a:r>
                        <a:rPr lang="en-US" sz="1600" dirty="0"/>
                        <a:t>Type of employee</a:t>
                      </a:r>
                    </a:p>
                  </a:txBody>
                  <a:tcPr/>
                </a:tc>
                <a:tc>
                  <a:txBody>
                    <a:bodyPr/>
                    <a:lstStyle/>
                    <a:p>
                      <a:r>
                        <a:rPr lang="en-US" sz="1600" dirty="0"/>
                        <a:t>Hire people</a:t>
                      </a:r>
                      <a:r>
                        <a:rPr lang="en-US" sz="1600" baseline="0" dirty="0"/>
                        <a:t> with personalities and attitudes consistent with customer service: friendly, attentive, enthusiastic, patient, good listening skills</a:t>
                      </a:r>
                      <a:endParaRPr lang="en-US" sz="1600" dirty="0"/>
                    </a:p>
                  </a:txBody>
                  <a:tcPr/>
                </a:tc>
                <a:extLst>
                  <a:ext uri="{0D108BD9-81ED-4DB2-BD59-A6C34878D82A}">
                    <a16:rowId xmlns:a16="http://schemas.microsoft.com/office/drawing/2014/main" val="10001"/>
                  </a:ext>
                </a:extLst>
              </a:tr>
              <a:tr h="694267">
                <a:tc>
                  <a:txBody>
                    <a:bodyPr/>
                    <a:lstStyle/>
                    <a:p>
                      <a:r>
                        <a:rPr lang="en-US" sz="1600" dirty="0"/>
                        <a:t>Type of job environment</a:t>
                      </a:r>
                    </a:p>
                  </a:txBody>
                  <a:tcPr/>
                </a:tc>
                <a:tc>
                  <a:txBody>
                    <a:bodyPr/>
                    <a:lstStyle/>
                    <a:p>
                      <a:r>
                        <a:rPr lang="en-US" sz="1600" dirty="0"/>
                        <a:t>Design jobs so employees have as much control as possible to satisfy customers, without rigid rules and procedures</a:t>
                      </a:r>
                    </a:p>
                  </a:txBody>
                  <a:tcPr/>
                </a:tc>
                <a:extLst>
                  <a:ext uri="{0D108BD9-81ED-4DB2-BD59-A6C34878D82A}">
                    <a16:rowId xmlns:a16="http://schemas.microsoft.com/office/drawing/2014/main" val="10002"/>
                  </a:ext>
                </a:extLst>
              </a:tr>
              <a:tr h="694267">
                <a:tc>
                  <a:txBody>
                    <a:bodyPr/>
                    <a:lstStyle/>
                    <a:p>
                      <a:r>
                        <a:rPr lang="en-US" sz="1600" dirty="0"/>
                        <a:t>Empowerment</a:t>
                      </a:r>
                    </a:p>
                  </a:txBody>
                  <a:tcPr/>
                </a:tc>
                <a:tc>
                  <a:txBody>
                    <a:bodyPr/>
                    <a:lstStyle/>
                    <a:p>
                      <a:r>
                        <a:rPr lang="en-US" sz="1600" dirty="0"/>
                        <a:t>Give service-contact employees the discretion to make day-to-day decisions on job-related activities</a:t>
                      </a:r>
                    </a:p>
                  </a:txBody>
                  <a:tcPr/>
                </a:tc>
                <a:extLst>
                  <a:ext uri="{0D108BD9-81ED-4DB2-BD59-A6C34878D82A}">
                    <a16:rowId xmlns:a16="http://schemas.microsoft.com/office/drawing/2014/main" val="10003"/>
                  </a:ext>
                </a:extLst>
              </a:tr>
              <a:tr h="621453">
                <a:tc>
                  <a:txBody>
                    <a:bodyPr/>
                    <a:lstStyle/>
                    <a:p>
                      <a:r>
                        <a:rPr lang="en-US" sz="1600" dirty="0"/>
                        <a:t>Role clarity</a:t>
                      </a:r>
                    </a:p>
                  </a:txBody>
                  <a:tcPr/>
                </a:tc>
                <a:tc>
                  <a:txBody>
                    <a:bodyPr/>
                    <a:lstStyle/>
                    <a:p>
                      <a:r>
                        <a:rPr lang="en-US" sz="1600" dirty="0"/>
                        <a:t>Reduce uncertainty about what service-contact employees can and cannot do by continual training on product knowledge, listening, and other behavioral skills</a:t>
                      </a:r>
                    </a:p>
                  </a:txBody>
                  <a:tcPr/>
                </a:tc>
                <a:extLst>
                  <a:ext uri="{0D108BD9-81ED-4DB2-BD59-A6C34878D82A}">
                    <a16:rowId xmlns:a16="http://schemas.microsoft.com/office/drawing/2014/main" val="10004"/>
                  </a:ext>
                </a:extLst>
              </a:tr>
              <a:tr h="694267">
                <a:tc>
                  <a:txBody>
                    <a:bodyPr/>
                    <a:lstStyle/>
                    <a:p>
                      <a:r>
                        <a:rPr lang="en-US" sz="1600" dirty="0"/>
                        <a:t>Consistent desire to satisfy and delight customers</a:t>
                      </a:r>
                    </a:p>
                  </a:txBody>
                  <a:tcPr/>
                </a:tc>
                <a:tc>
                  <a:txBody>
                    <a:bodyPr/>
                    <a:lstStyle/>
                    <a:p>
                      <a:r>
                        <a:rPr lang="en-US" sz="1600" dirty="0"/>
                        <a:t>Clarify</a:t>
                      </a:r>
                      <a:r>
                        <a:rPr lang="en-US" sz="1600" baseline="0" dirty="0"/>
                        <a:t> organization’s commitment to do whatever it takes, even if it’s outside an employee’s normal job requirements</a:t>
                      </a:r>
                      <a:endParaRPr lang="en-US" sz="16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9761560"/>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19953</TotalTime>
  <Words>4549</Words>
  <Application>Microsoft Macintosh PowerPoint</Application>
  <PresentationFormat>On-screen Show (4:3)</PresentationFormat>
  <Paragraphs>285</Paragraphs>
  <Slides>31</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Times New Roman</vt:lpstr>
      <vt:lpstr>Verdana</vt:lpstr>
      <vt:lpstr>Wingdings</vt:lpstr>
      <vt:lpstr>508 Lecture</vt:lpstr>
      <vt:lpstr>Managing the External Environment and the Organization’s Culture</vt:lpstr>
      <vt:lpstr>The Manager: Omnipotent or Symbolic?</vt:lpstr>
      <vt:lpstr>Managerial Constraints</vt:lpstr>
      <vt:lpstr>Exhibit 3-1 Constraints on Managerial Discretion</vt:lpstr>
      <vt:lpstr>The External Environment</vt:lpstr>
      <vt:lpstr>Exhibit 3-2 Components of External Environment</vt:lpstr>
      <vt:lpstr>The Economic Environment</vt:lpstr>
      <vt:lpstr>The Global Economy and the Economic Context</vt:lpstr>
      <vt:lpstr>Economic Inequality and the Economic Context</vt:lpstr>
      <vt:lpstr>The Demographic Environment</vt:lpstr>
      <vt:lpstr>Gen Y</vt:lpstr>
      <vt:lpstr>How the External Environment Affects Managers</vt:lpstr>
      <vt:lpstr>Assessing Environmental Uncertainty</vt:lpstr>
      <vt:lpstr>Exhibit 3-3 Environmental Uncertainty Matrix</vt:lpstr>
      <vt:lpstr>Managing Stakeholder Relationships</vt:lpstr>
      <vt:lpstr>Exhibit 3-4 Organizational Stakeholders</vt:lpstr>
      <vt:lpstr>Benefits of Good Stakeholder Relationships</vt:lpstr>
      <vt:lpstr>What is Organizational Culture?</vt:lpstr>
      <vt:lpstr>Organizational Culture</vt:lpstr>
      <vt:lpstr>Exhibit 3-5 Dimensions of Organizational Culture</vt:lpstr>
      <vt:lpstr>Contrasting Organizational Culture</vt:lpstr>
      <vt:lpstr>Exhibit 3-6 Contrasting Organizational Culture</vt:lpstr>
      <vt:lpstr>Strong Cultures</vt:lpstr>
      <vt:lpstr>Exhibit 3-7 Strong Versus Weak Cultures</vt:lpstr>
      <vt:lpstr>Where Culture Comes From and How it Continues</vt:lpstr>
      <vt:lpstr>Exhibit 3-8 Establishing and Maintaining Culture</vt:lpstr>
      <vt:lpstr>How Employees Learn Culture</vt:lpstr>
      <vt:lpstr>How Culture Affects Managers</vt:lpstr>
      <vt:lpstr>Exhibit 3-9 Types of Managerial Decisions Affected by Culture</vt:lpstr>
      <vt:lpstr>Creating an Innovative Culture</vt:lpstr>
      <vt:lpstr>Exhibit 3-10 Creating a Customer Responsive Culture</vt:lpstr>
    </vt:vector>
  </TitlesOfParts>
  <Manager/>
  <Company>Cenveo Publisher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3: Managing the External Environment and the Organization’s Culture</dc:subject>
  <dc:creator>Stephen P. Robbins and Mary Coulter</dc:creator>
  <cp:keywords>Management</cp:keywords>
  <dc:description/>
  <cp:lastModifiedBy>chetanya singh</cp:lastModifiedBy>
  <cp:revision>605</cp:revision>
  <dcterms:created xsi:type="dcterms:W3CDTF">2014-07-14T20:04:21Z</dcterms:created>
  <dcterms:modified xsi:type="dcterms:W3CDTF">2026-08-18T06:18:59Z</dcterms:modified>
  <cp:category/>
</cp:coreProperties>
</file>