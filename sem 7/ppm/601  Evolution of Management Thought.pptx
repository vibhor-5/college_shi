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71" r:id="rId3"/>
    <p:sldId id="272" r:id="rId4"/>
    <p:sldId id="302" r:id="rId5"/>
    <p:sldId id="273" r:id="rId6"/>
    <p:sldId id="298" r:id="rId7"/>
    <p:sldId id="292" r:id="rId8"/>
    <p:sldId id="299" r:id="rId9"/>
    <p:sldId id="293" r:id="rId10"/>
    <p:sldId id="300" r:id="rId11"/>
    <p:sldId id="275" r:id="rId12"/>
    <p:sldId id="301" r:id="rId13"/>
    <p:sldId id="276" r:id="rId14"/>
    <p:sldId id="291" r:id="rId15"/>
    <p:sldId id="277" r:id="rId16"/>
    <p:sldId id="278" r:id="rId17"/>
    <p:sldId id="279" r:id="rId18"/>
    <p:sldId id="280" r:id="rId19"/>
    <p:sldId id="303" r:id="rId20"/>
    <p:sldId id="284" r:id="rId21"/>
    <p:sldId id="285" r:id="rId22"/>
    <p:sldId id="28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1"/>
    <p:restoredTop sz="94565"/>
  </p:normalViewPr>
  <p:slideViewPr>
    <p:cSldViewPr snapToGrid="0">
      <p:cViewPr varScale="1">
        <p:scale>
          <a:sx n="99" d="100"/>
          <a:sy n="99" d="100"/>
        </p:scale>
        <p:origin x="19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50D6A-DA90-4942-B647-DE58D9AFC7EC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966F5-0AD8-E240-B908-DEBE28BD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6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5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1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4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4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68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98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1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6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5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7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2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7E656-3309-E841-8061-EC5801E2A51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B3802-9F0D-784C-95AD-0375FCFC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0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F1104-D9EE-719B-7F55-EA431818A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668" y="637763"/>
            <a:ext cx="7417348" cy="2874471"/>
          </a:xfrm>
        </p:spPr>
        <p:txBody>
          <a:bodyPr anchor="ctr">
            <a:normAutofit/>
          </a:bodyPr>
          <a:lstStyle/>
          <a:p>
            <a:pPr algn="l"/>
            <a:r>
              <a:rPr lang="en-US" sz="4900">
                <a:solidFill>
                  <a:schemeClr val="bg1"/>
                </a:solidFill>
              </a:rPr>
              <a:t>MS-601</a:t>
            </a:r>
            <a:br>
              <a:rPr lang="en-US" sz="4900">
                <a:solidFill>
                  <a:schemeClr val="bg1"/>
                </a:solidFill>
              </a:rPr>
            </a:br>
            <a:br>
              <a:rPr lang="en-US" sz="4900">
                <a:solidFill>
                  <a:schemeClr val="bg1"/>
                </a:solidFill>
              </a:rPr>
            </a:br>
            <a:r>
              <a:rPr lang="en-US" sz="4900">
                <a:solidFill>
                  <a:schemeClr val="bg1"/>
                </a:solidFill>
              </a:rPr>
              <a:t>Evolution of Management Thought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0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59C3E-9074-101E-D14B-5C829E46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500" b="1" dirty="0">
                <a:solidFill>
                  <a:schemeClr val="bg1"/>
                </a:solidFill>
              </a:rPr>
              <a:t>What is Management Thought?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6AC5D-EECC-877F-0016-D9E212F95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IN" sz="2400" dirty="0"/>
              <a:t>Management thought can be described as the body of ideas, theories, and principles formulated for the purposes of improving the operation of an organization. </a:t>
            </a:r>
          </a:p>
          <a:p>
            <a:r>
              <a:rPr lang="en-IN" sz="2400" dirty="0"/>
              <a:t>These ideas guide how managers plan, lead, organise, and control resources for the efficient attainment of goals. </a:t>
            </a:r>
            <a:br>
              <a:rPr lang="en-IN" sz="2100" dirty="0"/>
            </a:b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65370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4D5BE-AC66-6ADA-EA56-1D8588A3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US" sz="3500" b="1" dirty="0">
                <a:solidFill>
                  <a:schemeClr val="bg1"/>
                </a:solidFill>
              </a:rPr>
              <a:t>Evolution of Management Thought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14CAE-BE04-497A-D387-72A0BB37D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IN" sz="2400" dirty="0"/>
              <a:t>The evolution of management thought has produced varied schools-from strict rule-based classical theories to modern flexible systems that consider human emotions, creativity, and external forces.</a:t>
            </a:r>
          </a:p>
          <a:p>
            <a:r>
              <a:rPr lang="en-IN" sz="2400" dirty="0"/>
              <a:t>It offers a foundation to understand modern management functions. </a:t>
            </a:r>
          </a:p>
          <a:p>
            <a:r>
              <a:rPr lang="en-IN" sz="2400" dirty="0"/>
              <a:t>It helps managers make informed decisions and manage teams well.</a:t>
            </a:r>
          </a:p>
          <a:p>
            <a:r>
              <a:rPr lang="en-IN" sz="2400" dirty="0"/>
              <a:t>It supports organisational goals through structured methods.</a:t>
            </a:r>
          </a:p>
        </p:txBody>
      </p:sp>
    </p:spTree>
    <p:extLst>
      <p:ext uri="{BB962C8B-B14F-4D97-AF65-F5344CB8AC3E}">
        <p14:creationId xmlns:p14="http://schemas.microsoft.com/office/powerpoint/2010/main" val="312842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5DC0-3E8B-F58C-6F44-CA810314B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Historical Stages of Management Evolution</a:t>
            </a:r>
          </a:p>
        </p:txBody>
      </p:sp>
    </p:spTree>
    <p:extLst>
      <p:ext uri="{BB962C8B-B14F-4D97-AF65-F5344CB8AC3E}">
        <p14:creationId xmlns:p14="http://schemas.microsoft.com/office/powerpoint/2010/main" val="4228847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20E89-757B-E30B-F638-845D0CC8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Classical Approach (Efficiency &amp; Structure)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2C9F-20FF-D2F5-E302-622A94A76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IN" sz="2400" b="1" dirty="0"/>
              <a:t>Early Management:</a:t>
            </a:r>
            <a:r>
              <a:rPr lang="en-IN" sz="2400" dirty="0"/>
              <a:t> Focused on </a:t>
            </a:r>
            <a:r>
              <a:rPr lang="en-IN" sz="2400" b="1" dirty="0"/>
              <a:t>trade</a:t>
            </a:r>
            <a:r>
              <a:rPr lang="en-IN" sz="2400" dirty="0"/>
              <a:t>, supervision, and simple division of labour during ancient civilisations.</a:t>
            </a:r>
          </a:p>
          <a:p>
            <a:r>
              <a:rPr lang="en-IN" sz="2400" b="1" dirty="0"/>
              <a:t>Classical Approach (late 19th to early 20th century</a:t>
            </a:r>
            <a:r>
              <a:rPr lang="en-IN" sz="2400" dirty="0"/>
              <a:t>)</a:t>
            </a:r>
            <a:r>
              <a:rPr lang="en-IN" sz="2400" b="1" dirty="0"/>
              <a:t>:</a:t>
            </a:r>
            <a:r>
              <a:rPr lang="en-IN" sz="2400" dirty="0"/>
              <a:t> Focused on factory efficiency, standard rules, and clear hierarchies. Introduced systematic principles during the industrial era. </a:t>
            </a:r>
          </a:p>
        </p:txBody>
      </p:sp>
    </p:spTree>
    <p:extLst>
      <p:ext uri="{BB962C8B-B14F-4D97-AF65-F5344CB8AC3E}">
        <p14:creationId xmlns:p14="http://schemas.microsoft.com/office/powerpoint/2010/main" val="299628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25B23-5F26-CD51-DC50-AC1B7852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0479EE-9B61-621D-1171-1F3B8F185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734D1-D006-2604-84D4-FF21066F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 fontScale="90000"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Classical Approach (Efficiency &amp; Structure)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028007-D09A-DE92-06F9-F6E734B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9201A-7C93-3D3B-B9DB-3B511CAC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780D4-C486-624C-DE88-5C5BC064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fontScale="85000" lnSpcReduction="10000"/>
          </a:bodyPr>
          <a:lstStyle/>
          <a:p>
            <a:r>
              <a:rPr lang="en-IN" sz="2400" b="1" dirty="0"/>
              <a:t>Frederick Winslow Taylor:</a:t>
            </a:r>
            <a:r>
              <a:rPr lang="en-IN" sz="2400" dirty="0"/>
              <a:t> Known as the "Father of Scientific Management." He optimized factory tasks using time-and-motion studies to find the single most efficient way to work. </a:t>
            </a:r>
          </a:p>
          <a:p>
            <a:r>
              <a:rPr lang="en-IN" sz="2400" b="1" dirty="0"/>
              <a:t>Henri Fayol:</a:t>
            </a:r>
            <a:r>
              <a:rPr lang="en-IN" sz="2400" dirty="0"/>
              <a:t> Developed administrative theory. He created the 14 Principles of Management and identified five core functions: planning, organizing, commanding, coordinating, and controlling. </a:t>
            </a:r>
          </a:p>
          <a:p>
            <a:r>
              <a:rPr lang="en-IN" sz="2400" b="1" dirty="0"/>
              <a:t>Max Weber:</a:t>
            </a:r>
            <a:r>
              <a:rPr lang="en-IN" sz="2400" dirty="0"/>
              <a:t> Introduced bureaucratic management theory. He advocated for clear hierarchies, strict rules, impersonal relationships, and selection based on technical competence. </a:t>
            </a:r>
          </a:p>
          <a:p>
            <a:r>
              <a:rPr lang="en-IN" sz="2400" b="1" dirty="0"/>
              <a:t>Frank and Lillian Gilbreth:</a:t>
            </a:r>
            <a:r>
              <a:rPr lang="en-IN" sz="2400" dirty="0"/>
              <a:t> Husband-and-wife duo who used motion pictures to </a:t>
            </a:r>
            <a:r>
              <a:rPr lang="en-IN" sz="2400" dirty="0" err="1"/>
              <a:t>analyze</a:t>
            </a:r>
            <a:r>
              <a:rPr lang="en-IN" sz="2400" dirty="0"/>
              <a:t> worker hand-and-body movements. They eliminated wasted motion to reduce worker fatigue and raise output.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054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B88F1-4FD9-D6B0-F40B-0FCFF791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A5E6E-73B7-58AC-6A2F-7A1559242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5B763-E485-EC1E-5D2F-8682229C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 fontScale="90000"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Human Relations Movement (People &amp; Motivation)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26FB7-2B7C-ABF0-D060-30828B3D8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DB1845-E711-7FD4-A8C5-3621D6EA7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EEAA-F81F-EEB3-1421-3089FF335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b="1" dirty="0"/>
              <a:t>Human Relations Movement (1930s–1950s):</a:t>
            </a:r>
            <a:r>
              <a:rPr lang="en-IN" sz="2400" dirty="0"/>
              <a:t> </a:t>
            </a:r>
            <a:r>
              <a:rPr lang="en-US" altLang="en-US" sz="2400" dirty="0"/>
              <a:t>Shifted focus to worker needs, group behavior, and job satisfaction rather than just mechanical output.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b="1" dirty="0"/>
              <a:t>Hawthorne studies: </a:t>
            </a:r>
            <a:r>
              <a:rPr lang="en-IN" sz="2400" dirty="0"/>
              <a:t>Proved that social support and attention improve worker productivity.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b="1" dirty="0"/>
              <a:t>Quantitative Approach (post-WWII): </a:t>
            </a:r>
            <a:r>
              <a:rPr lang="en-IN" sz="2400" dirty="0"/>
              <a:t>Applied statistics, simulations, and mathematical models to decision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64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09212-4615-0EFB-D10F-182E29482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6364DA-050D-45F3-6C75-E67F6BB2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3A81E-33A6-F142-19EA-C2A319B78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 fontScale="90000"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Human Relations Movement (People &amp; Motivation)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45A69C-AE37-8984-F9E4-AE548C983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3A2F70-923E-9DD8-7821-6C55BA9FB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0B9C4-720E-0D63-1FFF-BAB4484D9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fontScale="85000" lnSpcReduction="20000"/>
          </a:bodyPr>
          <a:lstStyle/>
          <a:p>
            <a:r>
              <a:rPr lang="en-IN" sz="2400" b="1" dirty="0"/>
              <a:t>Elton Mayo:</a:t>
            </a:r>
            <a:r>
              <a:rPr lang="en-IN" sz="2400" dirty="0"/>
              <a:t> Led the famous Hawthorne Studies. He discovered that worker productivity rises when employees feel noticed, valued, and part of a supportive social group. </a:t>
            </a:r>
          </a:p>
          <a:p>
            <a:r>
              <a:rPr lang="en-IN" sz="2400" b="1" dirty="0"/>
              <a:t>Abraham Maslow:</a:t>
            </a:r>
            <a:r>
              <a:rPr lang="en-IN" sz="2400" dirty="0"/>
              <a:t> Proposed the Hierarchy of Needs. He stated that managers must satisfy lower-level needs (safety, wages) before workers can be motivated by higher-level needs (recognition, growth). </a:t>
            </a:r>
          </a:p>
          <a:p>
            <a:r>
              <a:rPr lang="en-IN" sz="2400" b="1" dirty="0"/>
              <a:t>Douglas McGregor:</a:t>
            </a:r>
            <a:r>
              <a:rPr lang="en-IN" sz="2400" dirty="0"/>
              <a:t> Formulated Theory X and Theory Y. Theory X assumes workers are naturally lazy and need strict control. Theory Y assumes workers are self-motivated and seek responsibility. </a:t>
            </a:r>
          </a:p>
          <a:p>
            <a:r>
              <a:rPr lang="en-IN" sz="2400" b="1" dirty="0"/>
              <a:t>Mary Parker Follett:</a:t>
            </a:r>
            <a:r>
              <a:rPr lang="en-IN" sz="2400" dirty="0"/>
              <a:t> A pioneer who viewed organizations through group dynamics. She emphasized "power with" instead of "power over" employees, advocating for collaborative conflict resolution. </a:t>
            </a:r>
          </a:p>
        </p:txBody>
      </p:sp>
    </p:spTree>
    <p:extLst>
      <p:ext uri="{BB962C8B-B14F-4D97-AF65-F5344CB8AC3E}">
        <p14:creationId xmlns:p14="http://schemas.microsoft.com/office/powerpoint/2010/main" val="383160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183B6-A4D8-236E-6622-45A2F24D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3C32FB-72FE-8E2E-25F1-A28778F9E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1AD32-730A-797C-65F9-C8203309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Modern Approaches (Systems &amp; Context)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31D03E-FE27-DFE9-C3B0-D64251185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167C9E-8FB9-EF90-1B44-1C72FF0E8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FD36-CAC1-BD2F-0CEF-41F7E64F6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IN" sz="2400" b="1" dirty="0"/>
              <a:t>Modern Approaches:</a:t>
            </a:r>
            <a:r>
              <a:rPr lang="en-IN" sz="2400" dirty="0"/>
              <a:t> Focus on systems thinking, technology, and </a:t>
            </a:r>
            <a:r>
              <a:rPr lang="en-IN" sz="2400" b="1" dirty="0"/>
              <a:t>adaptability</a:t>
            </a:r>
            <a:r>
              <a:rPr lang="en-IN" sz="2400" dirty="0"/>
              <a:t>.</a:t>
            </a:r>
          </a:p>
          <a:p>
            <a:r>
              <a:rPr lang="en-US" altLang="en-US" sz="2400" b="1" dirty="0"/>
              <a:t>Systems theory: </a:t>
            </a:r>
            <a:r>
              <a:rPr lang="en-US" altLang="en-US" sz="2400" dirty="0"/>
              <a:t>Views an organization as a complete, connected organism that interacts with its external environment.</a:t>
            </a:r>
          </a:p>
          <a:p>
            <a:r>
              <a:rPr lang="en-US" altLang="en-US" sz="2400" b="1" dirty="0"/>
              <a:t>Contingency thinking: </a:t>
            </a:r>
            <a:r>
              <a:rPr lang="en-US" altLang="en-US" sz="2400" dirty="0"/>
              <a:t>Rejects one-size-fits-all rules, stating the best management style depends on the specific situation.</a:t>
            </a:r>
          </a:p>
          <a:p>
            <a:r>
              <a:rPr lang="en-US" altLang="en-US" sz="2400" b="1" dirty="0"/>
              <a:t>Technology and adaptability: </a:t>
            </a:r>
            <a:r>
              <a:rPr lang="en-US" altLang="en-US" sz="2400" dirty="0"/>
              <a:t>Focuses on digital tools, rapid change, and global market shifts.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0259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57CCC-E54C-99EF-B869-498DBFC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6BE4E1-41B5-F9DD-EB5D-B13B6160A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D24D1-CE90-ACB1-557A-F64783F0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Modern Approaches (Systems &amp; Context)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EDA7C7-499D-1423-F824-5CC3B787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4FFD12-35F4-34A1-1687-92A0FC293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85570-5DF9-70F6-2A93-5CDF5917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"/>
              </a:rPr>
              <a:t>Ludwig von </a:t>
            </a:r>
            <a:r>
              <a:rPr lang="en-US" altLang="en-US" sz="2000" b="1" dirty="0" err="1">
                <a:latin typeface="Google Sans"/>
              </a:rPr>
              <a:t>Bertalanffy</a:t>
            </a:r>
            <a:r>
              <a:rPr lang="en-US" altLang="en-US" sz="2000" b="1" dirty="0">
                <a:latin typeface="Google Sans"/>
              </a:rPr>
              <a:t>:</a:t>
            </a:r>
            <a:r>
              <a:rPr lang="en-US" altLang="en-US" sz="2000" dirty="0">
                <a:latin typeface="Google Sans"/>
              </a:rPr>
              <a:t> A biologist whose general systems theory was adapted into management. It teaches that businesses are interconnected systems; changing one part impacts the whole.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"/>
              </a:rPr>
              <a:t>Fred Fiedler:</a:t>
            </a:r>
            <a:r>
              <a:rPr lang="en-US" altLang="en-US" sz="2000" dirty="0">
                <a:latin typeface="Google Sans"/>
              </a:rPr>
              <a:t> Developed the Contingency Model of leadership. He proved that there is no single best way to manage, as leadership success depends on matching a manager's style to the specific situation.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"/>
              </a:rPr>
              <a:t>W. Edwards Deming:</a:t>
            </a:r>
            <a:r>
              <a:rPr lang="en-US" altLang="en-US" sz="2000" dirty="0">
                <a:latin typeface="Google Sans"/>
              </a:rPr>
              <a:t> Pioneered Total Quality Management (TQM) through the </a:t>
            </a:r>
            <a:r>
              <a:rPr lang="en-IN" sz="2000" b="1" dirty="0"/>
              <a:t>PDCA Cycle:</a:t>
            </a:r>
            <a:r>
              <a:rPr lang="en-IN" sz="2000" dirty="0"/>
              <a:t> Plan, Do, Check, Act loop for constant work improvement </a:t>
            </a:r>
            <a:r>
              <a:rPr lang="en-US" altLang="en-US" sz="2000" dirty="0">
                <a:latin typeface="Google Sans"/>
              </a:rPr>
              <a:t>and statistical process control. </a:t>
            </a:r>
            <a:r>
              <a:rPr lang="en-IN" sz="2000" dirty="0"/>
              <a:t>Using data and statistics to monitor production, reduce variation, and eliminate defects.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"/>
              </a:rPr>
              <a:t>Peter Drucker:</a:t>
            </a:r>
            <a:r>
              <a:rPr lang="en-US" altLang="en-US" sz="2000" dirty="0">
                <a:latin typeface="Google Sans"/>
              </a:rPr>
              <a:t> Widely considered the father of modern management. He introduced Management by Objectives (MBO), predicted the rise of the "knowledge worker," and focused on decentralization.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844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6AD4B-9B1E-A506-BC86-6834ACE9D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Scientific Management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0756-18A7-8DBD-5F3E-8454A925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056477"/>
            <a:ext cx="7410669" cy="4375877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/>
              <a:t>Frederick Taylor </a:t>
            </a:r>
            <a:r>
              <a:rPr lang="en-IN" sz="2000" dirty="0"/>
              <a:t>looked at management from the </a:t>
            </a:r>
            <a:r>
              <a:rPr lang="en-IN" sz="2000" b="1" dirty="0"/>
              <a:t>bottom-up</a:t>
            </a:r>
            <a:r>
              <a:rPr lang="en-IN" sz="2000" dirty="0"/>
              <a:t>, focusing strictly on shop-floor worker efficiency.</a:t>
            </a:r>
          </a:p>
          <a:p>
            <a:r>
              <a:rPr lang="en-IN" sz="2000" b="1" dirty="0"/>
              <a:t>The 4 Principles of Taylor's Scientific Management</a:t>
            </a:r>
          </a:p>
          <a:p>
            <a:r>
              <a:rPr lang="en-IN" sz="2000" b="1" dirty="0"/>
              <a:t>Science, Not Rule of Thumb: </a:t>
            </a:r>
            <a:r>
              <a:rPr lang="en-IN" sz="2000" dirty="0"/>
              <a:t>Use scientific methods to </a:t>
            </a:r>
            <a:r>
              <a:rPr lang="en-IN" sz="2000" dirty="0" err="1"/>
              <a:t>analyze</a:t>
            </a:r>
            <a:r>
              <a:rPr lang="en-IN" sz="2000" dirty="0"/>
              <a:t> work and determine the single most efficient way to perform every task.</a:t>
            </a:r>
          </a:p>
          <a:p>
            <a:r>
              <a:rPr lang="en-IN" sz="2000" b="1" dirty="0"/>
              <a:t>Scientific Selection and Training: </a:t>
            </a:r>
            <a:r>
              <a:rPr lang="en-IN" sz="2000" dirty="0"/>
              <a:t>Carefully match workers to jobs based on their physical and mental capabilities, then train them to perfection.</a:t>
            </a:r>
          </a:p>
          <a:p>
            <a:r>
              <a:rPr lang="en-IN" sz="2000" b="1" dirty="0"/>
              <a:t>Cooperation Over Individualism: </a:t>
            </a:r>
            <a:r>
              <a:rPr lang="en-IN" sz="2000" dirty="0"/>
              <a:t>Ensure managers and workers cooperate closely to guarantee that work is being done according to the scientific principles.</a:t>
            </a:r>
          </a:p>
          <a:p>
            <a:r>
              <a:rPr lang="en-IN" sz="2000" b="1" dirty="0"/>
              <a:t>Division of Responsibility: </a:t>
            </a:r>
            <a:r>
              <a:rPr lang="en-IN" sz="2000" dirty="0"/>
              <a:t>Divide work equally between managers (who plan and design the work) and workers (who execute the physical tasks).</a:t>
            </a:r>
          </a:p>
        </p:txBody>
      </p:sp>
    </p:spTree>
    <p:extLst>
      <p:ext uri="{BB962C8B-B14F-4D97-AF65-F5344CB8AC3E}">
        <p14:creationId xmlns:p14="http://schemas.microsoft.com/office/powerpoint/2010/main" val="23149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22ADB-522B-F45D-DB02-B1FC9EA3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D1CD4-BCA6-C593-23C7-3119D9D09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867D7-FFFB-B1F5-1E86-173C07124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Scientific Management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217026-13BE-7C64-ACC7-06B01CB4B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26A6A1-E65F-6CC0-FFE1-0E750162D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5533E-03B9-AB7D-4094-CF70937B4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056477"/>
            <a:ext cx="7410669" cy="4375877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Key Tools &amp; Methods </a:t>
            </a:r>
          </a:p>
          <a:p>
            <a:r>
              <a:rPr lang="en-IN" b="1" dirty="0"/>
              <a:t>Time and Motion Studies:</a:t>
            </a:r>
            <a:r>
              <a:rPr lang="en-IN" dirty="0"/>
              <a:t> Using stopwatches to break a job down into basic movements, eliminating unnecessary gestures to save time </a:t>
            </a:r>
          </a:p>
          <a:p>
            <a:r>
              <a:rPr lang="en-IN" b="1" dirty="0"/>
              <a:t>Differential Piece-Rate System:</a:t>
            </a:r>
            <a:r>
              <a:rPr lang="en-IN" dirty="0"/>
              <a:t> A financial incentive where workers are paid a standard rate up to a target output, and a much higher rate per piece if they exceed that target.</a:t>
            </a:r>
          </a:p>
          <a:p>
            <a:r>
              <a:rPr lang="en-IN" b="1" dirty="0"/>
              <a:t>Standardization:</a:t>
            </a:r>
            <a:r>
              <a:rPr lang="en-IN" dirty="0"/>
              <a:t> Mandating the exact tools, machinery, and workspace setups to minimize variation in output.</a:t>
            </a:r>
          </a:p>
          <a:p>
            <a:r>
              <a:rPr lang="en-IN" b="1" dirty="0"/>
              <a:t>Pros :</a:t>
            </a:r>
            <a:r>
              <a:rPr lang="en-IN" dirty="0"/>
              <a:t> It radically increased industrial productivity, lowered production costs</a:t>
            </a:r>
          </a:p>
          <a:p>
            <a:r>
              <a:rPr lang="en-IN" b="1" dirty="0"/>
              <a:t>Cons :</a:t>
            </a:r>
            <a:r>
              <a:rPr lang="en-IN" dirty="0"/>
              <a:t> It highly dehumanized the workplace, stripped workers of autonomy, led to extreme boredom, and caused widespread worker burnout.</a:t>
            </a:r>
          </a:p>
        </p:txBody>
      </p:sp>
    </p:spTree>
    <p:extLst>
      <p:ext uri="{BB962C8B-B14F-4D97-AF65-F5344CB8AC3E}">
        <p14:creationId xmlns:p14="http://schemas.microsoft.com/office/powerpoint/2010/main" val="2103558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0B0B5-E448-33BA-37C2-53AA0C3B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Administrative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B4733-97F3-E9C1-BC44-46C801B8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IN" sz="2400" b="1" dirty="0"/>
              <a:t>Henri Fayol </a:t>
            </a:r>
            <a:r>
              <a:rPr lang="en-IN" sz="2400" dirty="0"/>
              <a:t>shifts focus from individual factory tasks to how upper management should structure and run an entire organization.</a:t>
            </a:r>
          </a:p>
          <a:p>
            <a:r>
              <a:rPr lang="en-IN" sz="2400" b="1" dirty="0"/>
              <a:t>Focus:</a:t>
            </a:r>
            <a:r>
              <a:rPr lang="en-IN" sz="2400" dirty="0"/>
              <a:t> the five functions of management- planning, organizing, commanding, coordinating, controlling </a:t>
            </a:r>
          </a:p>
          <a:p>
            <a:r>
              <a:rPr lang="en-IN" sz="2400" b="1" dirty="0"/>
              <a:t>Impact:</a:t>
            </a:r>
            <a:r>
              <a:rPr lang="en-IN" sz="2400" dirty="0"/>
              <a:t> Helped managers structure organisations</a:t>
            </a:r>
          </a:p>
          <a:p>
            <a:r>
              <a:rPr lang="en-IN" sz="2400" dirty="0"/>
              <a:t>Fayol’s 14 principles for smoother operations</a:t>
            </a:r>
          </a:p>
        </p:txBody>
      </p:sp>
    </p:spTree>
    <p:extLst>
      <p:ext uri="{BB962C8B-B14F-4D97-AF65-F5344CB8AC3E}">
        <p14:creationId xmlns:p14="http://schemas.microsoft.com/office/powerpoint/2010/main" val="3064733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72BA0-18C7-BBB7-8659-C944A0E6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68377"/>
            <a:ext cx="7886700" cy="944323"/>
          </a:xfrm>
        </p:spPr>
        <p:txBody>
          <a:bodyPr>
            <a:normAutofit fontScale="90000"/>
          </a:bodyPr>
          <a:lstStyle/>
          <a:p>
            <a:r>
              <a:rPr lang="en-IN" dirty="0"/>
              <a:t>Fayol’s 14 principles of management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1DCF9-BA5D-7264-E43B-6058A9D96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12700"/>
            <a:ext cx="3823335" cy="4360504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Division of Work:</a:t>
            </a:r>
            <a:r>
              <a:rPr lang="en-US" altLang="en-US" sz="1800" dirty="0">
                <a:latin typeface="Google Sans"/>
              </a:rPr>
              <a:t> Breaking tasks into smaller parts to build skill and speed.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Authority and Responsibility:</a:t>
            </a:r>
            <a:r>
              <a:rPr lang="en-US" altLang="en-US" sz="1800" dirty="0">
                <a:latin typeface="Google Sans"/>
              </a:rPr>
              <a:t> Giving power to command while keeping accountability.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Discipline:</a:t>
            </a:r>
            <a:r>
              <a:rPr lang="en-US" altLang="en-US" sz="1800" dirty="0">
                <a:latin typeface="Google Sans"/>
              </a:rPr>
              <a:t> Following rules and core workplace agreements.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Unity of Command:</a:t>
            </a:r>
            <a:r>
              <a:rPr lang="en-US" altLang="en-US" sz="1800" dirty="0">
                <a:latin typeface="Google Sans"/>
              </a:rPr>
              <a:t> Ensuring an employee reports to only one boss.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Unity of Direction:</a:t>
            </a:r>
            <a:r>
              <a:rPr lang="en-US" altLang="en-US" sz="1800" dirty="0">
                <a:latin typeface="Google Sans"/>
              </a:rPr>
              <a:t> Aligning teams behind a single unified goal.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Subordination of Individual Interest:</a:t>
            </a:r>
            <a:r>
              <a:rPr lang="en-US" altLang="en-US" sz="1800" dirty="0">
                <a:latin typeface="Google Sans"/>
              </a:rPr>
              <a:t> Placing group goals above personal desires.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Remuneration:</a:t>
            </a:r>
            <a:r>
              <a:rPr lang="en-US" altLang="en-US" sz="1800" dirty="0">
                <a:latin typeface="Google Sans"/>
              </a:rPr>
              <a:t> Providing fair financial and non-financial pay.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15163-CC27-4784-5391-A128E3B8F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2015" y="1612700"/>
            <a:ext cx="3823335" cy="4360504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Centralization:</a:t>
            </a:r>
            <a:r>
              <a:rPr lang="en-US" altLang="en-US" sz="1800" dirty="0">
                <a:latin typeface="Google Sans"/>
              </a:rPr>
              <a:t> Balancing decision-making power between top leaders and staff.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Scalar Chain:</a:t>
            </a:r>
            <a:r>
              <a:rPr lang="en-US" altLang="en-US" sz="1800" dirty="0">
                <a:latin typeface="Google Sans"/>
              </a:rPr>
              <a:t> Maintaining a clear, unbroken line of command from top to bottom.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Order:</a:t>
            </a:r>
            <a:r>
              <a:rPr lang="en-US" altLang="en-US" sz="1800" dirty="0">
                <a:latin typeface="Google Sans"/>
              </a:rPr>
              <a:t> Keeping materials and people in their designated locations.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Equity:</a:t>
            </a:r>
            <a:r>
              <a:rPr lang="en-US" altLang="en-US" sz="1800" dirty="0">
                <a:latin typeface="Google Sans"/>
              </a:rPr>
              <a:t> Treating all workers with fairness and kindness.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Stability of Tenure:</a:t>
            </a:r>
            <a:r>
              <a:rPr lang="en-US" altLang="en-US" sz="1800" dirty="0">
                <a:latin typeface="Google Sans"/>
              </a:rPr>
              <a:t> Lowering staff turnover to build stable skills.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Initiative:</a:t>
            </a:r>
            <a:r>
              <a:rPr lang="en-US" altLang="en-US" sz="1800" dirty="0">
                <a:latin typeface="Google Sans"/>
              </a:rPr>
              <a:t> Allowing workers freedom to create and test ideas.</a:t>
            </a:r>
            <a:endParaRPr lang="en-US" alt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b="1" dirty="0">
                <a:latin typeface="Google Sans"/>
              </a:rPr>
              <a:t>Esprit de Corps:</a:t>
            </a:r>
            <a:r>
              <a:rPr lang="en-US" altLang="en-US" sz="1800" dirty="0">
                <a:latin typeface="Google Sans"/>
              </a:rPr>
              <a:t> Fostering strong team spirit, trust, and unity.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430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4D152-7707-BD70-955D-BA88311D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Bureaucratic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217D-9540-5E23-749B-BF4C69269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4070005"/>
          </a:xfrm>
        </p:spPr>
        <p:txBody>
          <a:bodyPr>
            <a:normAutofit fontScale="92500" lnSpcReduction="10000"/>
          </a:bodyPr>
          <a:lstStyle/>
          <a:p>
            <a:r>
              <a:rPr lang="en-IN" sz="2300" b="1" dirty="0"/>
              <a:t>Max Weber </a:t>
            </a:r>
            <a:r>
              <a:rPr lang="en-IN" sz="2300" dirty="0"/>
              <a:t>introduced structure to growing industries.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2300" b="1" dirty="0"/>
              <a:t>Formal hierarchy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2300" b="1" dirty="0"/>
              <a:t>Division of labor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2300" b="1" dirty="0"/>
              <a:t>Rule-based decision making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2300" b="1" dirty="0"/>
              <a:t>Impersonality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2300" b="1" dirty="0"/>
              <a:t>Merit-based hiring</a:t>
            </a:r>
          </a:p>
          <a:p>
            <a:pPr lvl="0" fontAlgn="base">
              <a:spcAft>
                <a:spcPct val="0"/>
              </a:spcAft>
            </a:pPr>
            <a:r>
              <a:rPr lang="en-IN" sz="2300" b="1" dirty="0"/>
              <a:t>Impact: </a:t>
            </a:r>
            <a:r>
              <a:rPr lang="en-IN" sz="2300" dirty="0"/>
              <a:t>Created clarity in large organisations</a:t>
            </a:r>
          </a:p>
          <a:p>
            <a:r>
              <a:rPr lang="en-IN" sz="2300" b="1" dirty="0"/>
              <a:t>Pros: </a:t>
            </a:r>
            <a:r>
              <a:rPr lang="en-IN" sz="2300" dirty="0"/>
              <a:t>Highly predictable results, excellent role clarity, and massive reduction in workplace </a:t>
            </a:r>
            <a:r>
              <a:rPr lang="en-IN" sz="2300" dirty="0" err="1"/>
              <a:t>favoritism</a:t>
            </a:r>
            <a:r>
              <a:rPr lang="en-IN" sz="2300" dirty="0"/>
              <a:t>.</a:t>
            </a:r>
          </a:p>
          <a:p>
            <a:r>
              <a:rPr lang="en-IN" sz="2300" b="1" dirty="0"/>
              <a:t>Cons: </a:t>
            </a:r>
            <a:r>
              <a:rPr lang="en-IN" sz="2300" dirty="0"/>
              <a:t>Slow decision-making, lack of flexibility, and can frustrate creative employees.</a:t>
            </a:r>
          </a:p>
          <a:p>
            <a:endParaRPr lang="en-US" sz="2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AC28C3-11DC-4074-8A3C-0D29A5AF4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464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09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7CBB-2CBD-0B37-9EBA-725FF63A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Human Relations Movement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2358-0883-EA73-3D48-3B72D48CA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/>
              <a:t>Elton Mayo </a:t>
            </a:r>
          </a:p>
          <a:p>
            <a:r>
              <a:rPr lang="en-IN" sz="2400" b="1" dirty="0"/>
              <a:t>Focus: </a:t>
            </a:r>
            <a:r>
              <a:rPr lang="en-IN" sz="2400" dirty="0"/>
              <a:t>Social needs, group dynamics, and employee recognition over purely financial incentives. </a:t>
            </a:r>
          </a:p>
          <a:p>
            <a:r>
              <a:rPr lang="en-IN" sz="2400" b="1" dirty="0"/>
              <a:t>Impact:</a:t>
            </a:r>
            <a:r>
              <a:rPr lang="en-IN" sz="2400" dirty="0"/>
              <a:t> Valuing employees’ psychological and emotional well-being at work</a:t>
            </a:r>
          </a:p>
          <a:p>
            <a:r>
              <a:rPr lang="en-US" altLang="en-US" sz="2400" b="1" dirty="0"/>
              <a:t>Social Interaction</a:t>
            </a:r>
          </a:p>
          <a:p>
            <a:r>
              <a:rPr lang="en-US" altLang="en-US" sz="2400" b="1" dirty="0"/>
              <a:t>Recognition</a:t>
            </a:r>
          </a:p>
          <a:p>
            <a:r>
              <a:rPr lang="en-US" altLang="en-US" sz="2400" b="1" dirty="0"/>
              <a:t>Open Communication</a:t>
            </a:r>
          </a:p>
          <a:p>
            <a:r>
              <a:rPr lang="en-US" altLang="en-US" sz="2400" b="1" dirty="0"/>
              <a:t>The Hawthorne Studies (1924-1933)</a:t>
            </a:r>
          </a:p>
          <a:p>
            <a:r>
              <a:rPr lang="en-US" altLang="en-US" sz="2400" dirty="0"/>
              <a:t>Demonstrated that giving workers special attention and improving their work environment increased output, regardless of physical lighting adjustments.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172369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1E228-FCD2-C784-97FE-954603B7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Contingency Approach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426-5D10-CFDF-F33C-A94CECC86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Fred Fiedler</a:t>
            </a:r>
          </a:p>
          <a:p>
            <a:r>
              <a:rPr lang="en-IN" sz="2400" b="1" dirty="0"/>
              <a:t>Focus:</a:t>
            </a:r>
            <a:r>
              <a:rPr lang="en-IN" sz="2400" dirty="0"/>
              <a:t> Leadership success depends on matching a fixed leadership style to the specific situation.</a:t>
            </a:r>
          </a:p>
          <a:p>
            <a:r>
              <a:rPr lang="en-US" altLang="en-US" sz="2400" b="1" dirty="0"/>
              <a:t>Task-Oriented Leaders: </a:t>
            </a:r>
            <a:r>
              <a:rPr lang="en-US" altLang="en-US" sz="2400" dirty="0"/>
              <a:t>Thrive best in extremes-either very favorable or very unfavorable situations.</a:t>
            </a:r>
          </a:p>
          <a:p>
            <a:r>
              <a:rPr lang="en-US" altLang="en-US" sz="2400" b="1" dirty="0"/>
              <a:t>Relationship-Oriented Leaders: </a:t>
            </a:r>
            <a:r>
              <a:rPr lang="en-US" altLang="en-US" sz="2400" dirty="0"/>
              <a:t>Excel in moderate or intermediate situations that require collaboration and morale-building.</a:t>
            </a:r>
          </a:p>
          <a:p>
            <a:r>
              <a:rPr lang="en-US" altLang="en-US" sz="2400" b="1" dirty="0"/>
              <a:t>Flexibility: </a:t>
            </a:r>
            <a:r>
              <a:rPr lang="en-US" altLang="en-US" sz="2400" dirty="0"/>
              <a:t>Emphasizes placing the right leader in the right environment rather than forcing a change in personal style. 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666568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FCB90-3A0D-65FB-A460-BA7D8D07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500" b="1" dirty="0">
                <a:solidFill>
                  <a:schemeClr val="bg1"/>
                </a:solidFill>
              </a:rPr>
              <a:t>Classical Approach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B660-8DEB-4493-4648-F46E022D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The classical approach focused on improving </a:t>
            </a:r>
            <a:r>
              <a:rPr lang="en-IN" sz="2000" b="1" dirty="0"/>
              <a:t>productivity</a:t>
            </a:r>
            <a:r>
              <a:rPr lang="en-IN" sz="2000" dirty="0"/>
              <a:t> and </a:t>
            </a:r>
            <a:r>
              <a:rPr lang="en-IN" sz="2000" b="1" dirty="0"/>
              <a:t>efficiency</a:t>
            </a:r>
            <a:r>
              <a:rPr lang="en-IN" sz="2000" dirty="0"/>
              <a:t> </a:t>
            </a:r>
          </a:p>
          <a:p>
            <a:r>
              <a:rPr lang="en-IN" sz="2000" b="1" dirty="0"/>
              <a:t>Clear Hierarchy: </a:t>
            </a:r>
            <a:r>
              <a:rPr lang="en-IN" sz="2000" dirty="0"/>
              <a:t>Clear lines of authority from top executives down to frontline workers.</a:t>
            </a:r>
          </a:p>
          <a:p>
            <a:r>
              <a:rPr lang="en-IN" sz="2000" b="1" dirty="0"/>
              <a:t>Strict Division of Labor: </a:t>
            </a:r>
            <a:r>
              <a:rPr lang="en-IN" sz="2000" dirty="0"/>
              <a:t>Tasks are broken down into highly specialized steps (each worker performs only one small task all day).</a:t>
            </a:r>
          </a:p>
          <a:p>
            <a:r>
              <a:rPr lang="en-IN" sz="2000" b="1" dirty="0"/>
              <a:t>Standardized Rules: </a:t>
            </a:r>
            <a:r>
              <a:rPr lang="en-IN" sz="2000" dirty="0"/>
              <a:t>Formal procedures govern every decision</a:t>
            </a:r>
          </a:p>
          <a:p>
            <a:r>
              <a:rPr lang="en-IN" sz="2000" b="1" dirty="0"/>
              <a:t>Autocratic Leadership: </a:t>
            </a:r>
            <a:r>
              <a:rPr lang="en-IN" sz="2000" dirty="0"/>
              <a:t>Managers make all decisions, and employees follow orders.</a:t>
            </a:r>
          </a:p>
          <a:p>
            <a:r>
              <a:rPr lang="en-IN" sz="2000" b="1" dirty="0"/>
              <a:t>Economic Motivation: </a:t>
            </a:r>
            <a:r>
              <a:rPr lang="en-IN" sz="2000" dirty="0"/>
              <a:t>Workers are viewed as rational actors motivated primarily by money. </a:t>
            </a:r>
          </a:p>
        </p:txBody>
      </p:sp>
    </p:spTree>
    <p:extLst>
      <p:ext uri="{BB962C8B-B14F-4D97-AF65-F5344CB8AC3E}">
        <p14:creationId xmlns:p14="http://schemas.microsoft.com/office/powerpoint/2010/main" val="1403443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lassical Approach to Management">
            <a:extLst>
              <a:ext uri="{FF2B5EF4-FFF2-40B4-BE49-F238E27FC236}">
                <a16:creationId xmlns:a16="http://schemas.microsoft.com/office/drawing/2014/main" id="{C06C96CA-A918-8721-EC54-0CA0F8ED97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" r="7465"/>
          <a:stretch>
            <a:fillRect/>
          </a:stretch>
        </p:blipFill>
        <p:spPr bwMode="auto">
          <a:xfrm>
            <a:off x="656822" y="270456"/>
            <a:ext cx="7804597" cy="552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05E9A4-3E64-DEA0-A2F5-B5CA150E8CF5}"/>
              </a:ext>
            </a:extLst>
          </p:cNvPr>
          <p:cNvSpPr txBox="1"/>
          <p:nvPr/>
        </p:nvSpPr>
        <p:spPr>
          <a:xfrm>
            <a:off x="656822" y="5795493"/>
            <a:ext cx="7830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People are self-interested, have clear choices, full information, and weigh costs and benefits to make the best possible choice.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1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56880-123D-EC60-DDB8-B041E633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500" b="1" dirty="0">
                <a:solidFill>
                  <a:schemeClr val="bg1"/>
                </a:solidFill>
              </a:rPr>
              <a:t>Criticisms of the Classical Approach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F81A-06BA-B164-2D35-793BADC64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IN" dirty="0"/>
              <a:t>Ignored the emotional and social needs of employees</a:t>
            </a:r>
          </a:p>
          <a:p>
            <a:r>
              <a:rPr lang="en-IN" dirty="0"/>
              <a:t>Top-down leadership discouraged creativity.</a:t>
            </a:r>
          </a:p>
          <a:p>
            <a:r>
              <a:rPr lang="en-IN" dirty="0"/>
              <a:t>Over-reliance on structure limits flexibility</a:t>
            </a:r>
          </a:p>
        </p:txBody>
      </p:sp>
    </p:spTree>
    <p:extLst>
      <p:ext uri="{BB962C8B-B14F-4D97-AF65-F5344CB8AC3E}">
        <p14:creationId xmlns:p14="http://schemas.microsoft.com/office/powerpoint/2010/main" val="3653455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50801-875E-23BF-C34E-FBC27903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500" b="1" dirty="0">
                <a:solidFill>
                  <a:schemeClr val="bg1"/>
                </a:solidFill>
              </a:rPr>
              <a:t>Modern Management Approach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C586E-E6AF-317F-27E9-2CCAD822B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fontScale="92500"/>
          </a:bodyPr>
          <a:lstStyle/>
          <a:p>
            <a:r>
              <a:rPr lang="en-IN" sz="2400" dirty="0"/>
              <a:t>Modern management blends technology, adaptable leadership, and employee satisfaction to run organizations in today’s dynamic business environment.</a:t>
            </a:r>
          </a:p>
          <a:p>
            <a:r>
              <a:rPr lang="en-US" altLang="en-US" sz="2400" b="1" dirty="0"/>
              <a:t>Digital Integration: </a:t>
            </a:r>
            <a:r>
              <a:rPr lang="en-US" altLang="en-US" sz="2400" dirty="0"/>
              <a:t>Leveraging artificial intelligence, automation, and real-time data to drive daily execution.</a:t>
            </a:r>
          </a:p>
          <a:p>
            <a:r>
              <a:rPr lang="en-US" altLang="en-US" sz="2400" b="1" dirty="0"/>
              <a:t>Human-Centric Focus: </a:t>
            </a:r>
            <a:r>
              <a:rPr lang="en-US" altLang="en-US" sz="2400" dirty="0"/>
              <a:t>Prioritizing employee satisfaction, engagement, and hybrid work flexibility over rigid oversight.</a:t>
            </a:r>
          </a:p>
          <a:p>
            <a:r>
              <a:rPr lang="en-US" altLang="en-US" sz="2400" b="1" dirty="0"/>
              <a:t>Sustainability and Ethics: </a:t>
            </a:r>
            <a:r>
              <a:rPr lang="en-US" altLang="en-US" sz="2400" dirty="0"/>
              <a:t>Incorporating environmental and governance standards into corporate strategy.</a:t>
            </a:r>
          </a:p>
          <a:p>
            <a:endParaRPr lang="en-IN" sz="2100" dirty="0"/>
          </a:p>
          <a:p>
            <a:endParaRPr lang="en-IN" sz="2100" dirty="0"/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052208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2AF70-FD03-8B8B-0E08-2AB6359C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r>
              <a:rPr lang="en-IN" sz="3500" b="1" dirty="0">
                <a:solidFill>
                  <a:schemeClr val="bg1"/>
                </a:solidFill>
              </a:rPr>
              <a:t>Key Theories in the Modern Approach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A0C01-98C4-D769-03A2-9006CFFC1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IN" sz="2400" b="1" dirty="0"/>
              <a:t>Systems Theory: </a:t>
            </a:r>
            <a:r>
              <a:rPr lang="en-IN" sz="2400" dirty="0"/>
              <a:t>Views the organization as a collection of interconnected, interdependent parts working toward a shared goal. </a:t>
            </a:r>
          </a:p>
          <a:p>
            <a:r>
              <a:rPr lang="en-IN" sz="2400" b="1" dirty="0"/>
              <a:t>Contingency Approach: </a:t>
            </a:r>
            <a:r>
              <a:rPr lang="en-IN" sz="2400" dirty="0"/>
              <a:t>Asserts that no single management style fits every situation; leadership must adapt based on immediate internal and external variables. </a:t>
            </a:r>
          </a:p>
          <a:p>
            <a:r>
              <a:rPr lang="en-IN" sz="2400" b="1" dirty="0"/>
              <a:t>Quantitative Methods: </a:t>
            </a:r>
            <a:r>
              <a:rPr lang="en-IN" sz="2400" dirty="0"/>
              <a:t>Utilizes mathematical </a:t>
            </a:r>
            <a:r>
              <a:rPr lang="en-IN" sz="2400" dirty="0" err="1"/>
              <a:t>modeling</a:t>
            </a:r>
            <a:r>
              <a:rPr lang="en-IN" sz="2400" dirty="0"/>
              <a:t>, data analytics, and statistics to optimize operational performance and decision-making</a:t>
            </a:r>
            <a:r>
              <a:rPr lang="en-IN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0452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</TotalTime>
  <Words>1659</Words>
  <Application>Microsoft Macintosh PowerPoint</Application>
  <PresentationFormat>On-screen Show (4:3)</PresentationFormat>
  <Paragraphs>119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Google Sans</vt:lpstr>
      <vt:lpstr>Office Theme</vt:lpstr>
      <vt:lpstr>MS-601  Evolution of Management Thought</vt:lpstr>
      <vt:lpstr>What is Management Thought?</vt:lpstr>
      <vt:lpstr>Evolution of Management Thought</vt:lpstr>
      <vt:lpstr>Historical Stages of Management Evolution</vt:lpstr>
      <vt:lpstr>Classical Approach (Efficiency &amp; Structure)</vt:lpstr>
      <vt:lpstr>Classical Approach (Efficiency &amp; Structure)</vt:lpstr>
      <vt:lpstr>Human Relations Movement (People &amp; Motivation)</vt:lpstr>
      <vt:lpstr>Human Relations Movement (People &amp; Motivation)</vt:lpstr>
      <vt:lpstr>Modern Approaches (Systems &amp; Context)</vt:lpstr>
      <vt:lpstr>Modern Approaches (Systems &amp; Context)</vt:lpstr>
      <vt:lpstr>Scientific Management</vt:lpstr>
      <vt:lpstr>Scientific Management</vt:lpstr>
      <vt:lpstr>Administrative Management</vt:lpstr>
      <vt:lpstr>Fayol’s 14 principles of management </vt:lpstr>
      <vt:lpstr>Bureaucratic Management</vt:lpstr>
      <vt:lpstr>Human Relations Movement</vt:lpstr>
      <vt:lpstr>Contingency Approach</vt:lpstr>
      <vt:lpstr>Classical Approach</vt:lpstr>
      <vt:lpstr>PowerPoint Presentation</vt:lpstr>
      <vt:lpstr>Criticisms of the Classical Approach</vt:lpstr>
      <vt:lpstr>Modern Management Approach</vt:lpstr>
      <vt:lpstr>Key Theories in the Modern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chetanya singh</dc:creator>
  <cp:lastModifiedBy>chetanya singh</cp:lastModifiedBy>
  <cp:revision>11</cp:revision>
  <dcterms:created xsi:type="dcterms:W3CDTF">2026-07-30T02:12:40Z</dcterms:created>
  <dcterms:modified xsi:type="dcterms:W3CDTF">2026-08-03T03:14:48Z</dcterms:modified>
</cp:coreProperties>
</file>