
<file path=[Content_Types].xml><?xml version="1.0" encoding="utf-8"?>
<Types xmlns="http://schemas.openxmlformats.org/package/2006/content-types">
  <Default Extension="emf" ContentType="image/x-emf"/>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438" r:id="rId2"/>
    <p:sldId id="350" r:id="rId3"/>
    <p:sldId id="437" r:id="rId4"/>
    <p:sldId id="351" r:id="rId5"/>
    <p:sldId id="406" r:id="rId6"/>
    <p:sldId id="408" r:id="rId7"/>
    <p:sldId id="439" r:id="rId8"/>
    <p:sldId id="413" r:id="rId9"/>
    <p:sldId id="414" r:id="rId10"/>
    <p:sldId id="416" r:id="rId11"/>
    <p:sldId id="419" r:id="rId12"/>
    <p:sldId id="421"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153" autoAdjust="0"/>
    <p:restoredTop sz="85354" autoAdjust="0"/>
  </p:normalViewPr>
  <p:slideViewPr>
    <p:cSldViewPr>
      <p:cViewPr>
        <p:scale>
          <a:sx n="88" d="100"/>
          <a:sy n="88" d="100"/>
        </p:scale>
        <p:origin x="1336" y="472"/>
      </p:cViewPr>
      <p:guideLst>
        <p:guide orient="horz" pos="2160"/>
        <p:guide pos="2880"/>
      </p:guideLst>
    </p:cSldViewPr>
  </p:slideViewPr>
  <p:outlineViewPr>
    <p:cViewPr>
      <p:scale>
        <a:sx n="33" d="100"/>
        <a:sy n="33" d="100"/>
      </p:scale>
      <p:origin x="6" y="252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8/31/26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8/31/26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testbook.com/question-answer/total-fertility-rate-tfr-of-india-has-recently-d--69aeb0f2e3b280943674e98a" TargetMode="External"/><Relationship Id="rId3" Type="http://schemas.openxmlformats.org/officeDocument/2006/relationships/hyperlink" Target="https://www.facebook.com/FayeDSouzaOfficial/videos/indias-population-touches-146-billion-fertility-drops-below-replacement-rate-un-/567367586180428/" TargetMode="External"/><Relationship Id="rId7" Type="http://schemas.openxmlformats.org/officeDocument/2006/relationships/hyperlink" Target="https://www.drishtiias.com/daily-updates/daily-news-editorials/tapping-into-indias-demographic-shift"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www.worldometers.info/world-population/india-population/" TargetMode="External"/><Relationship Id="rId5" Type="http://schemas.openxmlformats.org/officeDocument/2006/relationships/hyperlink" Target="https://www.pib.gov.in/FactsheetDetails.aspx?Id=149107" TargetMode="External"/><Relationship Id="rId4" Type="http://schemas.openxmlformats.org/officeDocument/2006/relationships/hyperlink" Target="https://www.linkedin.com/posts/data-for-india_population-census-demographics-activity-7457270405259513856-kF2o" TargetMode="External"/><Relationship Id="rId9" Type="http://schemas.openxmlformats.org/officeDocument/2006/relationships/hyperlink" Target="https://journals.sagepub.com/doi/full/10.1177/00490857241303332"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Diversity has been “one of the most popular business topics over the last two decades.” It ranks with modern business disciplines such as quality, leadership, and ethics. Despite this popularity, it’s also one of the most controversial and least understood topics. With its basis in civil rights legislation and social justice, the word </a:t>
            </a:r>
            <a:r>
              <a:rPr lang="en-US" i="1" dirty="0">
                <a:cs typeface="Arial" charset="0"/>
              </a:rPr>
              <a:t>diversity </a:t>
            </a:r>
            <a:r>
              <a:rPr lang="en-US" dirty="0">
                <a:cs typeface="Arial" charset="0"/>
              </a:rPr>
              <a:t>often invokes a variety of attitudes and emotional responses in people. </a:t>
            </a:r>
          </a:p>
          <a:p>
            <a:pPr eaLnBrk="1" hangingPunct="1"/>
            <a:endParaRPr lang="en-US" dirty="0">
              <a:cs typeface="Arial" charset="0"/>
            </a:endParaRPr>
          </a:p>
          <a:p>
            <a:pPr eaLnBrk="1" hangingPunct="1"/>
            <a:r>
              <a:rPr lang="en-US" dirty="0">
                <a:cs typeface="Arial" charset="0"/>
              </a:rPr>
              <a:t>So, what’s our definition of </a:t>
            </a:r>
            <a:r>
              <a:rPr lang="en-US" b="1" dirty="0">
                <a:cs typeface="Arial" charset="0"/>
              </a:rPr>
              <a:t>workplace diversity</a:t>
            </a:r>
            <a:r>
              <a:rPr lang="en-US" dirty="0">
                <a:cs typeface="Arial" charset="0"/>
              </a:rPr>
              <a:t>? We’re defining it as the ways in which people in an organization are different from and similar to one another. Notice that our definition not only focuses on the differences, but the similarities, of employees. This reinforces our belief that managers and organizations should view employees as having qualities in common as well as differences that separate them.</a:t>
            </a:r>
          </a:p>
          <a:p>
            <a:pPr eaLnBrk="1" hangingPunct="1"/>
            <a:endParaRPr lang="en-US" dirty="0">
              <a:cs typeface="Arial" charset="0"/>
            </a:endParaRPr>
          </a:p>
          <a:p>
            <a:pPr eaLnBrk="1" hangingPunct="1"/>
            <a:endParaRPr lang="en-US" dirty="0">
              <a:cs typeface="Arial" charset="0"/>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1656337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cs typeface="Arial" charset="0"/>
              </a:rPr>
              <a:t>Diversity has traditionally been considered a term used by human resources departments, associated with fair hiring practices, discrimination, and inequality. But diversity today is considered to be so much more. Exhibit 5-1 illustrates a historical overview of how the concept and meaning of workforce diversity has evolved.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Source: </a:t>
            </a:r>
            <a:r>
              <a:rPr lang="en-US" sz="1200" kern="1200" dirty="0">
                <a:solidFill>
                  <a:schemeClr val="tx1"/>
                </a:solidFill>
                <a:effectLst/>
                <a:latin typeface="+mn-lt"/>
                <a:ea typeface="+mn-ea"/>
                <a:cs typeface="+mn-cs"/>
              </a:rPr>
              <a:t>Based on “The New Global Mindset: Driving </a:t>
            </a:r>
            <a:r>
              <a:rPr lang="en-US" sz="1200" kern="1200" dirty="0" err="1">
                <a:solidFill>
                  <a:schemeClr val="tx1"/>
                </a:solidFill>
                <a:effectLst/>
                <a:latin typeface="+mn-lt"/>
                <a:ea typeface="+mn-ea"/>
                <a:cs typeface="+mn-cs"/>
              </a:rPr>
              <a:t>InnovationThrough</a:t>
            </a:r>
            <a:r>
              <a:rPr lang="en-US" sz="1200" kern="1200" dirty="0">
                <a:solidFill>
                  <a:schemeClr val="tx1"/>
                </a:solidFill>
                <a:effectLst/>
                <a:latin typeface="+mn-lt"/>
                <a:ea typeface="+mn-ea"/>
                <a:cs typeface="+mn-cs"/>
              </a:rPr>
              <a:t> Diversity” by Ernst &amp;Young, January 27, 2010.</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82630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cs typeface="Arial" charset="0"/>
              </a:rPr>
              <a:t>The demographic characteristics that we tend to think of when we think of diversity—age, race, gender, ethnicity, and so on—are just the tip of the iceberg. These demographic differences reflect </a:t>
            </a:r>
            <a:r>
              <a:rPr lang="en-US" sz="1200" b="1" dirty="0">
                <a:cs typeface="Arial" charset="0"/>
              </a:rPr>
              <a:t>surface-level diversity</a:t>
            </a:r>
            <a:r>
              <a:rPr lang="en-US" sz="1200" dirty="0">
                <a:cs typeface="Arial" charset="0"/>
              </a:rPr>
              <a:t>, which are easily perceived differences that may trigger certain stereotypes but that do not necessarily reflect the ways people think or feel. Such surface-level differences in characteristics can affect the way people perceive others, especially when it comes to assumptions or stereotyping.</a:t>
            </a:r>
          </a:p>
          <a:p>
            <a:pPr eaLnBrk="1" hangingPunct="1"/>
            <a:endParaRPr lang="en-US" sz="1200" dirty="0">
              <a:cs typeface="Arial" charset="0"/>
            </a:endParaRPr>
          </a:p>
          <a:p>
            <a:pPr eaLnBrk="1" hangingPunct="1"/>
            <a:r>
              <a:rPr lang="en-US" sz="1200" dirty="0">
                <a:cs typeface="Arial" charset="0"/>
              </a:rPr>
              <a:t>As people get to know one another, these surface-level differences become less important and </a:t>
            </a:r>
            <a:r>
              <a:rPr lang="en-US" sz="1200" b="1" dirty="0">
                <a:cs typeface="Arial" charset="0"/>
              </a:rPr>
              <a:t>deep-level diversity</a:t>
            </a:r>
            <a:r>
              <a:rPr lang="en-US" sz="1200" dirty="0">
                <a:cs typeface="Arial" charset="0"/>
              </a:rPr>
              <a:t>—differences in values, personality, and work preferences—becomes more important. These deep-level differences can affect the way people view organizational work rewards, communicate, react to leaders, negotiate, and generally behave at work.</a:t>
            </a:r>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1100985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Diversity </a:t>
            </a:r>
            <a:r>
              <a:rPr lang="en-US" i="1" dirty="0">
                <a:cs typeface="Arial" charset="0"/>
              </a:rPr>
              <a:t>is</a:t>
            </a:r>
            <a:r>
              <a:rPr lang="en-US" dirty="0">
                <a:cs typeface="Arial" charset="0"/>
              </a:rPr>
              <a:t>, after all, about people, both inside and outside the organization. The people management benefits that organizations get because of their workforce diversity efforts revolve around attracting and retaining a talented workforce.</a:t>
            </a:r>
          </a:p>
          <a:p>
            <a:pPr eaLnBrk="1" hangingPunct="1"/>
            <a:endParaRPr lang="en-US" dirty="0">
              <a:cs typeface="Arial" charset="0"/>
            </a:endParaRPr>
          </a:p>
          <a:p>
            <a:pPr eaLnBrk="1" hangingPunct="1"/>
            <a:r>
              <a:rPr lang="en-US" dirty="0">
                <a:cs typeface="Arial" charset="0"/>
              </a:rPr>
              <a:t>Performance benefits that organizations get from workforce diversity include cost savings and improvements in organizational functioning. The cost savings can be significant when organizations that cultivate a diverse workforce reduce employee turnover, absenteeism, and the chance of lawsuits.</a:t>
            </a:r>
          </a:p>
          <a:p>
            <a:pPr eaLnBrk="1" hangingPunct="1"/>
            <a:endParaRPr lang="en-US" dirty="0">
              <a:cs typeface="Arial" charset="0"/>
            </a:endParaRPr>
          </a:p>
          <a:p>
            <a:pPr eaLnBrk="1" hangingPunct="1"/>
            <a:r>
              <a:rPr lang="en-US" dirty="0">
                <a:cs typeface="Arial" charset="0"/>
              </a:rPr>
              <a:t>Organizations also benefit strategically from a diverse workforce. You have to look at managing workforce diversity as the key to extracting the best talent, performance, market share, and suppliers from a diverse country and world. One important strategic benefit is that with a diverse workforce, organizations can better anticipate and respond to changing consumer needs. Diverse employees bring a variety of points of view and approaches to opportunities, which can improve how the organization markets to diverse consumers.</a:t>
            </a:r>
          </a:p>
          <a:p>
            <a:pPr eaLnBrk="1" hangingPunct="1"/>
            <a:endParaRPr lang="en-US" dirty="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207863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u="none" strike="noStrike" kern="1200" dirty="0">
                <a:solidFill>
                  <a:schemeClr val="tx1"/>
                </a:solidFill>
                <a:effectLst/>
                <a:latin typeface="+mn-lt"/>
                <a:ea typeface="+mn-ea"/>
                <a:cs typeface="+mn-cs"/>
              </a:rPr>
              <a:t>Total Population Data (~1.44–1.46 Billion):</a:t>
            </a:r>
            <a:r>
              <a:rPr lang="en-IN" sz="1200" b="0" u="none" strike="noStrike" kern="1200" dirty="0">
                <a:solidFill>
                  <a:schemeClr val="tx1"/>
                </a:solidFill>
                <a:effectLst/>
                <a:latin typeface="+mn-lt"/>
                <a:ea typeface="+mn-ea"/>
                <a:cs typeface="+mn-cs"/>
              </a:rPr>
              <a:t> Sourced from the </a:t>
            </a:r>
            <a:r>
              <a:rPr lang="en-IN" sz="1200" b="0" u="none" strike="noStrik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United Nations Population Fund (UNFPA)</a:t>
            </a:r>
            <a:r>
              <a:rPr lang="en-IN" sz="1200" b="0" u="none" strike="noStrike" kern="1200" dirty="0">
                <a:solidFill>
                  <a:schemeClr val="tx1"/>
                </a:solidFill>
                <a:effectLst/>
                <a:latin typeface="+mn-lt"/>
                <a:ea typeface="+mn-ea"/>
                <a:cs typeface="+mn-cs"/>
              </a:rPr>
              <a:t> State of World Population reports and the </a:t>
            </a:r>
            <a:r>
              <a:rPr lang="en-IN" sz="1200" b="0" u="none" strike="noStrike" kern="1200" dirty="0">
                <a:solidFill>
                  <a:schemeClr val="tx1"/>
                </a:solidFill>
                <a:effectLst/>
                <a:latin typeface="+mn-lt"/>
                <a:ea typeface="+mn-ea"/>
                <a:cs typeface="+mn-cs"/>
                <a:hlinkClick r:id="rId4">
                  <a:extLst>
                    <a:ext uri="{A12FA001-AC4F-418D-AE19-62706E023703}">
                      <ahyp:hlinkClr xmlns:ahyp="http://schemas.microsoft.com/office/drawing/2018/hyperlinkcolor" val="tx"/>
                    </a:ext>
                  </a:extLst>
                </a:hlinkClick>
              </a:rPr>
              <a:t>UN DESA World Population Prospects</a:t>
            </a:r>
            <a:r>
              <a:rPr lang="en-IN" sz="1200" b="0" u="none" strike="noStrike" kern="1200" dirty="0">
                <a:solidFill>
                  <a:schemeClr val="tx1"/>
                </a:solidFill>
                <a:effectLst/>
                <a:latin typeface="+mn-lt"/>
                <a:ea typeface="+mn-ea"/>
                <a:cs typeface="+mn-cs"/>
              </a:rPr>
              <a:t> projections tracking regional crossovers.</a:t>
            </a:r>
          </a:p>
          <a:p>
            <a:r>
              <a:rPr lang="en-IN" sz="1200" b="1" u="none" strike="noStrike" kern="1200" dirty="0">
                <a:solidFill>
                  <a:schemeClr val="tx1"/>
                </a:solidFill>
                <a:effectLst/>
                <a:latin typeface="+mn-lt"/>
                <a:ea typeface="+mn-ea"/>
                <a:cs typeface="+mn-cs"/>
              </a:rPr>
              <a:t>Median Age (~28–29 Years) &amp; Youth Percentage (&gt;65% Under 35):</a:t>
            </a:r>
            <a:r>
              <a:rPr lang="en-IN" sz="1200" b="0" u="none" strike="noStrike" kern="1200" dirty="0">
                <a:solidFill>
                  <a:schemeClr val="tx1"/>
                </a:solidFill>
                <a:effectLst/>
                <a:latin typeface="+mn-lt"/>
                <a:ea typeface="+mn-ea"/>
                <a:cs typeface="+mn-cs"/>
              </a:rPr>
              <a:t> Derived directly from the </a:t>
            </a:r>
            <a:r>
              <a:rPr lang="en-IN" sz="1200" b="0" u="none" strike="noStrike" kern="1200" dirty="0">
                <a:solidFill>
                  <a:schemeClr val="tx1"/>
                </a:solidFill>
                <a:effectLst/>
                <a:latin typeface="+mn-lt"/>
                <a:ea typeface="+mn-ea"/>
                <a:cs typeface="+mn-cs"/>
                <a:hlinkClick r:id="rId5">
                  <a:extLst>
                    <a:ext uri="{A12FA001-AC4F-418D-AE19-62706E023703}">
                      <ahyp:hlinkClr xmlns:ahyp="http://schemas.microsoft.com/office/drawing/2018/hyperlinkcolor" val="tx"/>
                    </a:ext>
                  </a:extLst>
                </a:hlinkClick>
              </a:rPr>
              <a:t>Ministry of Youth Affairs and Sports (PIB India Factsheets)</a:t>
            </a:r>
            <a:r>
              <a:rPr lang="en-IN" sz="1200" b="0" u="none" strike="noStrike" kern="1200" dirty="0">
                <a:solidFill>
                  <a:schemeClr val="tx1"/>
                </a:solidFill>
                <a:effectLst/>
                <a:latin typeface="+mn-lt"/>
                <a:ea typeface="+mn-ea"/>
                <a:cs typeface="+mn-cs"/>
              </a:rPr>
              <a:t>, supported by demographic compilation tracking by international databases like </a:t>
            </a:r>
            <a:r>
              <a:rPr lang="en-IN" sz="1200" b="0" u="none" strike="noStrike" kern="1200" dirty="0">
                <a:solidFill>
                  <a:schemeClr val="tx1"/>
                </a:solidFill>
                <a:effectLst/>
                <a:latin typeface="+mn-lt"/>
                <a:ea typeface="+mn-ea"/>
                <a:cs typeface="+mn-cs"/>
                <a:hlinkClick r:id="rId6">
                  <a:extLst>
                    <a:ext uri="{A12FA001-AC4F-418D-AE19-62706E023703}">
                      <ahyp:hlinkClr xmlns:ahyp="http://schemas.microsoft.com/office/drawing/2018/hyperlinkcolor" val="tx"/>
                    </a:ext>
                  </a:extLst>
                </a:hlinkClick>
              </a:rPr>
              <a:t>Worldometer</a:t>
            </a:r>
            <a:r>
              <a:rPr lang="en-IN" sz="1200" b="0" u="none" strike="noStrike" kern="1200" dirty="0">
                <a:solidFill>
                  <a:schemeClr val="tx1"/>
                </a:solidFill>
                <a:effectLst/>
                <a:latin typeface="+mn-lt"/>
                <a:ea typeface="+mn-ea"/>
                <a:cs typeface="+mn-cs"/>
              </a:rPr>
              <a:t>.</a:t>
            </a:r>
          </a:p>
          <a:p>
            <a:r>
              <a:rPr lang="en-IN" sz="1200" b="1" u="none" strike="noStrike" kern="1200" dirty="0">
                <a:solidFill>
                  <a:schemeClr val="tx1"/>
                </a:solidFill>
                <a:effectLst/>
                <a:latin typeface="+mn-lt"/>
                <a:ea typeface="+mn-ea"/>
                <a:cs typeface="+mn-cs"/>
              </a:rPr>
              <a:t>Total Fertility Rate (1.9 TFR):</a:t>
            </a:r>
            <a:r>
              <a:rPr lang="en-IN" sz="1200" b="0" u="none" strike="noStrike" kern="1200" dirty="0">
                <a:solidFill>
                  <a:schemeClr val="tx1"/>
                </a:solidFill>
                <a:effectLst/>
                <a:latin typeface="+mn-lt"/>
                <a:ea typeface="+mn-ea"/>
                <a:cs typeface="+mn-cs"/>
              </a:rPr>
              <a:t> Published officially by the Ministry of Home Affairs via the </a:t>
            </a:r>
            <a:r>
              <a:rPr lang="en-IN" sz="1200" b="0" u="none" strike="noStrike" kern="1200" dirty="0">
                <a:solidFill>
                  <a:schemeClr val="tx1"/>
                </a:solidFill>
                <a:effectLst/>
                <a:latin typeface="+mn-lt"/>
                <a:ea typeface="+mn-ea"/>
                <a:cs typeface="+mn-cs"/>
                <a:hlinkClick r:id="rId7">
                  <a:extLst>
                    <a:ext uri="{A12FA001-AC4F-418D-AE19-62706E023703}">
                      <ahyp:hlinkClr xmlns:ahyp="http://schemas.microsoft.com/office/drawing/2018/hyperlinkcolor" val="tx"/>
                    </a:ext>
                  </a:extLst>
                </a:hlinkClick>
              </a:rPr>
              <a:t>Sample Registration System (SRS) Statistical Report</a:t>
            </a:r>
            <a:r>
              <a:rPr lang="en-IN" sz="1200" b="0" u="none" strike="noStrike" kern="1200" dirty="0">
                <a:solidFill>
                  <a:schemeClr val="tx1"/>
                </a:solidFill>
                <a:effectLst/>
                <a:latin typeface="+mn-lt"/>
                <a:ea typeface="+mn-ea"/>
                <a:cs typeface="+mn-cs"/>
              </a:rPr>
              <a:t>, and heavily cross-validated through the </a:t>
            </a:r>
            <a:r>
              <a:rPr lang="en-IN" sz="1200" b="0" u="none" strike="noStrike" kern="1200" dirty="0">
                <a:solidFill>
                  <a:schemeClr val="tx1"/>
                </a:solidFill>
                <a:effectLst/>
                <a:latin typeface="+mn-lt"/>
                <a:ea typeface="+mn-ea"/>
                <a:cs typeface="+mn-cs"/>
                <a:hlinkClick r:id="rId8">
                  <a:extLst>
                    <a:ext uri="{A12FA001-AC4F-418D-AE19-62706E023703}">
                      <ahyp:hlinkClr xmlns:ahyp="http://schemas.microsoft.com/office/drawing/2018/hyperlinkcolor" val="tx"/>
                    </a:ext>
                  </a:extLst>
                </a:hlinkClick>
              </a:rPr>
              <a:t>National Family Health Survey (NFHS-5)</a:t>
            </a:r>
            <a:r>
              <a:rPr lang="en-IN" sz="1200" b="0" u="none" strike="noStrike" kern="1200" dirty="0">
                <a:solidFill>
                  <a:schemeClr val="tx1"/>
                </a:solidFill>
                <a:effectLst/>
                <a:latin typeface="+mn-lt"/>
                <a:ea typeface="+mn-ea"/>
                <a:cs typeface="+mn-cs"/>
              </a:rPr>
              <a:t> under the Ministry of Health and Family Welfare.</a:t>
            </a:r>
          </a:p>
          <a:p>
            <a:r>
              <a:rPr lang="en-IN" sz="1200" b="1" u="none" strike="noStrike" kern="1200" dirty="0">
                <a:solidFill>
                  <a:schemeClr val="tx1"/>
                </a:solidFill>
                <a:effectLst/>
                <a:latin typeface="+mn-lt"/>
                <a:ea typeface="+mn-ea"/>
                <a:cs typeface="+mn-cs"/>
              </a:rPr>
              <a:t>Affirmative Action Frameworks (Caste/EWS quotas):</a:t>
            </a:r>
            <a:r>
              <a:rPr lang="en-IN" sz="1200" b="0" u="none" strike="noStrike" kern="1200" dirty="0">
                <a:solidFill>
                  <a:schemeClr val="tx1"/>
                </a:solidFill>
                <a:effectLst/>
                <a:latin typeface="+mn-lt"/>
                <a:ea typeface="+mn-ea"/>
                <a:cs typeface="+mn-cs"/>
              </a:rPr>
              <a:t> Codified by the Ministry of Law and Justice under the </a:t>
            </a:r>
            <a:r>
              <a:rPr lang="en-IN" sz="1200" b="1" u="none" strike="noStrike" kern="1200" dirty="0">
                <a:solidFill>
                  <a:schemeClr val="tx1"/>
                </a:solidFill>
                <a:effectLst/>
                <a:latin typeface="+mn-lt"/>
                <a:ea typeface="+mn-ea"/>
                <a:cs typeface="+mn-cs"/>
              </a:rPr>
              <a:t>Constitution of India</a:t>
            </a:r>
            <a:r>
              <a:rPr lang="en-IN" sz="1200" b="0" u="none" strike="noStrike" kern="1200" dirty="0">
                <a:solidFill>
                  <a:schemeClr val="tx1"/>
                </a:solidFill>
                <a:effectLst/>
                <a:latin typeface="+mn-lt"/>
                <a:ea typeface="+mn-ea"/>
                <a:cs typeface="+mn-cs"/>
              </a:rPr>
              <a:t> (Articles 15, 16, and the 103rd Amendment Act), alongside regulatory tracking from the </a:t>
            </a:r>
            <a:r>
              <a:rPr lang="en-IN" sz="1200" b="0" u="none" strike="noStrike" kern="1200" dirty="0">
                <a:solidFill>
                  <a:schemeClr val="tx1"/>
                </a:solidFill>
                <a:effectLst/>
                <a:latin typeface="+mn-lt"/>
                <a:ea typeface="+mn-ea"/>
                <a:cs typeface="+mn-cs"/>
                <a:hlinkClick r:id="rId9">
                  <a:extLst>
                    <a:ext uri="{A12FA001-AC4F-418D-AE19-62706E023703}">
                      <ahyp:hlinkClr xmlns:ahyp="http://schemas.microsoft.com/office/drawing/2018/hyperlinkcolor" val="tx"/>
                    </a:ext>
                  </a:extLst>
                </a:hlinkClick>
              </a:rPr>
              <a:t>National Sample Survey Organization (NSSO)</a:t>
            </a:r>
            <a:r>
              <a:rPr lang="en-IN" sz="1200" b="0" u="none" strike="noStrike" kern="1200" dirty="0">
                <a:solidFill>
                  <a:schemeClr val="tx1"/>
                </a:solidFill>
                <a:effectLst/>
                <a:latin typeface="+mn-lt"/>
                <a:ea typeface="+mn-ea"/>
                <a:cs typeface="+mn-cs"/>
              </a:rPr>
              <a:t>.</a:t>
            </a:r>
          </a:p>
          <a:p>
            <a:pPr eaLnBrk="1" hangingPunct="1"/>
            <a:endParaRPr lang="en-US" dirty="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1198441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we’ve seen so far, diversity is a big issue, and an important issue, in today’s workplaces. What types of dissimilarities—that is, diversity—do we find in those workplaces? Exhibit 5-5 shows several types of workplace diversity. Let’s work our way through the different types.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1850730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888855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1778686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Despite the benefits that we know workforce diversity brings to organizations, managers still face challenges in creating accommodating and safe work environments for diverse employees. </a:t>
            </a:r>
          </a:p>
          <a:p>
            <a:pPr eaLnBrk="1" hangingPunct="1"/>
            <a:endParaRPr lang="en-US" dirty="0">
              <a:cs typeface="Arial" charset="0"/>
            </a:endParaRPr>
          </a:p>
          <a:p>
            <a:pPr eaLnBrk="1" hangingPunct="1"/>
            <a:r>
              <a:rPr lang="en-US" b="1" dirty="0">
                <a:cs typeface="Arial" charset="0"/>
              </a:rPr>
              <a:t>Bias </a:t>
            </a:r>
            <a:r>
              <a:rPr lang="en-US" dirty="0">
                <a:cs typeface="Arial" charset="0"/>
              </a:rPr>
              <a:t>is a term that describes a tendency or preference toward a particular perspective or ideology. It’s generally seen as a “one-sided” perspective. Our personal biases cause us to have preconceived opinions about people or things. Such preconceived opinions can create all kinds of inaccurate judgments and attitudes. One outcome of our personal biases can be </a:t>
            </a:r>
            <a:r>
              <a:rPr lang="en-US" b="1" dirty="0">
                <a:cs typeface="Arial" charset="0"/>
              </a:rPr>
              <a:t>prejudice</a:t>
            </a:r>
            <a:r>
              <a:rPr lang="en-US" dirty="0">
                <a:cs typeface="Arial" charset="0"/>
              </a:rPr>
              <a:t>, a preconceived belief, opinion, or judgment toward a person or a group of people. Our prejudice can be based on all the types of diversity we discussed: race, gender, ethnicity, age, disability, religion, sexual orientation, or even other personal characteristics.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4271877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In the 1980s, the term </a:t>
            </a:r>
            <a:r>
              <a:rPr lang="en-US" b="1" dirty="0">
                <a:cs typeface="Arial" charset="0"/>
              </a:rPr>
              <a:t>glass ceiling</a:t>
            </a:r>
            <a:r>
              <a:rPr lang="en-US" dirty="0">
                <a:cs typeface="Arial" charset="0"/>
              </a:rPr>
              <a:t>, first used in a </a:t>
            </a:r>
            <a:r>
              <a:rPr lang="en-US" i="1" dirty="0">
                <a:cs typeface="Arial" charset="0"/>
              </a:rPr>
              <a:t>Wall Street Journal </a:t>
            </a:r>
            <a:r>
              <a:rPr lang="en-US" dirty="0">
                <a:cs typeface="Arial" charset="0"/>
              </a:rPr>
              <a:t>article, refers to the invisible barrier that separates women and minorities from top management</a:t>
            </a:r>
            <a:r>
              <a:rPr lang="en-US" baseline="0" dirty="0">
                <a:cs typeface="Arial" charset="0"/>
              </a:rPr>
              <a:t> </a:t>
            </a:r>
            <a:r>
              <a:rPr lang="en-US" dirty="0">
                <a:cs typeface="Arial" charset="0"/>
              </a:rPr>
              <a:t>positions. The idea of a “ceiling” means something is blocking upward movement and the idea of “glass” is that whatever’s blocking the way isn’t immediately apparent.</a:t>
            </a:r>
          </a:p>
          <a:p>
            <a:pPr eaLnBrk="1" hangingPunct="1"/>
            <a:endParaRPr lang="en-US" dirty="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Research on the glass ceiling has looked at identifying the organizational practices and interpersonal biases that have blocked women’s advancement. Findings from those studies have ranged from lack of mentoring to sex stereotyping, views that associate masculine traits with leader effectiveness, and bosses’ perceptions of family–work conflict. </a:t>
            </a:r>
            <a:endParaRPr lang="en-US" dirty="0"/>
          </a:p>
          <a:p>
            <a:pPr eaLnBrk="1" hangingPunct="1"/>
            <a:endParaRPr lang="en-US" dirty="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175066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BDF791E7-750C-8341-AAFB-569D9EBD860C}" type="datetime1">
              <a:rPr lang="en-US" smtClean="0"/>
              <a:pPr/>
              <a:t>8/31/26</a:t>
            </a:fld>
            <a:endParaRPr lang="en-US" dirty="0"/>
          </a:p>
        </p:txBody>
      </p:sp>
      <p:pic>
        <p:nvPicPr>
          <p:cNvPr id="8" name="Picture 7"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r>
              <a:rPr lang="en-US" dirty="0"/>
              <a:t>Copyright © 2018 Pearson Education, Inc.</a:t>
            </a:r>
          </a:p>
        </p:txBody>
      </p:sp>
      <p:sp>
        <p:nvSpPr>
          <p:cNvPr id="4" name="Date Placeholder 3"/>
          <p:cNvSpPr>
            <a:spLocks noGrp="1"/>
          </p:cNvSpPr>
          <p:nvPr>
            <p:ph type="dt" sz="half" idx="11"/>
          </p:nvPr>
        </p:nvSpPr>
        <p:spPr/>
        <p:txBody>
          <a:bodyPr/>
          <a:lstStyle/>
          <a:p>
            <a:fld id="{42FB9264-E59D-4043-9483-B863A08BF7FA}" type="datetime1">
              <a:rPr lang="en-US" smtClean="0"/>
              <a:pPr/>
              <a:t>8/31/26</a:t>
            </a:fld>
            <a:endParaRPr lang="en-US" dirty="0"/>
          </a:p>
        </p:txBody>
      </p:sp>
      <p:pic>
        <p:nvPicPr>
          <p:cNvPr id="12" name="Picture 11"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3" name="TextBox 12"/>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1"/>
          </p:nvPr>
        </p:nvSpPr>
        <p:spPr/>
        <p:txBody>
          <a:bodyPr/>
          <a:lstStyle/>
          <a:p>
            <a:fld id="{2C3A0B96-8BDC-3940-87A4-7335ADF41F82}" type="datetime1">
              <a:rPr lang="en-US" smtClean="0"/>
              <a:pPr/>
              <a:t>8/31/26</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9" name="Date Placeholder 3"/>
          <p:cNvSpPr>
            <a:spLocks noGrp="1"/>
          </p:cNvSpPr>
          <p:nvPr>
            <p:ph type="dt" sz="half" idx="10"/>
          </p:nvPr>
        </p:nvSpPr>
        <p:spPr>
          <a:xfrm>
            <a:off x="6335713" y="113072"/>
            <a:ext cx="2133600" cy="182880"/>
          </a:xfrm>
        </p:spPr>
        <p:txBody>
          <a:bodyPr/>
          <a:lstStyle/>
          <a:p>
            <a:fld id="{69344A15-F0EB-274C-BCBE-62AA675174CC}" type="datetime1">
              <a:rPr lang="en-US" smtClean="0"/>
              <a:pPr/>
              <a:t>8/31/26</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309878BC-7C7D-8B4D-8C72-5012D25A75FF}" type="datetime1">
              <a:rPr lang="en-US" smtClean="0"/>
              <a:pPr/>
              <a:t>8/31/26</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a:xfrm>
            <a:off x="6335713" y="137160"/>
            <a:ext cx="2133600" cy="182880"/>
          </a:xfrm>
        </p:spPr>
        <p:txBody>
          <a:bodyPr/>
          <a:lstStyle>
            <a:lvl1pPr>
              <a:defRPr>
                <a:solidFill>
                  <a:schemeClr val="tx1"/>
                </a:solidFill>
              </a:defRPr>
            </a:lvl1pPr>
          </a:lstStyle>
          <a:p>
            <a:endParaRPr lang="en-US" dirty="0"/>
          </a:p>
        </p:txBody>
      </p:sp>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pic>
        <p:nvPicPr>
          <p:cNvPr id="12" name="Picture 11"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F71CB5E4-2482-7B44-B2CD-545334C269B9}" type="datetime1">
              <a:rPr lang="en-US" smtClean="0"/>
              <a:pPr/>
              <a:t>8/31/26</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2233C098-7E69-2F4E-8219-6B630AF7AB62}" type="datetime1">
              <a:rPr lang="en-US" smtClean="0"/>
              <a:pPr/>
              <a:t>8/31/26</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3" name="Date Placeholder 2"/>
          <p:cNvSpPr>
            <a:spLocks noGrp="1"/>
          </p:cNvSpPr>
          <p:nvPr>
            <p:ph type="dt" sz="half" idx="10"/>
          </p:nvPr>
        </p:nvSpPr>
        <p:spPr/>
        <p:txBody>
          <a:bodyPr/>
          <a:lstStyle/>
          <a:p>
            <a:fld id="{FAA56894-5F48-BC43-8C04-BBB42A2EF5DA}" type="datetime1">
              <a:rPr lang="en-US" smtClean="0"/>
              <a:pPr/>
              <a:t>8/31/26</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2" name="Date Placeholder 1"/>
          <p:cNvSpPr>
            <a:spLocks noGrp="1"/>
          </p:cNvSpPr>
          <p:nvPr>
            <p:ph type="dt" sz="half" idx="10"/>
          </p:nvPr>
        </p:nvSpPr>
        <p:spPr/>
        <p:txBody>
          <a:bodyPr/>
          <a:lstStyle>
            <a:lvl1pPr>
              <a:defRPr>
                <a:solidFill>
                  <a:schemeClr val="tx1"/>
                </a:solidFill>
              </a:defRPr>
            </a:lvl1pPr>
          </a:lstStyle>
          <a:p>
            <a:fld id="{E1C2AD04-9B57-CD4E-ACCE-94DAA54D9932}" type="datetime1">
              <a:rPr lang="en-US" smtClean="0"/>
              <a:pPr/>
              <a:t>8/31/26</a:t>
            </a:fld>
            <a:endParaRPr lang="en-US" dirty="0"/>
          </a:p>
        </p:txBody>
      </p:sp>
      <p:sp>
        <p:nvSpPr>
          <p:cNvPr id="10" name="TextBox 9"/>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pic>
        <p:nvPicPr>
          <p:cNvPr id="12" name="Picture 11"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r>
              <a:rPr lang="en-US" dirty="0"/>
              <a:t>Copyright © 2018 Pearson Education, Inc.</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D4DCA001-C90D-F048-B3C0-108AEB1AC539}" type="datetime1">
              <a:rPr lang="en-US" smtClean="0"/>
              <a:pPr/>
              <a:t>8/31/26</a:t>
            </a:fld>
            <a:endParaRPr lang="en-US" dirty="0"/>
          </a:p>
        </p:txBody>
      </p:sp>
      <p:pic>
        <p:nvPicPr>
          <p:cNvPr id="7" name="Picture 6" descr="Pearson Logo"/>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8" name="TextBox 7"/>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Lst>
  <p:hf hdr="0" ftr="0" dt="0"/>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153F0-47FB-E055-5CF8-05C5A8C3212F}"/>
              </a:ext>
            </a:extLst>
          </p:cNvPr>
          <p:cNvSpPr>
            <a:spLocks noGrp="1"/>
          </p:cNvSpPr>
          <p:nvPr>
            <p:ph type="ctrTitle"/>
          </p:nvPr>
        </p:nvSpPr>
        <p:spPr/>
        <p:txBody>
          <a:bodyPr/>
          <a:lstStyle/>
          <a:p>
            <a:r>
              <a:rPr lang="en-US" dirty="0"/>
              <a:t>MANAGING DIVERSITY</a:t>
            </a:r>
          </a:p>
        </p:txBody>
      </p:sp>
      <p:sp>
        <p:nvSpPr>
          <p:cNvPr id="3" name="Subtitle 2">
            <a:extLst>
              <a:ext uri="{FF2B5EF4-FFF2-40B4-BE49-F238E27FC236}">
                <a16:creationId xmlns:a16="http://schemas.microsoft.com/office/drawing/2014/main" id="{06B8D3EE-9256-5C46-F709-6940F10EDCF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50535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Workplace Diversity?</a:t>
            </a:r>
          </a:p>
        </p:txBody>
      </p:sp>
      <p:sp>
        <p:nvSpPr>
          <p:cNvPr id="3" name="Content Placeholder 2"/>
          <p:cNvSpPr>
            <a:spLocks noGrp="1"/>
          </p:cNvSpPr>
          <p:nvPr>
            <p:ph idx="1"/>
          </p:nvPr>
        </p:nvSpPr>
        <p:spPr/>
        <p:txBody>
          <a:bodyPr/>
          <a:lstStyle/>
          <a:p>
            <a:pPr marL="0" indent="0">
              <a:spcBef>
                <a:spcPts val="0"/>
              </a:spcBef>
              <a:buClrTx/>
              <a:buSzTx/>
              <a:buNone/>
            </a:pPr>
            <a:r>
              <a:rPr lang="en-US" sz="3200" b="1" dirty="0"/>
              <a:t>Workforce diversity</a:t>
            </a:r>
            <a:r>
              <a:rPr lang="en-US" sz="3200" dirty="0"/>
              <a:t>: the ways in which people in an organization are </a:t>
            </a:r>
            <a:r>
              <a:rPr lang="en-US" sz="3200" b="1" dirty="0"/>
              <a:t>different</a:t>
            </a:r>
            <a:r>
              <a:rPr lang="en-US" sz="3200" dirty="0"/>
              <a:t> from and </a:t>
            </a:r>
            <a:r>
              <a:rPr lang="en-US" sz="3200" b="1" dirty="0"/>
              <a:t>similar</a:t>
            </a:r>
            <a:r>
              <a:rPr lang="en-US" sz="3200" dirty="0"/>
              <a:t> to one another</a:t>
            </a:r>
            <a:endParaRPr lang="en-US" dirty="0"/>
          </a:p>
        </p:txBody>
      </p:sp>
    </p:spTree>
    <p:extLst>
      <p:ext uri="{BB962C8B-B14F-4D97-AF65-F5344CB8AC3E}">
        <p14:creationId xmlns:p14="http://schemas.microsoft.com/office/powerpoint/2010/main" val="965711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021350081"/>
              </p:ext>
            </p:extLst>
          </p:nvPr>
        </p:nvGraphicFramePr>
        <p:xfrm>
          <a:off x="457200" y="762000"/>
          <a:ext cx="8229600" cy="5521960"/>
        </p:xfrm>
        <a:graphic>
          <a:graphicData uri="http://schemas.openxmlformats.org/drawingml/2006/table">
            <a:tbl>
              <a:tblPr firstRow="1" bandRow="1">
                <a:tableStyleId>{3B4B98B0-60AC-42C2-AFA5-B58CD77FA1E5}</a:tableStyleId>
              </a:tblPr>
              <a:tblGrid>
                <a:gridCol w="2230755">
                  <a:extLst>
                    <a:ext uri="{9D8B030D-6E8A-4147-A177-3AD203B41FA5}">
                      <a16:colId xmlns:a16="http://schemas.microsoft.com/office/drawing/2014/main" val="20000"/>
                    </a:ext>
                  </a:extLst>
                </a:gridCol>
                <a:gridCol w="5998845">
                  <a:extLst>
                    <a:ext uri="{9D8B030D-6E8A-4147-A177-3AD203B41FA5}">
                      <a16:colId xmlns:a16="http://schemas.microsoft.com/office/drawing/2014/main" val="20001"/>
                    </a:ext>
                  </a:extLst>
                </a:gridCol>
              </a:tblGrid>
              <a:tr h="370840">
                <a:tc>
                  <a:txBody>
                    <a:bodyPr/>
                    <a:lstStyle/>
                    <a:p>
                      <a:r>
                        <a:rPr lang="en-US" sz="1400" dirty="0"/>
                        <a:t>Timeframe</a:t>
                      </a:r>
                    </a:p>
                  </a:txBody>
                  <a:tcPr/>
                </a:tc>
                <a:tc>
                  <a:txBody>
                    <a:bodyPr/>
                    <a:lstStyle/>
                    <a:p>
                      <a:r>
                        <a:rPr lang="en-US" sz="1400" dirty="0"/>
                        <a:t>Events</a:t>
                      </a:r>
                    </a:p>
                  </a:txBody>
                  <a:tcPr/>
                </a:tc>
                <a:extLst>
                  <a:ext uri="{0D108BD9-81ED-4DB2-BD59-A6C34878D82A}">
                    <a16:rowId xmlns:a16="http://schemas.microsoft.com/office/drawing/2014/main" val="10000"/>
                  </a:ext>
                </a:extLst>
              </a:tr>
              <a:tr h="370840">
                <a:tc>
                  <a:txBody>
                    <a:bodyPr/>
                    <a:lstStyle/>
                    <a:p>
                      <a:r>
                        <a:rPr lang="en-US" sz="1400" dirty="0"/>
                        <a:t>1960s to 1970s</a:t>
                      </a:r>
                    </a:p>
                  </a:txBody>
                  <a:tcPr/>
                </a:tc>
                <a:tc>
                  <a:txBody>
                    <a:bodyPr/>
                    <a:lstStyle/>
                    <a:p>
                      <a:r>
                        <a:rPr lang="en-US" sz="1400" b="1" kern="1200" dirty="0">
                          <a:solidFill>
                            <a:schemeClr val="tx1"/>
                          </a:solidFill>
                          <a:effectLst/>
                          <a:latin typeface="+mn-lt"/>
                          <a:ea typeface="+mn-ea"/>
                          <a:cs typeface="+mn-cs"/>
                        </a:rPr>
                        <a:t>Focus on complying with laws and regulations: </a:t>
                      </a:r>
                      <a:r>
                        <a:rPr lang="en-IN" sz="1400" dirty="0"/>
                        <a:t>Strictly abiding by legal frameworks and government mandates. Implementation of Constitutional reservations (Articles 15 and 16) ensuring quotas for Scheduled Castes and Scheduled Tribes </a:t>
                      </a:r>
                      <a:endParaRPr lang="en-US" sz="1400" dirty="0"/>
                    </a:p>
                  </a:txBody>
                  <a:tcPr/>
                </a:tc>
                <a:extLst>
                  <a:ext uri="{0D108BD9-81ED-4DB2-BD59-A6C34878D82A}">
                    <a16:rowId xmlns:a16="http://schemas.microsoft.com/office/drawing/2014/main" val="10001"/>
                  </a:ext>
                </a:extLst>
              </a:tr>
              <a:tr h="370840">
                <a:tc>
                  <a:txBody>
                    <a:bodyPr/>
                    <a:lstStyle/>
                    <a:p>
                      <a:r>
                        <a:rPr lang="en-US" sz="1400" dirty="0"/>
                        <a:t>Early 1980s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tx1"/>
                          </a:solidFill>
                          <a:effectLst/>
                          <a:latin typeface="+mn-lt"/>
                          <a:ea typeface="+mn-ea"/>
                          <a:cs typeface="+mn-cs"/>
                        </a:rPr>
                        <a:t>Focus on assimilating minorities and women into corporate setting: </a:t>
                      </a:r>
                      <a:r>
                        <a:rPr lang="en-IN" sz="1400" dirty="0"/>
                        <a:t>Creating corporate training programs to help marginalized groups blend into the existing corporate structure. </a:t>
                      </a:r>
                      <a:r>
                        <a:rPr lang="en-IN" sz="1400" kern="1200" dirty="0">
                          <a:solidFill>
                            <a:schemeClr val="tx1"/>
                          </a:solidFill>
                          <a:latin typeface="+mn-lt"/>
                          <a:ea typeface="+mn-ea"/>
                          <a:cs typeface="+mn-cs"/>
                        </a:rPr>
                        <a:t>Public sector banks and institutions launching specialized training modules to help rural or regionally diverse recruits</a:t>
                      </a:r>
                      <a:endParaRPr lang="en-IN" sz="1800" b="0" u="none" strike="noStrike" kern="1200" dirty="0">
                        <a:solidFill>
                          <a:schemeClr val="tx1"/>
                        </a:solidFill>
                        <a:effectLst/>
                        <a:latin typeface="+mn-lt"/>
                        <a:ea typeface="+mn-ea"/>
                        <a:cs typeface="+mn-cs"/>
                      </a:endParaRPr>
                    </a:p>
                  </a:txBody>
                  <a:tcPr/>
                </a:tc>
                <a:extLst>
                  <a:ext uri="{0D108BD9-81ED-4DB2-BD59-A6C34878D82A}">
                    <a16:rowId xmlns:a16="http://schemas.microsoft.com/office/drawing/2014/main" val="10002"/>
                  </a:ext>
                </a:extLst>
              </a:tr>
              <a:tr h="370840">
                <a:tc>
                  <a:txBody>
                    <a:bodyPr/>
                    <a:lstStyle/>
                    <a:p>
                      <a:r>
                        <a:rPr lang="en-US" sz="1400" dirty="0"/>
                        <a:t>Late 1980s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tx1"/>
                          </a:solidFill>
                          <a:effectLst/>
                          <a:latin typeface="+mn-lt"/>
                          <a:ea typeface="+mn-ea"/>
                          <a:cs typeface="+mn-cs"/>
                        </a:rPr>
                        <a:t>Concept of workforce diversity expanded from compliance to an issue of business survival: </a:t>
                      </a:r>
                      <a:r>
                        <a:rPr lang="en-IN" sz="1400" dirty="0"/>
                        <a:t>Realizing that changing demographics mean businesses must adapt or fail to find talent. Following the Mandal Commission recommendations (which expanded reservations to Other Backward Classes)</a:t>
                      </a:r>
                      <a:endParaRPr lang="en-US" sz="1400" i="0" dirty="0"/>
                    </a:p>
                  </a:txBody>
                  <a:tcPr/>
                </a:tc>
                <a:extLst>
                  <a:ext uri="{0D108BD9-81ED-4DB2-BD59-A6C34878D82A}">
                    <a16:rowId xmlns:a16="http://schemas.microsoft.com/office/drawing/2014/main" val="10003"/>
                  </a:ext>
                </a:extLst>
              </a:tr>
              <a:tr h="370840">
                <a:tc>
                  <a:txBody>
                    <a:bodyPr/>
                    <a:lstStyle/>
                    <a:p>
                      <a:r>
                        <a:rPr lang="en-US" sz="1400" dirty="0"/>
                        <a:t>Late 1980s to Late 1990s</a:t>
                      </a:r>
                    </a:p>
                  </a:txBody>
                  <a:tcPr/>
                </a:tc>
                <a:tc>
                  <a:txBody>
                    <a:bodyPr/>
                    <a:lstStyle/>
                    <a:p>
                      <a:r>
                        <a:rPr lang="en-US" sz="1400" b="1" kern="1200" dirty="0">
                          <a:solidFill>
                            <a:schemeClr val="tx1"/>
                          </a:solidFill>
                          <a:effectLst/>
                          <a:latin typeface="+mn-lt"/>
                          <a:ea typeface="+mn-ea"/>
                          <a:cs typeface="+mn-cs"/>
                        </a:rPr>
                        <a:t>Focus on fostering sensitivity:</a:t>
                      </a:r>
                      <a:r>
                        <a:rPr lang="en-US" sz="1400" b="0" kern="1200" baseline="0" dirty="0">
                          <a:solidFill>
                            <a:schemeClr val="tx1"/>
                          </a:solidFill>
                          <a:effectLst/>
                          <a:latin typeface="+mn-lt"/>
                          <a:ea typeface="+mn-ea"/>
                          <a:cs typeface="+mn-cs"/>
                        </a:rPr>
                        <a:t> </a:t>
                      </a:r>
                      <a:r>
                        <a:rPr lang="en-IN" sz="1400" dirty="0"/>
                        <a:t>Shifting the focus toward cultural awareness and making employees sensitive to differences. Global IT emerging in Bangalore and Hyderabad</a:t>
                      </a:r>
                      <a:endParaRPr lang="en-US" sz="1400" dirty="0"/>
                    </a:p>
                  </a:txBody>
                  <a:tcPr/>
                </a:tc>
                <a:extLst>
                  <a:ext uri="{0D108BD9-81ED-4DB2-BD59-A6C34878D82A}">
                    <a16:rowId xmlns:a16="http://schemas.microsoft.com/office/drawing/2014/main" val="10004"/>
                  </a:ext>
                </a:extLst>
              </a:tr>
              <a:tr h="370840">
                <a:tc>
                  <a:txBody>
                    <a:bodyPr/>
                    <a:lstStyle/>
                    <a:p>
                      <a:r>
                        <a:rPr lang="en-US" sz="1400" dirty="0"/>
                        <a:t>New Millennium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tx1"/>
                          </a:solidFill>
                          <a:effectLst/>
                          <a:latin typeface="+mn-lt"/>
                          <a:ea typeface="+mn-ea"/>
                          <a:cs typeface="+mn-cs"/>
                        </a:rPr>
                        <a:t>Focus on diversity and inclusion for business success: </a:t>
                      </a:r>
                      <a:r>
                        <a:rPr lang="en-IN" sz="1400" dirty="0"/>
                        <a:t>Viewing diversity and inclusion as vital components for profitability, growth, and innovation. Major Indian corporations and MNCs setting proactive targets for gender diversity (e.g., Extended Maternity Benefits, "Return to Work" programs for mothers)</a:t>
                      </a:r>
                      <a:endParaRPr lang="en-US" sz="1400" dirty="0"/>
                    </a:p>
                  </a:txBody>
                  <a:tcPr/>
                </a:tc>
                <a:extLst>
                  <a:ext uri="{0D108BD9-81ED-4DB2-BD59-A6C34878D82A}">
                    <a16:rowId xmlns:a16="http://schemas.microsoft.com/office/drawing/2014/main" val="10005"/>
                  </a:ext>
                </a:extLst>
              </a:tr>
            </a:tbl>
          </a:graphicData>
        </a:graphic>
      </p:graphicFrame>
      <p:sp>
        <p:nvSpPr>
          <p:cNvPr id="8" name="Title 7">
            <a:extLst>
              <a:ext uri="{FF2B5EF4-FFF2-40B4-BE49-F238E27FC236}">
                <a16:creationId xmlns:a16="http://schemas.microsoft.com/office/drawing/2014/main" id="{9DA37E09-AEAB-04FD-3DC0-89B6C4E954E9}"/>
              </a:ext>
            </a:extLst>
          </p:cNvPr>
          <p:cNvSpPr>
            <a:spLocks noGrp="1"/>
          </p:cNvSpPr>
          <p:nvPr>
            <p:ph type="title"/>
          </p:nvPr>
        </p:nvSpPr>
        <p:spPr>
          <a:xfrm>
            <a:off x="457200" y="152400"/>
            <a:ext cx="8229600" cy="474452"/>
          </a:xfrm>
        </p:spPr>
        <p:txBody>
          <a:bodyPr/>
          <a:lstStyle/>
          <a:p>
            <a:r>
              <a:rPr lang="en-US" sz="2800" dirty="0"/>
              <a:t>Timeline of the Evolution of Workforce Diversity</a:t>
            </a:r>
          </a:p>
        </p:txBody>
      </p:sp>
    </p:spTree>
    <p:extLst>
      <p:ext uri="{BB962C8B-B14F-4D97-AF65-F5344CB8AC3E}">
        <p14:creationId xmlns:p14="http://schemas.microsoft.com/office/powerpoint/2010/main" val="837694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7123"/>
            <a:ext cx="8229600" cy="563880"/>
          </a:xfrm>
        </p:spPr>
        <p:txBody>
          <a:bodyPr/>
          <a:lstStyle/>
          <a:p>
            <a:r>
              <a:rPr lang="en-US" dirty="0"/>
              <a:t>Types of Diversity</a:t>
            </a:r>
          </a:p>
        </p:txBody>
      </p:sp>
      <p:sp>
        <p:nvSpPr>
          <p:cNvPr id="3" name="Content Placeholder 2"/>
          <p:cNvSpPr>
            <a:spLocks noGrp="1"/>
          </p:cNvSpPr>
          <p:nvPr>
            <p:ph idx="1"/>
          </p:nvPr>
        </p:nvSpPr>
        <p:spPr>
          <a:xfrm>
            <a:off x="457200" y="1371600"/>
            <a:ext cx="8229600" cy="5135563"/>
          </a:xfrm>
        </p:spPr>
        <p:txBody>
          <a:bodyPr/>
          <a:lstStyle/>
          <a:p>
            <a:r>
              <a:rPr lang="en-US" sz="2400" b="1" dirty="0"/>
              <a:t>Surface-level diversity</a:t>
            </a:r>
            <a:r>
              <a:rPr lang="en-US" sz="2400" dirty="0"/>
              <a:t>: Easily perceived differences that may trigger certain stereotypes or assumptions, but that do not necessarily reflect the ways people think or feel</a:t>
            </a:r>
          </a:p>
          <a:p>
            <a:r>
              <a:rPr lang="en-US" sz="2400" dirty="0">
                <a:cs typeface="Arial" charset="0"/>
              </a:rPr>
              <a:t>The demographic characteristics that we tend to think of when we think of diversity—age, race, gender, ethnicity, etc. </a:t>
            </a:r>
            <a:endParaRPr lang="en-US" sz="2400" dirty="0"/>
          </a:p>
          <a:p>
            <a:r>
              <a:rPr lang="en-US" sz="2400" b="1" dirty="0"/>
              <a:t>Deep-level diversity: </a:t>
            </a:r>
            <a:r>
              <a:rPr lang="en-US" sz="2400" dirty="0"/>
              <a:t>Differences in values, personality, and work preferences</a:t>
            </a:r>
          </a:p>
          <a:p>
            <a:r>
              <a:rPr lang="en-US" sz="2400" dirty="0">
                <a:cs typeface="Arial" charset="0"/>
              </a:rPr>
              <a:t>These deep-level differences can affect the way people view organizational work rewards, communicate, react to leaders, negotiate, and generally behave at work.</a:t>
            </a:r>
            <a:endParaRPr lang="en-US" sz="2400" dirty="0"/>
          </a:p>
        </p:txBody>
      </p:sp>
    </p:spTree>
    <p:extLst>
      <p:ext uri="{BB962C8B-B14F-4D97-AF65-F5344CB8AC3E}">
        <p14:creationId xmlns:p14="http://schemas.microsoft.com/office/powerpoint/2010/main" val="811449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Managing Workplace Diversity So Important?</a:t>
            </a:r>
          </a:p>
        </p:txBody>
      </p:sp>
      <p:sp>
        <p:nvSpPr>
          <p:cNvPr id="3" name="Content Placeholder 2"/>
          <p:cNvSpPr>
            <a:spLocks noGrp="1"/>
          </p:cNvSpPr>
          <p:nvPr>
            <p:ph idx="1"/>
          </p:nvPr>
        </p:nvSpPr>
        <p:spPr/>
        <p:txBody>
          <a:bodyPr/>
          <a:lstStyle/>
          <a:p>
            <a:r>
              <a:rPr lang="en-US" sz="2400" b="1" dirty="0"/>
              <a:t>People management: </a:t>
            </a:r>
            <a:r>
              <a:rPr lang="en-US" sz="2400" dirty="0">
                <a:cs typeface="Arial" charset="0"/>
              </a:rPr>
              <a:t>attracting and retaining a talented workforce from diverse backgrounds.</a:t>
            </a:r>
            <a:endParaRPr lang="en-US" sz="2400" dirty="0"/>
          </a:p>
          <a:p>
            <a:r>
              <a:rPr lang="en-US" sz="2400" b="1" dirty="0"/>
              <a:t>Organizational performance: </a:t>
            </a:r>
            <a:r>
              <a:rPr lang="en-US" sz="2400" dirty="0">
                <a:cs typeface="Arial" charset="0"/>
              </a:rPr>
              <a:t>cost savings (employee turnover, absenteeism, and the chance of lawsuits) </a:t>
            </a:r>
          </a:p>
          <a:p>
            <a:r>
              <a:rPr lang="en-US" sz="2400" b="1" dirty="0"/>
              <a:t>Strategic: </a:t>
            </a:r>
            <a:r>
              <a:rPr lang="en-US" sz="2400" dirty="0">
                <a:cs typeface="Arial" charset="0"/>
              </a:rPr>
              <a:t>extracting the best talent, performance, market share, and suppliers from a diverse country and world. </a:t>
            </a:r>
          </a:p>
          <a:p>
            <a:r>
              <a:rPr lang="en-US" sz="2400" dirty="0"/>
              <a:t>Increased understanding of the marketplace, which improves ability to better market to diverse consumers</a:t>
            </a:r>
          </a:p>
        </p:txBody>
      </p:sp>
    </p:spTree>
    <p:extLst>
      <p:ext uri="{BB962C8B-B14F-4D97-AF65-F5344CB8AC3E}">
        <p14:creationId xmlns:p14="http://schemas.microsoft.com/office/powerpoint/2010/main" val="1264072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charset="0"/>
                <a:ea typeface="Times New Roman" charset="0"/>
                <a:cs typeface="Times New Roman" charset="0"/>
              </a:rPr>
              <a:t>The Changing Workplace: Characteristics of the Indian Population</a:t>
            </a:r>
          </a:p>
        </p:txBody>
      </p:sp>
      <p:sp>
        <p:nvSpPr>
          <p:cNvPr id="3" name="Content Placeholder 2"/>
          <p:cNvSpPr>
            <a:spLocks noGrp="1"/>
          </p:cNvSpPr>
          <p:nvPr>
            <p:ph idx="1"/>
          </p:nvPr>
        </p:nvSpPr>
        <p:spPr/>
        <p:txBody>
          <a:bodyPr/>
          <a:lstStyle/>
          <a:p>
            <a:r>
              <a:rPr lang="en-US" sz="2800" dirty="0"/>
              <a:t>Total population of India: </a:t>
            </a:r>
            <a:r>
              <a:rPr lang="en-IN" sz="2800" dirty="0"/>
              <a:t>India is the most populous country globally, with an estimated 1.44 billion citizens.</a:t>
            </a:r>
            <a:endParaRPr lang="en-US" sz="2800" dirty="0"/>
          </a:p>
          <a:p>
            <a:r>
              <a:rPr lang="en-US" sz="2800" dirty="0"/>
              <a:t>Racial, caste, and multi-identity groups: </a:t>
            </a:r>
            <a:r>
              <a:rPr lang="en-IN" sz="2800" dirty="0"/>
              <a:t>India's workspace diversity focuses heavily on socio-educational reservation brackets, religious pluralism, linguistic differences across states</a:t>
            </a:r>
            <a:endParaRPr lang="en-US" sz="2800" dirty="0"/>
          </a:p>
          <a:p>
            <a:r>
              <a:rPr lang="en-US" sz="2800" dirty="0"/>
              <a:t>Young population: </a:t>
            </a:r>
            <a:r>
              <a:rPr lang="en-IN" sz="2800" dirty="0"/>
              <a:t>India boasts an incredibly young citizenry with a median age of approx. 28 to 29 years.</a:t>
            </a:r>
          </a:p>
          <a:p>
            <a:endParaRPr lang="en-US" sz="2800" dirty="0"/>
          </a:p>
        </p:txBody>
      </p:sp>
    </p:spTree>
    <p:extLst>
      <p:ext uri="{BB962C8B-B14F-4D97-AF65-F5344CB8AC3E}">
        <p14:creationId xmlns:p14="http://schemas.microsoft.com/office/powerpoint/2010/main" val="260473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73CF9-988F-6A60-4484-2FEDECD5A994}"/>
              </a:ext>
            </a:extLst>
          </p:cNvPr>
          <p:cNvSpPr>
            <a:spLocks noGrp="1"/>
          </p:cNvSpPr>
          <p:nvPr>
            <p:ph type="title"/>
          </p:nvPr>
        </p:nvSpPr>
        <p:spPr/>
        <p:txBody>
          <a:bodyPr/>
          <a:lstStyle/>
          <a:p>
            <a:r>
              <a:rPr lang="en-IN" dirty="0"/>
              <a:t>The Changing Workplace: Workforce Diversity in India</a:t>
            </a:r>
            <a:endParaRPr lang="en-US" dirty="0"/>
          </a:p>
        </p:txBody>
      </p:sp>
      <p:sp>
        <p:nvSpPr>
          <p:cNvPr id="3" name="Content Placeholder 2">
            <a:extLst>
              <a:ext uri="{FF2B5EF4-FFF2-40B4-BE49-F238E27FC236}">
                <a16:creationId xmlns:a16="http://schemas.microsoft.com/office/drawing/2014/main" id="{E8E6C464-E97F-0FED-FB96-163EE06E457B}"/>
              </a:ext>
            </a:extLst>
          </p:cNvPr>
          <p:cNvSpPr>
            <a:spLocks noGrp="1"/>
          </p:cNvSpPr>
          <p:nvPr>
            <p:ph idx="1"/>
          </p:nvPr>
        </p:nvSpPr>
        <p:spPr/>
        <p:txBody>
          <a:bodyPr/>
          <a:lstStyle/>
          <a:p>
            <a:pPr eaLnBrk="0" fontAlgn="base" hangingPunct="0">
              <a:spcBef>
                <a:spcPct val="0"/>
              </a:spcBef>
              <a:spcAft>
                <a:spcPct val="0"/>
              </a:spcAft>
              <a:buClrTx/>
              <a:buSzTx/>
            </a:pPr>
            <a:r>
              <a:rPr lang="en-US" altLang="en-US" sz="2400" dirty="0"/>
              <a:t>Leveraging a human capital pool of </a:t>
            </a:r>
            <a:r>
              <a:rPr lang="en-US" altLang="en-US" sz="2400" b="1" dirty="0"/>
              <a:t>1.44 billion citizens</a:t>
            </a:r>
            <a:r>
              <a:rPr lang="en-US" altLang="en-US" sz="2400" dirty="0"/>
              <a:t> requires shifting corporate talent pipelines past elite metropolitan centers into emerging </a:t>
            </a:r>
            <a:r>
              <a:rPr lang="en-US" altLang="en-US" sz="2400" b="1" dirty="0"/>
              <a:t>Tier-2 and Tier-3 geographic regions</a:t>
            </a:r>
            <a:r>
              <a:rPr lang="en-US" altLang="en-US" sz="2400" dirty="0"/>
              <a:t>.</a:t>
            </a:r>
          </a:p>
          <a:p>
            <a:pPr eaLnBrk="0" fontAlgn="base" hangingPunct="0">
              <a:spcBef>
                <a:spcPct val="0"/>
              </a:spcBef>
              <a:spcAft>
                <a:spcPct val="0"/>
              </a:spcAft>
              <a:buClrTx/>
              <a:buSzTx/>
            </a:pPr>
            <a:r>
              <a:rPr lang="en-US" altLang="en-US" sz="2400" dirty="0"/>
              <a:t>Workspace diversity shifts away from racial categories to center on </a:t>
            </a:r>
            <a:r>
              <a:rPr lang="en-US" altLang="en-US" sz="2400" b="1" dirty="0"/>
              <a:t>linguistic accommodations</a:t>
            </a:r>
            <a:r>
              <a:rPr lang="en-US" altLang="en-US" sz="2400" dirty="0"/>
              <a:t> across 22 official languages, and </a:t>
            </a:r>
            <a:r>
              <a:rPr lang="en-US" altLang="en-US" sz="2400" b="1" dirty="0"/>
              <a:t>multi-faith inclusive benefit structures</a:t>
            </a:r>
            <a:r>
              <a:rPr lang="en-US" altLang="en-US" sz="2400" dirty="0"/>
              <a:t>.</a:t>
            </a:r>
          </a:p>
          <a:p>
            <a:pPr eaLnBrk="0" fontAlgn="base" hangingPunct="0">
              <a:spcBef>
                <a:spcPct val="0"/>
              </a:spcBef>
              <a:spcAft>
                <a:spcPct val="0"/>
              </a:spcAft>
              <a:buClrTx/>
              <a:buSzTx/>
            </a:pPr>
            <a:r>
              <a:rPr lang="en-US" altLang="en-US" sz="2400" dirty="0"/>
              <a:t>Managing a highly progressive workforce with a </a:t>
            </a:r>
            <a:r>
              <a:rPr lang="en-US" altLang="en-US" sz="2400" b="1" dirty="0"/>
              <a:t>median age of 28–29 years</a:t>
            </a:r>
            <a:r>
              <a:rPr lang="en-US" altLang="en-US" sz="2400" dirty="0"/>
              <a:t> accelerates corporate adoption of structural reverse-mentorship programs.</a:t>
            </a:r>
          </a:p>
          <a:p>
            <a:endParaRPr lang="en-US" sz="1200" dirty="0"/>
          </a:p>
        </p:txBody>
      </p:sp>
    </p:spTree>
    <p:extLst>
      <p:ext uri="{BB962C8B-B14F-4D97-AF65-F5344CB8AC3E}">
        <p14:creationId xmlns:p14="http://schemas.microsoft.com/office/powerpoint/2010/main" val="1860328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The figure shows three categories of benefits. The first is People Managment.  The second is Organizational Performance.The third is Strategic. Each category includes some specific benefits and a relevant icon."/>
          <p:cNvSpPr>
            <a:spLocks noGrp="1"/>
          </p:cNvSpPr>
          <p:nvPr>
            <p:ph type="title"/>
          </p:nvPr>
        </p:nvSpPr>
        <p:spPr/>
        <p:txBody>
          <a:bodyPr/>
          <a:lstStyle/>
          <a:p>
            <a:br>
              <a:rPr lang="en-US" sz="3000" dirty="0"/>
            </a:br>
            <a:r>
              <a:rPr lang="en-US" sz="3000" dirty="0"/>
              <a:t>Types of Diversity Found in Workplaces</a:t>
            </a:r>
          </a:p>
        </p:txBody>
      </p:sp>
      <p:pic>
        <p:nvPicPr>
          <p:cNvPr id="5" name="Picture 4" descr=" The types of diversity found in workplaces includes diversity in,&#10;• Age&#10;• Gender&#10;• Race and Ethnicity&#10;• Disability/Abilities&#10;• Religion&#10;• LGBT&#10;• Other."/>
          <p:cNvPicPr>
            <a:picLocks noChangeAspect="1"/>
          </p:cNvPicPr>
          <p:nvPr/>
        </p:nvPicPr>
        <p:blipFill>
          <a:blip r:embed="rId3" cstate="print"/>
          <a:stretch>
            <a:fillRect/>
          </a:stretch>
        </p:blipFill>
        <p:spPr>
          <a:xfrm>
            <a:off x="457200" y="1371600"/>
            <a:ext cx="8534399" cy="4591971"/>
          </a:xfrm>
          <a:prstGeom prst="rect">
            <a:avLst/>
          </a:prstGeom>
        </p:spPr>
      </p:pic>
    </p:spTree>
    <p:extLst>
      <p:ext uri="{BB962C8B-B14F-4D97-AF65-F5344CB8AC3E}">
        <p14:creationId xmlns:p14="http://schemas.microsoft.com/office/powerpoint/2010/main" val="143471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charset="0"/>
                <a:ea typeface="Times New Roman" charset="0"/>
                <a:cs typeface="Times New Roman" charset="0"/>
              </a:rPr>
              <a:t>Workforce Diversity</a:t>
            </a:r>
          </a:p>
        </p:txBody>
      </p:sp>
      <p:sp>
        <p:nvSpPr>
          <p:cNvPr id="3" name="Content Placeholder 2"/>
          <p:cNvSpPr>
            <a:spLocks noGrp="1"/>
          </p:cNvSpPr>
          <p:nvPr>
            <p:ph idx="1"/>
          </p:nvPr>
        </p:nvSpPr>
        <p:spPr/>
        <p:txBody>
          <a:bodyPr/>
          <a:lstStyle/>
          <a:p>
            <a:r>
              <a:rPr lang="en-US" sz="2400" b="1" dirty="0"/>
              <a:t>Age</a:t>
            </a:r>
            <a:r>
              <a:rPr lang="en-US" sz="2400" dirty="0"/>
              <a:t>: </a:t>
            </a:r>
            <a:r>
              <a:rPr lang="en-US" altLang="en-US" sz="2400" dirty="0">
                <a:cs typeface="Arial"/>
              </a:rPr>
              <a:t>India lacks a comprehensive, codified labor law explicitly prohibiting age discrimination in private employment. </a:t>
            </a:r>
          </a:p>
          <a:p>
            <a:r>
              <a:rPr lang="en-US" sz="2400" b="1" dirty="0"/>
              <a:t>Gender</a:t>
            </a:r>
            <a:r>
              <a:rPr lang="en-US" sz="2400" dirty="0"/>
              <a:t>: </a:t>
            </a:r>
            <a:r>
              <a:rPr lang="en-IN" sz="2400" dirty="0"/>
              <a:t>Women do not make up half of the workforce in India.</a:t>
            </a:r>
          </a:p>
          <a:p>
            <a:r>
              <a:rPr lang="en-US" sz="2400" b="1" dirty="0"/>
              <a:t>Race</a:t>
            </a:r>
            <a:r>
              <a:rPr lang="en-US" sz="2400" dirty="0"/>
              <a:t>: </a:t>
            </a:r>
            <a:r>
              <a:rPr lang="en-US" altLang="en-US" sz="2400" dirty="0">
                <a:cs typeface="Arial"/>
              </a:rPr>
              <a:t>the baseline for structural inequality and diversity management in India is caste identity (Scheduled Castes, Scheduled Tribes, and Other Backward Classes).</a:t>
            </a:r>
            <a:endParaRPr lang="en-US" sz="2400" dirty="0">
              <a:cs typeface="Arial"/>
            </a:endParaRPr>
          </a:p>
          <a:p>
            <a:r>
              <a:rPr lang="en-US" sz="2400" b="1" dirty="0"/>
              <a:t>Ethnicity</a:t>
            </a:r>
            <a:r>
              <a:rPr lang="en-US" sz="2400" dirty="0"/>
              <a:t>: </a:t>
            </a:r>
            <a:r>
              <a:rPr lang="en-IN" sz="2400" dirty="0">
                <a:cs typeface="Arial"/>
              </a:rPr>
              <a:t>intense regional and linguistic sub-cultures. With 22 officially recognized languages</a:t>
            </a:r>
            <a:endParaRPr lang="en-US" sz="2400" dirty="0">
              <a:cs typeface="Arial"/>
            </a:endParaRPr>
          </a:p>
        </p:txBody>
      </p:sp>
    </p:spTree>
    <p:extLst>
      <p:ext uri="{BB962C8B-B14F-4D97-AF65-F5344CB8AC3E}">
        <p14:creationId xmlns:p14="http://schemas.microsoft.com/office/powerpoint/2010/main" val="634574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50652"/>
          </a:xfrm>
        </p:spPr>
        <p:txBody>
          <a:bodyPr/>
          <a:lstStyle/>
          <a:p>
            <a:r>
              <a:rPr lang="en-US" dirty="0">
                <a:latin typeface="Times New Roman" charset="0"/>
                <a:ea typeface="Times New Roman" charset="0"/>
                <a:cs typeface="Times New Roman" charset="0"/>
              </a:rPr>
              <a:t>Workforce Diversity</a:t>
            </a:r>
          </a:p>
        </p:txBody>
      </p:sp>
      <p:sp>
        <p:nvSpPr>
          <p:cNvPr id="3" name="Content Placeholder 2"/>
          <p:cNvSpPr>
            <a:spLocks noGrp="1"/>
          </p:cNvSpPr>
          <p:nvPr>
            <p:ph idx="1"/>
          </p:nvPr>
        </p:nvSpPr>
        <p:spPr>
          <a:xfrm>
            <a:off x="457200" y="990600"/>
            <a:ext cx="8229600" cy="4648199"/>
          </a:xfrm>
        </p:spPr>
        <p:txBody>
          <a:bodyPr/>
          <a:lstStyle/>
          <a:p>
            <a:r>
              <a:rPr lang="en-US" sz="2400" b="1" dirty="0"/>
              <a:t>Disability/abilities: </a:t>
            </a:r>
            <a:r>
              <a:rPr lang="en-IN" sz="2400" i="1" dirty="0">
                <a:cs typeface="Arial"/>
              </a:rPr>
              <a:t>Governed by the Rights of Persons with Disabilities (RPwD) Act, 2016. The Act legally mandates a 4% reservation quota </a:t>
            </a:r>
          </a:p>
          <a:p>
            <a:r>
              <a:rPr lang="en-US" sz="2400" b="1" dirty="0"/>
              <a:t>Religion</a:t>
            </a:r>
            <a:r>
              <a:rPr lang="en-US" sz="2400" dirty="0"/>
              <a:t>: </a:t>
            </a:r>
            <a:r>
              <a:rPr lang="en-US" altLang="en-US" sz="2400" i="1" dirty="0">
                <a:cs typeface="Arial"/>
              </a:rPr>
              <a:t>Codified primarily through Articles 15 and 16 of the Constitution of India, which strictly prohibit discrimination based on religion</a:t>
            </a:r>
          </a:p>
          <a:p>
            <a:r>
              <a:rPr lang="en-US" sz="2400" b="1" dirty="0"/>
              <a:t>LGBT</a:t>
            </a:r>
            <a:r>
              <a:rPr lang="en-US" sz="2400" dirty="0"/>
              <a:t>: </a:t>
            </a:r>
            <a:r>
              <a:rPr lang="en-IN" sz="2400" dirty="0">
                <a:cs typeface="Arial"/>
              </a:rPr>
              <a:t>the Supreme Court of India explicitly stated that under Section 377 of the Indian Penal Code constitutional protection against discrimination based on "sex" under Article 15 extends to sexual orientation and gender identity</a:t>
            </a:r>
          </a:p>
          <a:p>
            <a:r>
              <a:rPr lang="en-US" sz="2400" b="1" dirty="0"/>
              <a:t>Other types of diversity</a:t>
            </a:r>
            <a:r>
              <a:rPr lang="en-US" sz="2400" dirty="0"/>
              <a:t>: </a:t>
            </a:r>
            <a:r>
              <a:rPr lang="en-IN" sz="2400" dirty="0"/>
              <a:t>Socio-Economic background, Educational Sourcing (Tier 2 &amp; 3 Focus), Cognitive Styles (Neurodiversity) </a:t>
            </a:r>
            <a:endParaRPr lang="en-US" sz="2400" dirty="0"/>
          </a:p>
        </p:txBody>
      </p:sp>
    </p:spTree>
    <p:extLst>
      <p:ext uri="{BB962C8B-B14F-4D97-AF65-F5344CB8AC3E}">
        <p14:creationId xmlns:p14="http://schemas.microsoft.com/office/powerpoint/2010/main" val="1144186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charset="0"/>
                <a:ea typeface="Times New Roman" charset="0"/>
                <a:cs typeface="Times New Roman" charset="0"/>
              </a:rPr>
              <a:t>Challenges in Managing Diversity</a:t>
            </a:r>
          </a:p>
        </p:txBody>
      </p:sp>
      <p:sp>
        <p:nvSpPr>
          <p:cNvPr id="3" name="Content Placeholder 2"/>
          <p:cNvSpPr>
            <a:spLocks noGrp="1"/>
          </p:cNvSpPr>
          <p:nvPr>
            <p:ph idx="1"/>
          </p:nvPr>
        </p:nvSpPr>
        <p:spPr/>
        <p:txBody>
          <a:bodyPr/>
          <a:lstStyle/>
          <a:p>
            <a:r>
              <a:rPr lang="en-US" sz="2400" b="1" dirty="0"/>
              <a:t>Bias</a:t>
            </a:r>
            <a:r>
              <a:rPr lang="en-US" sz="2400" dirty="0"/>
              <a:t>: a tendency or preference toward a particular perspective or ideology</a:t>
            </a:r>
            <a:endParaRPr lang="en-US" sz="2400" dirty="0">
              <a:cs typeface="Arial"/>
            </a:endParaRPr>
          </a:p>
          <a:p>
            <a:r>
              <a:rPr lang="en-US" sz="2400" b="1" dirty="0"/>
              <a:t>Prejudice</a:t>
            </a:r>
            <a:r>
              <a:rPr lang="en-US" sz="2400" dirty="0"/>
              <a:t>: </a:t>
            </a:r>
            <a:r>
              <a:rPr lang="en-US" sz="2400" dirty="0">
                <a:cs typeface="Arial"/>
              </a:rPr>
              <a:t>a </a:t>
            </a:r>
            <a:r>
              <a:rPr lang="en-US" sz="2400" dirty="0"/>
              <a:t>preconceived belief, opinion, or judgment toward a person or a group of people (</a:t>
            </a:r>
            <a:r>
              <a:rPr lang="en-US" sz="2400" dirty="0">
                <a:cs typeface="Arial" charset="0"/>
              </a:rPr>
              <a:t>race, gender, ethnicity, age, disability, religion, sexual orientation, or even other personal characteristics)</a:t>
            </a:r>
            <a:endParaRPr lang="en-US" sz="2400" dirty="0"/>
          </a:p>
          <a:p>
            <a:r>
              <a:rPr lang="en-US" sz="2400" b="1" dirty="0"/>
              <a:t>Stereotyping</a:t>
            </a:r>
            <a:r>
              <a:rPr lang="en-US" sz="2400" dirty="0"/>
              <a:t>: judging a person based on a perception of a group to which that person belongs</a:t>
            </a:r>
          </a:p>
          <a:p>
            <a:r>
              <a:rPr lang="en-US" sz="2400" b="1" dirty="0"/>
              <a:t>Discrimination</a:t>
            </a:r>
            <a:r>
              <a:rPr lang="en-US" sz="2400" dirty="0"/>
              <a:t>: when someone acts out their prejudicial attitudes toward people who are the targets of their prejudice</a:t>
            </a:r>
          </a:p>
          <a:p>
            <a:endParaRPr lang="en-US" sz="2400" dirty="0"/>
          </a:p>
        </p:txBody>
      </p:sp>
    </p:spTree>
    <p:extLst>
      <p:ext uri="{BB962C8B-B14F-4D97-AF65-F5344CB8AC3E}">
        <p14:creationId xmlns:p14="http://schemas.microsoft.com/office/powerpoint/2010/main" val="1577129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charset="0"/>
                <a:ea typeface="Times New Roman" charset="0"/>
                <a:cs typeface="Times New Roman" charset="0"/>
              </a:rPr>
              <a:t>Glass Ceiling</a:t>
            </a:r>
          </a:p>
        </p:txBody>
      </p:sp>
      <p:sp>
        <p:nvSpPr>
          <p:cNvPr id="3" name="Content Placeholder 2"/>
          <p:cNvSpPr>
            <a:spLocks noGrp="1"/>
          </p:cNvSpPr>
          <p:nvPr>
            <p:ph idx="1"/>
          </p:nvPr>
        </p:nvSpPr>
        <p:spPr/>
        <p:txBody>
          <a:bodyPr/>
          <a:lstStyle/>
          <a:p>
            <a:r>
              <a:rPr lang="en-US" sz="2400" dirty="0">
                <a:cs typeface="Arial" charset="0"/>
              </a:rPr>
              <a:t>In the 1980s, the term </a:t>
            </a:r>
            <a:r>
              <a:rPr lang="en-US" sz="2400" b="1" dirty="0">
                <a:cs typeface="Arial" charset="0"/>
              </a:rPr>
              <a:t>glass ceiling</a:t>
            </a:r>
            <a:r>
              <a:rPr lang="en-US" sz="2400" dirty="0">
                <a:cs typeface="Arial" charset="0"/>
              </a:rPr>
              <a:t>, first used in a </a:t>
            </a:r>
            <a:r>
              <a:rPr lang="en-US" sz="2400" i="1" dirty="0">
                <a:cs typeface="Arial" charset="0"/>
              </a:rPr>
              <a:t>Wall Street Journal </a:t>
            </a:r>
            <a:r>
              <a:rPr lang="en-US" sz="2400" dirty="0">
                <a:cs typeface="Arial" charset="0"/>
              </a:rPr>
              <a:t>article, refers to the invisible barrier that separates women and minorities from top management positions. </a:t>
            </a:r>
          </a:p>
          <a:p>
            <a:r>
              <a:rPr lang="en-US" sz="2400" dirty="0">
                <a:cs typeface="Arial" charset="0"/>
              </a:rPr>
              <a:t>The idea of a “ceiling” means something is blocking upward movement and the idea of “glass” is that whatever’s blocking the way isn’t immediately apparent.</a:t>
            </a:r>
          </a:p>
          <a:p>
            <a:r>
              <a:rPr lang="en-US" sz="2400" dirty="0"/>
              <a:t>lack of mentoring to sex stereotyping, views that associate masculine traits with leader effectiveness, and bosses’ perceptions of family–work conflict. </a:t>
            </a:r>
          </a:p>
          <a:p>
            <a:endParaRPr lang="en-US" sz="2400" dirty="0">
              <a:cs typeface="Arial" charset="0"/>
            </a:endParaRPr>
          </a:p>
          <a:p>
            <a:endParaRPr lang="en-US" sz="2400" b="1" dirty="0"/>
          </a:p>
        </p:txBody>
      </p:sp>
    </p:spTree>
    <p:extLst>
      <p:ext uri="{BB962C8B-B14F-4D97-AF65-F5344CB8AC3E}">
        <p14:creationId xmlns:p14="http://schemas.microsoft.com/office/powerpoint/2010/main" val="2034423284"/>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18626</TotalTime>
  <Words>1968</Words>
  <Application>Microsoft Macintosh PowerPoint</Application>
  <PresentationFormat>On-screen Show (4:3)</PresentationFormat>
  <Paragraphs>90</Paragraphs>
  <Slides>12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Times New Roman</vt:lpstr>
      <vt:lpstr>Verdana</vt:lpstr>
      <vt:lpstr>Wingdings</vt:lpstr>
      <vt:lpstr>508 Lecture</vt:lpstr>
      <vt:lpstr>MANAGING DIVERSITY</vt:lpstr>
      <vt:lpstr>What is Workplace Diversity?</vt:lpstr>
      <vt:lpstr>Timeline of the Evolution of Workforce Diversity</vt:lpstr>
      <vt:lpstr>Types of Diversity</vt:lpstr>
      <vt:lpstr>Why is Managing Workplace Diversity So Important?</vt:lpstr>
      <vt:lpstr>The Changing Workplace: Characteristics of the Indian Population</vt:lpstr>
      <vt:lpstr>The Changing Workplace: Workforce Diversity in India</vt:lpstr>
      <vt:lpstr> Types of Diversity Found in Workplaces</vt:lpstr>
      <vt:lpstr>Workforce Diversity</vt:lpstr>
      <vt:lpstr>Workforce Diversity</vt:lpstr>
      <vt:lpstr>Challenges in Managing Diversity</vt:lpstr>
      <vt:lpstr>Glass Ceiling</vt:lpstr>
    </vt:vector>
  </TitlesOfParts>
  <Company>Cenveo Publisher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14e</dc:title>
  <dc:subject>Chapter 5: Managing Diversity</dc:subject>
  <dc:creator>Stephen P. Robbins and Mary Coulter</dc:creator>
  <cp:keywords>Management</cp:keywords>
  <cp:lastModifiedBy>chetanya singh</cp:lastModifiedBy>
  <cp:revision>677</cp:revision>
  <dcterms:created xsi:type="dcterms:W3CDTF">2014-07-14T20:04:21Z</dcterms:created>
  <dcterms:modified xsi:type="dcterms:W3CDTF">2026-08-31T08:27:12Z</dcterms:modified>
</cp:coreProperties>
</file>