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445" r:id="rId2"/>
    <p:sldId id="351" r:id="rId3"/>
    <p:sldId id="407" r:id="rId4"/>
    <p:sldId id="350" r:id="rId5"/>
    <p:sldId id="446" r:id="rId6"/>
    <p:sldId id="408" r:id="rId7"/>
    <p:sldId id="410" r:id="rId8"/>
    <p:sldId id="409" r:id="rId9"/>
    <p:sldId id="411" r:id="rId10"/>
    <p:sldId id="412" r:id="rId11"/>
    <p:sldId id="413" r:id="rId12"/>
    <p:sldId id="414" r:id="rId13"/>
    <p:sldId id="415" r:id="rId14"/>
    <p:sldId id="416" r:id="rId15"/>
    <p:sldId id="417" r:id="rId16"/>
    <p:sldId id="419" r:id="rId17"/>
    <p:sldId id="418" r:id="rId18"/>
    <p:sldId id="423" r:id="rId19"/>
    <p:sldId id="424" r:id="rId20"/>
    <p:sldId id="425" r:id="rId21"/>
    <p:sldId id="444" r:id="rId22"/>
    <p:sldId id="428" r:id="rId23"/>
    <p:sldId id="429" r:id="rId24"/>
    <p:sldId id="430" r:id="rId25"/>
    <p:sldId id="431" r:id="rId26"/>
    <p:sldId id="432" r:id="rId27"/>
    <p:sldId id="433" r:id="rId28"/>
    <p:sldId id="434" r:id="rId29"/>
    <p:sldId id="437" r:id="rId30"/>
    <p:sldId id="43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6E8"/>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0" autoAdjust="0"/>
    <p:restoredTop sz="92059" autoAdjust="0"/>
  </p:normalViewPr>
  <p:slideViewPr>
    <p:cSldViewPr>
      <p:cViewPr>
        <p:scale>
          <a:sx n="123" d="100"/>
          <a:sy n="123" d="100"/>
        </p:scale>
        <p:origin x="1416" y="464"/>
      </p:cViewPr>
      <p:guideLst>
        <p:guide orient="horz" pos="2160"/>
        <p:guide pos="2880"/>
      </p:guideLst>
    </p:cSldViewPr>
  </p:slideViewPr>
  <p:outlineViewPr>
    <p:cViewPr>
      <p:scale>
        <a:sx n="33" d="100"/>
        <a:sy n="33" d="100"/>
      </p:scale>
      <p:origin x="0" y="14172"/>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9/6/26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9/6/26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The concept of </a:t>
            </a:r>
            <a:r>
              <a:rPr lang="en-US" i="1" dirty="0">
                <a:cs typeface="Arial" charset="0"/>
              </a:rPr>
              <a:t>social responsibility </a:t>
            </a:r>
            <a:r>
              <a:rPr lang="en-US" dirty="0">
                <a:cs typeface="Arial" charset="0"/>
              </a:rPr>
              <a:t>has been described in different ways. For instance, it’s been called “profit making only,” “going beyond profit making,” “any discretionary corporate activity intended to further social welfare,” and “improving social or environmental conditions.” We can understand it better if we first compare it to two similar concepts: social obligation and social responsiveness. </a:t>
            </a:r>
            <a:r>
              <a:rPr lang="en-US" b="1" dirty="0">
                <a:cs typeface="Arial" charset="0"/>
              </a:rPr>
              <a:t>Social obligation </a:t>
            </a:r>
            <a:r>
              <a:rPr lang="en-US" dirty="0">
                <a:cs typeface="Arial" charset="0"/>
              </a:rPr>
              <a:t>is when a firm engages in social actions because of its obligation to meet certain economic and legal responsibilities. The organization does what it’s obligated</a:t>
            </a:r>
            <a:r>
              <a:rPr lang="en-US" baseline="0" dirty="0">
                <a:cs typeface="Arial" charset="0"/>
              </a:rPr>
              <a:t> </a:t>
            </a:r>
            <a:r>
              <a:rPr lang="en-US" dirty="0">
                <a:cs typeface="Arial" charset="0"/>
              </a:rPr>
              <a:t>to do and nothing more. This idea reflects the </a:t>
            </a:r>
            <a:r>
              <a:rPr lang="en-US" b="1" dirty="0">
                <a:cs typeface="Arial" charset="0"/>
              </a:rPr>
              <a:t>classical view </a:t>
            </a:r>
            <a:r>
              <a:rPr lang="en-US" dirty="0">
                <a:cs typeface="Arial" charset="0"/>
              </a:rPr>
              <a:t>of social responsibility, which says that management’s only social responsibility is to maximize profits. The most outspoken advocate of this approach is economist and Nobel laureate Milton Friedman. He argued that managers’ primary responsibility is to operate the business in the best interests of the stockholders, whose primary concerns are financial.</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other two concepts—social responsiveness and social responsibility—reflect the </a:t>
            </a:r>
            <a:r>
              <a:rPr lang="en-US" sz="1200" b="1" kern="1200" dirty="0">
                <a:solidFill>
                  <a:schemeClr val="tx1"/>
                </a:solidFill>
                <a:effectLst/>
                <a:latin typeface="+mn-lt"/>
                <a:ea typeface="+mn-ea"/>
                <a:cs typeface="+mn-cs"/>
              </a:rPr>
              <a:t>socioeconomic view</a:t>
            </a:r>
            <a:r>
              <a:rPr lang="en-US" sz="1200" kern="1200" dirty="0">
                <a:solidFill>
                  <a:schemeClr val="tx1"/>
                </a:solidFill>
                <a:effectLst/>
                <a:latin typeface="+mn-lt"/>
                <a:ea typeface="+mn-ea"/>
                <a:cs typeface="+mn-cs"/>
              </a:rPr>
              <a:t>, which says that managers’ social responsibilities go beyond making profits to include protecting and improving society’s welfare.</a:t>
            </a:r>
            <a:r>
              <a:rPr lang="en-US" dirty="0">
                <a:cs typeface="Arial" charset="0"/>
              </a:rPr>
              <a:t> This view is based on the belief that corporations are </a:t>
            </a:r>
            <a:r>
              <a:rPr lang="en-US" i="1" dirty="0">
                <a:cs typeface="Arial" charset="0"/>
              </a:rPr>
              <a:t>not </a:t>
            </a:r>
            <a:r>
              <a:rPr lang="en-US" dirty="0">
                <a:cs typeface="Arial" charset="0"/>
              </a:rPr>
              <a:t>independent entities responsible only to stockholders,</a:t>
            </a:r>
            <a:r>
              <a:rPr lang="en-US" baseline="0" dirty="0">
                <a:cs typeface="Arial" charset="0"/>
              </a:rPr>
              <a:t> </a:t>
            </a:r>
            <a:r>
              <a:rPr lang="en-US" dirty="0">
                <a:cs typeface="Arial" charset="0"/>
              </a:rPr>
              <a:t>but have an obligation to the larger society. Organizations around the world have embraced this view as shown by a survey of global executives in which 84 percent said that companies must balance obligations to shareholders with obligations to the public good.</a:t>
            </a:r>
          </a:p>
          <a:p>
            <a:pPr eaLnBrk="1" hangingPunct="1"/>
            <a:endParaRPr lang="en-US" dirty="0">
              <a:cs typeface="Arial" charset="0"/>
            </a:endParaRPr>
          </a:p>
          <a:p>
            <a:pPr eaLnBrk="1" hangingPunct="1"/>
            <a:r>
              <a:rPr lang="en-US" b="1" dirty="0">
                <a:cs typeface="Arial" charset="0"/>
              </a:rPr>
              <a:t>Social responsiveness </a:t>
            </a:r>
            <a:r>
              <a:rPr lang="en-US" dirty="0">
                <a:cs typeface="Arial" charset="0"/>
              </a:rPr>
              <a:t>is when a company engages in social actions in response to some popular social need. Managers are guided by social norms and values and make practical, market-oriented decisions about their actions. For instance, Ford Motor Company became the first automaker to endorse a federal ban on sending text messages while driving.</a:t>
            </a:r>
          </a:p>
          <a:p>
            <a:pPr eaLnBrk="1" hangingPunct="1"/>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A socially </a:t>
            </a:r>
            <a:r>
              <a:rPr lang="en-US" i="1" dirty="0">
                <a:cs typeface="Arial" charset="0"/>
              </a:rPr>
              <a:t>responsible </a:t>
            </a:r>
            <a:r>
              <a:rPr lang="en-US" dirty="0">
                <a:cs typeface="Arial" charset="0"/>
              </a:rPr>
              <a:t>organization goes beyond what it’s obligated to do or chooses to do because of some popular social need and does</a:t>
            </a:r>
            <a:r>
              <a:rPr lang="en-US" baseline="0" dirty="0">
                <a:cs typeface="Arial" charset="0"/>
              </a:rPr>
              <a:t> </a:t>
            </a:r>
            <a:r>
              <a:rPr lang="en-US" dirty="0">
                <a:cs typeface="Arial" charset="0"/>
              </a:rPr>
              <a:t>what it can to help improve society because it’s the right thing to do. We define </a:t>
            </a:r>
            <a:r>
              <a:rPr lang="en-US" b="1" dirty="0">
                <a:cs typeface="Arial" charset="0"/>
              </a:rPr>
              <a:t>social responsibility </a:t>
            </a:r>
            <a:r>
              <a:rPr lang="en-US" dirty="0">
                <a:cs typeface="Arial" charset="0"/>
              </a:rPr>
              <a:t>as a business’s intention, beyond its legal and economic obligations, to do the right things and act in ways that are good for society. A socially responsible organization does what is right because it feels it has an ethical responsibility to do so.</a:t>
            </a: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805261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Another way to view social involvement and economic performance is by looking at socially responsible investing (SRI) funds, which provide a way for individual investors to support socially responsible companies. Typically, these funds use some type of </a:t>
            </a:r>
            <a:r>
              <a:rPr lang="en-US" b="1" dirty="0">
                <a:cs typeface="Arial" charset="0"/>
              </a:rPr>
              <a:t>social screening</a:t>
            </a:r>
            <a:r>
              <a:rPr lang="en-US" dirty="0">
                <a:cs typeface="Arial" charset="0"/>
              </a:rPr>
              <a:t>; that is, they apply social and environmental criteria to investment decisions.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SRI funds usually will not invest in companies involved in liquor, gambling, tobacco, nuclear power weapons, price fixing, fraud, or in companies that have poor product safety, employee relations, and environmental track records</a:t>
            </a:r>
            <a:endParaRPr lang="en-US" dirty="0">
              <a:cs typeface="Arial" charset="0"/>
            </a:endParaRPr>
          </a:p>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036737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Until the late 1960s, few people (and organizations) paid attention to the environmental consequences of their decisions and actions. However,</a:t>
            </a:r>
            <a:r>
              <a:rPr lang="en-US" baseline="0" dirty="0">
                <a:cs typeface="Arial" charset="0"/>
              </a:rPr>
              <a:t> </a:t>
            </a:r>
            <a:r>
              <a:rPr lang="en-US" dirty="0">
                <a:cs typeface="Arial" charset="0"/>
              </a:rPr>
              <a:t>a number of environmental disasters brought a new spirit of environmentalism to individuals, groups, and organizations. Increasingly, managers have begun to consider the impact of their organization on the natural environment, which we call </a:t>
            </a:r>
            <a:r>
              <a:rPr lang="en-US" b="1" dirty="0">
                <a:cs typeface="Arial" charset="0"/>
              </a:rPr>
              <a:t>green</a:t>
            </a:r>
            <a:r>
              <a:rPr lang="en-US" b="1" baseline="0" dirty="0">
                <a:cs typeface="Arial" charset="0"/>
              </a:rPr>
              <a:t> </a:t>
            </a:r>
            <a:r>
              <a:rPr lang="en-US" b="1" dirty="0">
                <a:cs typeface="Arial" charset="0"/>
              </a:rPr>
              <a:t>management.</a:t>
            </a:r>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791808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Based on R. E. Freeman, J. Pierce, and R. Dodd, </a:t>
            </a:r>
            <a:r>
              <a:rPr lang="en-US" sz="1200" i="1" kern="1200" dirty="0">
                <a:solidFill>
                  <a:schemeClr val="tx1"/>
                </a:solidFill>
                <a:effectLst/>
                <a:latin typeface="+mn-lt"/>
                <a:ea typeface="+mn-ea"/>
                <a:cs typeface="+mn-cs"/>
              </a:rPr>
              <a:t>Shades of Green: Business Ethics and the Environment </a:t>
            </a:r>
            <a:r>
              <a:rPr lang="en-US" sz="1200" kern="1200" dirty="0">
                <a:solidFill>
                  <a:schemeClr val="tx1"/>
                </a:solidFill>
                <a:effectLst/>
                <a:latin typeface="+mn-lt"/>
                <a:ea typeface="+mn-ea"/>
                <a:cs typeface="+mn-cs"/>
              </a:rPr>
              <a:t>(New York: Oxford University Press, 1995).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1542341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Managers and organizations can do many things to protect and preserve the natural environment. Some do no more than what is required by law; that is, they fulfill their social obligation. The first approach, the </a:t>
            </a:r>
            <a:r>
              <a:rPr lang="en-US" i="1" dirty="0">
                <a:cs typeface="Arial" charset="0"/>
              </a:rPr>
              <a:t>legal (or light green) approach, </a:t>
            </a:r>
            <a:r>
              <a:rPr lang="en-US" dirty="0">
                <a:cs typeface="Arial" charset="0"/>
              </a:rPr>
              <a:t>is simply doing what is required legally. In this approach, which illustrates social obligation, organizations exhibit little environmental sensitivity. They obey laws, rules, and regulations without legal challenge and that’s the extent of their being green.</a:t>
            </a:r>
          </a:p>
          <a:p>
            <a:pPr eaLnBrk="1" hangingPunct="1"/>
            <a:endParaRPr lang="en-US" dirty="0">
              <a:cs typeface="Arial" charset="0"/>
            </a:endParaRPr>
          </a:p>
          <a:p>
            <a:pPr eaLnBrk="1" hangingPunct="1"/>
            <a:r>
              <a:rPr lang="en-US" dirty="0">
                <a:cs typeface="Arial" charset="0"/>
              </a:rPr>
              <a:t>As an organization becomes more sensitive to environmental issues, it may adopt the </a:t>
            </a:r>
            <a:r>
              <a:rPr lang="en-US" i="1" dirty="0">
                <a:cs typeface="Arial" charset="0"/>
              </a:rPr>
              <a:t>market approach </a:t>
            </a:r>
            <a:r>
              <a:rPr lang="en-US" dirty="0">
                <a:cs typeface="Arial" charset="0"/>
              </a:rPr>
              <a:t>and respond to environmental</a:t>
            </a:r>
            <a:r>
              <a:rPr lang="en-US" baseline="0" dirty="0">
                <a:cs typeface="Arial" charset="0"/>
              </a:rPr>
              <a:t> </a:t>
            </a:r>
            <a:r>
              <a:rPr lang="en-US" dirty="0">
                <a:cs typeface="Arial" charset="0"/>
              </a:rPr>
              <a:t>preferences of customers. Whatever customers demand in terms of environmentally friendly products will be what the organization</a:t>
            </a:r>
            <a:r>
              <a:rPr lang="en-US" baseline="0" dirty="0">
                <a:cs typeface="Arial" charset="0"/>
              </a:rPr>
              <a:t> </a:t>
            </a:r>
            <a:r>
              <a:rPr lang="en-US" dirty="0">
                <a:cs typeface="Arial" charset="0"/>
              </a:rPr>
              <a:t>provides.</a:t>
            </a:r>
          </a:p>
          <a:p>
            <a:pPr eaLnBrk="1" hangingPunct="1"/>
            <a:endParaRPr lang="en-US" dirty="0">
              <a:cs typeface="Arial" charset="0"/>
            </a:endParaRPr>
          </a:p>
          <a:p>
            <a:pPr eaLnBrk="1" hangingPunct="1"/>
            <a:r>
              <a:rPr lang="en-US" dirty="0">
                <a:cs typeface="Arial" charset="0"/>
              </a:rPr>
              <a:t>In the </a:t>
            </a:r>
            <a:r>
              <a:rPr lang="en-US" i="1" dirty="0">
                <a:cs typeface="Arial" charset="0"/>
              </a:rPr>
              <a:t>stakeholder approach</a:t>
            </a:r>
            <a:r>
              <a:rPr lang="en-US" dirty="0">
                <a:cs typeface="Arial" charset="0"/>
              </a:rPr>
              <a:t>, an organization works to meet the environmental demands of multiple stakeholders such as employees, suppliers, or community. </a:t>
            </a:r>
          </a:p>
          <a:p>
            <a:pPr eaLnBrk="1" hangingPunct="1"/>
            <a:endParaRPr lang="en-US" dirty="0">
              <a:cs typeface="Arial" charset="0"/>
            </a:endParaRPr>
          </a:p>
          <a:p>
            <a:pPr eaLnBrk="1" hangingPunct="1"/>
            <a:r>
              <a:rPr lang="en-US" dirty="0">
                <a:cs typeface="Arial" charset="0"/>
              </a:rPr>
              <a:t>Finally, if an organization pursues an </a:t>
            </a:r>
            <a:r>
              <a:rPr lang="en-US" i="1" dirty="0">
                <a:cs typeface="Arial" charset="0"/>
              </a:rPr>
              <a:t>activist </a:t>
            </a:r>
            <a:r>
              <a:rPr lang="en-US" dirty="0">
                <a:cs typeface="Arial" charset="0"/>
              </a:rPr>
              <a:t>(</a:t>
            </a:r>
            <a:r>
              <a:rPr lang="en-US" i="1" dirty="0">
                <a:cs typeface="Arial" charset="0"/>
              </a:rPr>
              <a:t>or dark green</a:t>
            </a:r>
            <a:r>
              <a:rPr lang="en-US" dirty="0">
                <a:cs typeface="Arial" charset="0"/>
              </a:rPr>
              <a:t>) </a:t>
            </a:r>
            <a:r>
              <a:rPr lang="en-US" i="1" dirty="0">
                <a:cs typeface="Arial" charset="0"/>
              </a:rPr>
              <a:t>approach</a:t>
            </a:r>
            <a:r>
              <a:rPr lang="en-US" dirty="0">
                <a:cs typeface="Arial" charset="0"/>
              </a:rPr>
              <a:t>, it looks for ways to protect the earth’s natural resources. The activist approach reflects the highest degree of environmental sensitivity and illustrates social responsibility.</a:t>
            </a:r>
          </a:p>
          <a:p>
            <a:pPr eaLnBrk="1" hangingPunct="1"/>
            <a:endParaRPr lang="en-US" dirty="0">
              <a:cs typeface="Arial" charset="0"/>
            </a:endParaRPr>
          </a:p>
          <a:p>
            <a:pPr eaLnBrk="1" hangingPunct="1"/>
            <a:endParaRPr lang="en-US" dirty="0">
              <a:cs typeface="Arial" charset="0"/>
            </a:endParaRPr>
          </a:p>
          <a:p>
            <a:pPr eaLnBrk="1" hangingPunct="1"/>
            <a:endParaRPr lang="en-US" dirty="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789651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More than 7,500 companies around the globe now voluntarily report their efforts in promoting environmental sustainability using the guidelines developed by the Global Reporting Initiative (GRI). These reports, which can be found on the GRI website (www.globalreporting.org), describe the numerous green actions of these organizations.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Another way organizations show their commitment to being green is through pursuing standards developed by the nongovernmental International Organization for Standardization (ISO). Organizations that want to become ISO 14000 compliant must develop a total management system for meeting environmental challenges.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final way to evaluate a company’s green actions is to use the Global 100 list of the most sustainable corporations in the world (www.corporateknights.com). To be named to this list a company has displayed a superior ability to effectively manage environmental and social factors.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010760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cs typeface="Arial" charset="0"/>
              </a:rPr>
              <a:t>What do we mean by </a:t>
            </a:r>
            <a:r>
              <a:rPr lang="en-US" b="1" dirty="0">
                <a:cs typeface="Arial" charset="0"/>
              </a:rPr>
              <a:t>ethics</a:t>
            </a:r>
            <a:r>
              <a:rPr lang="en-US" dirty="0">
                <a:cs typeface="Arial" charset="0"/>
              </a:rPr>
              <a:t>? We’re defining it as the principles, values, and beliefs that define right and wrong decisions and behavior. Many decisions managers make require them to consider both the process and who’s affected by the result. To better understand the ethical issues involved in such decisions, let’s look at the factors that determine whether a person acts ethically or unethically.</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870549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Whether someone behaves ethically or unethically when faced with an ethical dilemma is influenced by several things: his or her stage of moral development and other moderating variables, including individual characteristics and the organization’s structural design, which we will discuss in a later section of the chapter, and the intensity of the ethical issue.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480730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Research divides moral development into three levels, each having two stages. At each successive stage, an individual’s moral</a:t>
            </a:r>
            <a:r>
              <a:rPr lang="en-US" baseline="0" dirty="0">
                <a:cs typeface="Arial" charset="0"/>
              </a:rPr>
              <a:t> </a:t>
            </a:r>
            <a:r>
              <a:rPr lang="en-US" dirty="0">
                <a:cs typeface="Arial" charset="0"/>
              </a:rPr>
              <a:t>judgment becomes less dependent on outside influences and more internalized. </a:t>
            </a:r>
          </a:p>
          <a:p>
            <a:pPr eaLnBrk="1" hangingPunct="1"/>
            <a:endParaRPr lang="en-US" dirty="0">
              <a:cs typeface="Arial" charset="0"/>
            </a:endParaRPr>
          </a:p>
          <a:p>
            <a:pPr eaLnBrk="1" hangingPunct="1"/>
            <a:r>
              <a:rPr lang="en-US" dirty="0">
                <a:cs typeface="Arial" charset="0"/>
              </a:rPr>
              <a:t>At the first level, the </a:t>
            </a:r>
            <a:r>
              <a:rPr lang="en-US" i="1" dirty="0">
                <a:cs typeface="Arial" charset="0"/>
              </a:rPr>
              <a:t>preconventional </a:t>
            </a:r>
            <a:r>
              <a:rPr lang="en-US" dirty="0">
                <a:cs typeface="Arial" charset="0"/>
              </a:rPr>
              <a:t>level, a person’s choice between right or wrong is based on personal consequences from outside sources, such as physical punishment, reward, or exchange of favors. </a:t>
            </a:r>
          </a:p>
          <a:p>
            <a:pPr eaLnBrk="1" hangingPunct="1"/>
            <a:endParaRPr lang="en-US" dirty="0">
              <a:cs typeface="Arial" charset="0"/>
            </a:endParaRPr>
          </a:p>
          <a:p>
            <a:pPr eaLnBrk="1" hangingPunct="1"/>
            <a:r>
              <a:rPr lang="en-US" dirty="0">
                <a:cs typeface="Arial" charset="0"/>
              </a:rPr>
              <a:t>At the second level, the </a:t>
            </a:r>
            <a:r>
              <a:rPr lang="en-US" i="1" dirty="0">
                <a:cs typeface="Arial" charset="0"/>
              </a:rPr>
              <a:t>conventional </a:t>
            </a:r>
            <a:r>
              <a:rPr lang="en-US" dirty="0">
                <a:cs typeface="Arial" charset="0"/>
              </a:rPr>
              <a:t>level, ethical decisions rely on maintaining expected standards and living up to the expectations</a:t>
            </a:r>
            <a:r>
              <a:rPr lang="en-US" baseline="0" dirty="0">
                <a:cs typeface="Arial" charset="0"/>
              </a:rPr>
              <a:t> </a:t>
            </a:r>
            <a:r>
              <a:rPr lang="en-US" dirty="0">
                <a:cs typeface="Arial" charset="0"/>
              </a:rPr>
              <a:t>of others.</a:t>
            </a:r>
          </a:p>
          <a:p>
            <a:pPr eaLnBrk="1" hangingPunct="1"/>
            <a:endParaRPr lang="en-US" dirty="0">
              <a:cs typeface="Arial" charset="0"/>
            </a:endParaRPr>
          </a:p>
          <a:p>
            <a:pPr eaLnBrk="1" hangingPunct="1"/>
            <a:r>
              <a:rPr lang="en-US" dirty="0">
                <a:cs typeface="Arial" charset="0"/>
              </a:rPr>
              <a:t>At the </a:t>
            </a:r>
            <a:r>
              <a:rPr lang="en-US" i="1" dirty="0">
                <a:cs typeface="Arial" charset="0"/>
              </a:rPr>
              <a:t>principled </a:t>
            </a:r>
            <a:r>
              <a:rPr lang="en-US" dirty="0">
                <a:cs typeface="Arial" charset="0"/>
              </a:rPr>
              <a:t>level, individuals define moral values apart from the authority of the groups to which they belong or society in general.</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985829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L. Kohlberg, “Moral Stages and Moralization: The Cognitive-Development Approach,” in </a:t>
            </a:r>
            <a:r>
              <a:rPr lang="en-US" sz="1200" i="1" kern="1200" dirty="0">
                <a:solidFill>
                  <a:schemeClr val="tx1"/>
                </a:solidFill>
                <a:effectLst/>
                <a:latin typeface="+mn-lt"/>
                <a:ea typeface="+mn-ea"/>
                <a:cs typeface="+mn-cs"/>
              </a:rPr>
              <a:t>Moral Development and Behavior: Theory, Research, and Social Issues</a:t>
            </a:r>
            <a:r>
              <a:rPr lang="en-US" sz="1200" kern="1200" dirty="0">
                <a:solidFill>
                  <a:schemeClr val="tx1"/>
                </a:solidFill>
                <a:effectLst/>
                <a:latin typeface="+mn-lt"/>
                <a:ea typeface="+mn-ea"/>
                <a:cs typeface="+mn-cs"/>
              </a:rPr>
              <a:t>, ed. T. Lickona (New York: Holt, Rinehart &amp; Winston, 1976), pp. 34–35.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981609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cs typeface="Arial" charset="0"/>
              </a:rPr>
              <a:t>Two individual characteristics—values and personality—play a role in determining whether a person behaves ethically. Each person comes to an organization with a relatively entrenched set of personal </a:t>
            </a:r>
            <a:r>
              <a:rPr lang="en-US" b="1" dirty="0">
                <a:cs typeface="Arial" charset="0"/>
              </a:rPr>
              <a:t>values</a:t>
            </a:r>
            <a:r>
              <a:rPr lang="en-US" dirty="0">
                <a:cs typeface="Arial" charset="0"/>
              </a:rPr>
              <a:t>, which represent basic convictions about what is right and wrong. Our values develop from a young age based on what we see and hear from parents, teachers, friends, and others.</a:t>
            </a:r>
          </a:p>
          <a:p>
            <a:pPr eaLnBrk="1" hangingPunct="1"/>
            <a:endParaRPr lang="en-US" dirty="0">
              <a:cs typeface="Arial" charset="0"/>
            </a:endParaRPr>
          </a:p>
          <a:p>
            <a:pPr eaLnBrk="1" hangingPunct="1"/>
            <a:r>
              <a:rPr lang="en-US" dirty="0">
                <a:cs typeface="Arial" charset="0"/>
              </a:rPr>
              <a:t>Two personality variables have been found to influence an individual’s actions according to his or her beliefs about what is right or wrong: ego strength and locus of control. </a:t>
            </a:r>
            <a:r>
              <a:rPr lang="en-US" b="1" dirty="0">
                <a:cs typeface="Arial" charset="0"/>
              </a:rPr>
              <a:t>Ego strength </a:t>
            </a:r>
            <a:r>
              <a:rPr lang="en-US" dirty="0">
                <a:cs typeface="Arial" charset="0"/>
              </a:rPr>
              <a:t>measures the strength of a person’s convictions. People with high ego strength are likely to resist impulses to act unethically and instead follow their convictions. </a:t>
            </a:r>
            <a:r>
              <a:rPr lang="en-US" b="1" dirty="0">
                <a:cs typeface="Arial" charset="0"/>
              </a:rPr>
              <a:t>Locus of control </a:t>
            </a:r>
            <a:r>
              <a:rPr lang="en-US" dirty="0">
                <a:cs typeface="Arial" charset="0"/>
              </a:rPr>
              <a:t>is the degree to which people believe they control their own</a:t>
            </a:r>
            <a:r>
              <a:rPr lang="en-US" baseline="0" dirty="0">
                <a:cs typeface="Arial" charset="0"/>
              </a:rPr>
              <a:t> </a:t>
            </a:r>
            <a:r>
              <a:rPr lang="en-US" dirty="0">
                <a:cs typeface="Arial" charset="0"/>
              </a:rPr>
              <a:t>fate. People with an </a:t>
            </a:r>
            <a:r>
              <a:rPr lang="en-US" i="1" dirty="0">
                <a:cs typeface="Arial" charset="0"/>
              </a:rPr>
              <a:t>internal </a:t>
            </a:r>
            <a:r>
              <a:rPr lang="en-US" dirty="0">
                <a:cs typeface="Arial" charset="0"/>
              </a:rPr>
              <a:t>locus of control believe they control their own destinies. They’re more likely to take responsibility for consequences and rely on their own internal standards of right and wrong to guide their behavior.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84436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Those structures that minimize ambiguity and uncertainty with formal rules and regulations and those that continuously remind employees of what is ethical are more likely to encourage ethical behavior. </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Although many organizations use goals to guide and motivate employees, those goals can create some unexpected problems. One study found that people who don’t reach set goals are more likely to engage in unethical behavior, even if they do or don’t have economic incentives to do so </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 organization’s performance appraisal system can also influence ethical behavior. Some systems focus exclusively on outcomes, while others evaluate means as well as ends. When employees are evaluated only on outcomes, they may be pressured to do whatever is necessary to look good on the outcomes and not be concerned with how they got those results. </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more that rewards or punishment depend on specific goal outcomes, the more employees are pressured to do whatever they must to reach those goals—perhaps to the point of compromising their ethical standards.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110579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Exhibit 6-5 shows, six characteristics determine issue intensity or how important an ethical issue is to an individual: greatness of harm, consensus of wrong, probability of harm, immediacy of consequences, proximity to victim(s), and concentration of effect.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1758767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student who would never consider breaking into an instructor’s office to steal an accounting exam doesn’t think twice about asking a friend who took the same course from the same instructor last semester what questions were on an exam. Similarly, a manager might think nothing about taking home a few office supplies, yet be highly concerned about the possible embezzlement of company funds. These examples illustrate the final factor that influences ethical behavior: the intensity of the ethical issue itself.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400557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selection process (interviews, tests, background checks, and so forth) should be viewed as an opportunity to learn about an individual’s level of moral development, personal values, ego strength, and locus of control. </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Because shared values can be powerful influences, many organizations are using </a:t>
            </a:r>
            <a:r>
              <a:rPr lang="en-US" sz="1200" b="1" kern="1200" dirty="0">
                <a:solidFill>
                  <a:schemeClr val="tx1"/>
                </a:solidFill>
                <a:effectLst/>
                <a:latin typeface="+mn-lt"/>
                <a:ea typeface="+mn-ea"/>
                <a:cs typeface="+mn-cs"/>
              </a:rPr>
              <a:t>values-based management</a:t>
            </a:r>
            <a:r>
              <a:rPr lang="en-US" sz="1200" kern="1200" dirty="0">
                <a:solidFill>
                  <a:schemeClr val="tx1"/>
                </a:solidFill>
                <a:effectLst/>
                <a:latin typeface="+mn-lt"/>
                <a:ea typeface="+mn-ea"/>
                <a:cs typeface="+mn-cs"/>
              </a:rPr>
              <a:t>, in which the organization’s values guide employees in the way they do their jobs. </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strong culture exerts more influence on employees than does a weak one. If a culture is strong and supports high ethical standards, it has a powerful and positive influence on the decision to act ethically or unethically.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987076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Uncertainty about what is and is not ethical can be a problem for employees. A </a:t>
            </a:r>
            <a:r>
              <a:rPr lang="en-US" sz="1200" b="1" kern="1200" dirty="0">
                <a:solidFill>
                  <a:schemeClr val="tx1"/>
                </a:solidFill>
                <a:effectLst/>
                <a:latin typeface="+mn-lt"/>
                <a:ea typeface="+mn-ea"/>
                <a:cs typeface="+mn-cs"/>
              </a:rPr>
              <a:t>code of ethics</a:t>
            </a:r>
            <a:r>
              <a:rPr lang="en-US" sz="1200" kern="1200" dirty="0">
                <a:solidFill>
                  <a:schemeClr val="tx1"/>
                </a:solidFill>
                <a:effectLst/>
                <a:latin typeface="+mn-lt"/>
                <a:ea typeface="+mn-ea"/>
                <a:cs typeface="+mn-cs"/>
              </a:rPr>
              <a:t>, a formal statement of an organization’s values and the ethical rules it expects employees to follow, is a popular choice for reducing that ambiguity. Research shows that 97 percent of organizations with more than 10,000 employees have a written code of ethics.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6316906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F. R. David, “An Empirical Study of Codes of Business Ethics: A Strategic Perspective,” paper presented at the 48th Annual Academy of Management Conference, August 1988, Anaheim, California. Used with permission of Fred David.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909967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F. R. David, “An Empirical Study of Codes of Business Ethics: A Strategic Perspective,” paper presented at the 48th Annual Academy of Management Conference, August 1988, Anaheim, California. </a:t>
            </a:r>
            <a:r>
              <a:rPr lang="en-US" sz="1200" kern="1200">
                <a:solidFill>
                  <a:schemeClr val="tx1"/>
                </a:solidFill>
                <a:effectLst/>
                <a:latin typeface="+mn-lt"/>
                <a:ea typeface="+mn-ea"/>
                <a:cs typeface="+mn-cs"/>
              </a:rPr>
              <a:t>Used with permission of Fred David.</a:t>
            </a: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609568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Source: </a:t>
            </a:r>
            <a:r>
              <a:rPr lang="en-US" sz="1200" kern="1200" dirty="0">
                <a:solidFill>
                  <a:schemeClr val="tx1"/>
                </a:solidFill>
                <a:effectLst/>
                <a:latin typeface="+mn-lt"/>
                <a:ea typeface="+mn-ea"/>
                <a:cs typeface="+mn-cs"/>
              </a:rPr>
              <a:t>F. R. David, “An Empirical Study of Codes of Business Ethics: A Strategic Perspective,” paper presented at the 48th Annual Academy of Management Conference, August 1988, Anaheim, California. Used with permission of Fred David.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695818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Unfortunately, codes of ethics may not work as well as we think they should. A survey of employees in U.S. businesses found that 41 percent of those surveyed had observed ethical or legal violations in the previous 12 months, including such things as conflicts of interest, abusive or intimidating behavior, and lying to employees. And 37 percent of those employees didn’t report observed misconduct. Does this mean that codes of ethics shouldn’t be developed? No. However, in doing so, managers should use these suggestions.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899667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Managers should use the five-step process to guide employees when faced with ethical dilemmas.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815153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Doing business ethically requires a commitment from managers at all levels, but especially the top level. Why? Because they’re the ones who uphold the shared values and set the cultural tone. They’re role models in terms of both words and actions, though what they </a:t>
            </a:r>
            <a:r>
              <a:rPr lang="en-US" sz="1200" i="1" kern="1200" dirty="0">
                <a:solidFill>
                  <a:schemeClr val="tx1"/>
                </a:solidFill>
                <a:effectLst/>
                <a:latin typeface="+mn-lt"/>
                <a:ea typeface="+mn-ea"/>
                <a:cs typeface="+mn-cs"/>
              </a:rPr>
              <a:t>do </a:t>
            </a:r>
            <a:r>
              <a:rPr lang="en-US" sz="1200" kern="1200" dirty="0">
                <a:solidFill>
                  <a:schemeClr val="tx1"/>
                </a:solidFill>
                <a:effectLst/>
                <a:latin typeface="+mn-lt"/>
                <a:ea typeface="+mn-ea"/>
                <a:cs typeface="+mn-cs"/>
              </a:rPr>
              <a:t>is far more important than what they </a:t>
            </a:r>
            <a:r>
              <a:rPr lang="en-US" sz="1200" i="1" kern="1200" dirty="0">
                <a:solidFill>
                  <a:schemeClr val="tx1"/>
                </a:solidFill>
                <a:effectLst/>
                <a:latin typeface="+mn-lt"/>
                <a:ea typeface="+mn-ea"/>
                <a:cs typeface="+mn-cs"/>
              </a:rPr>
              <a:t>say. </a:t>
            </a:r>
            <a:r>
              <a:rPr lang="en-US" sz="1200" kern="1200" dirty="0">
                <a:solidFill>
                  <a:schemeClr val="tx1"/>
                </a:solidFill>
                <a:effectLst/>
                <a:latin typeface="+mn-lt"/>
                <a:ea typeface="+mn-ea"/>
                <a:cs typeface="+mn-cs"/>
              </a:rPr>
              <a:t>If top managers, for example, take company resources for their personal use, inflate their expense accounts, or give favored treatment to friends, they imply that such behavior is acceptable for all employees.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195823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 the stress of unrealistic goals, otherwise ethical employees may feel they have no choice but to do whatever is necessary to meet those goals. Also, goal achievement is usually a key issue in performance appraisal. If performance appraisals focus only on economic goals, ends will begin to justify means. To encourage ethical behavior, both ends </a:t>
            </a:r>
            <a:r>
              <a:rPr lang="en-US" sz="1200" i="1" kern="1200" dirty="0">
                <a:solidFill>
                  <a:schemeClr val="tx1"/>
                </a:solidFill>
                <a:effectLst/>
                <a:latin typeface="+mn-lt"/>
                <a:ea typeface="+mn-ea"/>
                <a:cs typeface="+mn-cs"/>
              </a:rPr>
              <a:t>and </a:t>
            </a:r>
            <a:r>
              <a:rPr lang="en-US" sz="1200" kern="1200" dirty="0">
                <a:solidFill>
                  <a:schemeClr val="tx1"/>
                </a:solidFill>
                <a:effectLst/>
                <a:latin typeface="+mn-lt"/>
                <a:ea typeface="+mn-ea"/>
                <a:cs typeface="+mn-cs"/>
              </a:rPr>
              <a:t>means should be evaluated. For example, a manager’s annual review of employees might include a point-by-point evaluation of how their decisions measured up against the company’s code of ethics as well as how well goals were met.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228246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Such training programs aren’t without controversy, as the primary concern is whether ethics can be taught. Critics stress that the effort is pointless because people establish their individual value systems when they’re young. Proponents note, however, that several studies have shown that values can be learned after early childhood. In addition, they cite evidence that shows that teaching ethical problem solving can make an actual difference in ethical behaviors; that training has increased individuals’ level of moral development; and that, if nothing else, ethics training increases awareness of ethical issues in business.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670467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fear of being caught can be an important deterrent to unethical behavior. Independent social audits, which evaluate decisions and management practices in terms of the organization’s code of ethics, increase that likelihood. Such audits can be regular evaluations or they can occur randomly with no prior announcement. An effective ethics </a:t>
            </a:r>
            <a:endParaRPr lang="en-US" dirty="0"/>
          </a:p>
          <a:p>
            <a:r>
              <a:rPr lang="en-US" sz="1200" kern="1200" dirty="0">
                <a:solidFill>
                  <a:schemeClr val="tx1"/>
                </a:solidFill>
                <a:effectLst/>
                <a:latin typeface="+mn-lt"/>
                <a:ea typeface="+mn-ea"/>
                <a:cs typeface="+mn-cs"/>
              </a:rPr>
              <a:t>program probably needs both. To maintain integrity, auditors should be responsible to the company’s board of directors and present their findings directly to the board.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796989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Managers must provide ethical leadership. As we said earlier, what managers </a:t>
            </a:r>
            <a:r>
              <a:rPr lang="en-US" sz="1200" i="1" kern="1200" dirty="0">
                <a:solidFill>
                  <a:schemeClr val="tx1"/>
                </a:solidFill>
                <a:effectLst/>
                <a:latin typeface="+mn-lt"/>
                <a:ea typeface="+mn-ea"/>
                <a:cs typeface="+mn-cs"/>
              </a:rPr>
              <a:t>do </a:t>
            </a:r>
            <a:r>
              <a:rPr lang="en-US" sz="1200" kern="1200" dirty="0">
                <a:solidFill>
                  <a:schemeClr val="tx1"/>
                </a:solidFill>
                <a:effectLst/>
                <a:latin typeface="+mn-lt"/>
                <a:ea typeface="+mn-ea"/>
                <a:cs typeface="+mn-cs"/>
              </a:rPr>
              <a:t>has a strong influence on employees’ decisions whether to behave ethically. When managers cheat, lie, steal, manipulate, take advantage of situations or people, or treat others unfairly, what kind of signal are they sending to employees (or other stakeholders)? Probably not the one they want to send. Exhibit 6-9 gives some suggestions on how managers can provide ethical leadership.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4799907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Social entrepreneurs want to make the world a better place and have a driving passion to make that happen. For example, Microsoft Corporation announced that it would donate $1 billion in cloud services to nonprofits and university researchers. Microsoft’s goal is to provide the same computing tools that have allowed business firms to become more agile and tackle substantial technical challenges. Also, social entrepreneurs use creativity and ingenuity to solve problems. For instance, Seattle-based PATH (Program for Appropriate Technology in Health) is an international nonprofit organization that uses low-cost technology to provide needed health-care solutions for poor, developing countries.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255679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BDF791E7-750C-8341-AAFB-569D9EBD860C}" type="datetime1">
              <a:rPr lang="en-US" smtClean="0"/>
              <a:pPr/>
              <a:t>9/6/26</a:t>
            </a:fld>
            <a:endParaRPr lang="en-US" dirty="0"/>
          </a:p>
        </p:txBody>
      </p:sp>
      <p:pic>
        <p:nvPicPr>
          <p:cNvPr id="8" name="Picture 7"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42FB9264-E59D-4043-9483-B863A08BF7FA}" type="datetime1">
              <a:rPr lang="en-US" smtClean="0"/>
              <a:pPr/>
              <a:t>9/6/26</a:t>
            </a:fld>
            <a:endParaRPr lang="en-US" dirty="0"/>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1"/>
          </p:nvPr>
        </p:nvSpPr>
        <p:spPr/>
        <p:txBody>
          <a:bodyPr/>
          <a:lstStyle/>
          <a:p>
            <a:fld id="{2C3A0B96-8BDC-3940-87A4-7335ADF41F82}" type="datetime1">
              <a:rPr lang="en-US" smtClean="0"/>
              <a:pPr/>
              <a:t>9/6/26</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9/6/26</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309878BC-7C7D-8B4D-8C72-5012D25A75FF}" type="datetime1">
              <a:rPr lang="en-US" smtClean="0"/>
              <a:pPr/>
              <a:t>9/6/26</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F71CB5E4-2482-7B44-B2CD-545334C269B9}" type="datetime1">
              <a:rPr lang="en-US" smtClean="0"/>
              <a:pPr/>
              <a:t>9/6/26</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4" name="Date Placeholder 3"/>
          <p:cNvSpPr>
            <a:spLocks noGrp="1"/>
          </p:cNvSpPr>
          <p:nvPr>
            <p:ph type="dt" sz="half" idx="10"/>
          </p:nvPr>
        </p:nvSpPr>
        <p:spPr/>
        <p:txBody>
          <a:bodyPr/>
          <a:lstStyle/>
          <a:p>
            <a:fld id="{2233C098-7E69-2F4E-8219-6B630AF7AB62}" type="datetime1">
              <a:rPr lang="en-US" smtClean="0"/>
              <a:pPr/>
              <a:t>9/6/26</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3" name="Date Placeholder 2"/>
          <p:cNvSpPr>
            <a:spLocks noGrp="1"/>
          </p:cNvSpPr>
          <p:nvPr>
            <p:ph type="dt" sz="half" idx="10"/>
          </p:nvPr>
        </p:nvSpPr>
        <p:spPr/>
        <p:txBody>
          <a:bodyPr/>
          <a:lstStyle/>
          <a:p>
            <a:fld id="{FAA56894-5F48-BC43-8C04-BBB42A2EF5DA}" type="datetime1">
              <a:rPr lang="en-US" smtClean="0"/>
              <a:pPr/>
              <a:t>9/6/26</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a:t>Copyright © 2018 Pearson Education, Inc.</a:t>
            </a:r>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9/6/26</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pic>
        <p:nvPicPr>
          <p:cNvPr id="7" name="Picture 6"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a:t>Copyright © 2018 Pearson Education, Inc.</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9/6/26</a:t>
            </a:fld>
            <a:endParaRPr lang="en-US" dirty="0"/>
          </a:p>
        </p:txBody>
      </p:sp>
      <p:pic>
        <p:nvPicPr>
          <p:cNvPr id="7" name="Picture 6" descr="Pearson Logo"/>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a:solidFill>
                  <a:schemeClr val="tx1"/>
                </a:solidFill>
                <a:latin typeface="Verdana" pitchFamily="34" charset="0"/>
                <a:ea typeface="Verdana" pitchFamily="34" charset="0"/>
                <a:cs typeface="Verdana" pitchFamily="34" charset="0"/>
              </a:rPr>
              <a:t>Copyright © 2019 Pearson India Education Services Pvt. Ltd.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C723-61F0-5CE0-5881-B36D0A90D7E2}"/>
              </a:ext>
            </a:extLst>
          </p:cNvPr>
          <p:cNvSpPr>
            <a:spLocks noGrp="1"/>
          </p:cNvSpPr>
          <p:nvPr>
            <p:ph type="ctrTitle"/>
          </p:nvPr>
        </p:nvSpPr>
        <p:spPr/>
        <p:txBody>
          <a:bodyPr/>
          <a:lstStyle/>
          <a:p>
            <a:r>
              <a:rPr lang="en-US" dirty="0"/>
              <a:t>Managing Social Responsibility and Ethics</a:t>
            </a:r>
          </a:p>
        </p:txBody>
      </p:sp>
      <p:sp>
        <p:nvSpPr>
          <p:cNvPr id="3" name="Subtitle 2">
            <a:extLst>
              <a:ext uri="{FF2B5EF4-FFF2-40B4-BE49-F238E27FC236}">
                <a16:creationId xmlns:a16="http://schemas.microsoft.com/office/drawing/2014/main" id="{B0DF6DF1-CF26-6253-6F85-324BA1E4497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19682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View: Social Obligation</a:t>
            </a:r>
          </a:p>
        </p:txBody>
      </p:sp>
      <p:sp>
        <p:nvSpPr>
          <p:cNvPr id="3" name="Content Placeholder 2"/>
          <p:cNvSpPr>
            <a:spLocks noGrp="1"/>
          </p:cNvSpPr>
          <p:nvPr>
            <p:ph idx="1"/>
          </p:nvPr>
        </p:nvSpPr>
        <p:spPr/>
        <p:txBody>
          <a:bodyPr/>
          <a:lstStyle/>
          <a:p>
            <a:r>
              <a:rPr lang="en-US" sz="2400" b="1" dirty="0"/>
              <a:t>Social obligation</a:t>
            </a:r>
            <a:r>
              <a:rPr lang="en-US" sz="2400" dirty="0"/>
              <a:t>: when a firm engages in social actions because of its obligation to meet certain economic and legal responsibilities</a:t>
            </a:r>
          </a:p>
          <a:p>
            <a:r>
              <a:rPr lang="en-US" sz="2400" b="1" dirty="0"/>
              <a:t>Classical view</a:t>
            </a:r>
            <a:r>
              <a:rPr lang="en-US" sz="2400" dirty="0"/>
              <a:t>: the view that management’s only social responsibility is to maximize profits</a:t>
            </a:r>
          </a:p>
        </p:txBody>
      </p:sp>
    </p:spTree>
    <p:extLst>
      <p:ext uri="{BB962C8B-B14F-4D97-AF65-F5344CB8AC3E}">
        <p14:creationId xmlns:p14="http://schemas.microsoft.com/office/powerpoint/2010/main" val="811449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Socioeconomic View: Responsiveness and Responsibility </a:t>
            </a:r>
          </a:p>
        </p:txBody>
      </p:sp>
      <p:sp>
        <p:nvSpPr>
          <p:cNvPr id="3" name="Content Placeholder 2"/>
          <p:cNvSpPr>
            <a:spLocks noGrp="1"/>
          </p:cNvSpPr>
          <p:nvPr>
            <p:ph idx="1"/>
          </p:nvPr>
        </p:nvSpPr>
        <p:spPr/>
        <p:txBody>
          <a:bodyPr/>
          <a:lstStyle/>
          <a:p>
            <a:r>
              <a:rPr lang="en-US" sz="2000" b="1" dirty="0"/>
              <a:t>Socioeconomic view </a:t>
            </a:r>
            <a:r>
              <a:rPr lang="en-US" sz="2000" dirty="0"/>
              <a:t>managers’ social responsibilities go beyond making profits to include protecting and improving society’s welfare.</a:t>
            </a:r>
          </a:p>
          <a:p>
            <a:r>
              <a:rPr lang="en-US" sz="2000" b="1" dirty="0">
                <a:cs typeface="Arial" charset="0"/>
              </a:rPr>
              <a:t>Social responsiveness </a:t>
            </a:r>
            <a:r>
              <a:rPr lang="en-US" sz="2000" dirty="0">
                <a:cs typeface="Arial" charset="0"/>
              </a:rPr>
              <a:t>is when a company engages in social actions in response to some popular social need. Managers are guided by social norms and values and make practical, market-oriented decisions about their actions. For instance, Ford Motor Company became the first automaker to endorse a federal ban on sending text messages while driving.</a:t>
            </a:r>
          </a:p>
          <a:p>
            <a:r>
              <a:rPr lang="en-US" sz="2000" b="1" dirty="0"/>
              <a:t>Social responsibility</a:t>
            </a:r>
            <a:r>
              <a:rPr lang="en-US" sz="2000" dirty="0"/>
              <a:t>: A business’s intention, beyond its legal and economic obligations, to do the right things and act in ways that are good for society</a:t>
            </a:r>
          </a:p>
        </p:txBody>
      </p:sp>
    </p:spTree>
    <p:extLst>
      <p:ext uri="{BB962C8B-B14F-4D97-AF65-F5344CB8AC3E}">
        <p14:creationId xmlns:p14="http://schemas.microsoft.com/office/powerpoint/2010/main" val="1053921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Should Organizations Be Socially Involved?</a:t>
            </a:r>
          </a:p>
        </p:txBody>
      </p:sp>
      <p:sp>
        <p:nvSpPr>
          <p:cNvPr id="3" name="Content Placeholder 2"/>
          <p:cNvSpPr>
            <a:spLocks noGrp="1"/>
          </p:cNvSpPr>
          <p:nvPr>
            <p:ph idx="1"/>
          </p:nvPr>
        </p:nvSpPr>
        <p:spPr/>
        <p:txBody>
          <a:bodyPr/>
          <a:lstStyle/>
          <a:p>
            <a:pPr>
              <a:spcBef>
                <a:spcPts val="0"/>
              </a:spcBef>
              <a:buClrTx/>
              <a:buSzTx/>
              <a:defRPr/>
            </a:pPr>
            <a:r>
              <a:rPr lang="en-US" sz="2400" b="1" dirty="0">
                <a:cs typeface="Arial" charset="0"/>
              </a:rPr>
              <a:t>Socially responsible investing (SRI) funds </a:t>
            </a:r>
            <a:r>
              <a:rPr lang="en-US" sz="2400" dirty="0">
                <a:cs typeface="Arial" charset="0"/>
              </a:rPr>
              <a:t>provide a way for individual investors to support socially responsible companies. </a:t>
            </a:r>
          </a:p>
          <a:p>
            <a:pPr>
              <a:spcBef>
                <a:spcPts val="0"/>
              </a:spcBef>
              <a:buClrTx/>
              <a:buSzTx/>
              <a:defRPr/>
            </a:pPr>
            <a:r>
              <a:rPr lang="en-US" sz="2400" b="1" dirty="0">
                <a:cs typeface="Arial" charset="0"/>
              </a:rPr>
              <a:t>Social screening </a:t>
            </a:r>
            <a:r>
              <a:rPr lang="en-US" sz="2400" dirty="0">
                <a:cs typeface="Arial" charset="0"/>
              </a:rPr>
              <a:t>apply social and environmental criteria to investment decisions.</a:t>
            </a:r>
          </a:p>
          <a:p>
            <a:pPr>
              <a:spcBef>
                <a:spcPts val="0"/>
              </a:spcBef>
              <a:buClrTx/>
              <a:buSzTx/>
              <a:defRPr/>
            </a:pPr>
            <a:r>
              <a:rPr lang="en-US" sz="2400" dirty="0"/>
              <a:t>SRI funds usually will not invest in companies involved in liquor, gambling, tobacco, nuclear power weapons, price fixing, fraud, or in companies that have poor product safety, employee relations, and environmental track records</a:t>
            </a:r>
            <a:endParaRPr lang="en-US" sz="2400" dirty="0">
              <a:cs typeface="Arial" charset="0"/>
            </a:endParaRPr>
          </a:p>
          <a:p>
            <a:endParaRPr lang="en-US" dirty="0"/>
          </a:p>
          <a:p>
            <a:endParaRPr lang="en-US" dirty="0"/>
          </a:p>
        </p:txBody>
      </p:sp>
    </p:spTree>
    <p:extLst>
      <p:ext uri="{BB962C8B-B14F-4D97-AF65-F5344CB8AC3E}">
        <p14:creationId xmlns:p14="http://schemas.microsoft.com/office/powerpoint/2010/main" val="965711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BB767-3DD9-90FB-E521-D9446CE55544}"/>
              </a:ext>
            </a:extLst>
          </p:cNvPr>
          <p:cNvSpPr>
            <a:spLocks noGrp="1"/>
          </p:cNvSpPr>
          <p:nvPr>
            <p:ph type="title"/>
          </p:nvPr>
        </p:nvSpPr>
        <p:spPr/>
        <p:txBody>
          <a:bodyPr/>
          <a:lstStyle/>
          <a:p>
            <a:r>
              <a:rPr lang="en-US" sz="3600" dirty="0"/>
              <a:t>Arguments For and Against Social Responsibility</a:t>
            </a:r>
            <a:endParaRPr lang="en-US" dirty="0"/>
          </a:p>
        </p:txBody>
      </p:sp>
      <p:sp>
        <p:nvSpPr>
          <p:cNvPr id="3" name="Content Placeholder 2">
            <a:extLst>
              <a:ext uri="{FF2B5EF4-FFF2-40B4-BE49-F238E27FC236}">
                <a16:creationId xmlns:a16="http://schemas.microsoft.com/office/drawing/2014/main" id="{D450BF63-BB61-C6DF-4C9D-85FE344CFAD7}"/>
              </a:ext>
            </a:extLst>
          </p:cNvPr>
          <p:cNvSpPr>
            <a:spLocks noGrp="1"/>
          </p:cNvSpPr>
          <p:nvPr>
            <p:ph idx="1"/>
          </p:nvPr>
        </p:nvSpPr>
        <p:spPr/>
        <p:txBody>
          <a:bodyPr/>
          <a:lstStyle/>
          <a:p>
            <a:r>
              <a:rPr lang="en-US" sz="1800" b="1" dirty="0"/>
              <a:t>For</a:t>
            </a:r>
          </a:p>
          <a:p>
            <a:pPr lvl="1"/>
            <a:r>
              <a:rPr lang="en-US" sz="1800" b="1" dirty="0"/>
              <a:t>Positive public opinion and support</a:t>
            </a:r>
          </a:p>
          <a:p>
            <a:pPr lvl="1"/>
            <a:r>
              <a:rPr lang="en-US" sz="1800" b="1" dirty="0"/>
              <a:t>Secure long run profits </a:t>
            </a:r>
          </a:p>
          <a:p>
            <a:pPr lvl="1"/>
            <a:r>
              <a:rPr lang="en-US" sz="1800" b="1" dirty="0"/>
              <a:t>Ethical obligation (right thing to do)</a:t>
            </a:r>
          </a:p>
          <a:p>
            <a:pPr lvl="1"/>
            <a:r>
              <a:rPr lang="en-US" sz="1800" b="1" dirty="0"/>
              <a:t>Favorable public image</a:t>
            </a:r>
          </a:p>
          <a:p>
            <a:pPr lvl="1"/>
            <a:r>
              <a:rPr lang="en-US" sz="1800" b="1" dirty="0"/>
              <a:t>Solve social problems &amp; create better environment</a:t>
            </a:r>
          </a:p>
          <a:p>
            <a:pPr lvl="1"/>
            <a:r>
              <a:rPr lang="en-US" sz="1800" b="1" dirty="0"/>
              <a:t>Less government regulation </a:t>
            </a:r>
          </a:p>
          <a:p>
            <a:endParaRPr lang="en-US" b="1" dirty="0"/>
          </a:p>
        </p:txBody>
      </p:sp>
      <p:sp>
        <p:nvSpPr>
          <p:cNvPr id="4" name="Content Placeholder 3">
            <a:extLst>
              <a:ext uri="{FF2B5EF4-FFF2-40B4-BE49-F238E27FC236}">
                <a16:creationId xmlns:a16="http://schemas.microsoft.com/office/drawing/2014/main" id="{643E4C68-F7F2-F6BD-BF62-9E0CAFC2BC07}"/>
              </a:ext>
            </a:extLst>
          </p:cNvPr>
          <p:cNvSpPr>
            <a:spLocks noGrp="1"/>
          </p:cNvSpPr>
          <p:nvPr>
            <p:ph idx="13"/>
          </p:nvPr>
        </p:nvSpPr>
        <p:spPr/>
        <p:txBody>
          <a:bodyPr/>
          <a:lstStyle/>
          <a:p>
            <a:r>
              <a:rPr lang="en-US" sz="1800" b="1" dirty="0"/>
              <a:t>Against </a:t>
            </a:r>
          </a:p>
          <a:p>
            <a:pPr lvl="1"/>
            <a:r>
              <a:rPr lang="en-US" sz="1800" b="1" dirty="0"/>
              <a:t>Violation of profit maximization</a:t>
            </a:r>
          </a:p>
          <a:p>
            <a:pPr lvl="1"/>
            <a:r>
              <a:rPr lang="en-US" sz="1800" b="1" dirty="0"/>
              <a:t>Dilution of main purchase – economic productivity </a:t>
            </a:r>
          </a:p>
          <a:p>
            <a:pPr lvl="1"/>
            <a:r>
              <a:rPr lang="en-US" sz="1800" b="1" dirty="0"/>
              <a:t>Costs  </a:t>
            </a:r>
          </a:p>
          <a:p>
            <a:pPr lvl="1"/>
            <a:r>
              <a:rPr lang="en-US" sz="1800" b="1" dirty="0"/>
              <a:t>Lack of skills </a:t>
            </a:r>
          </a:p>
          <a:p>
            <a:pPr lvl="1"/>
            <a:r>
              <a:rPr lang="en-US" sz="1800" b="1" dirty="0"/>
              <a:t>Lack of accountability </a:t>
            </a:r>
          </a:p>
        </p:txBody>
      </p:sp>
    </p:spTree>
    <p:extLst>
      <p:ext uri="{BB962C8B-B14F-4D97-AF65-F5344CB8AC3E}">
        <p14:creationId xmlns:p14="http://schemas.microsoft.com/office/powerpoint/2010/main" val="407142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 Management</a:t>
            </a:r>
          </a:p>
        </p:txBody>
      </p:sp>
      <p:sp>
        <p:nvSpPr>
          <p:cNvPr id="3" name="Content Placeholder 2"/>
          <p:cNvSpPr>
            <a:spLocks noGrp="1"/>
          </p:cNvSpPr>
          <p:nvPr>
            <p:ph idx="1"/>
          </p:nvPr>
        </p:nvSpPr>
        <p:spPr/>
        <p:txBody>
          <a:bodyPr/>
          <a:lstStyle/>
          <a:p>
            <a:r>
              <a:rPr lang="en-US" sz="2800" b="1" dirty="0">
                <a:latin typeface="Arial" pitchFamily="34" charset="0"/>
                <a:cs typeface="Arial" pitchFamily="34" charset="0"/>
              </a:rPr>
              <a:t>Green management: </a:t>
            </a:r>
            <a:r>
              <a:rPr lang="en-US" sz="2800" dirty="0"/>
              <a:t>managers consider the impact of their organization on the natural environment</a:t>
            </a:r>
          </a:p>
          <a:p>
            <a:endParaRPr lang="en-US" dirty="0"/>
          </a:p>
        </p:txBody>
      </p:sp>
    </p:spTree>
    <p:extLst>
      <p:ext uri="{BB962C8B-B14F-4D97-AF65-F5344CB8AC3E}">
        <p14:creationId xmlns:p14="http://schemas.microsoft.com/office/powerpoint/2010/main" val="156309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6-2</a:t>
            </a:r>
            <a:br>
              <a:rPr lang="en-US" dirty="0"/>
            </a:br>
            <a:r>
              <a:rPr lang="en-US" dirty="0"/>
              <a:t>Green Approaches</a:t>
            </a:r>
          </a:p>
        </p:txBody>
      </p:sp>
      <p:pic>
        <p:nvPicPr>
          <p:cNvPr id="7" name="Picture 6" descr="Environmental sensitivity graduates from low to high for the following green approaches:&#10;• Legal Approach&#10;• Market Approach&#10;• Stakeholder Approach&#10;• Activist Approach."/>
          <p:cNvPicPr>
            <a:picLocks noChangeAspect="1"/>
          </p:cNvPicPr>
          <p:nvPr/>
        </p:nvPicPr>
        <p:blipFill>
          <a:blip r:embed="rId3" cstate="print"/>
          <a:stretch>
            <a:fillRect/>
          </a:stretch>
        </p:blipFill>
        <p:spPr>
          <a:xfrm>
            <a:off x="175500" y="1708574"/>
            <a:ext cx="8793000" cy="2993910"/>
          </a:xfrm>
          <a:prstGeom prst="rect">
            <a:avLst/>
          </a:prstGeom>
        </p:spPr>
      </p:pic>
      <p:sp>
        <p:nvSpPr>
          <p:cNvPr id="3" name="Text Placeholder 2"/>
          <p:cNvSpPr>
            <a:spLocks noGrp="1"/>
          </p:cNvSpPr>
          <p:nvPr>
            <p:ph type="body" sz="quarter" idx="13"/>
          </p:nvPr>
        </p:nvSpPr>
        <p:spPr/>
        <p:txBody>
          <a:bodyPr/>
          <a:lstStyle/>
          <a:p>
            <a:r>
              <a:rPr lang="en-US" sz="1600" dirty="0"/>
              <a:t>Exhibit 6-2 uses the terms </a:t>
            </a:r>
            <a:r>
              <a:rPr lang="en-US" sz="1600" i="1" dirty="0"/>
              <a:t>shades of green </a:t>
            </a:r>
            <a:r>
              <a:rPr lang="en-US" sz="1600" dirty="0"/>
              <a:t>to describe the different environmental approaches that organizations may take.</a:t>
            </a:r>
          </a:p>
        </p:txBody>
      </p:sp>
    </p:spTree>
    <p:extLst>
      <p:ext uri="{BB962C8B-B14F-4D97-AF65-F5344CB8AC3E}">
        <p14:creationId xmlns:p14="http://schemas.microsoft.com/office/powerpoint/2010/main" val="63083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Organizations Go Green</a:t>
            </a:r>
          </a:p>
        </p:txBody>
      </p:sp>
      <p:sp>
        <p:nvSpPr>
          <p:cNvPr id="3" name="Content Placeholder 2"/>
          <p:cNvSpPr>
            <a:spLocks noGrp="1"/>
          </p:cNvSpPr>
          <p:nvPr>
            <p:ph idx="1"/>
          </p:nvPr>
        </p:nvSpPr>
        <p:spPr/>
        <p:txBody>
          <a:bodyPr/>
          <a:lstStyle/>
          <a:p>
            <a:r>
              <a:rPr lang="en-US" sz="2000" dirty="0">
                <a:latin typeface="Arial" pitchFamily="34" charset="0"/>
                <a:cs typeface="Arial" pitchFamily="34" charset="0"/>
              </a:rPr>
              <a:t>Legal (light green) approach: </a:t>
            </a:r>
            <a:r>
              <a:rPr lang="en-US" sz="2000" dirty="0">
                <a:cs typeface="Arial" charset="0"/>
              </a:rPr>
              <a:t>simply doing what is required legally </a:t>
            </a:r>
            <a:endParaRPr lang="en-US" sz="2000" dirty="0">
              <a:latin typeface="Arial" pitchFamily="34" charset="0"/>
              <a:cs typeface="Arial" pitchFamily="34" charset="0"/>
            </a:endParaRPr>
          </a:p>
          <a:p>
            <a:r>
              <a:rPr lang="en-US" sz="2000" dirty="0">
                <a:latin typeface="Arial" pitchFamily="34" charset="0"/>
                <a:cs typeface="Arial" pitchFamily="34" charset="0"/>
              </a:rPr>
              <a:t>Market approach: </a:t>
            </a:r>
            <a:r>
              <a:rPr lang="en-US" sz="2000" dirty="0">
                <a:cs typeface="Arial" charset="0"/>
              </a:rPr>
              <a:t>respond to environmental preferences of customers. Whatever customers demand in terms of environmentally friendly products will be what the organization provides.</a:t>
            </a:r>
            <a:endParaRPr lang="en-US" sz="2000" dirty="0">
              <a:latin typeface="Arial" pitchFamily="34" charset="0"/>
              <a:cs typeface="Arial" pitchFamily="34" charset="0"/>
            </a:endParaRPr>
          </a:p>
          <a:p>
            <a:r>
              <a:rPr lang="en-US" sz="2000" dirty="0">
                <a:latin typeface="Arial" pitchFamily="34" charset="0"/>
                <a:cs typeface="Arial" pitchFamily="34" charset="0"/>
              </a:rPr>
              <a:t>Stakeholder approach: </a:t>
            </a:r>
            <a:r>
              <a:rPr lang="en-US" sz="2000" dirty="0">
                <a:cs typeface="Arial" charset="0"/>
              </a:rPr>
              <a:t>organization works to meet the environmental demands of multiple stakeholders such as employees, suppliers, or community. </a:t>
            </a:r>
            <a:endParaRPr lang="en-US" sz="2000" dirty="0">
              <a:latin typeface="Arial" pitchFamily="34" charset="0"/>
              <a:cs typeface="Arial" pitchFamily="34" charset="0"/>
            </a:endParaRPr>
          </a:p>
          <a:p>
            <a:r>
              <a:rPr lang="en-US" sz="2000" dirty="0">
                <a:latin typeface="Arial" pitchFamily="34" charset="0"/>
                <a:cs typeface="Arial" pitchFamily="34" charset="0"/>
              </a:rPr>
              <a:t>Activist (dark green) approach: organization </a:t>
            </a:r>
            <a:r>
              <a:rPr lang="en-US" sz="2000" dirty="0">
                <a:cs typeface="Arial" charset="0"/>
              </a:rPr>
              <a:t>looks for ways to protect the earth’s natural resources. The activist approach reflects the highest degree of environmental sensitivity and illustrates social responsibility.</a:t>
            </a:r>
          </a:p>
        </p:txBody>
      </p:sp>
    </p:spTree>
    <p:extLst>
      <p:ext uri="{BB962C8B-B14F-4D97-AF65-F5344CB8AC3E}">
        <p14:creationId xmlns:p14="http://schemas.microsoft.com/office/powerpoint/2010/main" val="51922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Green Management Actions</a:t>
            </a:r>
          </a:p>
        </p:txBody>
      </p:sp>
      <p:sp>
        <p:nvSpPr>
          <p:cNvPr id="3" name="Content Placeholder 2"/>
          <p:cNvSpPr>
            <a:spLocks noGrp="1"/>
          </p:cNvSpPr>
          <p:nvPr>
            <p:ph idx="1"/>
          </p:nvPr>
        </p:nvSpPr>
        <p:spPr/>
        <p:txBody>
          <a:bodyPr/>
          <a:lstStyle/>
          <a:p>
            <a:r>
              <a:rPr lang="en-US" sz="2400" dirty="0"/>
              <a:t>Company-issued reports on environmental performance sustainability using the guidelines developed by the </a:t>
            </a:r>
            <a:r>
              <a:rPr lang="en-US" sz="2400" b="1" dirty="0"/>
              <a:t>Global Reporting Initiative (GRI).</a:t>
            </a:r>
          </a:p>
          <a:p>
            <a:r>
              <a:rPr lang="en-US" sz="2400" b="1" dirty="0"/>
              <a:t>International Organization for Standardization (ISO) </a:t>
            </a:r>
            <a:r>
              <a:rPr lang="en-US" sz="2400" dirty="0"/>
              <a:t>9000 (quality management) and ISO 14000 (environmental management) standards</a:t>
            </a:r>
          </a:p>
          <a:p>
            <a:r>
              <a:rPr lang="en-US" sz="2400" b="1" dirty="0"/>
              <a:t>Global 100 list </a:t>
            </a:r>
            <a:r>
              <a:rPr lang="en-US" sz="2400" dirty="0"/>
              <a:t>of the most sustainable corporations in the world (</a:t>
            </a:r>
            <a:r>
              <a:rPr lang="en-US" sz="2400" dirty="0" err="1"/>
              <a:t>www.corporateknights.com</a:t>
            </a:r>
            <a:r>
              <a:rPr lang="en-US" sz="2400" dirty="0"/>
              <a:t>)</a:t>
            </a:r>
          </a:p>
          <a:p>
            <a:endParaRPr lang="en-US" sz="2800" dirty="0"/>
          </a:p>
        </p:txBody>
      </p:sp>
    </p:spTree>
    <p:extLst>
      <p:ext uri="{BB962C8B-B14F-4D97-AF65-F5344CB8AC3E}">
        <p14:creationId xmlns:p14="http://schemas.microsoft.com/office/powerpoint/2010/main" val="1248531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Behavior</a:t>
            </a:r>
          </a:p>
        </p:txBody>
      </p:sp>
      <p:sp>
        <p:nvSpPr>
          <p:cNvPr id="3" name="Content Placeholder 2"/>
          <p:cNvSpPr>
            <a:spLocks noGrp="1"/>
          </p:cNvSpPr>
          <p:nvPr>
            <p:ph idx="1"/>
          </p:nvPr>
        </p:nvSpPr>
        <p:spPr/>
        <p:txBody>
          <a:bodyPr/>
          <a:lstStyle/>
          <a:p>
            <a:r>
              <a:rPr lang="en-US" sz="2000" b="1" dirty="0">
                <a:latin typeface="Arial" pitchFamily="34" charset="0"/>
                <a:cs typeface="Arial" pitchFamily="34" charset="0"/>
              </a:rPr>
              <a:t>Ethics: </a:t>
            </a:r>
            <a:r>
              <a:rPr lang="en-US" sz="2000" dirty="0"/>
              <a:t>principles, values, and beliefs that define right and wrong behavior</a:t>
            </a:r>
          </a:p>
          <a:p>
            <a:r>
              <a:rPr lang="en-US" altLang="en-US" sz="2000" b="1" dirty="0">
                <a:latin typeface="Google Sans"/>
              </a:rPr>
              <a:t>Beliefs</a:t>
            </a:r>
            <a:r>
              <a:rPr lang="en-US" altLang="en-US" sz="2000" dirty="0">
                <a:latin typeface="Google Sans"/>
              </a:rPr>
              <a:t> are what you </a:t>
            </a:r>
            <a:r>
              <a:rPr lang="en-US" altLang="en-US" sz="2000" b="1" dirty="0">
                <a:latin typeface="Google Sans"/>
              </a:rPr>
              <a:t>accept as truth</a:t>
            </a:r>
            <a:r>
              <a:rPr lang="en-US" altLang="en-US" sz="2000" dirty="0">
                <a:latin typeface="Google Sans"/>
              </a:rPr>
              <a:t>, acting as the root foundation of your worldview. For instance, Believing that all human beings are created equal</a:t>
            </a:r>
            <a:endParaRPr lang="en-US" altLang="en-US" sz="2000" dirty="0"/>
          </a:p>
          <a:p>
            <a:r>
              <a:rPr lang="en-US" altLang="en-US" sz="2000" b="1" dirty="0">
                <a:latin typeface="Google Sans"/>
              </a:rPr>
              <a:t>Values</a:t>
            </a:r>
            <a:r>
              <a:rPr lang="en-US" altLang="en-US" sz="2000" dirty="0">
                <a:latin typeface="Google Sans"/>
              </a:rPr>
              <a:t> are what you </a:t>
            </a:r>
            <a:r>
              <a:rPr lang="en-US" altLang="en-US" sz="2000" b="1" dirty="0">
                <a:latin typeface="Google Sans"/>
              </a:rPr>
              <a:t>cherish or prioritize</a:t>
            </a:r>
            <a:r>
              <a:rPr lang="en-US" altLang="en-US" sz="2000" dirty="0">
                <a:latin typeface="Google Sans"/>
              </a:rPr>
              <a:t>, serving as an internal compass for what matters. For instance, Honesty: prioritizing truthfulness above comfort</a:t>
            </a:r>
            <a:endParaRPr lang="en-US" altLang="en-US" sz="2000" dirty="0"/>
          </a:p>
          <a:p>
            <a:r>
              <a:rPr lang="en-US" altLang="en-US" sz="2000" b="1" dirty="0">
                <a:latin typeface="Google Sans"/>
              </a:rPr>
              <a:t>Principles</a:t>
            </a:r>
            <a:r>
              <a:rPr lang="en-US" altLang="en-US" sz="2000" dirty="0">
                <a:latin typeface="Google Sans"/>
              </a:rPr>
              <a:t> are the </a:t>
            </a:r>
            <a:r>
              <a:rPr lang="en-US" altLang="en-US" sz="2000" b="1" dirty="0">
                <a:latin typeface="Google Sans"/>
              </a:rPr>
              <a:t>rules you live by</a:t>
            </a:r>
            <a:r>
              <a:rPr lang="en-US" altLang="en-US" sz="2000" dirty="0">
                <a:latin typeface="Google Sans"/>
              </a:rPr>
              <a:t>, acting as the practical operating system derived from your values. For instance, If your value is honesty: you principle is “I will never tell a lie, even if it gets me into trouble”</a:t>
            </a:r>
            <a:endParaRPr lang="en-US" altLang="en-US" sz="2000" dirty="0"/>
          </a:p>
          <a:p>
            <a:r>
              <a:rPr lang="en-US" altLang="en-US" sz="2000" b="1" dirty="0">
                <a:latin typeface="Google Sans"/>
              </a:rPr>
              <a:t>Ethics</a:t>
            </a:r>
            <a:r>
              <a:rPr lang="en-US" altLang="en-US" sz="2000" dirty="0">
                <a:latin typeface="Google Sans"/>
              </a:rPr>
              <a:t> are the </a:t>
            </a:r>
            <a:r>
              <a:rPr lang="en-US" altLang="en-US" sz="2000" b="1" dirty="0">
                <a:latin typeface="Google Sans"/>
              </a:rPr>
              <a:t>external standards of a group</a:t>
            </a:r>
            <a:r>
              <a:rPr lang="en-US" altLang="en-US" sz="2000" dirty="0">
                <a:latin typeface="Google Sans"/>
              </a:rPr>
              <a:t>, governing collective or professional conduct rather than purely personal feelings. For instance, Medical, legal, corporate, and journalistic ethics</a:t>
            </a:r>
            <a:endParaRPr lang="en-US" altLang="en-US" sz="2000" dirty="0">
              <a:latin typeface="Arial" panose="020B0604020202020204" pitchFamily="34" charset="0"/>
            </a:endParaRPr>
          </a:p>
          <a:p>
            <a:endParaRPr lang="en-US" sz="3600" dirty="0"/>
          </a:p>
        </p:txBody>
      </p:sp>
    </p:spTree>
    <p:extLst>
      <p:ext uri="{BB962C8B-B14F-4D97-AF65-F5344CB8AC3E}">
        <p14:creationId xmlns:p14="http://schemas.microsoft.com/office/powerpoint/2010/main" val="1972741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z="2600" dirty="0"/>
              <a:t>Exhibit 6-3</a:t>
            </a:r>
            <a:br>
              <a:rPr lang="en-US" sz="2600" dirty="0"/>
            </a:br>
            <a:r>
              <a:rPr lang="en-US" sz="2600" dirty="0"/>
              <a:t>Factors that Determine Ethical and Unethical Behavior</a:t>
            </a:r>
          </a:p>
        </p:txBody>
      </p:sp>
      <p:pic>
        <p:nvPicPr>
          <p:cNvPr id="6" name="Picture 5" descr="Diagram shows factors like ethical dilemma leading to stage of moral development with moderators like individual characteristics, issue intensity and structural variables together leading to ethical/unethical behavior."/>
          <p:cNvPicPr>
            <a:picLocks noChangeAspect="1"/>
          </p:cNvPicPr>
          <p:nvPr/>
        </p:nvPicPr>
        <p:blipFill>
          <a:blip r:embed="rId3" cstate="print"/>
          <a:stretch>
            <a:fillRect/>
          </a:stretch>
        </p:blipFill>
        <p:spPr>
          <a:xfrm>
            <a:off x="337344" y="1917265"/>
            <a:ext cx="8469312" cy="3416735"/>
          </a:xfrm>
          <a:prstGeom prst="rect">
            <a:avLst/>
          </a:prstGeom>
        </p:spPr>
      </p:pic>
      <p:sp>
        <p:nvSpPr>
          <p:cNvPr id="3" name="Text Placeholder 2"/>
          <p:cNvSpPr>
            <a:spLocks noGrp="1"/>
          </p:cNvSpPr>
          <p:nvPr>
            <p:ph type="body" sz="quarter" idx="13"/>
          </p:nvPr>
        </p:nvSpPr>
        <p:spPr/>
        <p:txBody>
          <a:bodyPr/>
          <a:lstStyle/>
          <a:p>
            <a:r>
              <a:rPr lang="en-US" sz="1600" dirty="0"/>
              <a:t>Exhibit 6-3 shows factors that determine ethical and unethical behavior.</a:t>
            </a:r>
          </a:p>
        </p:txBody>
      </p:sp>
    </p:spTree>
    <p:extLst>
      <p:ext uri="{BB962C8B-B14F-4D97-AF65-F5344CB8AC3E}">
        <p14:creationId xmlns:p14="http://schemas.microsoft.com/office/powerpoint/2010/main" val="63838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of Moral Development</a:t>
            </a:r>
          </a:p>
        </p:txBody>
      </p:sp>
      <p:sp>
        <p:nvSpPr>
          <p:cNvPr id="3" name="Content Placeholder 2"/>
          <p:cNvSpPr>
            <a:spLocks noGrp="1"/>
          </p:cNvSpPr>
          <p:nvPr>
            <p:ph idx="1"/>
          </p:nvPr>
        </p:nvSpPr>
        <p:spPr/>
        <p:txBody>
          <a:bodyPr/>
          <a:lstStyle/>
          <a:p>
            <a:r>
              <a:rPr lang="en-IN" sz="2000" b="1" dirty="0"/>
              <a:t>Morals</a:t>
            </a:r>
            <a:r>
              <a:rPr lang="en-IN" sz="2000" dirty="0"/>
              <a:t> are an individual's or a cultural group's deeply held, internalized ideas about what is right and wrong, good and bad. They serve as a personal compass for judging human </a:t>
            </a:r>
            <a:r>
              <a:rPr lang="en-IN" sz="2000" dirty="0" err="1"/>
              <a:t>behavior</a:t>
            </a:r>
            <a:r>
              <a:rPr lang="en-IN" sz="2000" dirty="0"/>
              <a:t> and character. For instance, I believe it is morally wrong to defend someone who has caused harm</a:t>
            </a:r>
            <a:endParaRPr lang="en-US" sz="2000" dirty="0">
              <a:latin typeface="Arial" pitchFamily="34" charset="0"/>
              <a:cs typeface="Arial" pitchFamily="34" charset="0"/>
            </a:endParaRPr>
          </a:p>
          <a:p>
            <a:r>
              <a:rPr lang="en-US" sz="2000" b="1" dirty="0">
                <a:latin typeface="Arial" pitchFamily="34" charset="0"/>
                <a:cs typeface="Arial" pitchFamily="34" charset="0"/>
              </a:rPr>
              <a:t>Preconventional level: </a:t>
            </a:r>
            <a:r>
              <a:rPr lang="en-US" sz="2000" dirty="0">
                <a:cs typeface="Arial" charset="0"/>
              </a:rPr>
              <a:t>a person’s choice between right or wrong is based on personal consequences from outside sources, such as physical punishment, reward, or exchange of favors. </a:t>
            </a:r>
            <a:endParaRPr lang="en-US" sz="2000" dirty="0">
              <a:latin typeface="Arial" pitchFamily="34" charset="0"/>
              <a:cs typeface="Arial" pitchFamily="34" charset="0"/>
            </a:endParaRPr>
          </a:p>
          <a:p>
            <a:r>
              <a:rPr lang="en-US" sz="2000" b="1" dirty="0">
                <a:latin typeface="Arial" pitchFamily="34" charset="0"/>
                <a:cs typeface="Arial" pitchFamily="34" charset="0"/>
              </a:rPr>
              <a:t>Conventional level: </a:t>
            </a:r>
            <a:r>
              <a:rPr lang="en-US" sz="2000" dirty="0">
                <a:cs typeface="Arial" charset="0"/>
              </a:rPr>
              <a:t>ethical decisions rely on maintaining expected standards and living up to the expectations of others</a:t>
            </a:r>
            <a:endParaRPr lang="en-US" sz="2000" dirty="0">
              <a:latin typeface="Arial" pitchFamily="34" charset="0"/>
              <a:cs typeface="Arial" pitchFamily="34" charset="0"/>
            </a:endParaRPr>
          </a:p>
          <a:p>
            <a:r>
              <a:rPr lang="en-US" sz="2000" b="1" dirty="0">
                <a:latin typeface="Arial" pitchFamily="34" charset="0"/>
                <a:cs typeface="Arial" pitchFamily="34" charset="0"/>
              </a:rPr>
              <a:t>Principled level: </a:t>
            </a:r>
            <a:r>
              <a:rPr lang="en-US" sz="2000" dirty="0">
                <a:cs typeface="Arial" charset="0"/>
              </a:rPr>
              <a:t>individuals define moral values apart from the authority of the groups to which they belong or society in general</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160016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6-4</a:t>
            </a:r>
            <a:br>
              <a:rPr lang="en-US" dirty="0"/>
            </a:br>
            <a:r>
              <a:rPr lang="en-US" dirty="0"/>
              <a:t>Stages of Moral Development</a:t>
            </a:r>
          </a:p>
        </p:txBody>
      </p:sp>
      <p:pic>
        <p:nvPicPr>
          <p:cNvPr id="8" name="Picture 3" descr="The various stages with their description are as follows: &#10;• Preconvention: Sticking to rules to avoid physical punishment, Following rules only when doing so is in your immediate interest.&#10;• Conventional: Living up to what is expected by people close to you, maintaining conventional order by fulfilling obligations to which you have agreed.&#10;• Principled: Valuing rights of others, following self-chosen ethical principles even if they violate the law."/>
          <p:cNvPicPr>
            <a:picLocks noGrp="1" noChangeAspect="1" noChangeArrowheads="1"/>
          </p:cNvPicPr>
          <p:nvPr/>
        </p:nvPicPr>
        <p:blipFill>
          <a:blip r:embed="rId3" cstate="print"/>
          <a:srcRect/>
          <a:stretch>
            <a:fillRect/>
          </a:stretch>
        </p:blipFill>
        <p:spPr bwMode="auto">
          <a:xfrm>
            <a:off x="327390" y="1503026"/>
            <a:ext cx="8489220" cy="4004348"/>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a:t>Exhibit 6-4 shows the three levels and six stages of moral development.</a:t>
            </a:r>
          </a:p>
        </p:txBody>
      </p:sp>
    </p:spTree>
    <p:extLst>
      <p:ext uri="{BB962C8B-B14F-4D97-AF65-F5344CB8AC3E}">
        <p14:creationId xmlns:p14="http://schemas.microsoft.com/office/powerpoint/2010/main" val="1345824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Individual Characteristics</a:t>
            </a:r>
          </a:p>
        </p:txBody>
      </p:sp>
      <p:sp>
        <p:nvSpPr>
          <p:cNvPr id="3" name="Content Placeholder 2"/>
          <p:cNvSpPr>
            <a:spLocks noGrp="1"/>
          </p:cNvSpPr>
          <p:nvPr>
            <p:ph idx="1"/>
          </p:nvPr>
        </p:nvSpPr>
        <p:spPr/>
        <p:txBody>
          <a:bodyPr/>
          <a:lstStyle/>
          <a:p>
            <a:r>
              <a:rPr lang="en-US" sz="2000" dirty="0">
                <a:cs typeface="Arial" charset="0"/>
              </a:rPr>
              <a:t>Two individual characteristics—values and personality</a:t>
            </a:r>
          </a:p>
          <a:p>
            <a:r>
              <a:rPr lang="en-US" sz="2000" dirty="0">
                <a:cs typeface="Arial" charset="0"/>
              </a:rPr>
              <a:t>Each person comes to an organization with a relatively entrenched set of personal </a:t>
            </a:r>
            <a:r>
              <a:rPr lang="en-US" sz="2000" b="1" dirty="0">
                <a:cs typeface="Arial" charset="0"/>
              </a:rPr>
              <a:t>values</a:t>
            </a:r>
            <a:r>
              <a:rPr lang="en-US" sz="2000" dirty="0">
                <a:cs typeface="Arial" charset="0"/>
              </a:rPr>
              <a:t>, which represent basic convictions about what is right and wrong. Our values develop from a young age based on what we see and hear from parents, teachers, friends, and others.</a:t>
            </a:r>
            <a:endParaRPr lang="en-US" sz="2000" dirty="0">
              <a:latin typeface="Arial" pitchFamily="34" charset="0"/>
              <a:cs typeface="Arial" pitchFamily="34" charset="0"/>
            </a:endParaRPr>
          </a:p>
          <a:p>
            <a:r>
              <a:rPr lang="en-US" sz="2000" b="1" dirty="0">
                <a:cs typeface="Arial" charset="0"/>
              </a:rPr>
              <a:t>Ego strength </a:t>
            </a:r>
            <a:r>
              <a:rPr lang="en-US" sz="2000" dirty="0">
                <a:cs typeface="Arial" charset="0"/>
              </a:rPr>
              <a:t>measures the strength of a person’s convictions. People with high ego strength are likely to resist impulses to act unethically and instead follow their convictions. </a:t>
            </a:r>
          </a:p>
          <a:p>
            <a:r>
              <a:rPr lang="en-US" sz="2000" b="1" dirty="0">
                <a:cs typeface="Arial" charset="0"/>
              </a:rPr>
              <a:t>Locus of control </a:t>
            </a:r>
            <a:r>
              <a:rPr lang="en-US" sz="2000" dirty="0">
                <a:cs typeface="Arial" charset="0"/>
              </a:rPr>
              <a:t>is the degree to which people believe they control their own fate. People with an </a:t>
            </a:r>
            <a:r>
              <a:rPr lang="en-US" sz="2000" i="1" dirty="0">
                <a:cs typeface="Arial" charset="0"/>
              </a:rPr>
              <a:t>internal </a:t>
            </a:r>
            <a:r>
              <a:rPr lang="en-US" sz="2000" dirty="0">
                <a:cs typeface="Arial" charset="0"/>
              </a:rPr>
              <a:t>locus of control believe they control their own destinies. They’re more likely to take responsibility for consequences and rely on their own internal standards of right and wrong to guide their behavior.</a:t>
            </a:r>
          </a:p>
          <a:p>
            <a:endParaRPr lang="en-US" sz="2800" dirty="0"/>
          </a:p>
        </p:txBody>
      </p:sp>
    </p:spTree>
    <p:extLst>
      <p:ext uri="{BB962C8B-B14F-4D97-AF65-F5344CB8AC3E}">
        <p14:creationId xmlns:p14="http://schemas.microsoft.com/office/powerpoint/2010/main" val="311533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Variables</a:t>
            </a:r>
          </a:p>
        </p:txBody>
      </p:sp>
      <p:sp>
        <p:nvSpPr>
          <p:cNvPr id="3" name="Content Placeholder 2"/>
          <p:cNvSpPr>
            <a:spLocks noGrp="1"/>
          </p:cNvSpPr>
          <p:nvPr>
            <p:ph idx="1"/>
          </p:nvPr>
        </p:nvSpPr>
        <p:spPr/>
        <p:txBody>
          <a:bodyPr/>
          <a:lstStyle/>
          <a:p>
            <a:r>
              <a:rPr lang="en-US" sz="2000" dirty="0"/>
              <a:t>Ethical behavior can be influenced by:</a:t>
            </a:r>
          </a:p>
          <a:p>
            <a:pPr lvl="1"/>
            <a:r>
              <a:rPr lang="en-US" sz="2000" b="1" dirty="0"/>
              <a:t>An organization’s structural design: </a:t>
            </a:r>
            <a:r>
              <a:rPr lang="en-US" sz="2000" dirty="0"/>
              <a:t>Those structures that minimize ambiguity and uncertainty with formal rules and regulations and those that continuously remind employees of what is ethical are more likely to encourage ethical behavior. </a:t>
            </a:r>
          </a:p>
          <a:p>
            <a:pPr lvl="1"/>
            <a:r>
              <a:rPr lang="en-US" sz="2000" b="1" dirty="0"/>
              <a:t>Goals: </a:t>
            </a:r>
            <a:r>
              <a:rPr lang="en-US" sz="2000" dirty="0"/>
              <a:t>organizations use goals to guide and motivate employees</a:t>
            </a:r>
          </a:p>
          <a:p>
            <a:pPr lvl="1"/>
            <a:r>
              <a:rPr lang="en-US" sz="2000" b="1" dirty="0"/>
              <a:t>Performance appraisal system: </a:t>
            </a:r>
            <a:r>
              <a:rPr lang="en-US" sz="2000" dirty="0"/>
              <a:t>Some systems focus exclusively on outcomes, while others evaluate means as well as ends. </a:t>
            </a:r>
          </a:p>
          <a:p>
            <a:pPr lvl="1"/>
            <a:r>
              <a:rPr lang="en-US" sz="2000" b="1" dirty="0"/>
              <a:t>Reward allocation: </a:t>
            </a:r>
            <a:r>
              <a:rPr lang="en-US" sz="2000" dirty="0"/>
              <a:t>rewards or punishment depend on specific goal outcomes</a:t>
            </a:r>
          </a:p>
        </p:txBody>
      </p:sp>
    </p:spTree>
    <p:extLst>
      <p:ext uri="{BB962C8B-B14F-4D97-AF65-F5344CB8AC3E}">
        <p14:creationId xmlns:p14="http://schemas.microsoft.com/office/powerpoint/2010/main" val="251966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dirty="0"/>
              <a:t>Exhibit 6-5</a:t>
            </a:r>
            <a:br>
              <a:rPr lang="en-US" dirty="0"/>
            </a:br>
            <a:r>
              <a:rPr lang="en-US" dirty="0"/>
              <a:t>Issue Intensity</a:t>
            </a:r>
          </a:p>
        </p:txBody>
      </p:sp>
      <p:pic>
        <p:nvPicPr>
          <p:cNvPr id="5" name="Picture 4" descr="The factors are as follows:&#10;• Consensus of Wrong: the more agreement that the action is wrong.&#10;• Probability of Harm: the greater the likelihood that the action will cause harm.&#10;• Immediacy of Consequences: the more immediately the consequences of the action will be felt.&#10;• Proximity to Victim(s): the closer the person feels to the victim.&#10;• Concentration of Effect: the more concentrated is the effect of the action on the victim.&#10;• Greatness of Harm: the larger the number of people harmed."/>
          <p:cNvPicPr>
            <a:picLocks noChangeAspect="1"/>
          </p:cNvPicPr>
          <p:nvPr/>
        </p:nvPicPr>
        <p:blipFill>
          <a:blip r:embed="rId3" cstate="print"/>
          <a:stretch>
            <a:fillRect/>
          </a:stretch>
        </p:blipFill>
        <p:spPr>
          <a:xfrm>
            <a:off x="984891" y="1384278"/>
            <a:ext cx="7174218" cy="4153495"/>
          </a:xfrm>
          <a:prstGeom prst="rect">
            <a:avLst/>
          </a:prstGeom>
        </p:spPr>
      </p:pic>
      <p:sp>
        <p:nvSpPr>
          <p:cNvPr id="3" name="Text Placeholder 2"/>
          <p:cNvSpPr>
            <a:spLocks noGrp="1"/>
          </p:cNvSpPr>
          <p:nvPr>
            <p:ph type="body" sz="quarter" idx="13"/>
          </p:nvPr>
        </p:nvSpPr>
        <p:spPr/>
        <p:txBody>
          <a:bodyPr/>
          <a:lstStyle/>
          <a:p>
            <a:r>
              <a:rPr lang="en-US" sz="1600" dirty="0"/>
              <a:t>As Exhibit 6-5 shows, six characteristics determine issue intensity or how important an ethical issue is to an individual: greatness of harm, consensus of wrong, probability of harm, immediacy of consequences, proximity to victim(s), and concentration of effect.</a:t>
            </a:r>
          </a:p>
        </p:txBody>
      </p:sp>
    </p:spTree>
    <p:extLst>
      <p:ext uri="{BB962C8B-B14F-4D97-AF65-F5344CB8AC3E}">
        <p14:creationId xmlns:p14="http://schemas.microsoft.com/office/powerpoint/2010/main" val="1442663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 Intensity</a:t>
            </a:r>
          </a:p>
        </p:txBody>
      </p:sp>
      <p:sp>
        <p:nvSpPr>
          <p:cNvPr id="3" name="Content Placeholder 2"/>
          <p:cNvSpPr>
            <a:spLocks noGrp="1"/>
          </p:cNvSpPr>
          <p:nvPr>
            <p:ph idx="1"/>
          </p:nvPr>
        </p:nvSpPr>
        <p:spPr/>
        <p:txBody>
          <a:bodyPr/>
          <a:lstStyle/>
          <a:p>
            <a:pPr>
              <a:spcBef>
                <a:spcPts val="0"/>
              </a:spcBef>
            </a:pPr>
            <a:r>
              <a:rPr lang="en-US" sz="2800" dirty="0"/>
              <a:t>A student who would never consider breaking into an instructor’s office to steal an accounting exam doesn’t think twice about asking a friend who took the same course from the same instructor last semester what questions were on an exam. </a:t>
            </a:r>
          </a:p>
          <a:p>
            <a:pPr>
              <a:spcBef>
                <a:spcPts val="0"/>
              </a:spcBef>
            </a:pPr>
            <a:r>
              <a:rPr lang="en-US" sz="2800" dirty="0"/>
              <a:t>Similarly, a manager might think nothing about taking home a few office supplies, yet be highly concerned about the possible embezzlement of company funds. </a:t>
            </a:r>
          </a:p>
        </p:txBody>
      </p:sp>
    </p:spTree>
    <p:extLst>
      <p:ext uri="{BB962C8B-B14F-4D97-AF65-F5344CB8AC3E}">
        <p14:creationId xmlns:p14="http://schemas.microsoft.com/office/powerpoint/2010/main" val="1441944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Value-based Management</a:t>
            </a:r>
          </a:p>
        </p:txBody>
      </p:sp>
      <p:sp>
        <p:nvSpPr>
          <p:cNvPr id="3" name="Content Placeholder 2"/>
          <p:cNvSpPr>
            <a:spLocks noGrp="1"/>
          </p:cNvSpPr>
          <p:nvPr>
            <p:ph idx="1"/>
          </p:nvPr>
        </p:nvSpPr>
        <p:spPr/>
        <p:txBody>
          <a:bodyPr/>
          <a:lstStyle/>
          <a:p>
            <a:r>
              <a:rPr lang="en-US" sz="2400" dirty="0"/>
              <a:t>The selection process (interviews, tests, background checks, and so forth) should be viewed as an opportunity to learn about an individual’s level of moral development, personal values, ego strength, and locus of control. </a:t>
            </a:r>
            <a:endParaRPr lang="en-US" sz="2400" b="1" dirty="0"/>
          </a:p>
          <a:p>
            <a:r>
              <a:rPr lang="en-US" sz="2400" b="1" dirty="0"/>
              <a:t>Values-based management</a:t>
            </a:r>
            <a:r>
              <a:rPr lang="en-US" sz="2400" dirty="0"/>
              <a:t>: the organization’s values guide employees in the way they do their jobs</a:t>
            </a:r>
          </a:p>
          <a:p>
            <a:r>
              <a:rPr lang="en-US" sz="2400" dirty="0"/>
              <a:t>If a culture is strong and supports high ethical standards, it has a powerful and positive influence on the decision to act ethically or unethically. </a:t>
            </a:r>
          </a:p>
          <a:p>
            <a:endParaRPr lang="en-US" dirty="0"/>
          </a:p>
        </p:txBody>
      </p:sp>
    </p:spTree>
    <p:extLst>
      <p:ext uri="{BB962C8B-B14F-4D97-AF65-F5344CB8AC3E}">
        <p14:creationId xmlns:p14="http://schemas.microsoft.com/office/powerpoint/2010/main" val="271125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Codes of Ethics</a:t>
            </a:r>
          </a:p>
        </p:txBody>
      </p:sp>
      <p:sp>
        <p:nvSpPr>
          <p:cNvPr id="3" name="Content Placeholder 2"/>
          <p:cNvSpPr>
            <a:spLocks noGrp="1"/>
          </p:cNvSpPr>
          <p:nvPr>
            <p:ph idx="1"/>
          </p:nvPr>
        </p:nvSpPr>
        <p:spPr/>
        <p:txBody>
          <a:bodyPr/>
          <a:lstStyle/>
          <a:p>
            <a:r>
              <a:rPr lang="en-US" sz="2800" b="1" dirty="0"/>
              <a:t>Code of ethics</a:t>
            </a:r>
            <a:r>
              <a:rPr lang="en-US" sz="2800" dirty="0"/>
              <a:t>: a formal statement of an organization’s primary values and the ethical rules it expects its employees to follow</a:t>
            </a:r>
          </a:p>
          <a:p>
            <a:r>
              <a:rPr lang="en-US" sz="2800" dirty="0"/>
              <a:t>It reduces uncertainty about what is and is not ethical for employees</a:t>
            </a:r>
          </a:p>
        </p:txBody>
      </p:sp>
    </p:spTree>
    <p:extLst>
      <p:ext uri="{BB962C8B-B14F-4D97-AF65-F5344CB8AC3E}">
        <p14:creationId xmlns:p14="http://schemas.microsoft.com/office/powerpoint/2010/main" val="1224487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13000"/>
          </a:schemeClr>
        </a:solidFill>
        <a:effectLst/>
      </p:bgPr>
    </p:bg>
    <p:spTree>
      <p:nvGrpSpPr>
        <p:cNvPr id="1" name=""/>
        <p:cNvGrpSpPr/>
        <p:nvPr/>
      </p:nvGrpSpPr>
      <p:grpSpPr>
        <a:xfrm>
          <a:off x="0" y="0"/>
          <a:ext cx="0" cy="0"/>
          <a:chOff x="0" y="0"/>
          <a:chExt cx="0" cy="0"/>
        </a:xfrm>
      </p:grpSpPr>
      <p:sp>
        <p:nvSpPr>
          <p:cNvPr id="2" name="Title 1" descr="Header: Cluster 1. Be a Dependable Organizational Citizen"/>
          <p:cNvSpPr>
            <a:spLocks noGrp="1"/>
          </p:cNvSpPr>
          <p:nvPr>
            <p:ph type="title"/>
          </p:nvPr>
        </p:nvSpPr>
        <p:spPr/>
        <p:txBody>
          <a:bodyPr anchor="t"/>
          <a:lstStyle/>
          <a:p>
            <a:r>
              <a:rPr lang="en-US" dirty="0"/>
              <a:t>Exhibit 6-7</a:t>
            </a:r>
            <a:br>
              <a:rPr lang="en-US" dirty="0"/>
            </a:br>
            <a:r>
              <a:rPr lang="en-US" dirty="0"/>
              <a:t>Codes of Ethics </a:t>
            </a:r>
            <a:r>
              <a:rPr lang="en-US" sz="1800" b="0" dirty="0"/>
              <a:t>(1 of 3)</a:t>
            </a:r>
          </a:p>
        </p:txBody>
      </p:sp>
      <p:graphicFrame>
        <p:nvGraphicFramePr>
          <p:cNvPr id="6" name="Table 5" descr="Header: Cluster 1. Be a Dependable Organizational Citizen"/>
          <p:cNvGraphicFramePr>
            <a:graphicFrameLocks noGrp="1"/>
          </p:cNvGraphicFramePr>
          <p:nvPr>
            <p:extLst>
              <p:ext uri="{D42A27DB-BD31-4B8C-83A1-F6EECF244321}">
                <p14:modId xmlns:p14="http://schemas.microsoft.com/office/powerpoint/2010/main" val="2096213181"/>
              </p:ext>
            </p:extLst>
          </p:nvPr>
        </p:nvGraphicFramePr>
        <p:xfrm>
          <a:off x="800100" y="1701800"/>
          <a:ext cx="7543800" cy="3708400"/>
        </p:xfrm>
        <a:graphic>
          <a:graphicData uri="http://schemas.openxmlformats.org/drawingml/2006/table">
            <a:tbl>
              <a:tblPr firstRow="1" bandRow="1">
                <a:tableStyleId>{3B4B98B0-60AC-42C2-AFA5-B58CD77FA1E5}</a:tableStyleId>
              </a:tblPr>
              <a:tblGrid>
                <a:gridCol w="75438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Cluster 1. Be a Dependable Organizational Citizen</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1. Comply with safety, health, and security regulations.</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2. Demonstrate courtesy, respect, honesty, and fairness.</a:t>
                      </a:r>
                      <a:endParaRPr lang="en-US"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3. Illegal drugs and alcohol at work are prohibited.</a:t>
                      </a:r>
                      <a:endParaRPr lang="en-US"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4. Manage personal finances well.</a:t>
                      </a:r>
                      <a:endParaRPr lang="en-US"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5. Exhibit good attendance and punctuality.</a:t>
                      </a:r>
                      <a:endParaRPr lang="en-US"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6. Follow directives of supervisors.</a:t>
                      </a:r>
                      <a:endParaRPr lang="en-US"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7. Do not use abusive language.</a:t>
                      </a:r>
                      <a:endParaRPr lang="en-US"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8. Dress in business attire.</a:t>
                      </a:r>
                      <a:endParaRPr lang="en-US" dirty="0"/>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9. Firearms at work are prohibited.</a:t>
                      </a:r>
                      <a:endParaRPr lang="en-US" dirty="0"/>
                    </a:p>
                  </a:txBody>
                  <a:tcPr/>
                </a:tc>
                <a:extLst>
                  <a:ext uri="{0D108BD9-81ED-4DB2-BD59-A6C34878D82A}">
                    <a16:rowId xmlns:a16="http://schemas.microsoft.com/office/drawing/2014/main" val="10009"/>
                  </a:ext>
                </a:extLst>
              </a:tr>
            </a:tbl>
          </a:graphicData>
        </a:graphic>
      </p:graphicFrame>
      <p:sp>
        <p:nvSpPr>
          <p:cNvPr id="3" name="Text Placeholder 2"/>
          <p:cNvSpPr>
            <a:spLocks noGrp="1"/>
          </p:cNvSpPr>
          <p:nvPr>
            <p:ph type="body" sz="quarter" idx="13"/>
          </p:nvPr>
        </p:nvSpPr>
        <p:spPr/>
        <p:txBody>
          <a:bodyPr/>
          <a:lstStyle/>
          <a:p>
            <a:r>
              <a:rPr lang="en-US" sz="1600" dirty="0"/>
              <a:t>Exhibit 6-7 shows the three categories into which the content of codes of ethics falls.</a:t>
            </a:r>
          </a:p>
        </p:txBody>
      </p:sp>
    </p:spTree>
    <p:extLst>
      <p:ext uri="{BB962C8B-B14F-4D97-AF65-F5344CB8AC3E}">
        <p14:creationId xmlns:p14="http://schemas.microsoft.com/office/powerpoint/2010/main" val="1457562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6-7</a:t>
            </a:r>
            <a:br>
              <a:rPr lang="en-US" dirty="0"/>
            </a:br>
            <a:r>
              <a:rPr lang="en-US" dirty="0"/>
              <a:t>Codes of Ethics</a:t>
            </a:r>
            <a:r>
              <a:rPr lang="en-US" sz="3200" dirty="0"/>
              <a:t> </a:t>
            </a:r>
            <a:r>
              <a:rPr lang="en-US" sz="1800" b="0" dirty="0"/>
              <a:t>(2 of 3)</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03972086"/>
              </p:ext>
            </p:extLst>
          </p:nvPr>
        </p:nvGraphicFramePr>
        <p:xfrm>
          <a:off x="495300" y="1295400"/>
          <a:ext cx="8153400" cy="4719320"/>
        </p:xfrm>
        <a:graphic>
          <a:graphicData uri="http://schemas.openxmlformats.org/drawingml/2006/table">
            <a:tbl>
              <a:tblPr firstRow="1" bandRow="1">
                <a:tableStyleId>{3B4B98B0-60AC-42C2-AFA5-B58CD77FA1E5}</a:tableStyleId>
              </a:tblPr>
              <a:tblGrid>
                <a:gridCol w="8153400">
                  <a:extLst>
                    <a:ext uri="{9D8B030D-6E8A-4147-A177-3AD203B41FA5}">
                      <a16:colId xmlns:a16="http://schemas.microsoft.com/office/drawing/2014/main" val="20000"/>
                    </a:ext>
                  </a:extLst>
                </a:gridCol>
              </a:tblGrid>
              <a:tr h="370840">
                <a:tc>
                  <a:txBody>
                    <a:bodyPr/>
                    <a:lstStyle/>
                    <a:p>
                      <a:r>
                        <a:rPr lang="en-US" sz="1800" b="1" kern="1200" dirty="0">
                          <a:solidFill>
                            <a:schemeClr val="tx1"/>
                          </a:solidFill>
                          <a:effectLst/>
                          <a:latin typeface="+mn-lt"/>
                          <a:ea typeface="+mn-ea"/>
                          <a:cs typeface="+mn-cs"/>
                        </a:rPr>
                        <a:t>Cluster 2. Do Not Do Anything Unlawful or Improper That Will Harm the Organization</a:t>
                      </a:r>
                      <a:endParaRPr lang="en-US" dirty="0"/>
                    </a:p>
                  </a:txBody>
                  <a:tcPr/>
                </a:tc>
                <a:extLst>
                  <a:ext uri="{0D108BD9-81ED-4DB2-BD59-A6C34878D82A}">
                    <a16:rowId xmlns:a16="http://schemas.microsoft.com/office/drawing/2014/main" val="10000"/>
                  </a:ext>
                </a:extLst>
              </a:tr>
              <a:tr h="370840">
                <a:tc>
                  <a:txBody>
                    <a:bodyPr/>
                    <a:lstStyle/>
                    <a:p>
                      <a:r>
                        <a:rPr lang="en-US" sz="1800" kern="1200" dirty="0">
                          <a:solidFill>
                            <a:schemeClr val="tx1"/>
                          </a:solidFill>
                          <a:effectLst/>
                          <a:latin typeface="+mn-lt"/>
                          <a:ea typeface="+mn-ea"/>
                          <a:cs typeface="+mn-cs"/>
                        </a:rPr>
                        <a:t>1. Conduct business in compliance with all laws.</a:t>
                      </a:r>
                      <a:endParaRPr lang="en-US" dirty="0"/>
                    </a:p>
                  </a:txBody>
                  <a:tcPr/>
                </a:tc>
                <a:extLst>
                  <a:ext uri="{0D108BD9-81ED-4DB2-BD59-A6C34878D82A}">
                    <a16:rowId xmlns:a16="http://schemas.microsoft.com/office/drawing/2014/main" val="10001"/>
                  </a:ext>
                </a:extLst>
              </a:tr>
              <a:tr h="370840">
                <a:tc>
                  <a:txBody>
                    <a:bodyPr/>
                    <a:lstStyle/>
                    <a:p>
                      <a:r>
                        <a:rPr lang="en-US" sz="1800" kern="1200" dirty="0">
                          <a:solidFill>
                            <a:schemeClr val="tx1"/>
                          </a:solidFill>
                          <a:effectLst/>
                          <a:latin typeface="+mn-lt"/>
                          <a:ea typeface="+mn-ea"/>
                          <a:cs typeface="+mn-cs"/>
                        </a:rPr>
                        <a:t>2. Payments for unlawful purposes are prohibited.</a:t>
                      </a:r>
                      <a:endParaRPr lang="en-US" dirty="0"/>
                    </a:p>
                  </a:txBody>
                  <a:tcPr/>
                </a:tc>
                <a:extLst>
                  <a:ext uri="{0D108BD9-81ED-4DB2-BD59-A6C34878D82A}">
                    <a16:rowId xmlns:a16="http://schemas.microsoft.com/office/drawing/2014/main" val="10002"/>
                  </a:ext>
                </a:extLst>
              </a:tr>
              <a:tr h="370840">
                <a:tc>
                  <a:txBody>
                    <a:bodyPr/>
                    <a:lstStyle/>
                    <a:p>
                      <a:r>
                        <a:rPr lang="en-US" sz="1800" kern="1200" dirty="0">
                          <a:solidFill>
                            <a:schemeClr val="tx1"/>
                          </a:solidFill>
                          <a:effectLst/>
                          <a:latin typeface="+mn-lt"/>
                          <a:ea typeface="+mn-ea"/>
                          <a:cs typeface="+mn-cs"/>
                        </a:rPr>
                        <a:t>3. Bribes are prohibited.</a:t>
                      </a:r>
                      <a:endParaRPr lang="en-US" dirty="0"/>
                    </a:p>
                  </a:txBody>
                  <a:tcPr/>
                </a:tc>
                <a:extLst>
                  <a:ext uri="{0D108BD9-81ED-4DB2-BD59-A6C34878D82A}">
                    <a16:rowId xmlns:a16="http://schemas.microsoft.com/office/drawing/2014/main" val="10003"/>
                  </a:ext>
                </a:extLst>
              </a:tr>
              <a:tr h="370840">
                <a:tc>
                  <a:txBody>
                    <a:bodyPr/>
                    <a:lstStyle/>
                    <a:p>
                      <a:r>
                        <a:rPr lang="en-US" sz="1800" kern="1200" dirty="0">
                          <a:solidFill>
                            <a:schemeClr val="tx1"/>
                          </a:solidFill>
                          <a:effectLst/>
                          <a:latin typeface="+mn-lt"/>
                          <a:ea typeface="+mn-ea"/>
                          <a:cs typeface="+mn-cs"/>
                        </a:rPr>
                        <a:t>4. Avoid outside activities that impair duties.</a:t>
                      </a:r>
                      <a:endParaRPr lang="en-US" dirty="0"/>
                    </a:p>
                  </a:txBody>
                  <a:tcPr/>
                </a:tc>
                <a:extLst>
                  <a:ext uri="{0D108BD9-81ED-4DB2-BD59-A6C34878D82A}">
                    <a16:rowId xmlns:a16="http://schemas.microsoft.com/office/drawing/2014/main" val="10004"/>
                  </a:ext>
                </a:extLst>
              </a:tr>
              <a:tr h="370840">
                <a:tc>
                  <a:txBody>
                    <a:bodyPr/>
                    <a:lstStyle/>
                    <a:p>
                      <a:r>
                        <a:rPr lang="en-US" sz="1800" kern="1200" dirty="0">
                          <a:solidFill>
                            <a:schemeClr val="tx1"/>
                          </a:solidFill>
                          <a:effectLst/>
                          <a:latin typeface="+mn-lt"/>
                          <a:ea typeface="+mn-ea"/>
                          <a:cs typeface="+mn-cs"/>
                        </a:rPr>
                        <a:t>5. Maintain confidentiality of records.</a:t>
                      </a:r>
                      <a:endParaRPr lang="en-US" dirty="0"/>
                    </a:p>
                  </a:txBody>
                  <a:tcPr/>
                </a:tc>
                <a:extLst>
                  <a:ext uri="{0D108BD9-81ED-4DB2-BD59-A6C34878D82A}">
                    <a16:rowId xmlns:a16="http://schemas.microsoft.com/office/drawing/2014/main" val="10005"/>
                  </a:ext>
                </a:extLst>
              </a:tr>
              <a:tr h="370840">
                <a:tc>
                  <a:txBody>
                    <a:bodyPr/>
                    <a:lstStyle/>
                    <a:p>
                      <a:r>
                        <a:rPr lang="en-US" sz="1800" kern="1200" dirty="0">
                          <a:solidFill>
                            <a:schemeClr val="tx1"/>
                          </a:solidFill>
                          <a:effectLst/>
                          <a:latin typeface="+mn-lt"/>
                          <a:ea typeface="+mn-ea"/>
                          <a:cs typeface="+mn-cs"/>
                        </a:rPr>
                        <a:t>6. Comply with all antitrust and trade regulations.</a:t>
                      </a:r>
                      <a:endParaRPr lang="en-US" dirty="0"/>
                    </a:p>
                  </a:txBody>
                  <a:tcPr/>
                </a:tc>
                <a:extLst>
                  <a:ext uri="{0D108BD9-81ED-4DB2-BD59-A6C34878D82A}">
                    <a16:rowId xmlns:a16="http://schemas.microsoft.com/office/drawing/2014/main" val="10006"/>
                  </a:ext>
                </a:extLst>
              </a:tr>
              <a:tr h="370840">
                <a:tc>
                  <a:txBody>
                    <a:bodyPr/>
                    <a:lstStyle/>
                    <a:p>
                      <a:r>
                        <a:rPr lang="en-US" sz="1800" kern="1200" dirty="0">
                          <a:solidFill>
                            <a:schemeClr val="tx1"/>
                          </a:solidFill>
                          <a:effectLst/>
                          <a:latin typeface="+mn-lt"/>
                          <a:ea typeface="+mn-ea"/>
                          <a:cs typeface="+mn-cs"/>
                        </a:rPr>
                        <a:t>7. Comply with all accounting rules and controls.</a:t>
                      </a:r>
                      <a:endParaRPr lang="en-US" dirty="0"/>
                    </a:p>
                  </a:txBody>
                  <a:tcPr/>
                </a:tc>
                <a:extLst>
                  <a:ext uri="{0D108BD9-81ED-4DB2-BD59-A6C34878D82A}">
                    <a16:rowId xmlns:a16="http://schemas.microsoft.com/office/drawing/2014/main" val="10007"/>
                  </a:ext>
                </a:extLst>
              </a:tr>
              <a:tr h="370840">
                <a:tc>
                  <a:txBody>
                    <a:bodyPr/>
                    <a:lstStyle/>
                    <a:p>
                      <a:r>
                        <a:rPr lang="en-US" sz="1800" kern="1200" dirty="0">
                          <a:solidFill>
                            <a:schemeClr val="tx1"/>
                          </a:solidFill>
                          <a:effectLst/>
                          <a:latin typeface="+mn-lt"/>
                          <a:ea typeface="+mn-ea"/>
                          <a:cs typeface="+mn-cs"/>
                        </a:rPr>
                        <a:t>8. Do not use company property for personal benefit.</a:t>
                      </a:r>
                      <a:endParaRPr lang="en-US" dirty="0"/>
                    </a:p>
                  </a:txBody>
                  <a:tcPr/>
                </a:tc>
                <a:extLst>
                  <a:ext uri="{0D108BD9-81ED-4DB2-BD59-A6C34878D82A}">
                    <a16:rowId xmlns:a16="http://schemas.microsoft.com/office/drawing/2014/main" val="10008"/>
                  </a:ext>
                </a:extLst>
              </a:tr>
              <a:tr h="370840">
                <a:tc>
                  <a:txBody>
                    <a:bodyPr/>
                    <a:lstStyle/>
                    <a:p>
                      <a:r>
                        <a:rPr lang="en-US" sz="1800" kern="1200" dirty="0">
                          <a:solidFill>
                            <a:schemeClr val="tx1"/>
                          </a:solidFill>
                          <a:effectLst/>
                          <a:latin typeface="+mn-lt"/>
                          <a:ea typeface="+mn-ea"/>
                          <a:cs typeface="+mn-cs"/>
                        </a:rPr>
                        <a:t>9. Employees are personally accountable for company funds.</a:t>
                      </a:r>
                      <a:endParaRPr lang="en-US" dirty="0"/>
                    </a:p>
                  </a:txBody>
                  <a:tcPr/>
                </a:tc>
                <a:extLst>
                  <a:ext uri="{0D108BD9-81ED-4DB2-BD59-A6C34878D82A}">
                    <a16:rowId xmlns:a16="http://schemas.microsoft.com/office/drawing/2014/main" val="10009"/>
                  </a:ext>
                </a:extLst>
              </a:tr>
              <a:tr h="370840">
                <a:tc>
                  <a:txBody>
                    <a:bodyPr/>
                    <a:lstStyle/>
                    <a:p>
                      <a:r>
                        <a:rPr lang="en-US" sz="1800" kern="1200" dirty="0">
                          <a:solidFill>
                            <a:schemeClr val="tx1"/>
                          </a:solidFill>
                          <a:effectLst/>
                          <a:latin typeface="+mn-lt"/>
                          <a:ea typeface="+mn-ea"/>
                          <a:cs typeface="+mn-cs"/>
                        </a:rPr>
                        <a:t>10. Do not propagate false or misleading information.</a:t>
                      </a:r>
                      <a:endParaRPr lang="en-US" dirty="0"/>
                    </a:p>
                  </a:txBody>
                  <a:tcPr/>
                </a:tc>
                <a:extLst>
                  <a:ext uri="{0D108BD9-81ED-4DB2-BD59-A6C34878D82A}">
                    <a16:rowId xmlns:a16="http://schemas.microsoft.com/office/drawing/2014/main" val="10010"/>
                  </a:ext>
                </a:extLst>
              </a:tr>
              <a:tr h="370840">
                <a:tc>
                  <a:txBody>
                    <a:bodyPr/>
                    <a:lstStyle/>
                    <a:p>
                      <a:r>
                        <a:rPr lang="en-US" sz="1800" kern="1200" dirty="0">
                          <a:solidFill>
                            <a:schemeClr val="tx1"/>
                          </a:solidFill>
                          <a:effectLst/>
                          <a:latin typeface="+mn-lt"/>
                          <a:ea typeface="+mn-ea"/>
                          <a:cs typeface="+mn-cs"/>
                        </a:rPr>
                        <a:t>11. Make decisions without regard for personal gain.</a:t>
                      </a:r>
                      <a:endParaRPr lang="en-US" dirty="0"/>
                    </a:p>
                  </a:txBody>
                  <a:tcPr/>
                </a:tc>
                <a:extLst>
                  <a:ext uri="{0D108BD9-81ED-4DB2-BD59-A6C34878D82A}">
                    <a16:rowId xmlns:a16="http://schemas.microsoft.com/office/drawing/2014/main" val="10011"/>
                  </a:ext>
                </a:extLst>
              </a:tr>
            </a:tbl>
          </a:graphicData>
        </a:graphic>
      </p:graphicFrame>
      <p:sp>
        <p:nvSpPr>
          <p:cNvPr id="3" name="Text Placeholder 2"/>
          <p:cNvSpPr>
            <a:spLocks noGrp="1"/>
          </p:cNvSpPr>
          <p:nvPr>
            <p:ph type="body" sz="quarter" idx="13"/>
          </p:nvPr>
        </p:nvSpPr>
        <p:spPr>
          <a:xfrm>
            <a:off x="457200" y="6019800"/>
            <a:ext cx="8229600" cy="265216"/>
          </a:xfrm>
        </p:spPr>
        <p:txBody>
          <a:bodyPr/>
          <a:lstStyle/>
          <a:p>
            <a:r>
              <a:rPr lang="en-US" sz="1600" dirty="0"/>
              <a:t>Exhibit 6-7 shows the three categories into which the content of codes of ethics falls.</a:t>
            </a:r>
          </a:p>
        </p:txBody>
      </p:sp>
    </p:spTree>
    <p:extLst>
      <p:ext uri="{BB962C8B-B14F-4D97-AF65-F5344CB8AC3E}">
        <p14:creationId xmlns:p14="http://schemas.microsoft.com/office/powerpoint/2010/main" val="2153445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 Cluster 1. Be a Dependable Organizational Citizen"/>
          <p:cNvSpPr>
            <a:spLocks noGrp="1"/>
          </p:cNvSpPr>
          <p:nvPr>
            <p:ph type="title"/>
          </p:nvPr>
        </p:nvSpPr>
        <p:spPr/>
        <p:txBody>
          <a:bodyPr anchor="t"/>
          <a:lstStyle/>
          <a:p>
            <a:r>
              <a:rPr lang="en-US" dirty="0"/>
              <a:t>Exhibit 6-7</a:t>
            </a:r>
            <a:br>
              <a:rPr lang="en-US" dirty="0"/>
            </a:br>
            <a:r>
              <a:rPr lang="en-US" dirty="0"/>
              <a:t>Codes of Ethics</a:t>
            </a:r>
            <a:r>
              <a:rPr lang="en-US" sz="3200" dirty="0"/>
              <a:t> </a:t>
            </a:r>
            <a:r>
              <a:rPr lang="en-US" sz="1800" b="0" dirty="0"/>
              <a:t>(3 of 3)</a:t>
            </a:r>
          </a:p>
        </p:txBody>
      </p:sp>
      <p:graphicFrame>
        <p:nvGraphicFramePr>
          <p:cNvPr id="6" name="Table 5" descr="Header: Cluster 1. Be Good to Customers"/>
          <p:cNvGraphicFramePr>
            <a:graphicFrameLocks noGrp="1"/>
          </p:cNvGraphicFramePr>
          <p:nvPr>
            <p:extLst>
              <p:ext uri="{D42A27DB-BD31-4B8C-83A1-F6EECF244321}">
                <p14:modId xmlns:p14="http://schemas.microsoft.com/office/powerpoint/2010/main" val="3792754267"/>
              </p:ext>
            </p:extLst>
          </p:nvPr>
        </p:nvGraphicFramePr>
        <p:xfrm>
          <a:off x="1028700" y="2098040"/>
          <a:ext cx="7086600" cy="1483360"/>
        </p:xfrm>
        <a:graphic>
          <a:graphicData uri="http://schemas.openxmlformats.org/drawingml/2006/table">
            <a:tbl>
              <a:tblPr firstRow="1" bandRow="1">
                <a:tableStyleId>{3B4B98B0-60AC-42C2-AFA5-B58CD77FA1E5}</a:tableStyleId>
              </a:tblPr>
              <a:tblGrid>
                <a:gridCol w="70866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Cluster 3. Be Good to Customers</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1. Convey true claims in product advertisements.</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2. Perform assigned duties to the best of your ability.</a:t>
                      </a:r>
                      <a:endParaRPr lang="en-US"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3. Provide products and services of the highest quality.</a:t>
                      </a:r>
                      <a:endParaRPr lang="en-US" dirty="0"/>
                    </a:p>
                  </a:txBody>
                  <a:tcPr/>
                </a:tc>
                <a:extLst>
                  <a:ext uri="{0D108BD9-81ED-4DB2-BD59-A6C34878D82A}">
                    <a16:rowId xmlns:a16="http://schemas.microsoft.com/office/drawing/2014/main" val="10003"/>
                  </a:ext>
                </a:extLst>
              </a:tr>
            </a:tbl>
          </a:graphicData>
        </a:graphic>
      </p:graphicFrame>
      <p:sp>
        <p:nvSpPr>
          <p:cNvPr id="3" name="Text Placeholder 2"/>
          <p:cNvSpPr>
            <a:spLocks noGrp="1"/>
          </p:cNvSpPr>
          <p:nvPr>
            <p:ph type="body" sz="quarter" idx="13"/>
          </p:nvPr>
        </p:nvSpPr>
        <p:spPr/>
        <p:txBody>
          <a:bodyPr/>
          <a:lstStyle/>
          <a:p>
            <a:r>
              <a:rPr lang="en-US" sz="1600" dirty="0"/>
              <a:t>Exhibit 6-7 shows the three categories into which the content of codes of ethics falls.</a:t>
            </a:r>
          </a:p>
        </p:txBody>
      </p:sp>
    </p:spTree>
    <p:extLst>
      <p:ext uri="{BB962C8B-B14F-4D97-AF65-F5344CB8AC3E}">
        <p14:creationId xmlns:p14="http://schemas.microsoft.com/office/powerpoint/2010/main" val="1650419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Developing Codes of Ethics</a:t>
            </a:r>
          </a:p>
        </p:txBody>
      </p:sp>
      <p:sp>
        <p:nvSpPr>
          <p:cNvPr id="3" name="Content Placeholder 2"/>
          <p:cNvSpPr>
            <a:spLocks noGrp="1"/>
          </p:cNvSpPr>
          <p:nvPr>
            <p:ph idx="1"/>
          </p:nvPr>
        </p:nvSpPr>
        <p:spPr>
          <a:xfrm>
            <a:off x="457200" y="1600200"/>
            <a:ext cx="8229600" cy="4525963"/>
          </a:xfrm>
        </p:spPr>
        <p:txBody>
          <a:bodyPr/>
          <a:lstStyle/>
          <a:p>
            <a:r>
              <a:rPr lang="en-US" sz="2400" dirty="0"/>
              <a:t>Organizational leaders should model appropriate behavior and reward those who act ethically.</a:t>
            </a:r>
          </a:p>
          <a:p>
            <a:r>
              <a:rPr lang="en-US" sz="2400" dirty="0"/>
              <a:t>Managers should reaffirm the importance of the ethics code and discipline those who break it</a:t>
            </a:r>
          </a:p>
          <a:p>
            <a:r>
              <a:rPr lang="en-US" sz="2400" dirty="0"/>
              <a:t>Stakeholders should be considered as an ethics code is developed or improved</a:t>
            </a:r>
          </a:p>
          <a:p>
            <a:r>
              <a:rPr lang="en-US" sz="2400" dirty="0"/>
              <a:t>Managers should communicate and reinforce the ethics code regularly</a:t>
            </a:r>
          </a:p>
        </p:txBody>
      </p:sp>
    </p:spTree>
    <p:extLst>
      <p:ext uri="{BB962C8B-B14F-4D97-AF65-F5344CB8AC3E}">
        <p14:creationId xmlns:p14="http://schemas.microsoft.com/office/powerpoint/2010/main" val="666961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Header: Cluster 1. Be a Dependable Organizational Citizen"/>
          <p:cNvSpPr>
            <a:spLocks noGrp="1"/>
          </p:cNvSpPr>
          <p:nvPr>
            <p:ph type="title"/>
          </p:nvPr>
        </p:nvSpPr>
        <p:spPr/>
        <p:txBody>
          <a:bodyPr/>
          <a:lstStyle/>
          <a:p>
            <a:r>
              <a:rPr lang="en-US" sz="3200" dirty="0"/>
              <a:t>Exhibit 6-8</a:t>
            </a:r>
            <a:br>
              <a:rPr lang="en-US" sz="3200" dirty="0"/>
            </a:br>
            <a:r>
              <a:rPr lang="en-US" sz="3200" dirty="0"/>
              <a:t>A Process for Addressing Ethical Dilemmas</a:t>
            </a:r>
          </a:p>
        </p:txBody>
      </p:sp>
      <p:graphicFrame>
        <p:nvGraphicFramePr>
          <p:cNvPr id="6" name="Table 5" descr="Header: A Process for Addressing Ethical Dilemmas"/>
          <p:cNvGraphicFramePr>
            <a:graphicFrameLocks noGrp="1"/>
          </p:cNvGraphicFramePr>
          <p:nvPr>
            <p:extLst>
              <p:ext uri="{D42A27DB-BD31-4B8C-83A1-F6EECF244321}">
                <p14:modId xmlns:p14="http://schemas.microsoft.com/office/powerpoint/2010/main" val="1534795470"/>
              </p:ext>
            </p:extLst>
          </p:nvPr>
        </p:nvGraphicFramePr>
        <p:xfrm>
          <a:off x="647700" y="2098040"/>
          <a:ext cx="7848600" cy="2494280"/>
        </p:xfrm>
        <a:graphic>
          <a:graphicData uri="http://schemas.openxmlformats.org/drawingml/2006/table">
            <a:tbl>
              <a:tblPr firstRow="1" bandRow="1">
                <a:tableStyleId>{3B4B98B0-60AC-42C2-AFA5-B58CD77FA1E5}</a:tableStyleId>
              </a:tblPr>
              <a:tblGrid>
                <a:gridCol w="78486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A Process for Addressing Ethical Dilemmas</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Step 1: What is the </a:t>
                      </a:r>
                      <a:r>
                        <a:rPr lang="en-US" sz="1800" b="1" kern="1200" dirty="0">
                          <a:solidFill>
                            <a:schemeClr val="tx1"/>
                          </a:solidFill>
                          <a:effectLst/>
                          <a:latin typeface="+mn-lt"/>
                          <a:ea typeface="+mn-ea"/>
                          <a:cs typeface="+mn-cs"/>
                        </a:rPr>
                        <a:t>ethical dilemma</a:t>
                      </a:r>
                      <a:r>
                        <a:rPr lang="en-US" sz="1800" kern="1200" dirty="0">
                          <a:solidFill>
                            <a:schemeClr val="tx1"/>
                          </a:solidFill>
                          <a:effectLst/>
                          <a:latin typeface="+mn-lt"/>
                          <a:ea typeface="+mn-ea"/>
                          <a:cs typeface="+mn-cs"/>
                        </a:rPr>
                        <a:t>?</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Step 2:</a:t>
                      </a:r>
                      <a:r>
                        <a:rPr lang="en-US" sz="1800" kern="1200" baseline="0" dirty="0">
                          <a:solidFill>
                            <a:schemeClr val="tx1"/>
                          </a:solidFill>
                          <a:effectLst/>
                          <a:latin typeface="+mn-lt"/>
                          <a:ea typeface="+mn-ea"/>
                          <a:cs typeface="+mn-cs"/>
                        </a:rPr>
                        <a:t> </a:t>
                      </a:r>
                      <a:r>
                        <a:rPr lang="en-US" sz="1800" kern="1200" dirty="0">
                          <a:solidFill>
                            <a:schemeClr val="tx1"/>
                          </a:solidFill>
                          <a:effectLst/>
                          <a:latin typeface="+mn-lt"/>
                          <a:ea typeface="+mn-ea"/>
                          <a:cs typeface="+mn-cs"/>
                        </a:rPr>
                        <a:t>Who are the </a:t>
                      </a:r>
                      <a:r>
                        <a:rPr lang="en-US" sz="1800" b="1" kern="1200" dirty="0">
                          <a:solidFill>
                            <a:schemeClr val="tx1"/>
                          </a:solidFill>
                          <a:effectLst/>
                          <a:latin typeface="+mn-lt"/>
                          <a:ea typeface="+mn-ea"/>
                          <a:cs typeface="+mn-cs"/>
                        </a:rPr>
                        <a:t>affected stakeholders</a:t>
                      </a:r>
                      <a:r>
                        <a:rPr lang="en-US" sz="1800" kern="1200" dirty="0">
                          <a:solidFill>
                            <a:schemeClr val="tx1"/>
                          </a:solidFill>
                          <a:effectLst/>
                          <a:latin typeface="+mn-lt"/>
                          <a:ea typeface="+mn-ea"/>
                          <a:cs typeface="+mn-cs"/>
                        </a:rPr>
                        <a:t>?</a:t>
                      </a:r>
                      <a:endParaRPr lang="en-US"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Step 3: </a:t>
                      </a:r>
                      <a:r>
                        <a:rPr lang="en-US" sz="1800" kern="1200" dirty="0">
                          <a:solidFill>
                            <a:schemeClr val="tx1"/>
                          </a:solidFill>
                          <a:effectLst/>
                          <a:latin typeface="+mn-lt"/>
                          <a:ea typeface="+mn-ea"/>
                          <a:cs typeface="+mn-cs"/>
                        </a:rPr>
                        <a:t>Which </a:t>
                      </a:r>
                      <a:r>
                        <a:rPr lang="en-US" sz="1800" b="1" kern="1200" dirty="0">
                          <a:solidFill>
                            <a:schemeClr val="tx1"/>
                          </a:solidFill>
                          <a:effectLst/>
                          <a:latin typeface="+mn-lt"/>
                          <a:ea typeface="+mn-ea"/>
                          <a:cs typeface="+mn-cs"/>
                        </a:rPr>
                        <a:t>personal, organizational, </a:t>
                      </a:r>
                      <a:r>
                        <a:rPr lang="en-US" sz="1800" kern="1200" dirty="0">
                          <a:solidFill>
                            <a:schemeClr val="tx1"/>
                          </a:solidFill>
                          <a:effectLst/>
                          <a:latin typeface="+mn-lt"/>
                          <a:ea typeface="+mn-ea"/>
                          <a:cs typeface="+mn-cs"/>
                        </a:rPr>
                        <a:t>and </a:t>
                      </a:r>
                      <a:r>
                        <a:rPr lang="en-US" sz="1800" b="1" kern="1200" dirty="0">
                          <a:solidFill>
                            <a:schemeClr val="tx1"/>
                          </a:solidFill>
                          <a:effectLst/>
                          <a:latin typeface="+mn-lt"/>
                          <a:ea typeface="+mn-ea"/>
                          <a:cs typeface="+mn-cs"/>
                        </a:rPr>
                        <a:t>external factors </a:t>
                      </a:r>
                      <a:r>
                        <a:rPr lang="en-US" sz="1800" kern="1200" dirty="0">
                          <a:solidFill>
                            <a:schemeClr val="tx1"/>
                          </a:solidFill>
                          <a:effectLst/>
                          <a:latin typeface="+mn-lt"/>
                          <a:ea typeface="+mn-ea"/>
                          <a:cs typeface="+mn-cs"/>
                        </a:rPr>
                        <a:t>are important in this decision? </a:t>
                      </a:r>
                      <a:endParaRPr lang="en-US"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Step 4: What are possible </a:t>
                      </a:r>
                      <a:r>
                        <a:rPr lang="en-US" sz="1800" b="1" kern="1200" dirty="0">
                          <a:solidFill>
                            <a:schemeClr val="tx1"/>
                          </a:solidFill>
                          <a:effectLst/>
                          <a:latin typeface="+mn-lt"/>
                          <a:ea typeface="+mn-ea"/>
                          <a:cs typeface="+mn-cs"/>
                        </a:rPr>
                        <a:t>alternatives</a:t>
                      </a:r>
                      <a:r>
                        <a:rPr lang="en-US" sz="1800" kern="1200" dirty="0">
                          <a:solidFill>
                            <a:schemeClr val="tx1"/>
                          </a:solidFill>
                          <a:effectLst/>
                          <a:latin typeface="+mn-lt"/>
                          <a:ea typeface="+mn-ea"/>
                          <a:cs typeface="+mn-cs"/>
                        </a:rPr>
                        <a:t>?</a:t>
                      </a:r>
                      <a:endParaRPr lang="en-US"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Step 5: </a:t>
                      </a:r>
                      <a:r>
                        <a:rPr lang="en-US" sz="1800" kern="1200" dirty="0">
                          <a:solidFill>
                            <a:schemeClr val="tx1"/>
                          </a:solidFill>
                          <a:effectLst/>
                          <a:latin typeface="+mn-lt"/>
                          <a:ea typeface="+mn-ea"/>
                          <a:cs typeface="+mn-cs"/>
                        </a:rPr>
                        <a:t>What is my </a:t>
                      </a:r>
                      <a:r>
                        <a:rPr lang="en-US" sz="1800" b="1" kern="1200" dirty="0">
                          <a:solidFill>
                            <a:schemeClr val="tx1"/>
                          </a:solidFill>
                          <a:effectLst/>
                          <a:latin typeface="+mn-lt"/>
                          <a:ea typeface="+mn-ea"/>
                          <a:cs typeface="+mn-cs"/>
                        </a:rPr>
                        <a:t>decision </a:t>
                      </a:r>
                      <a:r>
                        <a:rPr lang="en-US" sz="1800" kern="1200" dirty="0">
                          <a:solidFill>
                            <a:schemeClr val="tx1"/>
                          </a:solidFill>
                          <a:effectLst/>
                          <a:latin typeface="+mn-lt"/>
                          <a:ea typeface="+mn-ea"/>
                          <a:cs typeface="+mn-cs"/>
                        </a:rPr>
                        <a:t>and how will I act on it?</a:t>
                      </a:r>
                      <a:endParaRPr lang="en-US" dirty="0"/>
                    </a:p>
                  </a:txBody>
                  <a:tcPr/>
                </a:tc>
                <a:extLst>
                  <a:ext uri="{0D108BD9-81ED-4DB2-BD59-A6C34878D82A}">
                    <a16:rowId xmlns:a16="http://schemas.microsoft.com/office/drawing/2014/main" val="10005"/>
                  </a:ext>
                </a:extLst>
              </a:tr>
            </a:tbl>
          </a:graphicData>
        </a:graphic>
      </p:graphicFrame>
      <p:sp>
        <p:nvSpPr>
          <p:cNvPr id="3" name="Text Placeholder 2"/>
          <p:cNvSpPr>
            <a:spLocks noGrp="1"/>
          </p:cNvSpPr>
          <p:nvPr>
            <p:ph type="body" sz="quarter" idx="13"/>
          </p:nvPr>
        </p:nvSpPr>
        <p:spPr/>
        <p:txBody>
          <a:bodyPr/>
          <a:lstStyle/>
          <a:p>
            <a:r>
              <a:rPr lang="en-US" sz="1600" dirty="0"/>
              <a:t>Exhibit 6-8 shows the five-step process to guide employees when faced with ethical dilemmas.</a:t>
            </a:r>
          </a:p>
        </p:txBody>
      </p:sp>
    </p:spTree>
    <p:extLst>
      <p:ext uri="{BB962C8B-B14F-4D97-AF65-F5344CB8AC3E}">
        <p14:creationId xmlns:p14="http://schemas.microsoft.com/office/powerpoint/2010/main" val="1859148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Leadership at the Top</a:t>
            </a:r>
          </a:p>
        </p:txBody>
      </p:sp>
      <p:sp>
        <p:nvSpPr>
          <p:cNvPr id="3" name="Content Placeholder 2"/>
          <p:cNvSpPr>
            <a:spLocks noGrp="1"/>
          </p:cNvSpPr>
          <p:nvPr>
            <p:ph idx="1"/>
          </p:nvPr>
        </p:nvSpPr>
        <p:spPr/>
        <p:txBody>
          <a:bodyPr/>
          <a:lstStyle/>
          <a:p>
            <a:r>
              <a:rPr lang="en-US" sz="2800" dirty="0"/>
              <a:t>Doing business ethically requires a commitment from managers at all levels, but especially the top level because:</a:t>
            </a:r>
          </a:p>
          <a:p>
            <a:pPr lvl="1"/>
            <a:r>
              <a:rPr lang="en-US" sz="2800" dirty="0"/>
              <a:t>they uphold the shared values and set the cultural tone</a:t>
            </a:r>
          </a:p>
          <a:p>
            <a:pPr lvl="1"/>
            <a:r>
              <a:rPr lang="en-US" sz="2800" dirty="0"/>
              <a:t>they’re role models in both words and actions</a:t>
            </a:r>
          </a:p>
        </p:txBody>
      </p:sp>
    </p:spTree>
    <p:extLst>
      <p:ext uri="{BB962C8B-B14F-4D97-AF65-F5344CB8AC3E}">
        <p14:creationId xmlns:p14="http://schemas.microsoft.com/office/powerpoint/2010/main" val="1190451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Goals and Performance Appraisal</a:t>
            </a:r>
          </a:p>
        </p:txBody>
      </p:sp>
      <p:sp>
        <p:nvSpPr>
          <p:cNvPr id="3" name="Content Placeholder 2"/>
          <p:cNvSpPr>
            <a:spLocks noGrp="1"/>
          </p:cNvSpPr>
          <p:nvPr>
            <p:ph idx="1"/>
          </p:nvPr>
        </p:nvSpPr>
        <p:spPr/>
        <p:txBody>
          <a:bodyPr/>
          <a:lstStyle/>
          <a:p>
            <a:r>
              <a:rPr lang="en-US" sz="2400" dirty="0"/>
              <a:t>Under the stress of unrealistic goals, otherwise ethical employees may feel they have no choice but to do whatever is necessary to meet those goals.</a:t>
            </a:r>
          </a:p>
          <a:p>
            <a:r>
              <a:rPr lang="en-US" sz="2400" dirty="0"/>
              <a:t>To encourage ethical behavior, both ends </a:t>
            </a:r>
            <a:r>
              <a:rPr lang="en-US" sz="2400" i="1" dirty="0"/>
              <a:t>and </a:t>
            </a:r>
            <a:r>
              <a:rPr lang="en-US" sz="2400" dirty="0"/>
              <a:t>means should be evaluated. </a:t>
            </a:r>
          </a:p>
          <a:p>
            <a:r>
              <a:rPr lang="en-US" sz="2400" dirty="0"/>
              <a:t>For example, a manager’s annual review of employees might include a point-by-point evaluation of how their decisions measured up against the company’s code of ethics as well as how well goals were met. </a:t>
            </a:r>
          </a:p>
          <a:p>
            <a:endParaRPr lang="en-US" sz="2800" dirty="0"/>
          </a:p>
        </p:txBody>
      </p:sp>
    </p:spTree>
    <p:extLst>
      <p:ext uri="{BB962C8B-B14F-4D97-AF65-F5344CB8AC3E}">
        <p14:creationId xmlns:p14="http://schemas.microsoft.com/office/powerpoint/2010/main" val="435140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Training</a:t>
            </a:r>
          </a:p>
        </p:txBody>
      </p:sp>
      <p:sp>
        <p:nvSpPr>
          <p:cNvPr id="3" name="Content Placeholder 2"/>
          <p:cNvSpPr>
            <a:spLocks noGrp="1"/>
          </p:cNvSpPr>
          <p:nvPr>
            <p:ph idx="1"/>
          </p:nvPr>
        </p:nvSpPr>
        <p:spPr/>
        <p:txBody>
          <a:bodyPr/>
          <a:lstStyle/>
          <a:p>
            <a:r>
              <a:rPr lang="en-US" sz="2400" dirty="0"/>
              <a:t>More organizations are setting up seminars, workshops, and similar ethics training programs to encourage ethical behavior.</a:t>
            </a:r>
          </a:p>
          <a:p>
            <a:r>
              <a:rPr lang="en-US" sz="2400" dirty="0"/>
              <a:t>Critics stress that the effort is pointless because people establish their individual value systems when they’re young. </a:t>
            </a:r>
          </a:p>
          <a:p>
            <a:r>
              <a:rPr lang="en-US" sz="2400" dirty="0"/>
              <a:t>Proponents cite evidence that shows that teaching ethical problem solving can make an actual difference in ethical behaviors; that training has increased individuals’ level of moral development; and ethics training increases awareness of ethical issues in business. </a:t>
            </a:r>
          </a:p>
          <a:p>
            <a:endParaRPr lang="en-US" sz="2400" dirty="0"/>
          </a:p>
        </p:txBody>
      </p:sp>
    </p:spTree>
    <p:extLst>
      <p:ext uri="{BB962C8B-B14F-4D97-AF65-F5344CB8AC3E}">
        <p14:creationId xmlns:p14="http://schemas.microsoft.com/office/powerpoint/2010/main" val="1798319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Social Audits</a:t>
            </a:r>
          </a:p>
        </p:txBody>
      </p:sp>
      <p:sp>
        <p:nvSpPr>
          <p:cNvPr id="3" name="Content Placeholder 2"/>
          <p:cNvSpPr>
            <a:spLocks noGrp="1"/>
          </p:cNvSpPr>
          <p:nvPr>
            <p:ph idx="1"/>
          </p:nvPr>
        </p:nvSpPr>
        <p:spPr/>
        <p:txBody>
          <a:bodyPr/>
          <a:lstStyle/>
          <a:p>
            <a:r>
              <a:rPr lang="en-US" sz="2800" b="1" dirty="0">
                <a:cs typeface="Arial"/>
              </a:rPr>
              <a:t>Independent social audits</a:t>
            </a:r>
            <a:r>
              <a:rPr lang="en-US" sz="2800" dirty="0">
                <a:cs typeface="Arial"/>
              </a:rPr>
              <a:t>: evaluate decisions and management practices in terms of the organization’s code of ethics</a:t>
            </a:r>
          </a:p>
          <a:p>
            <a:r>
              <a:rPr lang="en-US" sz="2800" dirty="0"/>
              <a:t>The fear of being caught can be an important deterrent to unethical behavior</a:t>
            </a:r>
            <a:endParaRPr lang="en-US" sz="2800" dirty="0">
              <a:cs typeface="Arial"/>
            </a:endParaRPr>
          </a:p>
        </p:txBody>
      </p:sp>
    </p:spTree>
    <p:extLst>
      <p:ext uri="{BB962C8B-B14F-4D97-AF65-F5344CB8AC3E}">
        <p14:creationId xmlns:p14="http://schemas.microsoft.com/office/powerpoint/2010/main" val="2098270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Leadership</a:t>
            </a:r>
          </a:p>
        </p:txBody>
      </p:sp>
      <p:sp>
        <p:nvSpPr>
          <p:cNvPr id="3" name="Content Placeholder 2"/>
          <p:cNvSpPr>
            <a:spLocks noGrp="1"/>
          </p:cNvSpPr>
          <p:nvPr>
            <p:ph idx="1"/>
          </p:nvPr>
        </p:nvSpPr>
        <p:spPr/>
        <p:txBody>
          <a:bodyPr/>
          <a:lstStyle/>
          <a:p>
            <a:r>
              <a:rPr lang="en-US" sz="2000" dirty="0"/>
              <a:t>What managers </a:t>
            </a:r>
            <a:r>
              <a:rPr lang="en-US" sz="2000" b="1" dirty="0"/>
              <a:t>do</a:t>
            </a:r>
            <a:r>
              <a:rPr lang="en-US" sz="2000" i="1" dirty="0"/>
              <a:t> </a:t>
            </a:r>
            <a:r>
              <a:rPr lang="en-US" sz="2000" dirty="0"/>
              <a:t>has a strong influence on employees’ decisions whether to behave ethically.</a:t>
            </a:r>
          </a:p>
          <a:p>
            <a:endParaRPr lang="en-US" sz="2800" dirty="0"/>
          </a:p>
        </p:txBody>
      </p:sp>
      <p:graphicFrame>
        <p:nvGraphicFramePr>
          <p:cNvPr id="4" name="Table 3">
            <a:extLst>
              <a:ext uri="{FF2B5EF4-FFF2-40B4-BE49-F238E27FC236}">
                <a16:creationId xmlns:a16="http://schemas.microsoft.com/office/drawing/2014/main" id="{CCDF3B10-DDA7-31C9-EECB-32593A2C4C3B}"/>
              </a:ext>
            </a:extLst>
          </p:cNvPr>
          <p:cNvGraphicFramePr>
            <a:graphicFrameLocks noGrp="1"/>
          </p:cNvGraphicFramePr>
          <p:nvPr>
            <p:extLst>
              <p:ext uri="{D42A27DB-BD31-4B8C-83A1-F6EECF244321}">
                <p14:modId xmlns:p14="http://schemas.microsoft.com/office/powerpoint/2010/main" val="3787996813"/>
              </p:ext>
            </p:extLst>
          </p:nvPr>
        </p:nvGraphicFramePr>
        <p:xfrm>
          <a:off x="484909" y="2438400"/>
          <a:ext cx="8077200" cy="2966720"/>
        </p:xfrm>
        <a:graphic>
          <a:graphicData uri="http://schemas.openxmlformats.org/drawingml/2006/table">
            <a:tbl>
              <a:tblPr firstRow="1" bandRow="1">
                <a:tableStyleId>{3B4B98B0-60AC-42C2-AFA5-B58CD77FA1E5}</a:tableStyleId>
              </a:tblPr>
              <a:tblGrid>
                <a:gridCol w="8077200">
                  <a:extLst>
                    <a:ext uri="{9D8B030D-6E8A-4147-A177-3AD203B41FA5}">
                      <a16:colId xmlns:a16="http://schemas.microsoft.com/office/drawing/2014/main" val="2637131326"/>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Being an Ethical Leader</a:t>
                      </a:r>
                      <a:endParaRPr lang="en-US" dirty="0"/>
                    </a:p>
                  </a:txBody>
                  <a:tcPr/>
                </a:tc>
                <a:extLst>
                  <a:ext uri="{0D108BD9-81ED-4DB2-BD59-A6C34878D82A}">
                    <a16:rowId xmlns:a16="http://schemas.microsoft.com/office/drawing/2014/main" val="443956604"/>
                  </a:ext>
                </a:extLst>
              </a:tr>
              <a:tr h="370840">
                <a:tc>
                  <a:txBody>
                    <a:bodyPr/>
                    <a:lstStyle/>
                    <a:p>
                      <a:r>
                        <a:rPr lang="en-US" sz="1800" kern="1200" dirty="0">
                          <a:solidFill>
                            <a:schemeClr val="tx1"/>
                          </a:solidFill>
                          <a:effectLst/>
                          <a:latin typeface="+mn-lt"/>
                          <a:ea typeface="+mn-ea"/>
                          <a:cs typeface="+mn-cs"/>
                        </a:rPr>
                        <a:t>Be a good role model by being ethical and honest.</a:t>
                      </a:r>
                    </a:p>
                  </a:txBody>
                  <a:tcPr/>
                </a:tc>
                <a:extLst>
                  <a:ext uri="{0D108BD9-81ED-4DB2-BD59-A6C34878D82A}">
                    <a16:rowId xmlns:a16="http://schemas.microsoft.com/office/drawing/2014/main" val="685771163"/>
                  </a:ext>
                </a:extLst>
              </a:tr>
              <a:tr h="370840">
                <a:tc>
                  <a:txBody>
                    <a:bodyPr/>
                    <a:lstStyle/>
                    <a:p>
                      <a:r>
                        <a:rPr lang="en-US" sz="1800" kern="1200" dirty="0">
                          <a:solidFill>
                            <a:schemeClr val="tx1"/>
                          </a:solidFill>
                          <a:effectLst/>
                          <a:latin typeface="+mn-lt"/>
                          <a:ea typeface="+mn-ea"/>
                          <a:cs typeface="+mn-cs"/>
                        </a:rPr>
                        <a:t>• Tell the truth always.</a:t>
                      </a:r>
                    </a:p>
                  </a:txBody>
                  <a:tcPr/>
                </a:tc>
                <a:extLst>
                  <a:ext uri="{0D108BD9-81ED-4DB2-BD59-A6C34878D82A}">
                    <a16:rowId xmlns:a16="http://schemas.microsoft.com/office/drawing/2014/main" val="2144708835"/>
                  </a:ext>
                </a:extLst>
              </a:tr>
              <a:tr h="370840">
                <a:tc>
                  <a:txBody>
                    <a:bodyPr/>
                    <a:lstStyle/>
                    <a:p>
                      <a:r>
                        <a:rPr lang="en-US" sz="1800" kern="1200" dirty="0">
                          <a:solidFill>
                            <a:schemeClr val="tx1"/>
                          </a:solidFill>
                          <a:effectLst/>
                          <a:latin typeface="+mn-lt"/>
                          <a:ea typeface="+mn-ea"/>
                          <a:cs typeface="+mn-cs"/>
                        </a:rPr>
                        <a:t>• Don’t hide or manipulate information.</a:t>
                      </a:r>
                    </a:p>
                  </a:txBody>
                  <a:tcPr/>
                </a:tc>
                <a:extLst>
                  <a:ext uri="{0D108BD9-81ED-4DB2-BD59-A6C34878D82A}">
                    <a16:rowId xmlns:a16="http://schemas.microsoft.com/office/drawing/2014/main" val="205420962"/>
                  </a:ext>
                </a:extLst>
              </a:tr>
              <a:tr h="370840">
                <a:tc>
                  <a:txBody>
                    <a:bodyPr/>
                    <a:lstStyle/>
                    <a:p>
                      <a:r>
                        <a:rPr lang="en-US" sz="1800" kern="1200" dirty="0">
                          <a:solidFill>
                            <a:schemeClr val="tx1"/>
                          </a:solidFill>
                          <a:effectLst/>
                          <a:latin typeface="+mn-lt"/>
                          <a:ea typeface="+mn-ea"/>
                          <a:cs typeface="+mn-cs"/>
                        </a:rPr>
                        <a:t>• Be willing to admit your failures.</a:t>
                      </a:r>
                    </a:p>
                  </a:txBody>
                  <a:tcPr/>
                </a:tc>
                <a:extLst>
                  <a:ext uri="{0D108BD9-81ED-4DB2-BD59-A6C34878D82A}">
                    <a16:rowId xmlns:a16="http://schemas.microsoft.com/office/drawing/2014/main" val="34132519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Share your personal values by regularly communicating them to employees.</a:t>
                      </a:r>
                      <a:endParaRPr lang="en-US" dirty="0"/>
                    </a:p>
                  </a:txBody>
                  <a:tcPr/>
                </a:tc>
                <a:extLst>
                  <a:ext uri="{0D108BD9-81ED-4DB2-BD59-A6C34878D82A}">
                    <a16:rowId xmlns:a16="http://schemas.microsoft.com/office/drawing/2014/main" val="1916979105"/>
                  </a:ext>
                </a:extLst>
              </a:tr>
              <a:tr h="370840">
                <a:tc>
                  <a:txBody>
                    <a:bodyPr/>
                    <a:lstStyle/>
                    <a:p>
                      <a:r>
                        <a:rPr lang="en-US" sz="1800" kern="1200" dirty="0">
                          <a:solidFill>
                            <a:schemeClr val="tx1"/>
                          </a:solidFill>
                          <a:effectLst/>
                          <a:latin typeface="+mn-lt"/>
                          <a:ea typeface="+mn-ea"/>
                          <a:cs typeface="+mn-cs"/>
                        </a:rPr>
                        <a:t>Stress the organization’s or team’s important shared values.</a:t>
                      </a:r>
                    </a:p>
                  </a:txBody>
                  <a:tcPr/>
                </a:tc>
                <a:extLst>
                  <a:ext uri="{0D108BD9-81ED-4DB2-BD59-A6C34878D82A}">
                    <a16:rowId xmlns:a16="http://schemas.microsoft.com/office/drawing/2014/main" val="3084841063"/>
                  </a:ext>
                </a:extLst>
              </a:tr>
              <a:tr h="370840">
                <a:tc>
                  <a:txBody>
                    <a:bodyPr/>
                    <a:lstStyle/>
                    <a:p>
                      <a:r>
                        <a:rPr lang="en-US" sz="1800" kern="1200" dirty="0">
                          <a:solidFill>
                            <a:schemeClr val="tx1"/>
                          </a:solidFill>
                          <a:effectLst/>
                          <a:latin typeface="+mn-lt"/>
                          <a:ea typeface="+mn-ea"/>
                          <a:cs typeface="+mn-cs"/>
                        </a:rPr>
                        <a:t>Use the reward system to hold everyone accountable to the values.</a:t>
                      </a:r>
                    </a:p>
                  </a:txBody>
                  <a:tcPr/>
                </a:tc>
                <a:extLst>
                  <a:ext uri="{0D108BD9-81ED-4DB2-BD59-A6C34878D82A}">
                    <a16:rowId xmlns:a16="http://schemas.microsoft.com/office/drawing/2014/main" val="4101772916"/>
                  </a:ext>
                </a:extLst>
              </a:tr>
            </a:tbl>
          </a:graphicData>
        </a:graphic>
      </p:graphicFrame>
    </p:spTree>
    <p:extLst>
      <p:ext uri="{BB962C8B-B14F-4D97-AF65-F5344CB8AC3E}">
        <p14:creationId xmlns:p14="http://schemas.microsoft.com/office/powerpoint/2010/main" val="1315385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Entrepreneurship</a:t>
            </a:r>
          </a:p>
        </p:txBody>
      </p:sp>
      <p:sp>
        <p:nvSpPr>
          <p:cNvPr id="3" name="Content Placeholder 2"/>
          <p:cNvSpPr>
            <a:spLocks noGrp="1"/>
          </p:cNvSpPr>
          <p:nvPr>
            <p:ph idx="1"/>
          </p:nvPr>
        </p:nvSpPr>
        <p:spPr/>
        <p:txBody>
          <a:bodyPr/>
          <a:lstStyle/>
          <a:p>
            <a:r>
              <a:rPr lang="en-US" sz="1800" b="1" dirty="0"/>
              <a:t>Social entrepreneur</a:t>
            </a:r>
            <a:r>
              <a:rPr lang="en-US" sz="1800" dirty="0"/>
              <a:t>: an individual or organization that seeks out opportunities to improve society by using practical, innovative, and sustainable approaches</a:t>
            </a:r>
          </a:p>
          <a:p>
            <a:r>
              <a:rPr lang="en-US" sz="1800" dirty="0"/>
              <a:t>For example, Microsoft Corporation announced that it would donate $1 billion in cloud services to nonprofits and university researchers. </a:t>
            </a:r>
            <a:endParaRPr lang="en-US" sz="2800" dirty="0"/>
          </a:p>
        </p:txBody>
      </p:sp>
    </p:spTree>
    <p:extLst>
      <p:ext uri="{BB962C8B-B14F-4D97-AF65-F5344CB8AC3E}">
        <p14:creationId xmlns:p14="http://schemas.microsoft.com/office/powerpoint/2010/main" val="119290551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18000</TotalTime>
  <Words>4915</Words>
  <Application>Microsoft Macintosh PowerPoint</Application>
  <PresentationFormat>On-screen Show (4:3)</PresentationFormat>
  <Paragraphs>242</Paragraphs>
  <Slides>30</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Google Sans</vt:lpstr>
      <vt:lpstr>Times New Roman</vt:lpstr>
      <vt:lpstr>Verdana</vt:lpstr>
      <vt:lpstr>Wingdings</vt:lpstr>
      <vt:lpstr>508 Lecture</vt:lpstr>
      <vt:lpstr>Managing Social Responsibility and Ethics</vt:lpstr>
      <vt:lpstr>Classical View: Social Obligation</vt:lpstr>
      <vt:lpstr>Socioeconomic View: Responsiveness and Responsibility </vt:lpstr>
      <vt:lpstr>How Should Organizations Be Socially Involved?</vt:lpstr>
      <vt:lpstr>Arguments For and Against Social Responsibility</vt:lpstr>
      <vt:lpstr>Green Management</vt:lpstr>
      <vt:lpstr>Exhibit 6-2 Green Approaches</vt:lpstr>
      <vt:lpstr>How Organizations Go Green</vt:lpstr>
      <vt:lpstr>Evaluating Green Management Actions</vt:lpstr>
      <vt:lpstr>Ethical Behavior</vt:lpstr>
      <vt:lpstr>Exhibit 6-3 Factors that Determine Ethical and Unethical Behavior</vt:lpstr>
      <vt:lpstr>Stage of Moral Development</vt:lpstr>
      <vt:lpstr>Exhibit 6-4 Stages of Moral Development</vt:lpstr>
      <vt:lpstr>Individual Characteristics</vt:lpstr>
      <vt:lpstr>Structural Variables</vt:lpstr>
      <vt:lpstr>Exhibit 6-5 Issue Intensity</vt:lpstr>
      <vt:lpstr>Issue Intensity</vt:lpstr>
      <vt:lpstr>Value-based Management</vt:lpstr>
      <vt:lpstr>Codes of Ethics</vt:lpstr>
      <vt:lpstr>Exhibit 6-7 Codes of Ethics (1 of 3)</vt:lpstr>
      <vt:lpstr>Exhibit 6-7 Codes of Ethics (2 of 3)</vt:lpstr>
      <vt:lpstr>Exhibit 6-7 Codes of Ethics (3 of 3)</vt:lpstr>
      <vt:lpstr>Developing Codes of Ethics</vt:lpstr>
      <vt:lpstr>Exhibit 6-8 A Process for Addressing Ethical Dilemmas</vt:lpstr>
      <vt:lpstr>Leadership at the Top</vt:lpstr>
      <vt:lpstr>Job Goals and Performance Appraisal</vt:lpstr>
      <vt:lpstr>Ethics Training</vt:lpstr>
      <vt:lpstr>Independent Social Audits</vt:lpstr>
      <vt:lpstr>Ethical Leadership</vt:lpstr>
      <vt:lpstr>Social Entrepreneurship</vt:lpstr>
    </vt:vector>
  </TitlesOfParts>
  <Manager/>
  <Company>Cenveo Publisher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6: Managing Social Responsibility and Ethics</dc:subject>
  <dc:creator>Stephen P. Robbins and Mary Coulter</dc:creator>
  <cp:keywords>Management</cp:keywords>
  <dc:description/>
  <cp:lastModifiedBy>chetanya singh</cp:lastModifiedBy>
  <cp:revision>667</cp:revision>
  <dcterms:created xsi:type="dcterms:W3CDTF">2014-07-14T20:04:21Z</dcterms:created>
  <dcterms:modified xsi:type="dcterms:W3CDTF">2026-09-06T09:02:23Z</dcterms:modified>
  <cp:category/>
</cp:coreProperties>
</file>