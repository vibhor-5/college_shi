
<file path=[Content_Types].xml><?xml version="1.0" encoding="utf-8"?>
<Types xmlns="http://schemas.openxmlformats.org/package/2006/content-types">
  <Default Extension="emf" ContentType="image/x-emf"/>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9"/>
  </p:notesMasterIdLst>
  <p:handoutMasterIdLst>
    <p:handoutMasterId r:id="rId20"/>
  </p:handoutMasterIdLst>
  <p:sldIdLst>
    <p:sldId id="437" r:id="rId2"/>
    <p:sldId id="349" r:id="rId3"/>
    <p:sldId id="407" r:id="rId4"/>
    <p:sldId id="409" r:id="rId5"/>
    <p:sldId id="416" r:id="rId6"/>
    <p:sldId id="421" r:id="rId7"/>
    <p:sldId id="419" r:id="rId8"/>
    <p:sldId id="436" r:id="rId9"/>
    <p:sldId id="438" r:id="rId10"/>
    <p:sldId id="435" r:id="rId11"/>
    <p:sldId id="399" r:id="rId12"/>
    <p:sldId id="401" r:id="rId13"/>
    <p:sldId id="429" r:id="rId14"/>
    <p:sldId id="439" r:id="rId15"/>
    <p:sldId id="396" r:id="rId16"/>
    <p:sldId id="430" r:id="rId17"/>
    <p:sldId id="373" r:id="rId18"/>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7FA3"/>
    <a:srgbClr val="D4EAE4"/>
    <a:srgbClr val="00158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3B4B98B0-60AC-42C2-AFA5-B58CD77FA1E5}">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31348" autoAdjust="0"/>
    <p:restoredTop sz="90115" autoAdjust="0"/>
  </p:normalViewPr>
  <p:slideViewPr>
    <p:cSldViewPr>
      <p:cViewPr>
        <p:scale>
          <a:sx n="127" d="100"/>
          <a:sy n="127" d="100"/>
        </p:scale>
        <p:origin x="216" y="-248"/>
      </p:cViewPr>
      <p:guideLst>
        <p:guide orient="horz" pos="2160"/>
        <p:guide pos="2880"/>
      </p:guideLst>
    </p:cSldViewPr>
  </p:slideViewPr>
  <p:outlineViewPr>
    <p:cViewPr>
      <p:scale>
        <a:sx n="33" d="100"/>
        <a:sy n="33" d="100"/>
      </p:scale>
      <p:origin x="0" y="0"/>
    </p:cViewPr>
  </p:outlineViewPr>
  <p:notesTextViewPr>
    <p:cViewPr>
      <p:scale>
        <a:sx n="1" d="1"/>
        <a:sy n="1" d="1"/>
      </p:scale>
      <p:origin x="0" y="0"/>
    </p:cViewPr>
  </p:notesTextViewPr>
  <p:sorterViewPr>
    <p:cViewPr>
      <p:scale>
        <a:sx n="66" d="100"/>
        <a:sy n="66" d="100"/>
      </p:scale>
      <p:origin x="0" y="0"/>
    </p:cViewPr>
  </p:sorterViewPr>
  <p:notesViewPr>
    <p:cSldViewPr>
      <p:cViewPr varScale="1">
        <p:scale>
          <a:sx n="54" d="100"/>
          <a:sy n="54" d="100"/>
        </p:scale>
        <p:origin x="1794" y="78"/>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8D8D874E-E9D5-433B-A149-BDF6BFDD40A8}" type="datetimeFigureOut">
              <a:rPr lang="en-US" smtClean="0"/>
              <a:pPr/>
              <a:t>8/25/26</a:t>
            </a:fld>
            <a:endParaRPr lang="en-US" dirty="0"/>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20DCAA22-461C-45B4-A301-BFCA580174EF}" type="slidenum">
              <a:rPr lang="en-US" smtClean="0"/>
              <a:pPr/>
              <a:t>‹#›</a:t>
            </a:fld>
            <a:endParaRPr lang="en-US" dirty="0"/>
          </a:p>
        </p:txBody>
      </p:sp>
    </p:spTree>
    <p:extLst>
      <p:ext uri="{BB962C8B-B14F-4D97-AF65-F5344CB8AC3E}">
        <p14:creationId xmlns:p14="http://schemas.microsoft.com/office/powerpoint/2010/main" val="49019226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EA051F04-9E25-42C3-8BC5-EC2E8469D95E}" type="datetimeFigureOut">
              <a:rPr lang="en-US" smtClean="0"/>
              <a:pPr/>
              <a:t>8/25/26</a:t>
            </a:fld>
            <a:endParaRPr lang="en-US" dirty="0"/>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A73D6722-9B4D-4E29-B226-C325925A8118}" type="slidenum">
              <a:rPr lang="en-US" smtClean="0"/>
              <a:pPr/>
              <a:t>‹#›</a:t>
            </a:fld>
            <a:endParaRPr lang="en-US" dirty="0"/>
          </a:p>
        </p:txBody>
      </p:sp>
    </p:spTree>
    <p:extLst>
      <p:ext uri="{BB962C8B-B14F-4D97-AF65-F5344CB8AC3E}">
        <p14:creationId xmlns:p14="http://schemas.microsoft.com/office/powerpoint/2010/main" val="35295983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2</a:t>
            </a:fld>
            <a:endParaRPr lang="en-US" dirty="0"/>
          </a:p>
        </p:txBody>
      </p:sp>
    </p:spTree>
    <p:extLst>
      <p:ext uri="{BB962C8B-B14F-4D97-AF65-F5344CB8AC3E}">
        <p14:creationId xmlns:p14="http://schemas.microsoft.com/office/powerpoint/2010/main" val="54971855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r>
              <a:rPr lang="en-US" dirty="0">
                <a:cs typeface="Arial" charset="0"/>
              </a:rPr>
              <a:t>First, an </a:t>
            </a:r>
            <a:r>
              <a:rPr lang="en-US" b="1" dirty="0">
                <a:cs typeface="Arial" charset="0"/>
              </a:rPr>
              <a:t>ethnocentric attitude </a:t>
            </a:r>
            <a:r>
              <a:rPr lang="en-US" dirty="0">
                <a:cs typeface="Arial" charset="0"/>
              </a:rPr>
              <a:t>is the belief that the best work approaches and practices are those of the </a:t>
            </a:r>
            <a:r>
              <a:rPr lang="en-US" i="1" dirty="0">
                <a:cs typeface="Arial" charset="0"/>
              </a:rPr>
              <a:t>home </a:t>
            </a:r>
            <a:r>
              <a:rPr lang="en-US" dirty="0">
                <a:cs typeface="Arial" charset="0"/>
              </a:rPr>
              <a:t>country (the country in which the company’s parochialistic</a:t>
            </a:r>
            <a:r>
              <a:rPr lang="en-US" baseline="0" dirty="0">
                <a:cs typeface="Arial" charset="0"/>
              </a:rPr>
              <a:t> </a:t>
            </a:r>
            <a:r>
              <a:rPr lang="en-US" dirty="0">
                <a:cs typeface="Arial" charset="0"/>
              </a:rPr>
              <a:t>headquarters are located). Managers with an ethnocentric attitude believe that people in foreign countries don’t have the needed skills, expertise, knowledge, or experience</a:t>
            </a:r>
            <a:r>
              <a:rPr lang="en-US" baseline="0" dirty="0">
                <a:cs typeface="Arial" charset="0"/>
              </a:rPr>
              <a:t> </a:t>
            </a:r>
            <a:r>
              <a:rPr lang="en-US" dirty="0">
                <a:cs typeface="Arial" charset="0"/>
              </a:rPr>
              <a:t>to make the best business decisions as people in the home country do.</a:t>
            </a:r>
          </a:p>
          <a:p>
            <a:pPr eaLnBrk="1" hangingPunct="1"/>
            <a:endParaRPr lang="en-US" dirty="0">
              <a:cs typeface="Arial" charset="0"/>
            </a:endParaRPr>
          </a:p>
          <a:p>
            <a:pPr eaLnBrk="1" hangingPunct="1"/>
            <a:r>
              <a:rPr lang="en-US" dirty="0">
                <a:cs typeface="Arial" charset="0"/>
              </a:rPr>
              <a:t>A</a:t>
            </a:r>
            <a:r>
              <a:rPr lang="en-US" b="1" dirty="0">
                <a:cs typeface="Arial" charset="0"/>
              </a:rPr>
              <a:t> polycentric attitude </a:t>
            </a:r>
            <a:r>
              <a:rPr lang="en-US" dirty="0">
                <a:cs typeface="Arial" charset="0"/>
              </a:rPr>
              <a:t>is the view that employees in the </a:t>
            </a:r>
            <a:r>
              <a:rPr lang="en-US" i="1" dirty="0">
                <a:cs typeface="Arial" charset="0"/>
              </a:rPr>
              <a:t>host </a:t>
            </a:r>
            <a:r>
              <a:rPr lang="en-US" dirty="0">
                <a:cs typeface="Arial" charset="0"/>
              </a:rPr>
              <a:t>country (the foreign country in which the organization is doing business) know the best work approaches</a:t>
            </a:r>
            <a:r>
              <a:rPr lang="en-US" baseline="0" dirty="0">
                <a:cs typeface="Arial" charset="0"/>
              </a:rPr>
              <a:t> a</a:t>
            </a:r>
            <a:r>
              <a:rPr lang="en-US" dirty="0">
                <a:cs typeface="Arial" charset="0"/>
              </a:rPr>
              <a:t>nd practices for running their business. Managers with this attitude view every foreign operation as different and hard to understand. Thus, they’re likely to let employees there figure out how best to do things.</a:t>
            </a:r>
          </a:p>
          <a:p>
            <a:pPr eaLnBrk="1" hangingPunct="1"/>
            <a:endParaRPr lang="en-US" dirty="0">
              <a:cs typeface="Arial" charset="0"/>
            </a:endParaRPr>
          </a:p>
          <a:p>
            <a:pPr eaLnBrk="1" hangingPunct="1"/>
            <a:r>
              <a:rPr lang="en-US" dirty="0">
                <a:cs typeface="Arial" charset="0"/>
              </a:rPr>
              <a:t>A </a:t>
            </a:r>
            <a:r>
              <a:rPr lang="en-US" b="1" dirty="0">
                <a:cs typeface="Arial" charset="0"/>
              </a:rPr>
              <a:t>geocentric attitude </a:t>
            </a:r>
            <a:r>
              <a:rPr lang="en-US" b="0" dirty="0">
                <a:cs typeface="Arial" charset="0"/>
              </a:rPr>
              <a:t>is</a:t>
            </a:r>
            <a:r>
              <a:rPr lang="en-US" b="1" dirty="0">
                <a:cs typeface="Arial" charset="0"/>
              </a:rPr>
              <a:t> </a:t>
            </a:r>
            <a:r>
              <a:rPr lang="en-US" dirty="0">
                <a:cs typeface="Arial" charset="0"/>
              </a:rPr>
              <a:t>a </a:t>
            </a:r>
            <a:r>
              <a:rPr lang="en-US" i="1" dirty="0">
                <a:cs typeface="Arial" charset="0"/>
              </a:rPr>
              <a:t>world-oriented </a:t>
            </a:r>
            <a:r>
              <a:rPr lang="en-US" dirty="0">
                <a:cs typeface="Arial" charset="0"/>
              </a:rPr>
              <a:t>view that focuses on using the best approaches and people from around the globe. Managers with this type of attitude have a global view and look for the best approaches and people regardless of origin.</a:t>
            </a:r>
          </a:p>
          <a:p>
            <a:pPr eaLnBrk="1" hangingPunct="1"/>
            <a:endParaRPr lang="en-US" dirty="0">
              <a:cs typeface="Arial" charset="0"/>
            </a:endParaRPr>
          </a:p>
          <a:p>
            <a:pPr eaLnBrk="1" hangingPunct="1"/>
            <a:endParaRPr lang="en-US" dirty="0">
              <a:cs typeface="Arial" charset="0"/>
            </a:endParaRPr>
          </a:p>
          <a:p>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3</a:t>
            </a:fld>
            <a:endParaRPr lang="en-US" dirty="0"/>
          </a:p>
        </p:txBody>
      </p:sp>
    </p:spTree>
    <p:extLst>
      <p:ext uri="{BB962C8B-B14F-4D97-AF65-F5344CB8AC3E}">
        <p14:creationId xmlns:p14="http://schemas.microsoft.com/office/powerpoint/2010/main" val="170397341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r>
              <a:rPr lang="en-US" dirty="0">
                <a:cs typeface="Arial" charset="0"/>
              </a:rPr>
              <a:t>The </a:t>
            </a:r>
            <a:r>
              <a:rPr lang="en-US" b="1" dirty="0">
                <a:cs typeface="Arial" charset="0"/>
              </a:rPr>
              <a:t>European Union (EU) </a:t>
            </a:r>
            <a:r>
              <a:rPr lang="en-US" dirty="0">
                <a:cs typeface="Arial" charset="0"/>
              </a:rPr>
              <a:t>is an economic and political partnership of 28 democratic European countries. Eight countries (Croatia, the former Yugoslav Republic of Macedonia, Turkey, Albania, Bosnia-Herzegovina, Iceland, Montenegro, and Serbia) are candidates to join the EU.</a:t>
            </a:r>
          </a:p>
          <a:p>
            <a:pPr eaLnBrk="1" hangingPunct="1"/>
            <a:endParaRPr lang="en-US" dirty="0">
              <a:cs typeface="Arial" charset="0"/>
            </a:endParaRPr>
          </a:p>
          <a:p>
            <a:pPr eaLnBrk="1" hangingPunct="1"/>
            <a:r>
              <a:rPr lang="en-US" dirty="0">
                <a:cs typeface="Arial" charset="0"/>
              </a:rPr>
              <a:t>When the 12 original members formed the EU in 1992, the primary motivation was to reassert the region’s economic position against the United States and Japan. Before then, each European nation had border controls, taxes, and subsidies; nationalistic policies; and protected industries. Now with these barriers removed, the economic power represented</a:t>
            </a:r>
            <a:r>
              <a:rPr lang="en-US" baseline="0" dirty="0">
                <a:cs typeface="Arial" charset="0"/>
              </a:rPr>
              <a:t> </a:t>
            </a:r>
            <a:r>
              <a:rPr lang="en-US" dirty="0">
                <a:cs typeface="Arial" charset="0"/>
              </a:rPr>
              <a:t>by the EU is considerable. Its current membership covers a population base of more than half a billion people (7 percent of the world population) and accounts for approximately 16 percent of the world’s global</a:t>
            </a:r>
            <a:r>
              <a:rPr lang="en-US" baseline="0" dirty="0">
                <a:cs typeface="Arial" charset="0"/>
              </a:rPr>
              <a:t> exports and imports</a:t>
            </a:r>
            <a:r>
              <a:rPr lang="en-US" dirty="0">
                <a:cs typeface="Arial" charset="0"/>
              </a:rPr>
              <a:t>. </a:t>
            </a:r>
          </a:p>
          <a:p>
            <a:pPr eaLnBrk="1" hangingPunct="1"/>
            <a:endParaRPr lang="en-US" dirty="0">
              <a:cs typeface="Arial" charset="0"/>
            </a:endParaRPr>
          </a:p>
          <a:p>
            <a:pPr eaLnBrk="1" hangingPunct="1"/>
            <a:r>
              <a:rPr lang="en-US" dirty="0">
                <a:cs typeface="Arial" charset="0"/>
              </a:rPr>
              <a:t>Another step toward full unification occurred when the common European currency, the </a:t>
            </a:r>
            <a:r>
              <a:rPr lang="en-US" b="1" dirty="0">
                <a:cs typeface="Arial" charset="0"/>
              </a:rPr>
              <a:t>euro, </a:t>
            </a:r>
            <a:r>
              <a:rPr lang="en-US" dirty="0">
                <a:cs typeface="Arial" charset="0"/>
              </a:rPr>
              <a:t>was adopted. The euro is currently in use in 18 of the 28 member states, and all new member countries must adopt the euro. Only Denmark, the United Kingdom, and Sweden have been allowed to opt out of using the euro.</a:t>
            </a:r>
          </a:p>
        </p:txBody>
      </p:sp>
      <p:sp>
        <p:nvSpPr>
          <p:cNvPr id="4" name="Slide Number Placeholder 3"/>
          <p:cNvSpPr>
            <a:spLocks noGrp="1"/>
          </p:cNvSpPr>
          <p:nvPr>
            <p:ph type="sldNum" sz="quarter" idx="10"/>
          </p:nvPr>
        </p:nvSpPr>
        <p:spPr/>
        <p:txBody>
          <a:bodyPr/>
          <a:lstStyle/>
          <a:p>
            <a:fld id="{A73D6722-9B4D-4E29-B226-C325925A8118}" type="slidenum">
              <a:rPr lang="en-US" smtClean="0"/>
              <a:pPr/>
              <a:t>4</a:t>
            </a:fld>
            <a:endParaRPr lang="en-US" dirty="0"/>
          </a:p>
        </p:txBody>
      </p:sp>
    </p:spTree>
    <p:extLst>
      <p:ext uri="{BB962C8B-B14F-4D97-AF65-F5344CB8AC3E}">
        <p14:creationId xmlns:p14="http://schemas.microsoft.com/office/powerpoint/2010/main" val="67344821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The </a:t>
            </a:r>
            <a:r>
              <a:rPr lang="en-US" sz="1200" b="1" kern="1200" dirty="0">
                <a:solidFill>
                  <a:schemeClr val="tx1"/>
                </a:solidFill>
                <a:effectLst/>
                <a:latin typeface="+mn-lt"/>
                <a:ea typeface="+mn-ea"/>
                <a:cs typeface="+mn-cs"/>
              </a:rPr>
              <a:t>World Trade Organization (WTO) </a:t>
            </a:r>
            <a:r>
              <a:rPr lang="en-US" sz="1200" kern="1200" dirty="0">
                <a:solidFill>
                  <a:schemeClr val="tx1"/>
                </a:solidFill>
                <a:effectLst/>
                <a:latin typeface="+mn-lt"/>
                <a:ea typeface="+mn-ea"/>
                <a:cs typeface="+mn-cs"/>
              </a:rPr>
              <a:t>is a global organization of 161 countries (as of April 2015) that deals with the rules of trade among nations.48 Formed in 1995, the WTO evolved from the General Agreement on Tariffs and Trade (GATT), a trade agreement in effect since the end of World War II. To- day, the WTO is the only </a:t>
            </a:r>
            <a:r>
              <a:rPr lang="en-US" sz="1200" i="1" kern="1200" dirty="0">
                <a:solidFill>
                  <a:schemeClr val="tx1"/>
                </a:solidFill>
                <a:effectLst/>
                <a:latin typeface="+mn-lt"/>
                <a:ea typeface="+mn-ea"/>
                <a:cs typeface="+mn-cs"/>
              </a:rPr>
              <a:t>global </a:t>
            </a:r>
            <a:r>
              <a:rPr lang="en-US" sz="1200" kern="1200" dirty="0">
                <a:solidFill>
                  <a:schemeClr val="tx1"/>
                </a:solidFill>
                <a:effectLst/>
                <a:latin typeface="+mn-lt"/>
                <a:ea typeface="+mn-ea"/>
                <a:cs typeface="+mn-cs"/>
              </a:rPr>
              <a:t>organization that deals with trade rules among nations. Its membership consists of 161 member countries and 24 observer governments (which have a specific time frame within which they must apply to become members). </a:t>
            </a:r>
          </a:p>
          <a:p>
            <a:endParaRPr lang="en-US" sz="1200" kern="1200" dirty="0">
              <a:solidFill>
                <a:schemeClr val="tx1"/>
              </a:solidFill>
              <a:effectLst/>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The goal of the WTO is to help countries conduct trade through a system of rules. Although critics have staged vocal protests against the WTO, claiming that global trade destroys jobs and the natural environment, it appears to play an important role in monitoring, promoting, and protecting global trade. </a:t>
            </a:r>
            <a:endParaRPr lang="en-US" dirty="0"/>
          </a:p>
          <a:p>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5</a:t>
            </a:fld>
            <a:endParaRPr lang="en-US" dirty="0"/>
          </a:p>
        </p:txBody>
      </p:sp>
    </p:spTree>
    <p:extLst>
      <p:ext uri="{BB962C8B-B14F-4D97-AF65-F5344CB8AC3E}">
        <p14:creationId xmlns:p14="http://schemas.microsoft.com/office/powerpoint/2010/main" val="121114983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6</a:t>
            </a:fld>
            <a:endParaRPr lang="en-US" dirty="0"/>
          </a:p>
        </p:txBody>
      </p:sp>
    </p:spTree>
    <p:extLst>
      <p:ext uri="{BB962C8B-B14F-4D97-AF65-F5344CB8AC3E}">
        <p14:creationId xmlns:p14="http://schemas.microsoft.com/office/powerpoint/2010/main" val="118719247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When organizations do go international, they often use different approaches. (see Exhibit 4-4). Managers who want to get into a global market with minimal investment may start with </a:t>
            </a:r>
            <a:r>
              <a:rPr lang="en-US" sz="1200" b="1" kern="1200" dirty="0">
                <a:solidFill>
                  <a:schemeClr val="tx1"/>
                </a:solidFill>
                <a:effectLst/>
                <a:latin typeface="+mn-lt"/>
                <a:ea typeface="+mn-ea"/>
                <a:cs typeface="+mn-cs"/>
              </a:rPr>
              <a:t>global sourcing </a:t>
            </a:r>
            <a:r>
              <a:rPr lang="en-US" sz="1200" kern="1200" dirty="0">
                <a:solidFill>
                  <a:schemeClr val="tx1"/>
                </a:solidFill>
                <a:effectLst/>
                <a:latin typeface="+mn-lt"/>
                <a:ea typeface="+mn-ea"/>
                <a:cs typeface="+mn-cs"/>
              </a:rPr>
              <a:t>(also called global outsourcing), which is purchasing materials or labor from around the world wherever it is cheapest. The goal takes advantage of lower costs in order to be more competitive. </a:t>
            </a:r>
            <a:endParaRPr lang="en-US" dirty="0"/>
          </a:p>
          <a:p>
            <a:pPr eaLnBrk="1" hangingPunct="1"/>
            <a:endParaRPr lang="en-US" dirty="0">
              <a:cs typeface="Arial" charset="0"/>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Although global sourcing may be the first step in going international for many companies, they often continue to use this approach because of the competitive advantages it offers. Each successive stage of going international beyond global sourcing, however, requires more investment and thus entails more risk for the organization. </a:t>
            </a:r>
            <a:endParaRPr lang="en-US" dirty="0"/>
          </a:p>
          <a:p>
            <a:pPr eaLnBrk="1" hangingPunct="1"/>
            <a:endParaRPr lang="en-US" dirty="0">
              <a:cs typeface="Arial" charset="0"/>
            </a:endParaRPr>
          </a:p>
        </p:txBody>
      </p:sp>
      <p:sp>
        <p:nvSpPr>
          <p:cNvPr id="4" name="Slide Number Placeholder 3"/>
          <p:cNvSpPr>
            <a:spLocks noGrp="1"/>
          </p:cNvSpPr>
          <p:nvPr>
            <p:ph type="sldNum" sz="quarter" idx="10"/>
          </p:nvPr>
        </p:nvSpPr>
        <p:spPr/>
        <p:txBody>
          <a:bodyPr/>
          <a:lstStyle/>
          <a:p>
            <a:fld id="{A73D6722-9B4D-4E29-B226-C325925A8118}" type="slidenum">
              <a:rPr lang="en-US" smtClean="0"/>
              <a:pPr/>
              <a:t>7</a:t>
            </a:fld>
            <a:endParaRPr lang="en-US" dirty="0"/>
          </a:p>
        </p:txBody>
      </p:sp>
    </p:spTree>
    <p:extLst>
      <p:ext uri="{BB962C8B-B14F-4D97-AF65-F5344CB8AC3E}">
        <p14:creationId xmlns:p14="http://schemas.microsoft.com/office/powerpoint/2010/main" val="222554188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BE4A6C-2CD1-A09B-C61E-B3CB30047F1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B9733EB-6E3F-8CE0-C5CA-85191B0A4DE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345772D-8340-9EFA-7EBE-E84DDA6922D7}"/>
              </a:ext>
            </a:extLst>
          </p:cNvPr>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When organizations do go international, they often use different approaches. (see Exhibit 4-4). Managers who want to get into a global market with minimal investment may start with </a:t>
            </a:r>
            <a:r>
              <a:rPr lang="en-US" sz="1200" b="1" kern="1200" dirty="0">
                <a:solidFill>
                  <a:schemeClr val="tx1"/>
                </a:solidFill>
                <a:effectLst/>
                <a:latin typeface="+mn-lt"/>
                <a:ea typeface="+mn-ea"/>
                <a:cs typeface="+mn-cs"/>
              </a:rPr>
              <a:t>global sourcing </a:t>
            </a:r>
            <a:r>
              <a:rPr lang="en-US" sz="1200" kern="1200" dirty="0">
                <a:solidFill>
                  <a:schemeClr val="tx1"/>
                </a:solidFill>
                <a:effectLst/>
                <a:latin typeface="+mn-lt"/>
                <a:ea typeface="+mn-ea"/>
                <a:cs typeface="+mn-cs"/>
              </a:rPr>
              <a:t>(also called global outsourcing), which is purchasing materials or labor from around the world wherever it is cheapest. The goal takes advantage of lower costs in order to be more competitive. </a:t>
            </a:r>
            <a:endParaRPr lang="en-US" dirty="0"/>
          </a:p>
          <a:p>
            <a:pPr eaLnBrk="1" hangingPunct="1"/>
            <a:endParaRPr lang="en-US" dirty="0">
              <a:cs typeface="Arial" charset="0"/>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Although global sourcing may be the first step in going international for many companies, they often continue to use this approach because of the competitive advantages it offers. Each successive stage of going international beyond global sourcing, however, requires more investment and thus entails more risk for the organization. </a:t>
            </a:r>
            <a:endParaRPr lang="en-US" dirty="0"/>
          </a:p>
          <a:p>
            <a:pPr eaLnBrk="1" hangingPunct="1"/>
            <a:endParaRPr lang="en-US" dirty="0">
              <a:cs typeface="Arial" charset="0"/>
            </a:endParaRPr>
          </a:p>
        </p:txBody>
      </p:sp>
      <p:sp>
        <p:nvSpPr>
          <p:cNvPr id="4" name="Slide Number Placeholder 3">
            <a:extLst>
              <a:ext uri="{FF2B5EF4-FFF2-40B4-BE49-F238E27FC236}">
                <a16:creationId xmlns:a16="http://schemas.microsoft.com/office/drawing/2014/main" id="{C4E5FC5B-8D6B-2FB5-FED1-0C6171E6D6CF}"/>
              </a:ext>
            </a:extLst>
          </p:cNvPr>
          <p:cNvSpPr>
            <a:spLocks noGrp="1"/>
          </p:cNvSpPr>
          <p:nvPr>
            <p:ph type="sldNum" sz="quarter" idx="10"/>
          </p:nvPr>
        </p:nvSpPr>
        <p:spPr/>
        <p:txBody>
          <a:bodyPr/>
          <a:lstStyle/>
          <a:p>
            <a:fld id="{A73D6722-9B4D-4E29-B226-C325925A8118}" type="slidenum">
              <a:rPr lang="en-US" smtClean="0"/>
              <a:pPr/>
              <a:t>8</a:t>
            </a:fld>
            <a:endParaRPr lang="en-US" dirty="0"/>
          </a:p>
        </p:txBody>
      </p:sp>
    </p:spTree>
    <p:extLst>
      <p:ext uri="{BB962C8B-B14F-4D97-AF65-F5344CB8AC3E}">
        <p14:creationId xmlns:p14="http://schemas.microsoft.com/office/powerpoint/2010/main" val="368159511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BD9A5A-F93B-46C0-D768-2909E6BF86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E5EEF7A-B68C-7C0E-4A56-A630D858F89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D44983B-C9F6-7D82-EAF8-DC8D9CE72D05}"/>
              </a:ext>
            </a:extLst>
          </p:cNvPr>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When organizations do go international, they often use different approaches. (see Exhibit 4-4). Managers who want to get into a global market with minimal investment may start with </a:t>
            </a:r>
            <a:r>
              <a:rPr lang="en-US" sz="1200" b="1" kern="1200" dirty="0">
                <a:solidFill>
                  <a:schemeClr val="tx1"/>
                </a:solidFill>
                <a:effectLst/>
                <a:latin typeface="+mn-lt"/>
                <a:ea typeface="+mn-ea"/>
                <a:cs typeface="+mn-cs"/>
              </a:rPr>
              <a:t>global sourcing </a:t>
            </a:r>
            <a:r>
              <a:rPr lang="en-US" sz="1200" kern="1200" dirty="0">
                <a:solidFill>
                  <a:schemeClr val="tx1"/>
                </a:solidFill>
                <a:effectLst/>
                <a:latin typeface="+mn-lt"/>
                <a:ea typeface="+mn-ea"/>
                <a:cs typeface="+mn-cs"/>
              </a:rPr>
              <a:t>(also called global outsourcing), which is purchasing materials or labor from around the world wherever it is cheapest. The goal takes advantage of lower costs in order to be more competitive. </a:t>
            </a:r>
            <a:endParaRPr lang="en-US" dirty="0"/>
          </a:p>
          <a:p>
            <a:pPr eaLnBrk="1" hangingPunct="1"/>
            <a:endParaRPr lang="en-US" dirty="0">
              <a:cs typeface="Arial" charset="0"/>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Although global sourcing may be the first step in going international for many companies, they often continue to use this approach because of the competitive advantages it offers. Each successive stage of going international beyond global sourcing, however, requires more investment and thus entails more risk for the organization. </a:t>
            </a:r>
            <a:endParaRPr lang="en-US" dirty="0"/>
          </a:p>
          <a:p>
            <a:pPr eaLnBrk="1" hangingPunct="1"/>
            <a:endParaRPr lang="en-US" dirty="0">
              <a:cs typeface="Arial" charset="0"/>
            </a:endParaRPr>
          </a:p>
        </p:txBody>
      </p:sp>
      <p:sp>
        <p:nvSpPr>
          <p:cNvPr id="4" name="Slide Number Placeholder 3">
            <a:extLst>
              <a:ext uri="{FF2B5EF4-FFF2-40B4-BE49-F238E27FC236}">
                <a16:creationId xmlns:a16="http://schemas.microsoft.com/office/drawing/2014/main" id="{F4C98D86-0B10-2D49-655F-595DA1C79D48}"/>
              </a:ext>
            </a:extLst>
          </p:cNvPr>
          <p:cNvSpPr>
            <a:spLocks noGrp="1"/>
          </p:cNvSpPr>
          <p:nvPr>
            <p:ph type="sldNum" sz="quarter" idx="10"/>
          </p:nvPr>
        </p:nvSpPr>
        <p:spPr/>
        <p:txBody>
          <a:bodyPr/>
          <a:lstStyle/>
          <a:p>
            <a:fld id="{A73D6722-9B4D-4E29-B226-C325925A8118}" type="slidenum">
              <a:rPr lang="en-US" smtClean="0"/>
              <a:pPr/>
              <a:t>10</a:t>
            </a:fld>
            <a:endParaRPr lang="en-US" dirty="0"/>
          </a:p>
        </p:txBody>
      </p:sp>
    </p:spTree>
    <p:extLst>
      <p:ext uri="{BB962C8B-B14F-4D97-AF65-F5344CB8AC3E}">
        <p14:creationId xmlns:p14="http://schemas.microsoft.com/office/powerpoint/2010/main" val="60595061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r>
              <a:rPr lang="en-US" dirty="0">
                <a:cs typeface="Arial" charset="0"/>
              </a:rPr>
              <a:t>A multinational corporation is an international company that maintains operations in multiple countries. A multidomestic organization is an MNC that decentralizes management and other decisions to the local country (the polycentric attitude). A global organization is an MNC that centralizes management and other decisions in the home country (the ethnocentric attitude). A transnational organization (the geocentric attitude) is an MNC that has eliminated artificial geographical barriers and uses the best work practices and approaches</a:t>
            </a:r>
            <a:r>
              <a:rPr lang="en-US" baseline="0" dirty="0">
                <a:cs typeface="Arial" charset="0"/>
              </a:rPr>
              <a:t> </a:t>
            </a:r>
            <a:r>
              <a:rPr lang="en-US" dirty="0">
                <a:cs typeface="Arial" charset="0"/>
              </a:rPr>
              <a:t>from wherever.</a:t>
            </a:r>
          </a:p>
          <a:p>
            <a:pPr eaLnBrk="1" hangingPunct="1"/>
            <a:endParaRPr lang="en-US" dirty="0">
              <a:cs typeface="Arial" charset="0"/>
            </a:endParaRPr>
          </a:p>
        </p:txBody>
      </p:sp>
      <p:sp>
        <p:nvSpPr>
          <p:cNvPr id="4" name="Slide Number Placeholder 3"/>
          <p:cNvSpPr>
            <a:spLocks noGrp="1"/>
          </p:cNvSpPr>
          <p:nvPr>
            <p:ph type="sldNum" sz="quarter" idx="10"/>
          </p:nvPr>
        </p:nvSpPr>
        <p:spPr/>
        <p:txBody>
          <a:bodyPr/>
          <a:lstStyle/>
          <a:p>
            <a:fld id="{A73D6722-9B4D-4E29-B226-C325925A8118}" type="slidenum">
              <a:rPr lang="en-US" smtClean="0"/>
              <a:pPr/>
              <a:t>11</a:t>
            </a:fld>
            <a:endParaRPr lang="en-US" dirty="0"/>
          </a:p>
        </p:txBody>
      </p:sp>
    </p:spTree>
    <p:extLst>
      <p:ext uri="{BB962C8B-B14F-4D97-AF65-F5344CB8AC3E}">
        <p14:creationId xmlns:p14="http://schemas.microsoft.com/office/powerpoint/2010/main" val="103352869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r>
              <a:rPr lang="en-US" dirty="0">
                <a:cs typeface="Arial" charset="0"/>
              </a:rPr>
              <a:t>The laws and political stability of a country are issues in the global political/legal environment with which managers must be familiar. Likewise, managers must be</a:t>
            </a:r>
            <a:r>
              <a:rPr lang="en-US" baseline="0" dirty="0">
                <a:cs typeface="Arial" charset="0"/>
              </a:rPr>
              <a:t> </a:t>
            </a:r>
            <a:r>
              <a:rPr lang="en-US" dirty="0">
                <a:cs typeface="Arial" charset="0"/>
              </a:rPr>
              <a:t>aware of a country’s economic issues such as currency exchange rates, inflation rates, and tax policies.</a:t>
            </a:r>
          </a:p>
        </p:txBody>
      </p:sp>
      <p:sp>
        <p:nvSpPr>
          <p:cNvPr id="4" name="Slide Number Placeholder 3"/>
          <p:cNvSpPr>
            <a:spLocks noGrp="1"/>
          </p:cNvSpPr>
          <p:nvPr>
            <p:ph type="sldNum" sz="quarter" idx="10"/>
          </p:nvPr>
        </p:nvSpPr>
        <p:spPr/>
        <p:txBody>
          <a:bodyPr/>
          <a:lstStyle/>
          <a:p>
            <a:fld id="{A73D6722-9B4D-4E29-B226-C325925A8118}" type="slidenum">
              <a:rPr lang="en-US" smtClean="0"/>
              <a:pPr/>
              <a:t>12</a:t>
            </a:fld>
            <a:endParaRPr lang="en-US" dirty="0"/>
          </a:p>
        </p:txBody>
      </p:sp>
    </p:spTree>
    <p:extLst>
      <p:ext uri="{BB962C8B-B14F-4D97-AF65-F5344CB8AC3E}">
        <p14:creationId xmlns:p14="http://schemas.microsoft.com/office/powerpoint/2010/main" val="371482683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Geert Hofstede developed one of the most widely referenced approaches to helping managers better understand differences between national cultures. His research found that countries vary on five dimensions of national culture. These dimensions are described in Exhibit 4-6, which also shows some of the countries characterized by those dimensions.</a:t>
            </a:r>
          </a:p>
          <a:p>
            <a:endParaRPr lang="en-IN" sz="1200" b="0" i="1" u="none" strike="noStrike" kern="1200" baseline="0" dirty="0">
              <a:solidFill>
                <a:schemeClr val="tx1"/>
              </a:solidFill>
              <a:latin typeface="+mn-lt"/>
              <a:ea typeface="+mn-ea"/>
              <a:cs typeface="+mn-cs"/>
            </a:endParaRPr>
          </a:p>
          <a:p>
            <a:r>
              <a:rPr lang="en-IN" sz="1200" b="0" i="1" u="none" strike="noStrike" kern="1200" baseline="0" dirty="0">
                <a:solidFill>
                  <a:schemeClr val="tx1"/>
                </a:solidFill>
                <a:latin typeface="+mn-lt"/>
                <a:ea typeface="+mn-ea"/>
                <a:cs typeface="+mn-cs"/>
              </a:rPr>
              <a:t>Source: </a:t>
            </a:r>
            <a:r>
              <a:rPr lang="en-IN" sz="1200" b="0" i="0" u="none" strike="noStrike" kern="1200" baseline="0" dirty="0">
                <a:solidFill>
                  <a:schemeClr val="tx1"/>
                </a:solidFill>
                <a:latin typeface="+mn-lt"/>
                <a:ea typeface="+mn-ea"/>
                <a:cs typeface="+mn-cs"/>
              </a:rPr>
              <a:t>Based on Hofstede, Geert, </a:t>
            </a:r>
            <a:r>
              <a:rPr lang="en-IN" sz="1200" b="0" i="1" u="none" strike="noStrike" kern="1200" baseline="0" dirty="0">
                <a:solidFill>
                  <a:schemeClr val="tx1"/>
                </a:solidFill>
                <a:latin typeface="+mn-lt"/>
                <a:ea typeface="+mn-ea"/>
                <a:cs typeface="+mn-cs"/>
              </a:rPr>
              <a:t>Culture’s Consequences: International Differences in Work-Related Values, </a:t>
            </a:r>
            <a:r>
              <a:rPr lang="en-IN" sz="1200" b="0" i="0" u="none" strike="noStrike" kern="1200" baseline="0" dirty="0">
                <a:solidFill>
                  <a:schemeClr val="tx1"/>
                </a:solidFill>
                <a:latin typeface="+mn-lt"/>
                <a:ea typeface="+mn-ea"/>
                <a:cs typeface="+mn-cs"/>
              </a:rPr>
              <a:t>© </a:t>
            </a:r>
            <a:r>
              <a:rPr lang="nl-NL" sz="1200" b="0" i="0" u="none" strike="noStrike" kern="1200" baseline="0" dirty="0">
                <a:solidFill>
                  <a:schemeClr val="tx1"/>
                </a:solidFill>
                <a:latin typeface="+mn-lt"/>
                <a:ea typeface="+mn-ea"/>
                <a:cs typeface="+mn-cs"/>
              </a:rPr>
              <a:t>Geert Hofstede, 1980 (Newbury Park: </a:t>
            </a:r>
            <a:r>
              <a:rPr lang="en-IN" sz="1200" b="0" i="0" u="none" strike="noStrike" kern="1200" baseline="0" dirty="0">
                <a:solidFill>
                  <a:schemeClr val="tx1"/>
                </a:solidFill>
                <a:latin typeface="+mn-lt"/>
                <a:ea typeface="+mn-ea"/>
                <a:cs typeface="+mn-cs"/>
              </a:rPr>
              <a:t>SAGE Publications, Inc., 1980).</a:t>
            </a:r>
            <a:endParaRPr lang="en-US" sz="1200" kern="1200" dirty="0">
              <a:solidFill>
                <a:schemeClr val="tx1"/>
              </a:solidFill>
              <a:effectLst/>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endParaRPr lang="en-US" dirty="0"/>
          </a:p>
          <a:p>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13</a:t>
            </a:fld>
            <a:endParaRPr lang="en-US" dirty="0"/>
          </a:p>
        </p:txBody>
      </p:sp>
    </p:spTree>
    <p:extLst>
      <p:ext uri="{BB962C8B-B14F-4D97-AF65-F5344CB8AC3E}">
        <p14:creationId xmlns:p14="http://schemas.microsoft.com/office/powerpoint/2010/main" val="24755920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r>
              <a:rPr lang="en-US" dirty="0">
                <a:cs typeface="Arial" charset="0"/>
              </a:rPr>
              <a:t>The </a:t>
            </a:r>
            <a:r>
              <a:rPr lang="en-US" b="1" dirty="0">
                <a:cs typeface="Arial" charset="0"/>
              </a:rPr>
              <a:t>Global Leadership and Organizational Behavior Effectiveness (GLOBE) </a:t>
            </a:r>
            <a:r>
              <a:rPr lang="en-US" b="0" dirty="0">
                <a:cs typeface="Arial" charset="0"/>
              </a:rPr>
              <a:t>program</a:t>
            </a:r>
            <a:r>
              <a:rPr lang="en-US" b="1" dirty="0">
                <a:cs typeface="Arial" charset="0"/>
              </a:rPr>
              <a:t> </a:t>
            </a:r>
            <a:r>
              <a:rPr lang="en-US" dirty="0">
                <a:cs typeface="Arial" charset="0"/>
              </a:rPr>
              <a:t>is an ongoing research program that extended Hofstede’s work by investigating cross-cultural leadership behaviors and giving managers additional information to help them identify and manage cultural differences. Using data from more than</a:t>
            </a:r>
            <a:r>
              <a:rPr lang="en-US" baseline="0" dirty="0">
                <a:cs typeface="Arial" charset="0"/>
              </a:rPr>
              <a:t> </a:t>
            </a:r>
            <a:r>
              <a:rPr lang="en-US" dirty="0">
                <a:cs typeface="Arial" charset="0"/>
              </a:rPr>
              <a:t>18,000 managers in 62 countries,</a:t>
            </a:r>
            <a:r>
              <a:rPr lang="en-US" baseline="0" dirty="0">
                <a:cs typeface="Arial" charset="0"/>
              </a:rPr>
              <a:t> </a:t>
            </a:r>
            <a:r>
              <a:rPr lang="en-US" dirty="0">
                <a:cs typeface="Arial" charset="0"/>
              </a:rPr>
              <a:t>the GLOBE research team (led by Robert House) identified 9 dimensions on which national cultures differ.</a:t>
            </a:r>
          </a:p>
          <a:p>
            <a:pPr eaLnBrk="1" hangingPunct="1"/>
            <a:r>
              <a:rPr lang="en-US" dirty="0">
                <a:cs typeface="Arial" charset="0"/>
              </a:rPr>
              <a:t>Two dimensions (power distance and uncertainty avoidance) fit directly with Hofstede’s. Four are similar to Hofstede’s (assertiveness, which is similar to achievement-nurturing; humane orientation, which is similar to the nurturing dimension; future orientation, which is similar to long-term and short-term orientation; and institutional collectivism, which is similar to individualism-collectivism). The remaining three (gender differentiation, in-group collectivism, and performance orientation) offer additional insights into a country’s culture.</a:t>
            </a:r>
          </a:p>
          <a:p>
            <a:pPr eaLnBrk="1" hangingPunct="1"/>
            <a:endParaRPr lang="en-US" dirty="0">
              <a:cs typeface="Arial" charset="0"/>
            </a:endParaRPr>
          </a:p>
          <a:p>
            <a:pPr eaLnBrk="1" hangingPunct="1"/>
            <a:r>
              <a:rPr lang="en-US" dirty="0">
                <a:cs typeface="Arial" charset="0"/>
              </a:rPr>
              <a:t>The GLOBE studies confirm that Hofstede’s dimensions are still valid and extend his research rather than replace it. GLOBE’s added dimensions provide an expanded and updated measure of countries’ cultural differences. It’s likely that cross-cultural studies of human behavior and organizational practices will increasingly use the GLOBE dimensions to assess differences between countries.</a:t>
            </a:r>
          </a:p>
          <a:p>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15</a:t>
            </a:fld>
            <a:endParaRPr lang="en-US" dirty="0"/>
          </a:p>
        </p:txBody>
      </p:sp>
    </p:spTree>
    <p:extLst>
      <p:ext uri="{BB962C8B-B14F-4D97-AF65-F5344CB8AC3E}">
        <p14:creationId xmlns:p14="http://schemas.microsoft.com/office/powerpoint/2010/main" val="68300688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r>
              <a:rPr lang="en-US" dirty="0">
                <a:cs typeface="Arial" charset="0"/>
              </a:rPr>
              <a:t>As globalization continues to be important for businesses, it’s obvious that managers need to understand how to best manage that global workforce. Some researchers</a:t>
            </a:r>
            <a:r>
              <a:rPr lang="en-US" baseline="0" dirty="0">
                <a:cs typeface="Arial" charset="0"/>
              </a:rPr>
              <a:t> </a:t>
            </a:r>
            <a:r>
              <a:rPr lang="en-US" dirty="0">
                <a:cs typeface="Arial" charset="0"/>
              </a:rPr>
              <a:t>have suggested that managers need </a:t>
            </a:r>
            <a:r>
              <a:rPr lang="en-US" b="1" dirty="0">
                <a:cs typeface="Arial" charset="0"/>
              </a:rPr>
              <a:t>cultural intelligence </a:t>
            </a:r>
            <a:r>
              <a:rPr lang="en-US" dirty="0">
                <a:cs typeface="Arial" charset="0"/>
              </a:rPr>
              <a:t>or cultural awareness and sensitivity skills. </a:t>
            </a:r>
            <a:r>
              <a:rPr lang="fr-FR" dirty="0">
                <a:cs typeface="Arial" charset="0"/>
              </a:rPr>
              <a:t>Cultural intelligence encompasses three main dimensions:</a:t>
            </a:r>
            <a:r>
              <a:rPr lang="fr-FR" baseline="0" dirty="0">
                <a:cs typeface="Arial" charset="0"/>
              </a:rPr>
              <a:t> </a:t>
            </a:r>
            <a:r>
              <a:rPr lang="en-US" dirty="0">
                <a:cs typeface="Arial" charset="0"/>
              </a:rPr>
              <a:t>(1) knowledge of culture as a concept—how cultures vary and how they affect behavior; (2) mindfulness—the ability to pay attention to signals and reactions in different</a:t>
            </a:r>
            <a:r>
              <a:rPr lang="en-US" baseline="0" dirty="0">
                <a:cs typeface="Arial" charset="0"/>
              </a:rPr>
              <a:t> </a:t>
            </a:r>
            <a:r>
              <a:rPr lang="en-US" dirty="0">
                <a:cs typeface="Arial" charset="0"/>
              </a:rPr>
              <a:t>cross-cultural situations; and (3) behavioral skills—using one’s knowledge and mindfulness to choose appropriate behaviors in those situations.</a:t>
            </a:r>
          </a:p>
          <a:p>
            <a:pPr eaLnBrk="1" hangingPunct="1"/>
            <a:endParaRPr lang="en-US" dirty="0">
              <a:cs typeface="Arial" charset="0"/>
            </a:endParaRPr>
          </a:p>
          <a:p>
            <a:pPr eaLnBrk="1" hangingPunct="1"/>
            <a:r>
              <a:rPr lang="en-US" dirty="0">
                <a:cs typeface="Arial" charset="0"/>
              </a:rPr>
              <a:t>Other researchers have said that what effective global leaders need is a </a:t>
            </a:r>
            <a:r>
              <a:rPr lang="en-US" b="1" dirty="0">
                <a:cs typeface="Arial" charset="0"/>
              </a:rPr>
              <a:t>global mind-set</a:t>
            </a:r>
            <a:r>
              <a:rPr lang="en-US" b="0" dirty="0">
                <a:cs typeface="Arial" charset="0"/>
              </a:rPr>
              <a:t>,</a:t>
            </a:r>
            <a:r>
              <a:rPr lang="en-US" b="1" dirty="0">
                <a:cs typeface="Arial" charset="0"/>
              </a:rPr>
              <a:t> </a:t>
            </a:r>
            <a:r>
              <a:rPr lang="en-US" dirty="0">
                <a:cs typeface="Arial" charset="0"/>
              </a:rPr>
              <a:t>attributes that allow a leader to be effective in cross-cultural environments.</a:t>
            </a:r>
          </a:p>
          <a:p>
            <a:pPr eaLnBrk="1" hangingPunct="1"/>
            <a:r>
              <a:rPr lang="en-US" dirty="0">
                <a:cs typeface="Arial" charset="0"/>
              </a:rPr>
              <a:t>Those attributes have three components as shown in Exhibit 4-7.</a:t>
            </a:r>
          </a:p>
        </p:txBody>
      </p:sp>
      <p:sp>
        <p:nvSpPr>
          <p:cNvPr id="4" name="Slide Number Placeholder 3"/>
          <p:cNvSpPr>
            <a:spLocks noGrp="1"/>
          </p:cNvSpPr>
          <p:nvPr>
            <p:ph type="sldNum" sz="quarter" idx="10"/>
          </p:nvPr>
        </p:nvSpPr>
        <p:spPr/>
        <p:txBody>
          <a:bodyPr/>
          <a:lstStyle/>
          <a:p>
            <a:fld id="{A73D6722-9B4D-4E29-B226-C325925A8118}" type="slidenum">
              <a:rPr lang="en-US" smtClean="0"/>
              <a:pPr/>
              <a:t>16</a:t>
            </a:fld>
            <a:endParaRPr lang="en-US" dirty="0"/>
          </a:p>
        </p:txBody>
      </p:sp>
    </p:spTree>
    <p:extLst>
      <p:ext uri="{BB962C8B-B14F-4D97-AF65-F5344CB8AC3E}">
        <p14:creationId xmlns:p14="http://schemas.microsoft.com/office/powerpoint/2010/main" val="64093514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i="1" kern="1200" dirty="0">
                <a:solidFill>
                  <a:schemeClr val="tx1"/>
                </a:solidFill>
                <a:effectLst/>
                <a:latin typeface="+mn-lt"/>
                <a:ea typeface="+mn-ea"/>
                <a:cs typeface="+mn-cs"/>
              </a:rPr>
              <a:t>Source: </a:t>
            </a:r>
            <a:r>
              <a:rPr lang="en-US" sz="1200" kern="1200" dirty="0">
                <a:solidFill>
                  <a:schemeClr val="tx1"/>
                </a:solidFill>
                <a:effectLst/>
                <a:latin typeface="+mn-lt"/>
                <a:ea typeface="+mn-ea"/>
                <a:cs typeface="+mn-cs"/>
              </a:rPr>
              <a:t>Based on M. Javidan, M.Teagarden, and D. Bowen, “Making It Overseas,” </a:t>
            </a:r>
            <a:r>
              <a:rPr lang="en-US" sz="1200" i="1" kern="1200" dirty="0">
                <a:solidFill>
                  <a:schemeClr val="tx1"/>
                </a:solidFill>
                <a:effectLst/>
                <a:latin typeface="+mn-lt"/>
                <a:ea typeface="+mn-ea"/>
                <a:cs typeface="+mn-cs"/>
              </a:rPr>
              <a:t>Harvard Business Review, </a:t>
            </a:r>
            <a:r>
              <a:rPr lang="en-US" sz="1200" kern="1200" dirty="0">
                <a:solidFill>
                  <a:schemeClr val="tx1"/>
                </a:solidFill>
                <a:effectLst/>
                <a:latin typeface="+mn-lt"/>
                <a:ea typeface="+mn-ea"/>
                <a:cs typeface="+mn-cs"/>
              </a:rPr>
              <a:t>April 2010, and J. McGregor, ed., “Testing Managers’ Global IQ,” </a:t>
            </a:r>
            <a:r>
              <a:rPr lang="en-US" sz="1200" i="1" kern="1200" dirty="0">
                <a:solidFill>
                  <a:schemeClr val="tx1"/>
                </a:solidFill>
                <a:effectLst/>
                <a:latin typeface="+mn-lt"/>
                <a:ea typeface="+mn-ea"/>
                <a:cs typeface="+mn-cs"/>
              </a:rPr>
              <a:t>Bloomberg BusinessWeek, </a:t>
            </a:r>
            <a:r>
              <a:rPr lang="en-US" sz="1200" kern="1200" dirty="0">
                <a:solidFill>
                  <a:schemeClr val="tx1"/>
                </a:solidFill>
                <a:effectLst/>
                <a:latin typeface="+mn-lt"/>
                <a:ea typeface="+mn-ea"/>
                <a:cs typeface="+mn-cs"/>
              </a:rPr>
              <a:t>September 28, 2009. </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17</a:t>
            </a:fld>
            <a:endParaRPr lang="en-US" dirty="0"/>
          </a:p>
        </p:txBody>
      </p:sp>
    </p:spTree>
    <p:extLst>
      <p:ext uri="{BB962C8B-B14F-4D97-AF65-F5344CB8AC3E}">
        <p14:creationId xmlns:p14="http://schemas.microsoft.com/office/powerpoint/2010/main" val="108965418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ectangle 9"/>
          <p:cNvSpPr/>
          <p:nvPr/>
        </p:nvSpPr>
        <p:spPr bwMode="white">
          <a:xfrm>
            <a:off x="0" y="0"/>
            <a:ext cx="9144000" cy="3886200"/>
          </a:xfrm>
          <a:prstGeom prst="rect">
            <a:avLst/>
          </a:prstGeom>
          <a:solidFill>
            <a:srgbClr val="007FA3"/>
          </a:solidFill>
          <a:ln>
            <a:solidFill>
              <a:srgbClr val="007F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ctrTitle"/>
          </p:nvPr>
        </p:nvSpPr>
        <p:spPr>
          <a:xfrm>
            <a:off x="685800" y="762000"/>
            <a:ext cx="7772400" cy="2838451"/>
          </a:xfrm>
        </p:spPr>
        <p:txBody>
          <a:bodyPr anchor="b">
            <a:noAutofit/>
          </a:bodyPr>
          <a:lstStyle>
            <a:lvl1pPr algn="l">
              <a:defRPr sz="3600">
                <a:solidFill>
                  <a:schemeClr val="bg1"/>
                </a:solidFill>
              </a:defRPr>
            </a:lvl1pPr>
          </a:lstStyle>
          <a:p>
            <a:r>
              <a:rPr lang="en-US" dirty="0"/>
              <a:t>Click to edit Master title style</a:t>
            </a:r>
          </a:p>
        </p:txBody>
      </p:sp>
      <p:sp>
        <p:nvSpPr>
          <p:cNvPr id="3" name="Subtitle 2"/>
          <p:cNvSpPr>
            <a:spLocks noGrp="1"/>
          </p:cNvSpPr>
          <p:nvPr>
            <p:ph type="subTitle" idx="1"/>
          </p:nvPr>
        </p:nvSpPr>
        <p:spPr>
          <a:xfrm>
            <a:off x="674687" y="3962400"/>
            <a:ext cx="7794626" cy="1752600"/>
          </a:xfrm>
        </p:spPr>
        <p:txBody>
          <a:bodyPr>
            <a:noAutofit/>
          </a:bodyPr>
          <a:lstStyle>
            <a:lvl1pPr marL="0" indent="0" algn="l">
              <a:spcBef>
                <a:spcPts val="0"/>
              </a:spcBef>
              <a:buNone/>
              <a:defRPr sz="18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sp>
        <p:nvSpPr>
          <p:cNvPr id="12" name="Footer Placeholder 4"/>
          <p:cNvSpPr>
            <a:spLocks noGrp="1"/>
          </p:cNvSpPr>
          <p:nvPr>
            <p:ph type="ftr" sz="quarter" idx="11"/>
          </p:nvPr>
        </p:nvSpPr>
        <p:spPr>
          <a:xfrm>
            <a:off x="93969" y="6172200"/>
            <a:ext cx="8595360" cy="235463"/>
          </a:xfrm>
        </p:spPr>
        <p:txBody>
          <a:bodyPr/>
          <a:lstStyle/>
          <a:p>
            <a:r>
              <a:rPr lang="en-US" dirty="0"/>
              <a:t>Copyright © 2018 Pearson Education, Inc.</a:t>
            </a:r>
          </a:p>
        </p:txBody>
      </p:sp>
      <p:sp>
        <p:nvSpPr>
          <p:cNvPr id="4" name="Date Placeholder 3"/>
          <p:cNvSpPr>
            <a:spLocks noGrp="1"/>
          </p:cNvSpPr>
          <p:nvPr>
            <p:ph type="dt" sz="half" idx="10"/>
          </p:nvPr>
        </p:nvSpPr>
        <p:spPr/>
        <p:txBody>
          <a:bodyPr/>
          <a:lstStyle/>
          <a:p>
            <a:fld id="{BDF791E7-750C-8341-AAFB-569D9EBD860C}" type="datetime1">
              <a:rPr lang="en-US" smtClean="0"/>
              <a:pPr/>
              <a:t>8/25/26</a:t>
            </a:fld>
            <a:endParaRPr lang="en-US" dirty="0"/>
          </a:p>
        </p:txBody>
      </p:sp>
      <p:pic>
        <p:nvPicPr>
          <p:cNvPr id="8" name="Picture 7" descr="Pearson Logo"/>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457200" y="6376789"/>
            <a:ext cx="918000" cy="279915"/>
          </a:xfrm>
          <a:prstGeom prst="rect">
            <a:avLst/>
          </a:prstGeom>
        </p:spPr>
      </p:pic>
      <p:sp>
        <p:nvSpPr>
          <p:cNvPr id="9" name="TextBox 8"/>
          <p:cNvSpPr txBox="1"/>
          <p:nvPr userDrawn="1"/>
        </p:nvSpPr>
        <p:spPr>
          <a:xfrm>
            <a:off x="1600200" y="6382512"/>
            <a:ext cx="7162800" cy="276999"/>
          </a:xfrm>
          <a:prstGeom prst="rect">
            <a:avLst/>
          </a:prstGeom>
          <a:noFill/>
        </p:spPr>
        <p:txBody>
          <a:bodyPr wrap="square" rtlCol="0">
            <a:spAutoFit/>
          </a:bodyPr>
          <a:lstStyle/>
          <a:p>
            <a:pPr marL="0" indent="0" algn="r" defTabSz="914400" rtl="0" eaLnBrk="1" latinLnBrk="0" hangingPunct="1">
              <a:spcBef>
                <a:spcPts val="0"/>
              </a:spcBef>
              <a:buClrTx/>
              <a:buFont typeface="Arial" panose="020B0604020202020204" pitchFamily="34" charset="0"/>
              <a:buNone/>
              <a:defRPr/>
            </a:pPr>
            <a:r>
              <a:rPr lang="en-US" altLang="en-US" sz="1200" kern="1200" dirty="0">
                <a:solidFill>
                  <a:schemeClr val="tx1"/>
                </a:solidFill>
                <a:latin typeface="Verdana" pitchFamily="34" charset="0"/>
                <a:ea typeface="Verdana" pitchFamily="34" charset="0"/>
                <a:cs typeface="Verdana" pitchFamily="34" charset="0"/>
              </a:rPr>
              <a:t>Copyright © 2019 Pearson India Education Services Pvt. Ltd. All Rights Reserved</a:t>
            </a:r>
          </a:p>
        </p:txBody>
      </p:sp>
    </p:spTree>
    <p:extLst>
      <p:ext uri="{BB962C8B-B14F-4D97-AF65-F5344CB8AC3E}">
        <p14:creationId xmlns:p14="http://schemas.microsoft.com/office/powerpoint/2010/main" val="88798069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Chapter Opener">
    <p:spTree>
      <p:nvGrpSpPr>
        <p:cNvPr id="1" name=""/>
        <p:cNvGrpSpPr/>
        <p:nvPr/>
      </p:nvGrpSpPr>
      <p:grpSpPr>
        <a:xfrm>
          <a:off x="0" y="0"/>
          <a:ext cx="0" cy="0"/>
          <a:chOff x="0" y="0"/>
          <a:chExt cx="0" cy="0"/>
        </a:xfrm>
      </p:grpSpPr>
      <p:sp>
        <p:nvSpPr>
          <p:cNvPr id="11" name="Title 10"/>
          <p:cNvSpPr>
            <a:spLocks noGrp="1"/>
          </p:cNvSpPr>
          <p:nvPr>
            <p:ph type="title"/>
          </p:nvPr>
        </p:nvSpPr>
        <p:spPr>
          <a:xfrm>
            <a:off x="457200" y="215372"/>
            <a:ext cx="8229600" cy="622828"/>
          </a:xfrm>
        </p:spPr>
        <p:txBody>
          <a:bodyPr anchor="t"/>
          <a:lstStyle/>
          <a:p>
            <a:r>
              <a:rPr lang="en-US" dirty="0"/>
              <a:t>Click to edit Master title style</a:t>
            </a:r>
          </a:p>
        </p:txBody>
      </p:sp>
      <p:sp>
        <p:nvSpPr>
          <p:cNvPr id="7" name="Text Placeholder 6"/>
          <p:cNvSpPr>
            <a:spLocks noGrp="1"/>
          </p:cNvSpPr>
          <p:nvPr>
            <p:ph type="body" sz="quarter" idx="13" hasCustomPrompt="1"/>
          </p:nvPr>
        </p:nvSpPr>
        <p:spPr>
          <a:xfrm>
            <a:off x="457200" y="816430"/>
            <a:ext cx="8229600" cy="478970"/>
          </a:xfrm>
        </p:spPr>
        <p:txBody>
          <a:bodyPr>
            <a:noAutofit/>
          </a:bodyPr>
          <a:lstStyle>
            <a:lvl1pPr marL="0" indent="0">
              <a:spcBef>
                <a:spcPts val="0"/>
              </a:spcBef>
              <a:buNone/>
              <a:defRPr sz="2000">
                <a:solidFill>
                  <a:srgbClr val="007FA3"/>
                </a:solidFill>
              </a:defRPr>
            </a:lvl1pPr>
            <a:lvl2pPr marL="0" indent="0">
              <a:spcBef>
                <a:spcPts val="0"/>
              </a:spcBef>
              <a:buNone/>
              <a:defRPr sz="2400">
                <a:solidFill>
                  <a:schemeClr val="bg1"/>
                </a:solidFill>
              </a:defRPr>
            </a:lvl2pPr>
            <a:lvl3pPr marL="0" indent="0">
              <a:spcBef>
                <a:spcPts val="0"/>
              </a:spcBef>
              <a:buNone/>
              <a:defRPr sz="2400">
                <a:solidFill>
                  <a:schemeClr val="bg1"/>
                </a:solidFill>
              </a:defRPr>
            </a:lvl3pPr>
            <a:lvl4pPr marL="0" indent="0">
              <a:spcBef>
                <a:spcPts val="0"/>
              </a:spcBef>
              <a:buNone/>
              <a:defRPr sz="2400">
                <a:solidFill>
                  <a:schemeClr val="bg1"/>
                </a:solidFill>
              </a:defRPr>
            </a:lvl4pPr>
            <a:lvl5pPr marL="0" indent="0">
              <a:spcBef>
                <a:spcPts val="0"/>
              </a:spcBef>
              <a:buNone/>
              <a:defRPr sz="2400">
                <a:solidFill>
                  <a:schemeClr val="bg1"/>
                </a:solidFill>
              </a:defRPr>
            </a:lvl5pPr>
            <a:lvl6pPr marL="0" indent="0">
              <a:spcBef>
                <a:spcPts val="0"/>
              </a:spcBef>
              <a:buNone/>
              <a:defRPr sz="2400">
                <a:solidFill>
                  <a:schemeClr val="bg1"/>
                </a:solidFill>
              </a:defRPr>
            </a:lvl6pPr>
            <a:lvl7pPr marL="0" indent="0">
              <a:spcBef>
                <a:spcPts val="0"/>
              </a:spcBef>
              <a:buNone/>
              <a:defRPr sz="2400">
                <a:solidFill>
                  <a:schemeClr val="bg1"/>
                </a:solidFill>
              </a:defRPr>
            </a:lvl7pPr>
            <a:lvl8pPr marL="0" indent="0">
              <a:spcBef>
                <a:spcPts val="0"/>
              </a:spcBef>
              <a:buNone/>
              <a:defRPr sz="2400">
                <a:solidFill>
                  <a:schemeClr val="bg1"/>
                </a:solidFill>
              </a:defRPr>
            </a:lvl8pPr>
            <a:lvl9pPr marL="0" indent="0">
              <a:spcBef>
                <a:spcPts val="0"/>
              </a:spcBef>
              <a:buNone/>
              <a:defRPr sz="2400">
                <a:solidFill>
                  <a:schemeClr val="bg1"/>
                </a:solidFill>
              </a:defRPr>
            </a:lvl9pPr>
          </a:lstStyle>
          <a:p>
            <a:pPr lvl="0"/>
            <a:r>
              <a:rPr lang="en-US" dirty="0"/>
              <a:t>Add edition here</a:t>
            </a:r>
          </a:p>
        </p:txBody>
      </p:sp>
      <p:sp>
        <p:nvSpPr>
          <p:cNvPr id="9" name="Text Placeholder 8"/>
          <p:cNvSpPr>
            <a:spLocks noGrp="1"/>
          </p:cNvSpPr>
          <p:nvPr>
            <p:ph type="body" sz="quarter" idx="14" hasCustomPrompt="1"/>
          </p:nvPr>
        </p:nvSpPr>
        <p:spPr>
          <a:xfrm>
            <a:off x="5029200" y="1600201"/>
            <a:ext cx="3657600" cy="1600199"/>
          </a:xfrm>
        </p:spPr>
        <p:txBody>
          <a:bodyPr anchor="b">
            <a:noAutofit/>
          </a:bodyPr>
          <a:lstStyle>
            <a:lvl1pPr marL="0" indent="0">
              <a:spcBef>
                <a:spcPts val="0"/>
              </a:spcBef>
              <a:buNone/>
              <a:defRPr sz="3000" baseline="0"/>
            </a:lvl1pPr>
            <a:lvl2pPr marL="0" indent="0">
              <a:spcBef>
                <a:spcPts val="0"/>
              </a:spcBef>
              <a:buNone/>
              <a:defRPr sz="4400"/>
            </a:lvl2pPr>
            <a:lvl3pPr marL="0" indent="0">
              <a:spcBef>
                <a:spcPts val="0"/>
              </a:spcBef>
              <a:buNone/>
              <a:defRPr sz="4400"/>
            </a:lvl3pPr>
            <a:lvl4pPr marL="0" indent="0">
              <a:spcBef>
                <a:spcPts val="0"/>
              </a:spcBef>
              <a:buNone/>
              <a:defRPr sz="4400"/>
            </a:lvl4pPr>
            <a:lvl5pPr marL="0" indent="0">
              <a:spcBef>
                <a:spcPts val="0"/>
              </a:spcBef>
              <a:buNone/>
              <a:defRPr sz="4400"/>
            </a:lvl5pPr>
            <a:lvl6pPr marL="0" indent="0">
              <a:spcBef>
                <a:spcPts val="0"/>
              </a:spcBef>
              <a:buNone/>
              <a:defRPr sz="4400"/>
            </a:lvl6pPr>
            <a:lvl7pPr marL="0" indent="0">
              <a:spcBef>
                <a:spcPts val="0"/>
              </a:spcBef>
              <a:buNone/>
              <a:defRPr sz="4400"/>
            </a:lvl7pPr>
            <a:lvl8pPr marL="0" indent="0">
              <a:spcBef>
                <a:spcPts val="0"/>
              </a:spcBef>
              <a:buNone/>
              <a:defRPr sz="4400"/>
            </a:lvl8pPr>
            <a:lvl9pPr marL="0" indent="0">
              <a:spcBef>
                <a:spcPts val="0"/>
              </a:spcBef>
              <a:buNone/>
              <a:defRPr sz="4400"/>
            </a:lvl9pPr>
          </a:lstStyle>
          <a:p>
            <a:pPr lvl="0"/>
            <a:r>
              <a:rPr lang="en-US" dirty="0"/>
              <a:t>Chapter ##</a:t>
            </a:r>
          </a:p>
        </p:txBody>
      </p:sp>
      <p:sp>
        <p:nvSpPr>
          <p:cNvPr id="10" name="Text Placeholder 8"/>
          <p:cNvSpPr>
            <a:spLocks noGrp="1"/>
          </p:cNvSpPr>
          <p:nvPr>
            <p:ph type="body" sz="quarter" idx="15" hasCustomPrompt="1"/>
          </p:nvPr>
        </p:nvSpPr>
        <p:spPr>
          <a:xfrm>
            <a:off x="5029200" y="3200400"/>
            <a:ext cx="3657600" cy="2925763"/>
          </a:xfrm>
        </p:spPr>
        <p:txBody>
          <a:bodyPr>
            <a:noAutofit/>
          </a:bodyPr>
          <a:lstStyle>
            <a:lvl1pPr marL="0" indent="0">
              <a:spcBef>
                <a:spcPts val="0"/>
              </a:spcBef>
              <a:buNone/>
              <a:defRPr sz="2200"/>
            </a:lvl1pPr>
            <a:lvl2pPr marL="0" indent="0">
              <a:spcBef>
                <a:spcPts val="0"/>
              </a:spcBef>
              <a:buNone/>
              <a:defRPr/>
            </a:lvl2pPr>
            <a:lvl3pPr marL="0" indent="0">
              <a:spcBef>
                <a:spcPts val="0"/>
              </a:spcBef>
              <a:buNone/>
              <a:defRPr/>
            </a:lvl3pPr>
            <a:lvl4pPr marL="0" indent="0">
              <a:spcBef>
                <a:spcPts val="0"/>
              </a:spcBef>
              <a:buNone/>
              <a:defRPr/>
            </a:lvl4pPr>
            <a:lvl5pPr marL="0" indent="0">
              <a:spcBef>
                <a:spcPts val="0"/>
              </a:spcBef>
              <a:buNone/>
              <a:defRPr/>
            </a:lvl5pPr>
            <a:lvl6pPr marL="0" indent="0">
              <a:spcBef>
                <a:spcPts val="0"/>
              </a:spcBef>
              <a:buNone/>
              <a:defRPr/>
            </a:lvl6pPr>
            <a:lvl7pPr marL="0" indent="0">
              <a:spcBef>
                <a:spcPts val="0"/>
              </a:spcBef>
              <a:buNone/>
              <a:defRPr/>
            </a:lvl7pPr>
            <a:lvl8pPr marL="0" indent="0">
              <a:spcBef>
                <a:spcPts val="0"/>
              </a:spcBef>
              <a:buNone/>
              <a:defRPr/>
            </a:lvl8pPr>
            <a:lvl9pPr marL="0" indent="0">
              <a:spcBef>
                <a:spcPts val="0"/>
              </a:spcBef>
              <a:buNone/>
              <a:defRPr/>
            </a:lvl9pPr>
          </a:lstStyle>
          <a:p>
            <a:pPr lvl="0"/>
            <a:r>
              <a:rPr lang="en-US" dirty="0"/>
              <a:t>Chapter title</a:t>
            </a:r>
          </a:p>
        </p:txBody>
      </p:sp>
      <p:sp>
        <p:nvSpPr>
          <p:cNvPr id="16" name="Footer Placeholder 2"/>
          <p:cNvSpPr>
            <a:spLocks noGrp="1"/>
          </p:cNvSpPr>
          <p:nvPr>
            <p:ph type="ftr" sz="quarter" idx="10"/>
          </p:nvPr>
        </p:nvSpPr>
        <p:spPr>
          <a:xfrm>
            <a:off x="93969" y="6165337"/>
            <a:ext cx="8595360" cy="235463"/>
          </a:xfrm>
        </p:spPr>
        <p:txBody>
          <a:bodyPr/>
          <a:lstStyle/>
          <a:p>
            <a:r>
              <a:rPr lang="en-US" dirty="0"/>
              <a:t>Copyright © 2018 Pearson Education, Inc.</a:t>
            </a:r>
          </a:p>
        </p:txBody>
      </p:sp>
      <p:sp>
        <p:nvSpPr>
          <p:cNvPr id="4" name="Date Placeholder 3"/>
          <p:cNvSpPr>
            <a:spLocks noGrp="1"/>
          </p:cNvSpPr>
          <p:nvPr>
            <p:ph type="dt" sz="half" idx="11"/>
          </p:nvPr>
        </p:nvSpPr>
        <p:spPr/>
        <p:txBody>
          <a:bodyPr/>
          <a:lstStyle/>
          <a:p>
            <a:fld id="{42FB9264-E59D-4043-9483-B863A08BF7FA}" type="datetime1">
              <a:rPr lang="en-US" smtClean="0"/>
              <a:pPr/>
              <a:t>8/25/26</a:t>
            </a:fld>
            <a:endParaRPr lang="en-US" dirty="0"/>
          </a:p>
        </p:txBody>
      </p:sp>
      <p:pic>
        <p:nvPicPr>
          <p:cNvPr id="12" name="Picture 11" descr="Pearson Logo"/>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457200" y="6376789"/>
            <a:ext cx="918000" cy="279915"/>
          </a:xfrm>
          <a:prstGeom prst="rect">
            <a:avLst/>
          </a:prstGeom>
        </p:spPr>
      </p:pic>
      <p:sp>
        <p:nvSpPr>
          <p:cNvPr id="13" name="TextBox 12"/>
          <p:cNvSpPr txBox="1"/>
          <p:nvPr userDrawn="1"/>
        </p:nvSpPr>
        <p:spPr>
          <a:xfrm>
            <a:off x="1600200" y="6382512"/>
            <a:ext cx="7162800" cy="276999"/>
          </a:xfrm>
          <a:prstGeom prst="rect">
            <a:avLst/>
          </a:prstGeom>
          <a:noFill/>
        </p:spPr>
        <p:txBody>
          <a:bodyPr wrap="square" rtlCol="0">
            <a:spAutoFit/>
          </a:bodyPr>
          <a:lstStyle/>
          <a:p>
            <a:pPr marL="0" indent="0" algn="r" defTabSz="914400" rtl="0" eaLnBrk="1" latinLnBrk="0" hangingPunct="1">
              <a:spcBef>
                <a:spcPts val="0"/>
              </a:spcBef>
              <a:buClrTx/>
              <a:buFont typeface="Arial" panose="020B0604020202020204" pitchFamily="34" charset="0"/>
              <a:buNone/>
              <a:defRPr/>
            </a:pPr>
            <a:r>
              <a:rPr lang="en-US" altLang="en-US" sz="1200" kern="1200" dirty="0">
                <a:solidFill>
                  <a:schemeClr val="tx1"/>
                </a:solidFill>
                <a:latin typeface="Verdana" pitchFamily="34" charset="0"/>
                <a:ea typeface="Verdana" pitchFamily="34" charset="0"/>
                <a:cs typeface="Verdana" pitchFamily="34" charset="0"/>
              </a:rPr>
              <a:t>Copyright © 2019 Pearson India Education Services Pvt. Ltd. All Rights Reserved</a:t>
            </a:r>
          </a:p>
        </p:txBody>
      </p:sp>
    </p:spTree>
    <p:extLst>
      <p:ext uri="{BB962C8B-B14F-4D97-AF65-F5344CB8AC3E}">
        <p14:creationId xmlns:p14="http://schemas.microsoft.com/office/powerpoint/2010/main" val="298106283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 Learning Objectives and Content">
    <p:spTree>
      <p:nvGrpSpPr>
        <p:cNvPr id="1" name=""/>
        <p:cNvGrpSpPr/>
        <p:nvPr/>
      </p:nvGrpSpPr>
      <p:grpSpPr>
        <a:xfrm>
          <a:off x="0" y="0"/>
          <a:ext cx="0" cy="0"/>
          <a:chOff x="0" y="0"/>
          <a:chExt cx="0" cy="0"/>
        </a:xfrm>
      </p:grpSpPr>
      <p:sp>
        <p:nvSpPr>
          <p:cNvPr id="8" name="Title 7"/>
          <p:cNvSpPr>
            <a:spLocks noGrp="1"/>
          </p:cNvSpPr>
          <p:nvPr>
            <p:ph type="title"/>
          </p:nvPr>
        </p:nvSpPr>
        <p:spPr>
          <a:xfrm>
            <a:off x="457200" y="215372"/>
            <a:ext cx="8229600" cy="622828"/>
          </a:xfrm>
        </p:spPr>
        <p:txBody>
          <a:bodyPr anchor="t"/>
          <a:lstStyle/>
          <a:p>
            <a:r>
              <a:rPr lang="en-US" dirty="0"/>
              <a:t>Click to edit Master title style</a:t>
            </a:r>
          </a:p>
        </p:txBody>
      </p:sp>
      <p:sp>
        <p:nvSpPr>
          <p:cNvPr id="7" name="Learning Objectives Placeholder 6"/>
          <p:cNvSpPr>
            <a:spLocks noGrp="1"/>
          </p:cNvSpPr>
          <p:nvPr>
            <p:ph type="body" sz="quarter" idx="13" hasCustomPrompt="1"/>
          </p:nvPr>
        </p:nvSpPr>
        <p:spPr>
          <a:xfrm>
            <a:off x="457200" y="816430"/>
            <a:ext cx="8229600" cy="402770"/>
          </a:xfrm>
        </p:spPr>
        <p:txBody>
          <a:bodyPr>
            <a:noAutofit/>
          </a:bodyPr>
          <a:lstStyle>
            <a:lvl1pPr marL="0" indent="0">
              <a:spcBef>
                <a:spcPts val="0"/>
              </a:spcBef>
              <a:buNone/>
              <a:defRPr sz="1600">
                <a:solidFill>
                  <a:srgbClr val="007FA3"/>
                </a:solidFill>
              </a:defRPr>
            </a:lvl1pPr>
            <a:lvl2pPr marL="0" indent="0">
              <a:spcBef>
                <a:spcPts val="0"/>
              </a:spcBef>
              <a:buNone/>
              <a:defRPr sz="2400">
                <a:solidFill>
                  <a:schemeClr val="bg1"/>
                </a:solidFill>
              </a:defRPr>
            </a:lvl2pPr>
            <a:lvl3pPr marL="0" indent="0">
              <a:spcBef>
                <a:spcPts val="0"/>
              </a:spcBef>
              <a:buNone/>
              <a:defRPr sz="2400">
                <a:solidFill>
                  <a:schemeClr val="bg1"/>
                </a:solidFill>
              </a:defRPr>
            </a:lvl3pPr>
            <a:lvl4pPr marL="0" indent="0">
              <a:spcBef>
                <a:spcPts val="0"/>
              </a:spcBef>
              <a:buNone/>
              <a:defRPr sz="2400">
                <a:solidFill>
                  <a:schemeClr val="bg1"/>
                </a:solidFill>
              </a:defRPr>
            </a:lvl4pPr>
            <a:lvl5pPr marL="0" indent="0">
              <a:spcBef>
                <a:spcPts val="0"/>
              </a:spcBef>
              <a:buNone/>
              <a:defRPr sz="2400">
                <a:solidFill>
                  <a:schemeClr val="bg1"/>
                </a:solidFill>
              </a:defRPr>
            </a:lvl5pPr>
            <a:lvl6pPr marL="0" indent="0">
              <a:spcBef>
                <a:spcPts val="0"/>
              </a:spcBef>
              <a:buNone/>
              <a:defRPr sz="2400">
                <a:solidFill>
                  <a:schemeClr val="bg1"/>
                </a:solidFill>
              </a:defRPr>
            </a:lvl6pPr>
            <a:lvl7pPr marL="0" indent="0">
              <a:spcBef>
                <a:spcPts val="0"/>
              </a:spcBef>
              <a:buNone/>
              <a:defRPr sz="2400">
                <a:solidFill>
                  <a:schemeClr val="bg1"/>
                </a:solidFill>
              </a:defRPr>
            </a:lvl7pPr>
            <a:lvl8pPr marL="0" indent="0">
              <a:spcBef>
                <a:spcPts val="0"/>
              </a:spcBef>
              <a:buNone/>
              <a:defRPr sz="2400">
                <a:solidFill>
                  <a:schemeClr val="bg1"/>
                </a:solidFill>
              </a:defRPr>
            </a:lvl8pPr>
            <a:lvl9pPr marL="0" indent="0">
              <a:spcBef>
                <a:spcPts val="0"/>
              </a:spcBef>
              <a:buNone/>
              <a:defRPr sz="2400">
                <a:solidFill>
                  <a:schemeClr val="bg1"/>
                </a:solidFill>
              </a:defRPr>
            </a:lvl9pPr>
          </a:lstStyle>
          <a:p>
            <a:pPr lvl="0"/>
            <a:r>
              <a:rPr lang="en-US" dirty="0"/>
              <a:t>Click to add Learning Objective(s)</a:t>
            </a:r>
          </a:p>
        </p:txBody>
      </p:sp>
      <p:sp>
        <p:nvSpPr>
          <p:cNvPr id="9" name="Content Placeholder 8"/>
          <p:cNvSpPr>
            <a:spLocks noGrp="1"/>
          </p:cNvSpPr>
          <p:nvPr>
            <p:ph sz="quarter" idx="14"/>
          </p:nvPr>
        </p:nvSpPr>
        <p:spPr>
          <a:xfrm>
            <a:off x="457200" y="1600200"/>
            <a:ext cx="8229600" cy="4525963"/>
          </a:xfrm>
        </p:spPr>
        <p:txBody>
          <a:bodyPr/>
          <a:lstStyle>
            <a:lvl5pPr>
              <a:defRPr/>
            </a:lvl5pPr>
            <a:lvl6pPr>
              <a:defRPr/>
            </a:lvl6pPr>
            <a:lvl7pPr>
              <a:defRPr/>
            </a:lvl7pPr>
            <a:lvl8pPr>
              <a:defRPr/>
            </a:lvl8pPr>
            <a:lvl9pPr>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12" name="Footer Placeholder 2"/>
          <p:cNvSpPr>
            <a:spLocks noGrp="1"/>
          </p:cNvSpPr>
          <p:nvPr>
            <p:ph type="ftr" sz="quarter" idx="10"/>
          </p:nvPr>
        </p:nvSpPr>
        <p:spPr>
          <a:xfrm>
            <a:off x="93969" y="6172200"/>
            <a:ext cx="8595360" cy="235463"/>
          </a:xfrm>
        </p:spPr>
        <p:txBody>
          <a:bodyPr/>
          <a:lstStyle/>
          <a:p>
            <a:r>
              <a:rPr lang="en-US" dirty="0"/>
              <a:t>Copyright © 2018 Pearson Education, Inc.</a:t>
            </a:r>
          </a:p>
        </p:txBody>
      </p:sp>
      <p:sp>
        <p:nvSpPr>
          <p:cNvPr id="4" name="Date Placeholder 3"/>
          <p:cNvSpPr>
            <a:spLocks noGrp="1"/>
          </p:cNvSpPr>
          <p:nvPr>
            <p:ph type="dt" sz="half" idx="11"/>
          </p:nvPr>
        </p:nvSpPr>
        <p:spPr/>
        <p:txBody>
          <a:bodyPr/>
          <a:lstStyle/>
          <a:p>
            <a:fld id="{2C3A0B96-8BDC-3940-87A4-7335ADF41F82}" type="datetime1">
              <a:rPr lang="en-US" smtClean="0"/>
              <a:pPr/>
              <a:t>8/25/26</a:t>
            </a:fld>
            <a:endParaRPr lang="en-US" dirty="0"/>
          </a:p>
        </p:txBody>
      </p:sp>
    </p:spTree>
    <p:extLst>
      <p:ext uri="{BB962C8B-B14F-4D97-AF65-F5344CB8AC3E}">
        <p14:creationId xmlns:p14="http://schemas.microsoft.com/office/powerpoint/2010/main" val="115246301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p:txBody>
          <a:bodyPr/>
          <a:lstStyle>
            <a:lvl1pPr>
              <a:buClr>
                <a:srgbClr val="007FA3"/>
              </a:buClr>
              <a:buSzPct val="100000"/>
              <a:defRPr/>
            </a:lvl1pPr>
            <a:lvl2pPr>
              <a:buClr>
                <a:srgbClr val="007FA3"/>
              </a:buClr>
              <a:defRPr/>
            </a:lvl2pPr>
            <a:lvl3pPr>
              <a:buClr>
                <a:srgbClr val="007FA3"/>
              </a:buClr>
              <a:defRPr/>
            </a:lvl3pPr>
            <a:lvl4pPr>
              <a:buClr>
                <a:srgbClr val="007FA3"/>
              </a:buClr>
              <a:defRPr/>
            </a:lvl4pPr>
            <a:lvl5pPr>
              <a:buClr>
                <a:srgbClr val="007FA3"/>
              </a:buClr>
              <a:defRPr/>
            </a:lvl5pPr>
            <a:lvl6pPr>
              <a:buClr>
                <a:srgbClr val="007FA3"/>
              </a:buClr>
              <a:defRPr/>
            </a:lvl6pPr>
            <a:lvl7pPr>
              <a:buClr>
                <a:srgbClr val="007FA3"/>
              </a:buClr>
              <a:defRPr/>
            </a:lvl7pPr>
            <a:lvl8pPr>
              <a:buClr>
                <a:srgbClr val="007FA3"/>
              </a:buClr>
              <a:defRPr/>
            </a:lvl8pPr>
            <a:lvl9pPr>
              <a:buClr>
                <a:srgbClr val="007FA3"/>
              </a:buClr>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6" name="Footer Placeholder 4"/>
          <p:cNvSpPr>
            <a:spLocks noGrp="1"/>
          </p:cNvSpPr>
          <p:nvPr>
            <p:ph type="ftr" sz="quarter" idx="11"/>
          </p:nvPr>
        </p:nvSpPr>
        <p:spPr>
          <a:xfrm>
            <a:off x="93969" y="6172200"/>
            <a:ext cx="8595360" cy="235463"/>
          </a:xfrm>
        </p:spPr>
        <p:txBody>
          <a:bodyPr/>
          <a:lstStyle/>
          <a:p>
            <a:r>
              <a:rPr lang="en-US" dirty="0"/>
              <a:t>Copyright © 2018 Pearson Education, Inc.</a:t>
            </a:r>
          </a:p>
        </p:txBody>
      </p:sp>
      <p:sp>
        <p:nvSpPr>
          <p:cNvPr id="9" name="Date Placeholder 3"/>
          <p:cNvSpPr>
            <a:spLocks noGrp="1"/>
          </p:cNvSpPr>
          <p:nvPr>
            <p:ph type="dt" sz="half" idx="10"/>
          </p:nvPr>
        </p:nvSpPr>
        <p:spPr>
          <a:xfrm>
            <a:off x="6335713" y="113072"/>
            <a:ext cx="2133600" cy="182880"/>
          </a:xfrm>
        </p:spPr>
        <p:txBody>
          <a:bodyPr/>
          <a:lstStyle/>
          <a:p>
            <a:fld id="{69344A15-F0EB-274C-BCBE-62AA675174CC}" type="datetime1">
              <a:rPr lang="en-US" smtClean="0"/>
              <a:pPr/>
              <a:t>8/25/26</a:t>
            </a:fld>
            <a:endParaRPr lang="en-US" dirty="0"/>
          </a:p>
        </p:txBody>
      </p:sp>
    </p:spTree>
    <p:extLst>
      <p:ext uri="{BB962C8B-B14F-4D97-AF65-F5344CB8AC3E}">
        <p14:creationId xmlns:p14="http://schemas.microsoft.com/office/powerpoint/2010/main" val="121090934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Learning Objectives">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lvl1pPr marL="118872" indent="-118872">
              <a:buClr>
                <a:srgbClr val="007FA3"/>
              </a:buClr>
              <a:buSzPct val="25000"/>
              <a:defRPr sz="1600"/>
            </a:lvl1pPr>
            <a:lvl2pPr marL="569913" indent="-285750">
              <a:buClr>
                <a:srgbClr val="007FA3"/>
              </a:buClr>
              <a:defRPr sz="1600"/>
            </a:lvl2pPr>
            <a:lvl3pPr>
              <a:buClr>
                <a:srgbClr val="007FA3"/>
              </a:buClr>
              <a:defRPr sz="1600"/>
            </a:lvl3pPr>
            <a:lvl4pPr>
              <a:buClr>
                <a:srgbClr val="007FA3"/>
              </a:buClr>
              <a:defRPr sz="1600"/>
            </a:lvl4pPr>
            <a:lvl5pPr>
              <a:buClr>
                <a:srgbClr val="007FA3"/>
              </a:buClr>
              <a:defRPr sz="1600"/>
            </a:lvl5pPr>
            <a:lvl6pPr>
              <a:buClr>
                <a:srgbClr val="007FA3"/>
              </a:buClr>
              <a:defRPr sz="1600"/>
            </a:lvl6pPr>
            <a:lvl7pPr>
              <a:buClr>
                <a:srgbClr val="007FA3"/>
              </a:buClr>
              <a:defRPr sz="1600"/>
            </a:lvl7pPr>
            <a:lvl8pPr>
              <a:buClr>
                <a:srgbClr val="007FA3"/>
              </a:buClr>
              <a:defRPr sz="1600"/>
            </a:lvl8pPr>
            <a:lvl9pPr>
              <a:buClr>
                <a:srgbClr val="007FA3"/>
              </a:buCl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10" name="Footer Placeholder 4"/>
          <p:cNvSpPr>
            <a:spLocks noGrp="1"/>
          </p:cNvSpPr>
          <p:nvPr>
            <p:ph type="ftr" sz="quarter" idx="11"/>
          </p:nvPr>
        </p:nvSpPr>
        <p:spPr>
          <a:xfrm>
            <a:off x="93969" y="6172200"/>
            <a:ext cx="8595360" cy="235463"/>
          </a:xfrm>
        </p:spPr>
        <p:txBody>
          <a:bodyPr/>
          <a:lstStyle/>
          <a:p>
            <a:r>
              <a:rPr lang="en-US" dirty="0"/>
              <a:t>Copyright © 2018 Pearson Education, Inc.</a:t>
            </a:r>
          </a:p>
        </p:txBody>
      </p:sp>
      <p:sp>
        <p:nvSpPr>
          <p:cNvPr id="4" name="Date Placeholder 3"/>
          <p:cNvSpPr>
            <a:spLocks noGrp="1"/>
          </p:cNvSpPr>
          <p:nvPr>
            <p:ph type="dt" sz="half" idx="10"/>
          </p:nvPr>
        </p:nvSpPr>
        <p:spPr/>
        <p:txBody>
          <a:bodyPr/>
          <a:lstStyle/>
          <a:p>
            <a:fld id="{309878BC-7C7D-8B4D-8C72-5012D25A75FF}" type="datetime1">
              <a:rPr lang="en-US" smtClean="0"/>
              <a:pPr/>
              <a:t>8/25/26</a:t>
            </a:fld>
            <a:endParaRPr lang="en-US" dirty="0"/>
          </a:p>
        </p:txBody>
      </p:sp>
    </p:spTree>
    <p:extLst>
      <p:ext uri="{BB962C8B-B14F-4D97-AF65-F5344CB8AC3E}">
        <p14:creationId xmlns:p14="http://schemas.microsoft.com/office/powerpoint/2010/main" val="27520083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Figure + Caption">
    <p:spTree>
      <p:nvGrpSpPr>
        <p:cNvPr id="1" name=""/>
        <p:cNvGrpSpPr/>
        <p:nvPr/>
      </p:nvGrpSpPr>
      <p:grpSpPr>
        <a:xfrm>
          <a:off x="0" y="0"/>
          <a:ext cx="0" cy="0"/>
          <a:chOff x="0" y="0"/>
          <a:chExt cx="0" cy="0"/>
        </a:xfrm>
      </p:grpSpPr>
      <p:sp>
        <p:nvSpPr>
          <p:cNvPr id="8" name="Title 7"/>
          <p:cNvSpPr>
            <a:spLocks noGrp="1"/>
          </p:cNvSpPr>
          <p:nvPr>
            <p:ph type="title" hasCustomPrompt="1"/>
          </p:nvPr>
        </p:nvSpPr>
        <p:spPr>
          <a:xfrm>
            <a:off x="457200" y="228600"/>
            <a:ext cx="8229600" cy="1066800"/>
          </a:xfrm>
        </p:spPr>
        <p:txBody>
          <a:bodyPr anchor="t"/>
          <a:lstStyle>
            <a:lvl1pPr>
              <a:defRPr sz="3400">
                <a:solidFill>
                  <a:srgbClr val="007FA3"/>
                </a:solidFill>
              </a:defRPr>
            </a:lvl1pPr>
          </a:lstStyle>
          <a:p>
            <a:r>
              <a:rPr lang="en-US" dirty="0"/>
              <a:t>Click to add figure number and title</a:t>
            </a:r>
          </a:p>
        </p:txBody>
      </p:sp>
      <p:sp>
        <p:nvSpPr>
          <p:cNvPr id="10" name="Text Placeholder 9"/>
          <p:cNvSpPr>
            <a:spLocks noGrp="1"/>
          </p:cNvSpPr>
          <p:nvPr>
            <p:ph type="body" sz="quarter" idx="13" hasCustomPrompt="1"/>
          </p:nvPr>
        </p:nvSpPr>
        <p:spPr>
          <a:xfrm>
            <a:off x="457200" y="5368160"/>
            <a:ext cx="8229600" cy="916856"/>
          </a:xfrm>
        </p:spPr>
        <p:txBody>
          <a:bodyPr anchor="b"/>
          <a:lstStyle>
            <a:lvl1pPr marL="0" indent="0">
              <a:spcBef>
                <a:spcPts val="0"/>
              </a:spcBef>
              <a:buNone/>
              <a:defRPr sz="800"/>
            </a:lvl1pPr>
            <a:lvl2pPr marL="0" indent="0">
              <a:spcBef>
                <a:spcPts val="0"/>
              </a:spcBef>
              <a:buNone/>
              <a:defRPr sz="1600"/>
            </a:lvl2pPr>
            <a:lvl3pPr marL="0" indent="0">
              <a:spcBef>
                <a:spcPts val="0"/>
              </a:spcBef>
              <a:buNone/>
              <a:defRPr sz="1600"/>
            </a:lvl3pPr>
            <a:lvl4pPr marL="0" indent="0">
              <a:spcBef>
                <a:spcPts val="0"/>
              </a:spcBef>
              <a:buNone/>
              <a:defRPr sz="1600"/>
            </a:lvl4pPr>
            <a:lvl5pPr marL="0" indent="0">
              <a:spcBef>
                <a:spcPts val="0"/>
              </a:spcBef>
              <a:buNone/>
              <a:defRPr sz="1600"/>
            </a:lvl5pPr>
            <a:lvl6pPr marL="0" indent="0">
              <a:spcBef>
                <a:spcPts val="0"/>
              </a:spcBef>
              <a:buNone/>
              <a:defRPr sz="1600"/>
            </a:lvl6pPr>
            <a:lvl7pPr marL="0" indent="0">
              <a:spcBef>
                <a:spcPts val="0"/>
              </a:spcBef>
              <a:buNone/>
              <a:defRPr sz="1600"/>
            </a:lvl7pPr>
            <a:lvl8pPr marL="0" indent="0">
              <a:spcBef>
                <a:spcPts val="0"/>
              </a:spcBef>
              <a:buNone/>
              <a:defRPr sz="1600"/>
            </a:lvl8pPr>
            <a:lvl9pPr marL="0" indent="0">
              <a:spcBef>
                <a:spcPts val="0"/>
              </a:spcBef>
              <a:buNone/>
              <a:defRPr sz="1600"/>
            </a:lvl9pPr>
          </a:lstStyle>
          <a:p>
            <a:pPr lvl="0"/>
            <a:r>
              <a:rPr lang="en-US" dirty="0"/>
              <a:t>Click to add caption</a:t>
            </a:r>
          </a:p>
        </p:txBody>
      </p:sp>
      <p:sp>
        <p:nvSpPr>
          <p:cNvPr id="11" name="Footer Placeholder 2"/>
          <p:cNvSpPr>
            <a:spLocks noGrp="1"/>
          </p:cNvSpPr>
          <p:nvPr>
            <p:ph type="ftr" sz="quarter" idx="11"/>
          </p:nvPr>
        </p:nvSpPr>
        <p:spPr>
          <a:xfrm>
            <a:off x="93969" y="6172200"/>
            <a:ext cx="8595360" cy="235463"/>
          </a:xfrm>
        </p:spPr>
        <p:txBody>
          <a:bodyPr/>
          <a:lstStyle/>
          <a:p>
            <a:endParaRPr lang="en-US" dirty="0"/>
          </a:p>
        </p:txBody>
      </p:sp>
      <p:sp>
        <p:nvSpPr>
          <p:cNvPr id="2" name="Date Placeholder 1"/>
          <p:cNvSpPr>
            <a:spLocks noGrp="1"/>
          </p:cNvSpPr>
          <p:nvPr>
            <p:ph type="dt" sz="half" idx="10"/>
          </p:nvPr>
        </p:nvSpPr>
        <p:spPr>
          <a:xfrm>
            <a:off x="6335713" y="137160"/>
            <a:ext cx="2133600" cy="182880"/>
          </a:xfrm>
        </p:spPr>
        <p:txBody>
          <a:bodyPr/>
          <a:lstStyle>
            <a:lvl1pPr>
              <a:defRPr>
                <a:solidFill>
                  <a:schemeClr val="tx1"/>
                </a:solidFill>
              </a:defRPr>
            </a:lvl1pPr>
          </a:lstStyle>
          <a:p>
            <a:endParaRPr lang="en-US" dirty="0"/>
          </a:p>
        </p:txBody>
      </p:sp>
      <p:pic>
        <p:nvPicPr>
          <p:cNvPr id="12" name="Picture 11" descr="Pearson Logo"/>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457200" y="6376789"/>
            <a:ext cx="918000" cy="279915"/>
          </a:xfrm>
          <a:prstGeom prst="rect">
            <a:avLst/>
          </a:prstGeom>
        </p:spPr>
      </p:pic>
      <p:sp>
        <p:nvSpPr>
          <p:cNvPr id="13" name="TextBox 12"/>
          <p:cNvSpPr txBox="1"/>
          <p:nvPr userDrawn="1"/>
        </p:nvSpPr>
        <p:spPr>
          <a:xfrm>
            <a:off x="1600200" y="6382512"/>
            <a:ext cx="7162800" cy="276999"/>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altLang="en-US" sz="1200" kern="1200" dirty="0">
                <a:solidFill>
                  <a:schemeClr val="tx1"/>
                </a:solidFill>
                <a:latin typeface="Verdana" pitchFamily="34" charset="0"/>
                <a:ea typeface="Verdana" pitchFamily="34" charset="0"/>
                <a:cs typeface="Verdana" pitchFamily="34" charset="0"/>
              </a:rPr>
              <a:t>Copyright © 2019 Pearson India Education Services Pvt. Ltd. All Rights Reserved</a:t>
            </a:r>
          </a:p>
        </p:txBody>
      </p:sp>
    </p:spTree>
    <p:extLst>
      <p:ext uri="{BB962C8B-B14F-4D97-AF65-F5344CB8AC3E}">
        <p14:creationId xmlns:p14="http://schemas.microsoft.com/office/powerpoint/2010/main" val="220379609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a:xfrm>
            <a:off x="457200" y="1600200"/>
            <a:ext cx="8229600" cy="2163763"/>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2"/>
          <p:cNvSpPr>
            <a:spLocks noGrp="1"/>
          </p:cNvSpPr>
          <p:nvPr>
            <p:ph idx="13"/>
          </p:nvPr>
        </p:nvSpPr>
        <p:spPr>
          <a:xfrm>
            <a:off x="457200" y="3962400"/>
            <a:ext cx="8229600" cy="2163763"/>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Footer Placeholder 4"/>
          <p:cNvSpPr>
            <a:spLocks noGrp="1"/>
          </p:cNvSpPr>
          <p:nvPr>
            <p:ph type="ftr" sz="quarter" idx="11"/>
          </p:nvPr>
        </p:nvSpPr>
        <p:spPr>
          <a:xfrm>
            <a:off x="93969" y="6172200"/>
            <a:ext cx="8595360" cy="235463"/>
          </a:xfrm>
        </p:spPr>
        <p:txBody>
          <a:bodyPr/>
          <a:lstStyle/>
          <a:p>
            <a:r>
              <a:rPr lang="en-US" dirty="0"/>
              <a:t>Copyright © 2018 Pearson Education, Inc.</a:t>
            </a:r>
          </a:p>
        </p:txBody>
      </p:sp>
      <p:sp>
        <p:nvSpPr>
          <p:cNvPr id="4" name="Date Placeholder 3"/>
          <p:cNvSpPr>
            <a:spLocks noGrp="1"/>
          </p:cNvSpPr>
          <p:nvPr>
            <p:ph type="dt" sz="half" idx="10"/>
          </p:nvPr>
        </p:nvSpPr>
        <p:spPr/>
        <p:txBody>
          <a:bodyPr/>
          <a:lstStyle/>
          <a:p>
            <a:fld id="{F71CB5E4-2482-7B44-B2CD-545334C269B9}" type="datetime1">
              <a:rPr lang="en-US" smtClean="0"/>
              <a:pPr/>
              <a:t>8/25/26</a:t>
            </a:fld>
            <a:endParaRPr lang="en-US" dirty="0"/>
          </a:p>
        </p:txBody>
      </p:sp>
    </p:spTree>
    <p:extLst>
      <p:ext uri="{BB962C8B-B14F-4D97-AF65-F5344CB8AC3E}">
        <p14:creationId xmlns:p14="http://schemas.microsoft.com/office/powerpoint/2010/main" val="315479995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85800" y="1447800"/>
            <a:ext cx="7772400" cy="2152651"/>
          </a:xfrm>
        </p:spPr>
        <p:txBody>
          <a:bodyPr anchor="b">
            <a:noAutofit/>
          </a:bodyPr>
          <a:lstStyle>
            <a:lvl1pPr algn="l">
              <a:defRPr sz="3400" b="1" cap="none" baseline="0">
                <a:solidFill>
                  <a:srgbClr val="007FA3"/>
                </a:solidFill>
              </a:defRPr>
            </a:lvl1pPr>
          </a:lstStyle>
          <a:p>
            <a:r>
              <a:rPr lang="en-US" dirty="0"/>
              <a:t>Click to edit Master title style</a:t>
            </a:r>
          </a:p>
        </p:txBody>
      </p:sp>
      <p:sp>
        <p:nvSpPr>
          <p:cNvPr id="3" name="Text Placeholder 2"/>
          <p:cNvSpPr>
            <a:spLocks noGrp="1"/>
          </p:cNvSpPr>
          <p:nvPr>
            <p:ph type="body" idx="1"/>
          </p:nvPr>
        </p:nvSpPr>
        <p:spPr>
          <a:xfrm>
            <a:off x="674687" y="3962400"/>
            <a:ext cx="7794627" cy="1752600"/>
          </a:xfrm>
        </p:spPr>
        <p:txBody>
          <a:bodyPr anchor="t">
            <a:noAutofit/>
          </a:bodyPr>
          <a:lstStyle>
            <a:lvl1pPr marL="0" indent="0">
              <a:spcBef>
                <a:spcPts val="0"/>
              </a:spcBef>
              <a:buNone/>
              <a:defRPr sz="1600">
                <a:solidFill>
                  <a:srgbClr val="007FA3"/>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sp>
        <p:nvSpPr>
          <p:cNvPr id="9" name="Footer Placeholder 4"/>
          <p:cNvSpPr>
            <a:spLocks noGrp="1"/>
          </p:cNvSpPr>
          <p:nvPr>
            <p:ph type="ftr" sz="quarter" idx="11"/>
          </p:nvPr>
        </p:nvSpPr>
        <p:spPr>
          <a:xfrm>
            <a:off x="93969" y="6172200"/>
            <a:ext cx="8595360" cy="235463"/>
          </a:xfrm>
        </p:spPr>
        <p:txBody>
          <a:bodyPr/>
          <a:lstStyle/>
          <a:p>
            <a:r>
              <a:rPr lang="en-US" dirty="0"/>
              <a:t>Copyright © 2018 Pearson Education, Inc.</a:t>
            </a:r>
          </a:p>
        </p:txBody>
      </p:sp>
      <p:sp>
        <p:nvSpPr>
          <p:cNvPr id="4" name="Date Placeholder 3"/>
          <p:cNvSpPr>
            <a:spLocks noGrp="1"/>
          </p:cNvSpPr>
          <p:nvPr>
            <p:ph type="dt" sz="half" idx="10"/>
          </p:nvPr>
        </p:nvSpPr>
        <p:spPr/>
        <p:txBody>
          <a:bodyPr/>
          <a:lstStyle/>
          <a:p>
            <a:fld id="{2233C098-7E69-2F4E-8219-6B630AF7AB62}" type="datetime1">
              <a:rPr lang="en-US" smtClean="0"/>
              <a:pPr/>
              <a:t>8/25/26</a:t>
            </a:fld>
            <a:endParaRPr lang="en-US" dirty="0"/>
          </a:p>
        </p:txBody>
      </p:sp>
    </p:spTree>
    <p:extLst>
      <p:ext uri="{BB962C8B-B14F-4D97-AF65-F5344CB8AC3E}">
        <p14:creationId xmlns:p14="http://schemas.microsoft.com/office/powerpoint/2010/main" val="375470418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US" dirty="0"/>
              <a:t>Click to edit Master title style</a:t>
            </a:r>
          </a:p>
        </p:txBody>
      </p:sp>
      <p:sp>
        <p:nvSpPr>
          <p:cNvPr id="9" name="Footer Placeholder 3"/>
          <p:cNvSpPr>
            <a:spLocks noGrp="1"/>
          </p:cNvSpPr>
          <p:nvPr>
            <p:ph type="ftr" sz="quarter" idx="11"/>
          </p:nvPr>
        </p:nvSpPr>
        <p:spPr>
          <a:xfrm>
            <a:off x="93969" y="6172200"/>
            <a:ext cx="8595360" cy="235463"/>
          </a:xfrm>
        </p:spPr>
        <p:txBody>
          <a:bodyPr/>
          <a:lstStyle/>
          <a:p>
            <a:r>
              <a:rPr lang="en-US" dirty="0"/>
              <a:t>Copyright © 2018 Pearson Education, Inc.</a:t>
            </a:r>
          </a:p>
        </p:txBody>
      </p:sp>
      <p:sp>
        <p:nvSpPr>
          <p:cNvPr id="3" name="Date Placeholder 2"/>
          <p:cNvSpPr>
            <a:spLocks noGrp="1"/>
          </p:cNvSpPr>
          <p:nvPr>
            <p:ph type="dt" sz="half" idx="10"/>
          </p:nvPr>
        </p:nvSpPr>
        <p:spPr/>
        <p:txBody>
          <a:bodyPr/>
          <a:lstStyle/>
          <a:p>
            <a:fld id="{FAA56894-5F48-BC43-8C04-BBB42A2EF5DA}" type="datetime1">
              <a:rPr lang="en-US" smtClean="0"/>
              <a:pPr/>
              <a:t>8/25/26</a:t>
            </a:fld>
            <a:endParaRPr lang="en-US" dirty="0"/>
          </a:p>
        </p:txBody>
      </p:sp>
    </p:spTree>
    <p:extLst>
      <p:ext uri="{BB962C8B-B14F-4D97-AF65-F5344CB8AC3E}">
        <p14:creationId xmlns:p14="http://schemas.microsoft.com/office/powerpoint/2010/main" val="185512659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Blank">
    <p:spTree>
      <p:nvGrpSpPr>
        <p:cNvPr id="1" name=""/>
        <p:cNvGrpSpPr/>
        <p:nvPr/>
      </p:nvGrpSpPr>
      <p:grpSpPr>
        <a:xfrm>
          <a:off x="0" y="0"/>
          <a:ext cx="0" cy="0"/>
          <a:chOff x="0" y="0"/>
          <a:chExt cx="0" cy="0"/>
        </a:xfrm>
      </p:grpSpPr>
      <p:sp>
        <p:nvSpPr>
          <p:cNvPr id="8" name="Footer Placeholder 2"/>
          <p:cNvSpPr>
            <a:spLocks noGrp="1"/>
          </p:cNvSpPr>
          <p:nvPr>
            <p:ph type="ftr" sz="quarter" idx="11"/>
          </p:nvPr>
        </p:nvSpPr>
        <p:spPr>
          <a:xfrm>
            <a:off x="93969" y="6172200"/>
            <a:ext cx="8595360" cy="235463"/>
          </a:xfrm>
        </p:spPr>
        <p:txBody>
          <a:bodyPr/>
          <a:lstStyle/>
          <a:p>
            <a:r>
              <a:rPr lang="en-US" dirty="0"/>
              <a:t>Copyright © 2018 Pearson Education, Inc.</a:t>
            </a:r>
          </a:p>
        </p:txBody>
      </p:sp>
      <p:sp>
        <p:nvSpPr>
          <p:cNvPr id="2" name="Date Placeholder 1"/>
          <p:cNvSpPr>
            <a:spLocks noGrp="1"/>
          </p:cNvSpPr>
          <p:nvPr>
            <p:ph type="dt" sz="half" idx="10"/>
          </p:nvPr>
        </p:nvSpPr>
        <p:spPr/>
        <p:txBody>
          <a:bodyPr/>
          <a:lstStyle>
            <a:lvl1pPr>
              <a:defRPr>
                <a:solidFill>
                  <a:schemeClr val="tx1"/>
                </a:solidFill>
              </a:defRPr>
            </a:lvl1pPr>
          </a:lstStyle>
          <a:p>
            <a:fld id="{E1C2AD04-9B57-CD4E-ACCE-94DAA54D9932}" type="datetime1">
              <a:rPr lang="en-US" smtClean="0"/>
              <a:pPr/>
              <a:t>8/25/26</a:t>
            </a:fld>
            <a:endParaRPr lang="en-US" dirty="0"/>
          </a:p>
        </p:txBody>
      </p:sp>
      <p:sp>
        <p:nvSpPr>
          <p:cNvPr id="10" name="TextBox 9"/>
          <p:cNvSpPr txBox="1"/>
          <p:nvPr userDrawn="1"/>
        </p:nvSpPr>
        <p:spPr>
          <a:xfrm>
            <a:off x="1600200" y="6382512"/>
            <a:ext cx="7162800" cy="276999"/>
          </a:xfrm>
          <a:prstGeom prst="rect">
            <a:avLst/>
          </a:prstGeom>
          <a:noFill/>
        </p:spPr>
        <p:txBody>
          <a:bodyPr wrap="square" rtlCol="0">
            <a:spAutoFit/>
          </a:bodyPr>
          <a:lstStyle/>
          <a:p>
            <a:pPr marL="0" indent="0" algn="r" defTabSz="914400" rtl="0" eaLnBrk="1" latinLnBrk="0" hangingPunct="1">
              <a:spcBef>
                <a:spcPts val="0"/>
              </a:spcBef>
              <a:buClrTx/>
              <a:buFont typeface="Arial" panose="020B0604020202020204" pitchFamily="34" charset="0"/>
              <a:buNone/>
              <a:defRPr/>
            </a:pPr>
            <a:r>
              <a:rPr lang="en-US" altLang="en-US" sz="1200" kern="1200" dirty="0">
                <a:solidFill>
                  <a:schemeClr val="tx1"/>
                </a:solidFill>
                <a:latin typeface="Verdana" pitchFamily="34" charset="0"/>
                <a:ea typeface="Verdana" pitchFamily="34" charset="0"/>
                <a:cs typeface="Verdana" pitchFamily="34" charset="0"/>
              </a:rPr>
              <a:t>Copyright © 2019 Pearson India Education Services Pvt. Ltd. All Rights Reserved</a:t>
            </a:r>
          </a:p>
        </p:txBody>
      </p:sp>
      <p:pic>
        <p:nvPicPr>
          <p:cNvPr id="12" name="Picture 11" descr="Pearson Logo"/>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457200" y="6376789"/>
            <a:ext cx="918000" cy="279915"/>
          </a:xfrm>
          <a:prstGeom prst="rect">
            <a:avLst/>
          </a:prstGeom>
        </p:spPr>
      </p:pic>
    </p:spTree>
    <p:extLst>
      <p:ext uri="{BB962C8B-B14F-4D97-AF65-F5344CB8AC3E}">
        <p14:creationId xmlns:p14="http://schemas.microsoft.com/office/powerpoint/2010/main" val="371113668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1.emf"/><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15372"/>
            <a:ext cx="8229600" cy="1097280"/>
          </a:xfrm>
          <a:prstGeom prst="rect">
            <a:avLst/>
          </a:prstGeom>
        </p:spPr>
        <p:txBody>
          <a:bodyPr vert="horz" lIns="0" tIns="0" rIns="0" bIns="0" rtlCol="0" anchor="b">
            <a:noAutofit/>
          </a:bodyPr>
          <a:lstStyle/>
          <a:p>
            <a:r>
              <a:rPr lang="en-US" dirty="0"/>
              <a:t>Click to edit </a:t>
            </a:r>
            <a:br>
              <a:rPr lang="en-US" dirty="0"/>
            </a:br>
            <a:r>
              <a:rPr lang="en-US" dirty="0"/>
              <a:t>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0" tIns="0" rIns="0" bIns="0" rtlCol="0">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11" name="Footer Placeholder 4"/>
          <p:cNvSpPr>
            <a:spLocks noGrp="1"/>
          </p:cNvSpPr>
          <p:nvPr>
            <p:ph type="ftr" sz="quarter" idx="3"/>
          </p:nvPr>
        </p:nvSpPr>
        <p:spPr>
          <a:xfrm>
            <a:off x="93969" y="6172200"/>
            <a:ext cx="8595360" cy="235463"/>
          </a:xfrm>
          <a:prstGeom prst="rect">
            <a:avLst/>
          </a:prstGeom>
        </p:spPr>
        <p:txBody>
          <a:bodyPr vert="horz" lIns="0" tIns="0" rIns="0" bIns="0" rtlCol="0" anchor="b"/>
          <a:lstStyle>
            <a:lvl1pPr algn="l">
              <a:defRPr sz="1100">
                <a:solidFill>
                  <a:schemeClr val="tx1"/>
                </a:solidFill>
              </a:defRPr>
            </a:lvl1pPr>
          </a:lstStyle>
          <a:p>
            <a:r>
              <a:rPr lang="en-US" dirty="0"/>
              <a:t>Copyright © 2018 Pearson Education, Inc.</a:t>
            </a:r>
          </a:p>
        </p:txBody>
      </p:sp>
      <p:sp>
        <p:nvSpPr>
          <p:cNvPr id="4" name="Date Placeholder 3"/>
          <p:cNvSpPr>
            <a:spLocks noGrp="1"/>
          </p:cNvSpPr>
          <p:nvPr>
            <p:ph type="dt" sz="half" idx="2"/>
          </p:nvPr>
        </p:nvSpPr>
        <p:spPr>
          <a:xfrm>
            <a:off x="6335713" y="113072"/>
            <a:ext cx="2133600" cy="182880"/>
          </a:xfrm>
          <a:prstGeom prst="rect">
            <a:avLst/>
          </a:prstGeom>
        </p:spPr>
        <p:txBody>
          <a:bodyPr vert="horz" lIns="91440" tIns="45720" rIns="91440" bIns="45720" rtlCol="0" anchor="ctr"/>
          <a:lstStyle>
            <a:lvl1pPr algn="r">
              <a:defRPr sz="900">
                <a:solidFill>
                  <a:schemeClr val="bg1"/>
                </a:solidFill>
              </a:defRPr>
            </a:lvl1pPr>
          </a:lstStyle>
          <a:p>
            <a:fld id="{D4DCA001-C90D-F048-B3C0-108AEB1AC539}" type="datetime1">
              <a:rPr lang="en-US" smtClean="0"/>
              <a:pPr/>
              <a:t>8/25/26</a:t>
            </a:fld>
            <a:endParaRPr lang="en-US" dirty="0"/>
          </a:p>
        </p:txBody>
      </p:sp>
      <p:pic>
        <p:nvPicPr>
          <p:cNvPr id="7" name="Picture 6" descr="Pearson Logo"/>
          <p:cNvPicPr>
            <a:picLocks noChangeAspect="1"/>
          </p:cNvPicPr>
          <p:nvPr userDrawn="1"/>
        </p:nvPicPr>
        <p:blipFill>
          <a:blip r:embed="rId12" cstate="screen">
            <a:extLst>
              <a:ext uri="{28A0092B-C50C-407E-A947-70E740481C1C}">
                <a14:useLocalDpi xmlns:a14="http://schemas.microsoft.com/office/drawing/2010/main"/>
              </a:ext>
            </a:extLst>
          </a:blip>
          <a:stretch>
            <a:fillRect/>
          </a:stretch>
        </p:blipFill>
        <p:spPr>
          <a:xfrm>
            <a:off x="457200" y="6376789"/>
            <a:ext cx="918000" cy="279915"/>
          </a:xfrm>
          <a:prstGeom prst="rect">
            <a:avLst/>
          </a:prstGeom>
        </p:spPr>
      </p:pic>
      <p:sp>
        <p:nvSpPr>
          <p:cNvPr id="8" name="TextBox 7"/>
          <p:cNvSpPr txBox="1"/>
          <p:nvPr userDrawn="1"/>
        </p:nvSpPr>
        <p:spPr>
          <a:xfrm>
            <a:off x="1600200" y="6382512"/>
            <a:ext cx="7162800" cy="276999"/>
          </a:xfrm>
          <a:prstGeom prst="rect">
            <a:avLst/>
          </a:prstGeom>
          <a:noFill/>
        </p:spPr>
        <p:txBody>
          <a:bodyPr wrap="square" rtlCol="0">
            <a:spAutoFit/>
          </a:bodyPr>
          <a:lstStyle/>
          <a:p>
            <a:pPr marL="0" indent="0" algn="r" defTabSz="914400" rtl="0" eaLnBrk="1" latinLnBrk="0" hangingPunct="1">
              <a:spcBef>
                <a:spcPts val="0"/>
              </a:spcBef>
              <a:buClrTx/>
              <a:buFont typeface="Arial" panose="020B0604020202020204" pitchFamily="34" charset="0"/>
              <a:buNone/>
              <a:defRPr/>
            </a:pPr>
            <a:r>
              <a:rPr lang="en-US" altLang="en-US" sz="1200" kern="1200" dirty="0">
                <a:solidFill>
                  <a:schemeClr val="tx1"/>
                </a:solidFill>
                <a:latin typeface="Verdana" pitchFamily="34" charset="0"/>
                <a:ea typeface="Verdana" pitchFamily="34" charset="0"/>
                <a:cs typeface="Verdana" pitchFamily="34" charset="0"/>
              </a:rPr>
              <a:t>Copyright © 2019 Pearson India Education Services Pvt. Ltd. All Rights Reserved</a:t>
            </a:r>
          </a:p>
        </p:txBody>
      </p:sp>
    </p:spTree>
    <p:extLst>
      <p:ext uri="{BB962C8B-B14F-4D97-AF65-F5344CB8AC3E}">
        <p14:creationId xmlns:p14="http://schemas.microsoft.com/office/powerpoint/2010/main" val="3691570016"/>
      </p:ext>
    </p:extLst>
  </p:cSld>
  <p:clrMap bg1="lt1" tx1="dk1" bg2="lt2" tx2="dk2" accent1="accent1" accent2="accent2" accent3="accent3" accent4="accent4" accent5="accent5" accent6="accent6" hlink="hlink" folHlink="folHlink"/>
  <p:sldLayoutIdLst>
    <p:sldLayoutId id="2147483649" r:id="rId1"/>
    <p:sldLayoutId id="2147483657" r:id="rId2"/>
    <p:sldLayoutId id="2147483656" r:id="rId3"/>
    <p:sldLayoutId id="2147483650" r:id="rId4"/>
    <p:sldLayoutId id="2147483659" r:id="rId5"/>
    <p:sldLayoutId id="2147483658" r:id="rId6"/>
    <p:sldLayoutId id="2147483660" r:id="rId7"/>
    <p:sldLayoutId id="2147483651" r:id="rId8"/>
    <p:sldLayoutId id="2147483654" r:id="rId9"/>
    <p:sldLayoutId id="2147483655" r:id="rId10"/>
  </p:sldLayoutIdLst>
  <p:hf hdr="0" ftr="0" dt="0"/>
  <p:txStyles>
    <p:titleStyle>
      <a:lvl1pPr algn="l" defTabSz="914400" rtl="0" eaLnBrk="1" latinLnBrk="0" hangingPunct="1">
        <a:lnSpc>
          <a:spcPct val="100000"/>
        </a:lnSpc>
        <a:spcBef>
          <a:spcPct val="0"/>
        </a:spcBef>
        <a:buNone/>
        <a:defRPr sz="3400" b="1" kern="1200">
          <a:solidFill>
            <a:srgbClr val="007FA3"/>
          </a:solidFill>
          <a:latin typeface="Times New Roman" panose="02020603050405020304" pitchFamily="18" charset="0"/>
          <a:ea typeface="+mj-ea"/>
          <a:cs typeface="Times New Roman" panose="02020603050405020304" pitchFamily="18" charset="0"/>
        </a:defRPr>
      </a:lvl1pPr>
    </p:titleStyle>
    <p:bodyStyle>
      <a:lvl1pPr marL="256032" indent="-256032" algn="l" defTabSz="914400" rtl="0" eaLnBrk="1" latinLnBrk="0" hangingPunct="1">
        <a:spcBef>
          <a:spcPts val="1500"/>
        </a:spcBef>
        <a:buClr>
          <a:srgbClr val="007FA3"/>
        </a:buClr>
        <a:buFont typeface="Arial" panose="020B0604020202020204" pitchFamily="34" charset="0"/>
        <a:buChar char="•"/>
        <a:defRPr sz="1600" kern="1200">
          <a:solidFill>
            <a:schemeClr val="tx1"/>
          </a:solidFill>
          <a:latin typeface="+mn-lt"/>
          <a:ea typeface="+mn-ea"/>
          <a:cs typeface="+mn-cs"/>
        </a:defRPr>
      </a:lvl1pPr>
      <a:lvl2pPr marL="742950" indent="-28575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spcBef>
          <a:spcPts val="600"/>
        </a:spcBef>
        <a:buClr>
          <a:srgbClr val="007FA3"/>
        </a:buClr>
        <a:buFont typeface="Wingdings" panose="05000000000000000000" pitchFamily="2" charset="2"/>
        <a:buChar char="§"/>
        <a:defRPr sz="1600" kern="1200">
          <a:solidFill>
            <a:schemeClr val="tx1"/>
          </a:solidFill>
          <a:latin typeface="+mn-lt"/>
          <a:ea typeface="+mn-ea"/>
          <a:cs typeface="+mn-cs"/>
        </a:defRPr>
      </a:lvl3pPr>
      <a:lvl4pPr marL="1600200" indent="-22860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6pPr>
      <a:lvl7pPr marL="29718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7pPr>
      <a:lvl8pPr marL="34290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8pPr>
      <a:lvl9pPr marL="38862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C8F13C-97B8-10A3-88AB-4A9D6AA5A2C8}"/>
              </a:ext>
            </a:extLst>
          </p:cNvPr>
          <p:cNvSpPr>
            <a:spLocks noGrp="1"/>
          </p:cNvSpPr>
          <p:nvPr>
            <p:ph type="ctrTitle"/>
          </p:nvPr>
        </p:nvSpPr>
        <p:spPr/>
        <p:txBody>
          <a:bodyPr/>
          <a:lstStyle/>
          <a:p>
            <a:r>
              <a:rPr lang="en-US" dirty="0"/>
              <a:t>MS-601</a:t>
            </a:r>
            <a:br>
              <a:rPr lang="en-US" dirty="0"/>
            </a:br>
            <a:r>
              <a:rPr lang="en-US" dirty="0"/>
              <a:t>Managing in a Global Environment</a:t>
            </a:r>
          </a:p>
        </p:txBody>
      </p:sp>
    </p:spTree>
    <p:extLst>
      <p:ext uri="{BB962C8B-B14F-4D97-AF65-F5344CB8AC3E}">
        <p14:creationId xmlns:p14="http://schemas.microsoft.com/office/powerpoint/2010/main" val="90510488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Learning Objectives</a:t>
            </a:r>
          </a:p>
        </p:txBody>
      </p:sp>
      <p:sp>
        <p:nvSpPr>
          <p:cNvPr id="3" name="Content Placeholder 2"/>
          <p:cNvSpPr>
            <a:spLocks noGrp="1"/>
          </p:cNvSpPr>
          <p:nvPr>
            <p:ph idx="1"/>
          </p:nvPr>
        </p:nvSpPr>
        <p:spPr/>
        <p:txBody>
          <a:bodyPr/>
          <a:lstStyle/>
          <a:p>
            <a:pPr marL="502920" indent="-514350">
              <a:buNone/>
            </a:pPr>
            <a:r>
              <a:rPr lang="en-US" sz="2400" b="1" dirty="0">
                <a:solidFill>
                  <a:srgbClr val="007FA3"/>
                </a:solidFill>
              </a:rPr>
              <a:t>4.1 </a:t>
            </a:r>
            <a:r>
              <a:rPr lang="en-US" sz="2400" b="1" dirty="0">
                <a:cs typeface="Arial"/>
              </a:rPr>
              <a:t>Contrast </a:t>
            </a:r>
            <a:r>
              <a:rPr lang="en-US" sz="2400" dirty="0">
                <a:cs typeface="Arial"/>
              </a:rPr>
              <a:t>various</a:t>
            </a:r>
            <a:r>
              <a:rPr lang="en-US" sz="2400" b="1" dirty="0">
                <a:cs typeface="Arial"/>
              </a:rPr>
              <a:t> </a:t>
            </a:r>
            <a:r>
              <a:rPr lang="en-US" sz="2400" dirty="0">
                <a:cs typeface="Arial"/>
              </a:rPr>
              <a:t>attitudes toward global business</a:t>
            </a:r>
            <a:r>
              <a:rPr lang="en-US" sz="2400" dirty="0"/>
              <a:t>.</a:t>
            </a:r>
          </a:p>
          <a:p>
            <a:pPr marL="502920" indent="-512064">
              <a:buNone/>
            </a:pPr>
            <a:r>
              <a:rPr lang="en-US" sz="2400" b="1" dirty="0">
                <a:solidFill>
                  <a:srgbClr val="007FA3"/>
                </a:solidFill>
              </a:rPr>
              <a:t>4.2 </a:t>
            </a:r>
            <a:r>
              <a:rPr lang="en-US" sz="2400" b="1" dirty="0">
                <a:cs typeface="Arial"/>
              </a:rPr>
              <a:t>Discuss </a:t>
            </a:r>
            <a:r>
              <a:rPr lang="en-US" sz="2400" dirty="0">
                <a:cs typeface="Arial"/>
              </a:rPr>
              <a:t>the importance of regional trading alliances and global trade mechanisms</a:t>
            </a:r>
            <a:r>
              <a:rPr lang="en-US" sz="2400" dirty="0"/>
              <a:t>.</a:t>
            </a:r>
          </a:p>
          <a:p>
            <a:pPr marL="502920" indent="-512064">
              <a:buNone/>
            </a:pPr>
            <a:r>
              <a:rPr lang="en-US" sz="2400" b="1" dirty="0">
                <a:solidFill>
                  <a:srgbClr val="007FA3"/>
                </a:solidFill>
              </a:rPr>
              <a:t>4.3 </a:t>
            </a:r>
            <a:r>
              <a:rPr lang="en-US" sz="2400" b="1" dirty="0">
                <a:cs typeface="Arial"/>
              </a:rPr>
              <a:t>Describe </a:t>
            </a:r>
            <a:r>
              <a:rPr lang="en-US" sz="2400" dirty="0">
                <a:cs typeface="Arial"/>
              </a:rPr>
              <a:t>the structures and techniques organizations use as they go international</a:t>
            </a:r>
            <a:r>
              <a:rPr lang="en-US" sz="2400" dirty="0"/>
              <a:t>.</a:t>
            </a:r>
          </a:p>
          <a:p>
            <a:pPr marL="502920" indent="-512064">
              <a:buNone/>
            </a:pPr>
            <a:r>
              <a:rPr lang="en-US" sz="2400" b="1" dirty="0">
                <a:solidFill>
                  <a:srgbClr val="007FA3"/>
                </a:solidFill>
              </a:rPr>
              <a:t>4.4 </a:t>
            </a:r>
            <a:r>
              <a:rPr lang="en-US" sz="2400" b="1" dirty="0">
                <a:cs typeface="Arial"/>
              </a:rPr>
              <a:t>Explain </a:t>
            </a:r>
            <a:r>
              <a:rPr lang="en-US" sz="2400" dirty="0">
                <a:cs typeface="Arial"/>
              </a:rPr>
              <a:t>the relevance of the political/legal, economic, and cultural environments to global business</a:t>
            </a:r>
            <a:r>
              <a:rPr lang="en-US" sz="2400" dirty="0"/>
              <a:t>.</a:t>
            </a:r>
          </a:p>
        </p:txBody>
      </p:sp>
    </p:spTree>
    <p:extLst>
      <p:ext uri="{BB962C8B-B14F-4D97-AF65-F5344CB8AC3E}">
        <p14:creationId xmlns:p14="http://schemas.microsoft.com/office/powerpoint/2010/main" val="615602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Global Attitudes and Perspectives</a:t>
            </a:r>
          </a:p>
        </p:txBody>
      </p:sp>
      <p:sp>
        <p:nvSpPr>
          <p:cNvPr id="3" name="Content Placeholder 2"/>
          <p:cNvSpPr>
            <a:spLocks noGrp="1"/>
          </p:cNvSpPr>
          <p:nvPr>
            <p:ph idx="1"/>
          </p:nvPr>
        </p:nvSpPr>
        <p:spPr/>
        <p:txBody>
          <a:bodyPr/>
          <a:lstStyle/>
          <a:p>
            <a:r>
              <a:rPr lang="en-US" sz="2800" b="1" dirty="0"/>
              <a:t>Parochialism</a:t>
            </a:r>
            <a:r>
              <a:rPr lang="en-US" sz="2800" dirty="0"/>
              <a:t>: viewing the world solely through your own perspectives, leading to an inability to recognize differences between people</a:t>
            </a:r>
            <a:endParaRPr lang="en-US" sz="2800" b="1" dirty="0"/>
          </a:p>
          <a:p>
            <a:r>
              <a:rPr lang="en-US" sz="2800" b="1" dirty="0"/>
              <a:t>Ethnocentric</a:t>
            </a:r>
            <a:r>
              <a:rPr lang="en-US" sz="2800" dirty="0"/>
              <a:t>: view that home country has best work practices</a:t>
            </a:r>
          </a:p>
          <a:p>
            <a:r>
              <a:rPr lang="en-US" sz="2800" b="1" dirty="0"/>
              <a:t>Polycentric</a:t>
            </a:r>
            <a:r>
              <a:rPr lang="en-US" sz="2800" dirty="0"/>
              <a:t>: view that managers in the host country know the best approaches</a:t>
            </a:r>
          </a:p>
          <a:p>
            <a:r>
              <a:rPr lang="en-US" sz="2800" b="1" dirty="0"/>
              <a:t>Geocentric</a:t>
            </a:r>
            <a:r>
              <a:rPr lang="en-US" sz="2800" dirty="0"/>
              <a:t>: world-oriented view; wants to use best practices from around the globe</a:t>
            </a:r>
          </a:p>
        </p:txBody>
      </p:sp>
    </p:spTree>
    <p:extLst>
      <p:ext uri="{BB962C8B-B14F-4D97-AF65-F5344CB8AC3E}">
        <p14:creationId xmlns:p14="http://schemas.microsoft.com/office/powerpoint/2010/main" val="179339780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Regional Trading Alliances</a:t>
            </a:r>
          </a:p>
        </p:txBody>
      </p:sp>
      <p:sp>
        <p:nvSpPr>
          <p:cNvPr id="3" name="Content Placeholder 2"/>
          <p:cNvSpPr>
            <a:spLocks noGrp="1"/>
          </p:cNvSpPr>
          <p:nvPr>
            <p:ph idx="1"/>
          </p:nvPr>
        </p:nvSpPr>
        <p:spPr/>
        <p:txBody>
          <a:bodyPr/>
          <a:lstStyle/>
          <a:p>
            <a:r>
              <a:rPr lang="en-IN" sz="2000" dirty="0"/>
              <a:t>These are agreements between countries to lower trade barriers, align economic policies, and strengthen their collective economic power</a:t>
            </a:r>
          </a:p>
          <a:p>
            <a:r>
              <a:rPr lang="en-US" sz="2000" b="1" dirty="0"/>
              <a:t>European Union (EU)</a:t>
            </a:r>
            <a:r>
              <a:rPr lang="en-US" sz="2000" dirty="0"/>
              <a:t>: a union of 27 democratic European nations (United Kingdom exist known as Brexit) with </a:t>
            </a:r>
            <a:r>
              <a:rPr lang="en-US" sz="2000" b="1" dirty="0"/>
              <a:t>Euro</a:t>
            </a:r>
            <a:r>
              <a:rPr lang="en-US" sz="2000" dirty="0"/>
              <a:t> as the official currency </a:t>
            </a:r>
          </a:p>
          <a:p>
            <a:r>
              <a:rPr lang="en-IN" sz="2000" b="1" dirty="0"/>
              <a:t>United States–Mexico–Canada Agreement (USMCA) </a:t>
            </a:r>
            <a:r>
              <a:rPr lang="en-IN" sz="2000" dirty="0"/>
              <a:t>(previously existed as </a:t>
            </a:r>
            <a:r>
              <a:rPr lang="en-US" sz="2000" b="1" dirty="0"/>
              <a:t>North American Free Trade Agreement, NAFTA</a:t>
            </a:r>
            <a:r>
              <a:rPr lang="en-US" sz="2000" dirty="0"/>
              <a:t>): an updated agreement among the Mexican, Canadian, and U.S. governments </a:t>
            </a:r>
            <a:r>
              <a:rPr lang="en-IN" sz="2000" dirty="0"/>
              <a:t>to eliminate trade barriers and strengthen economic power</a:t>
            </a:r>
          </a:p>
          <a:p>
            <a:r>
              <a:rPr lang="en-US" sz="2000" b="1" dirty="0">
                <a:latin typeface="Arial" pitchFamily="34" charset="0"/>
                <a:cs typeface="Arial" pitchFamily="34" charset="0"/>
              </a:rPr>
              <a:t>Association of Southeast Asian Nations (ASEAN):</a:t>
            </a:r>
            <a:r>
              <a:rPr lang="en-US" sz="2000" dirty="0"/>
              <a:t> a trading alliance of 10 Southeast Asian nations </a:t>
            </a:r>
            <a:r>
              <a:rPr lang="en-IN" sz="2000" dirty="0"/>
              <a:t>promoting economic growth, social progress, and regional stability among its member nations</a:t>
            </a:r>
            <a:br>
              <a:rPr lang="en-IN" sz="2000" dirty="0"/>
            </a:br>
            <a:endParaRPr lang="en-IN" sz="2000" dirty="0"/>
          </a:p>
          <a:p>
            <a:endParaRPr lang="en-US" sz="2000" dirty="0"/>
          </a:p>
          <a:p>
            <a:endParaRPr lang="en-US" sz="2000" dirty="0"/>
          </a:p>
        </p:txBody>
      </p:sp>
    </p:spTree>
    <p:extLst>
      <p:ext uri="{BB962C8B-B14F-4D97-AF65-F5344CB8AC3E}">
        <p14:creationId xmlns:p14="http://schemas.microsoft.com/office/powerpoint/2010/main" val="149971375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4844"/>
            <a:ext cx="8229600" cy="1097280"/>
          </a:xfrm>
        </p:spPr>
        <p:txBody>
          <a:bodyPr/>
          <a:lstStyle/>
          <a:p>
            <a:r>
              <a:rPr lang="en-US" dirty="0"/>
              <a:t>Global Trade Mechanisms</a:t>
            </a:r>
          </a:p>
        </p:txBody>
      </p:sp>
      <p:sp>
        <p:nvSpPr>
          <p:cNvPr id="3" name="Content Placeholder 2"/>
          <p:cNvSpPr>
            <a:spLocks noGrp="1"/>
          </p:cNvSpPr>
          <p:nvPr>
            <p:ph idx="1"/>
          </p:nvPr>
        </p:nvSpPr>
        <p:spPr>
          <a:xfrm>
            <a:off x="457200" y="1295400"/>
            <a:ext cx="8229600" cy="4525963"/>
          </a:xfrm>
        </p:spPr>
        <p:txBody>
          <a:bodyPr/>
          <a:lstStyle/>
          <a:p>
            <a:pPr>
              <a:buFont typeface="Arial"/>
              <a:buChar char="•"/>
            </a:pPr>
            <a:r>
              <a:rPr lang="en-US" sz="2000" b="1" dirty="0">
                <a:latin typeface="Arial" pitchFamily="34" charset="0"/>
                <a:cs typeface="Arial" pitchFamily="34" charset="0"/>
              </a:rPr>
              <a:t>World Trade Organization (WTO)</a:t>
            </a:r>
            <a:r>
              <a:rPr lang="en-US" sz="2000" dirty="0">
                <a:latin typeface="Arial" pitchFamily="34" charset="0"/>
                <a:cs typeface="Arial" pitchFamily="34" charset="0"/>
              </a:rPr>
              <a:t>: </a:t>
            </a:r>
            <a:r>
              <a:rPr lang="en-US" sz="2000" dirty="0"/>
              <a:t>global organization of 166 countries </a:t>
            </a:r>
            <a:r>
              <a:rPr lang="en-IN" dirty="0"/>
              <a:t>. </a:t>
            </a:r>
            <a:r>
              <a:rPr lang="en-IN" sz="2000" dirty="0"/>
              <a:t>It regulates over 98% of all global trade and GDP</a:t>
            </a:r>
            <a:r>
              <a:rPr lang="en-IN" dirty="0"/>
              <a:t>.</a:t>
            </a:r>
            <a:r>
              <a:rPr lang="en-IN" sz="2000" dirty="0"/>
              <a:t> </a:t>
            </a:r>
          </a:p>
          <a:p>
            <a:pPr>
              <a:buFont typeface="Arial"/>
              <a:buChar char="•"/>
            </a:pPr>
            <a:r>
              <a:rPr lang="en-US" sz="2000" b="1" dirty="0">
                <a:latin typeface="Arial" pitchFamily="34" charset="0"/>
                <a:cs typeface="Arial" pitchFamily="34" charset="0"/>
              </a:rPr>
              <a:t>International Monetary Fund (IMF)</a:t>
            </a:r>
            <a:r>
              <a:rPr lang="en-US" sz="2000" dirty="0">
                <a:latin typeface="Arial" pitchFamily="34" charset="0"/>
                <a:cs typeface="Arial" pitchFamily="34" charset="0"/>
              </a:rPr>
              <a:t>:</a:t>
            </a:r>
            <a:r>
              <a:rPr lang="en-US" sz="2000" b="1" dirty="0">
                <a:latin typeface="Arial" pitchFamily="34" charset="0"/>
                <a:cs typeface="Arial" pitchFamily="34" charset="0"/>
              </a:rPr>
              <a:t> </a:t>
            </a:r>
            <a:r>
              <a:rPr lang="en-US" sz="2000" dirty="0"/>
              <a:t>An organization of 191 countries that </a:t>
            </a:r>
            <a:r>
              <a:rPr lang="en-IN" sz="2000" dirty="0"/>
              <a:t>hat promotes international monetary cooperation, provides economic advice, and acts as a lender of last resort. </a:t>
            </a:r>
          </a:p>
          <a:p>
            <a:pPr>
              <a:buFont typeface="Arial"/>
              <a:buChar char="•"/>
            </a:pPr>
            <a:r>
              <a:rPr lang="en-US" sz="2000" b="1" dirty="0"/>
              <a:t>World</a:t>
            </a:r>
            <a:r>
              <a:rPr lang="en-US" sz="2000" b="1" dirty="0">
                <a:latin typeface="Arial" pitchFamily="34" charset="0"/>
                <a:cs typeface="Arial" pitchFamily="34" charset="0"/>
              </a:rPr>
              <a:t> Bank Group</a:t>
            </a:r>
            <a:r>
              <a:rPr lang="en-US" sz="2000" dirty="0">
                <a:latin typeface="Arial" pitchFamily="34" charset="0"/>
                <a:cs typeface="Arial" pitchFamily="34" charset="0"/>
              </a:rPr>
              <a:t>: </a:t>
            </a:r>
            <a:r>
              <a:rPr lang="en-US" sz="2000" dirty="0"/>
              <a:t>a group of very closely associated institutions that provides financial and technical assistance to developing countries. </a:t>
            </a:r>
            <a:r>
              <a:rPr lang="en-IN" sz="2000" dirty="0"/>
              <a:t>Focuses on long-term economic development, reducing poverty, and funding infrastructure projects</a:t>
            </a:r>
            <a:endParaRPr lang="en-US" sz="2000" dirty="0"/>
          </a:p>
          <a:p>
            <a:pPr>
              <a:buFont typeface="Arial"/>
              <a:buChar char="•"/>
            </a:pPr>
            <a:r>
              <a:rPr lang="en-US" sz="2000" b="1" dirty="0">
                <a:latin typeface="Arial" pitchFamily="34" charset="0"/>
                <a:cs typeface="Arial" pitchFamily="34" charset="0"/>
              </a:rPr>
              <a:t>Organization for Economic Cooperation and Development (OECD)</a:t>
            </a:r>
            <a:r>
              <a:rPr lang="en-US" sz="2000" dirty="0">
                <a:latin typeface="Arial" pitchFamily="34" charset="0"/>
                <a:cs typeface="Arial" pitchFamily="34" charset="0"/>
              </a:rPr>
              <a:t>:</a:t>
            </a:r>
            <a:r>
              <a:rPr lang="en-US" sz="2000" b="1" dirty="0">
                <a:latin typeface="Arial" pitchFamily="34" charset="0"/>
                <a:cs typeface="Arial" pitchFamily="34" charset="0"/>
              </a:rPr>
              <a:t> </a:t>
            </a:r>
            <a:r>
              <a:rPr lang="en-US" sz="2000" dirty="0"/>
              <a:t>an international economic organization that assists its 38 member countries with financial support and sustainable economic growth. </a:t>
            </a:r>
            <a:r>
              <a:rPr lang="en-IN" sz="2000" dirty="0"/>
              <a:t>It primarily consists of highly developed, high-income countries working to stimulate economic progress</a:t>
            </a:r>
            <a:r>
              <a:rPr lang="en-IN" dirty="0"/>
              <a:t>.</a:t>
            </a:r>
            <a:r>
              <a:rPr lang="en-IN" sz="2000" dirty="0"/>
              <a:t> </a:t>
            </a:r>
            <a:endParaRPr lang="en-US" sz="2000" dirty="0">
              <a:latin typeface="Arial" pitchFamily="34" charset="0"/>
              <a:cs typeface="Arial" pitchFamily="34" charset="0"/>
            </a:endParaRPr>
          </a:p>
        </p:txBody>
      </p:sp>
    </p:spTree>
    <p:extLst>
      <p:ext uri="{BB962C8B-B14F-4D97-AF65-F5344CB8AC3E}">
        <p14:creationId xmlns:p14="http://schemas.microsoft.com/office/powerpoint/2010/main" val="127052067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Exhibit 4-4</a:t>
            </a:r>
            <a:br>
              <a:rPr lang="en-US" dirty="0"/>
            </a:br>
            <a:r>
              <a:rPr lang="en-US" dirty="0"/>
              <a:t>How Organizations Go Global</a:t>
            </a:r>
          </a:p>
        </p:txBody>
      </p:sp>
      <p:pic>
        <p:nvPicPr>
          <p:cNvPr id="6" name="Picture 2" descr="Organizations go global with global investment from minimal to significant in following ways: &#10;• Global Sourcing&#10;• Exporting and Importing&#10;• Licensing&#10;• Franchising&#10;• Strategic Alliance – Joint Venture&#10;• Foreign Subsidiary."/>
          <p:cNvPicPr>
            <a:picLocks noChangeAspect="1" noChangeArrowheads="1"/>
          </p:cNvPicPr>
          <p:nvPr/>
        </p:nvPicPr>
        <p:blipFill>
          <a:blip r:embed="rId3" cstate="print"/>
          <a:srcRect/>
          <a:stretch>
            <a:fillRect/>
          </a:stretch>
        </p:blipFill>
        <p:spPr bwMode="auto">
          <a:xfrm>
            <a:off x="409311" y="1331871"/>
            <a:ext cx="8325377" cy="4422859"/>
          </a:xfrm>
          <a:prstGeom prst="rect">
            <a:avLst/>
          </a:prstGeom>
          <a:noFill/>
          <a:ln w="9525">
            <a:noFill/>
            <a:miter lim="800000"/>
            <a:headEnd/>
            <a:tailEnd/>
          </a:ln>
        </p:spPr>
      </p:pic>
      <p:sp>
        <p:nvSpPr>
          <p:cNvPr id="3" name="Text Placeholder 2"/>
          <p:cNvSpPr>
            <a:spLocks noGrp="1"/>
          </p:cNvSpPr>
          <p:nvPr>
            <p:ph type="body" sz="quarter" idx="13"/>
          </p:nvPr>
        </p:nvSpPr>
        <p:spPr/>
        <p:txBody>
          <a:bodyPr/>
          <a:lstStyle/>
          <a:p>
            <a:r>
              <a:rPr lang="en-US" sz="1600" dirty="0"/>
              <a:t>Exhibit 4-4 shows the different approaches companies can use to go global.</a:t>
            </a:r>
          </a:p>
        </p:txBody>
      </p:sp>
    </p:spTree>
    <p:extLst>
      <p:ext uri="{BB962C8B-B14F-4D97-AF65-F5344CB8AC3E}">
        <p14:creationId xmlns:p14="http://schemas.microsoft.com/office/powerpoint/2010/main" val="87633902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Approaches To Go Global </a:t>
            </a:r>
            <a:r>
              <a:rPr lang="en-US" baseline="-25000" dirty="0"/>
              <a:t>(1/3) </a:t>
            </a:r>
            <a:endParaRPr lang="en-US" sz="1800" b="0" baseline="-25000" dirty="0"/>
          </a:p>
        </p:txBody>
      </p:sp>
      <p:sp>
        <p:nvSpPr>
          <p:cNvPr id="3" name="Content Placeholder 2"/>
          <p:cNvSpPr>
            <a:spLocks noGrp="1"/>
          </p:cNvSpPr>
          <p:nvPr>
            <p:ph idx="1"/>
          </p:nvPr>
        </p:nvSpPr>
        <p:spPr/>
        <p:txBody>
          <a:bodyPr/>
          <a:lstStyle/>
          <a:p>
            <a:pPr>
              <a:buFont typeface="Arial"/>
              <a:buChar char="•"/>
            </a:pPr>
            <a:r>
              <a:rPr lang="en-US" sz="2800" b="1" dirty="0">
                <a:latin typeface="Arial" pitchFamily="34" charset="0"/>
                <a:cs typeface="Arial" pitchFamily="34" charset="0"/>
              </a:rPr>
              <a:t>Global sourcing</a:t>
            </a:r>
            <a:r>
              <a:rPr lang="en-US" sz="2800" dirty="0">
                <a:latin typeface="Arial" pitchFamily="34" charset="0"/>
                <a:cs typeface="Arial" pitchFamily="34" charset="0"/>
              </a:rPr>
              <a:t>: </a:t>
            </a:r>
            <a:r>
              <a:rPr lang="en-US" sz="2800" dirty="0"/>
              <a:t>purchasing materials or labor from around the world wherever it is cheapest</a:t>
            </a:r>
          </a:p>
          <a:p>
            <a:r>
              <a:rPr lang="en-US" sz="2800" b="1" dirty="0"/>
              <a:t>Exporting</a:t>
            </a:r>
            <a:r>
              <a:rPr lang="en-US" sz="2800" dirty="0"/>
              <a:t>: making products domestically and selling them abroad. Example, Boing manufacturers </a:t>
            </a:r>
          </a:p>
          <a:p>
            <a:pPr marL="256032" lvl="1" indent="-256032">
              <a:spcBef>
                <a:spcPts val="1500"/>
              </a:spcBef>
              <a:buSzPct val="100000"/>
              <a:buFont typeface="Arial" panose="020B0604020202020204" pitchFamily="34" charset="0"/>
              <a:buChar char="•"/>
            </a:pPr>
            <a:r>
              <a:rPr lang="en-US" sz="2800" b="1" dirty="0"/>
              <a:t>Importing</a:t>
            </a:r>
            <a:r>
              <a:rPr lang="en-US" sz="2800" dirty="0"/>
              <a:t>: acquiring products made abroad and selling them domestically. Example, Walmart </a:t>
            </a:r>
          </a:p>
          <a:p>
            <a:pPr>
              <a:buFont typeface="Arial"/>
              <a:buChar char="•"/>
            </a:pPr>
            <a:endParaRPr lang="en-US" sz="2800" dirty="0"/>
          </a:p>
        </p:txBody>
      </p:sp>
    </p:spTree>
    <p:extLst>
      <p:ext uri="{BB962C8B-B14F-4D97-AF65-F5344CB8AC3E}">
        <p14:creationId xmlns:p14="http://schemas.microsoft.com/office/powerpoint/2010/main" val="299250448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E0EA40-1DD4-8984-A96A-166C866AB8D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0BA8BC2-60D4-BFAD-9CBA-32668FFEC693}"/>
              </a:ext>
            </a:extLst>
          </p:cNvPr>
          <p:cNvSpPr>
            <a:spLocks noGrp="1"/>
          </p:cNvSpPr>
          <p:nvPr>
            <p:ph type="title"/>
          </p:nvPr>
        </p:nvSpPr>
        <p:spPr/>
        <p:txBody>
          <a:bodyPr/>
          <a:lstStyle/>
          <a:p>
            <a:r>
              <a:rPr lang="en-US" dirty="0"/>
              <a:t>Approaches To Go Global </a:t>
            </a:r>
            <a:r>
              <a:rPr lang="en-US" baseline="-25000" dirty="0"/>
              <a:t>(2/3)</a:t>
            </a:r>
            <a:r>
              <a:rPr lang="en-US" dirty="0"/>
              <a:t> </a:t>
            </a:r>
            <a:endParaRPr lang="en-US" sz="1800" b="0" dirty="0"/>
          </a:p>
        </p:txBody>
      </p:sp>
      <p:sp>
        <p:nvSpPr>
          <p:cNvPr id="3" name="Content Placeholder 2">
            <a:extLst>
              <a:ext uri="{FF2B5EF4-FFF2-40B4-BE49-F238E27FC236}">
                <a16:creationId xmlns:a16="http://schemas.microsoft.com/office/drawing/2014/main" id="{5AC69CE0-EC47-BFD2-7217-C66D91DF6DF5}"/>
              </a:ext>
            </a:extLst>
          </p:cNvPr>
          <p:cNvSpPr>
            <a:spLocks noGrp="1"/>
          </p:cNvSpPr>
          <p:nvPr>
            <p:ph idx="1"/>
          </p:nvPr>
        </p:nvSpPr>
        <p:spPr/>
        <p:txBody>
          <a:bodyPr/>
          <a:lstStyle/>
          <a:p>
            <a:r>
              <a:rPr lang="en-US" sz="2800" b="1" dirty="0"/>
              <a:t>Licensing</a:t>
            </a:r>
            <a:r>
              <a:rPr lang="en-US" sz="2800" dirty="0"/>
              <a:t>: an organization gives another organization the right to use the company’s brand name and make or sell its products using its technology or product specifications. </a:t>
            </a:r>
          </a:p>
          <a:p>
            <a:r>
              <a:rPr lang="en-US" sz="2800" b="1" dirty="0"/>
              <a:t>Franchising</a:t>
            </a:r>
            <a:r>
              <a:rPr lang="en-US" sz="2800" dirty="0"/>
              <a:t>: an organization gives another organization the right to use its name and operating methods. </a:t>
            </a:r>
          </a:p>
        </p:txBody>
      </p:sp>
    </p:spTree>
    <p:extLst>
      <p:ext uri="{BB962C8B-B14F-4D97-AF65-F5344CB8AC3E}">
        <p14:creationId xmlns:p14="http://schemas.microsoft.com/office/powerpoint/2010/main" val="185790816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FAC4C57D-EE36-7721-C8C5-C1711CD324C9}"/>
              </a:ext>
            </a:extLst>
          </p:cNvPr>
          <p:cNvPicPr>
            <a:picLocks noChangeAspect="1"/>
          </p:cNvPicPr>
          <p:nvPr/>
        </p:nvPicPr>
        <p:blipFill>
          <a:blip r:embed="rId2"/>
          <a:stretch>
            <a:fillRect/>
          </a:stretch>
        </p:blipFill>
        <p:spPr>
          <a:xfrm>
            <a:off x="228600" y="381000"/>
            <a:ext cx="8610600" cy="5677257"/>
          </a:xfrm>
          <a:prstGeom prst="rect">
            <a:avLst/>
          </a:prstGeom>
        </p:spPr>
      </p:pic>
    </p:spTree>
    <p:extLst>
      <p:ext uri="{BB962C8B-B14F-4D97-AF65-F5344CB8AC3E}">
        <p14:creationId xmlns:p14="http://schemas.microsoft.com/office/powerpoint/2010/main" val="15329851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84F59B-53F0-306F-D5B1-6E71DE2501B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FC60D9F-F8AC-D58B-64F8-09821D458254}"/>
              </a:ext>
            </a:extLst>
          </p:cNvPr>
          <p:cNvSpPr>
            <a:spLocks noGrp="1"/>
          </p:cNvSpPr>
          <p:nvPr>
            <p:ph type="title"/>
          </p:nvPr>
        </p:nvSpPr>
        <p:spPr/>
        <p:txBody>
          <a:bodyPr/>
          <a:lstStyle/>
          <a:p>
            <a:r>
              <a:rPr lang="en-US" dirty="0"/>
              <a:t>Approaches To Go Global </a:t>
            </a:r>
            <a:r>
              <a:rPr lang="en-US" baseline="-25000" dirty="0"/>
              <a:t>(3/3)</a:t>
            </a:r>
            <a:r>
              <a:rPr lang="en-US" dirty="0"/>
              <a:t> </a:t>
            </a:r>
            <a:endParaRPr lang="en-US" sz="1800" b="0" dirty="0"/>
          </a:p>
        </p:txBody>
      </p:sp>
      <p:sp>
        <p:nvSpPr>
          <p:cNvPr id="3" name="Content Placeholder 2">
            <a:extLst>
              <a:ext uri="{FF2B5EF4-FFF2-40B4-BE49-F238E27FC236}">
                <a16:creationId xmlns:a16="http://schemas.microsoft.com/office/drawing/2014/main" id="{CACBE4D4-6FD9-F0ED-C71D-ADFEE27D8B28}"/>
              </a:ext>
            </a:extLst>
          </p:cNvPr>
          <p:cNvSpPr>
            <a:spLocks noGrp="1"/>
          </p:cNvSpPr>
          <p:nvPr>
            <p:ph idx="1"/>
          </p:nvPr>
        </p:nvSpPr>
        <p:spPr/>
        <p:txBody>
          <a:bodyPr/>
          <a:lstStyle/>
          <a:p>
            <a:r>
              <a:rPr lang="en-US" sz="2000" b="1" dirty="0"/>
              <a:t>Global Strategic Alliance</a:t>
            </a:r>
            <a:r>
              <a:rPr lang="en-US" sz="2000" dirty="0"/>
              <a:t>: partnership between an organization and foreign company partner(s) in which both share resources and knowledge in developing new products or building production facilities. Example, </a:t>
            </a:r>
            <a:r>
              <a:rPr lang="en-US" sz="2000" b="1" dirty="0"/>
              <a:t>Starbucks and PepsiCo </a:t>
            </a:r>
            <a:r>
              <a:rPr lang="en-US" sz="2000" dirty="0"/>
              <a:t>collaborated to sell bottled Frappuccino </a:t>
            </a:r>
          </a:p>
          <a:p>
            <a:pPr marL="256032" lvl="1" indent="-256032">
              <a:spcBef>
                <a:spcPts val="1500"/>
              </a:spcBef>
              <a:buSzPct val="100000"/>
              <a:buFont typeface="Arial" panose="020B0604020202020204" pitchFamily="34" charset="0"/>
              <a:buChar char="•"/>
            </a:pPr>
            <a:r>
              <a:rPr lang="en-US" sz="2000" b="1" dirty="0"/>
              <a:t>Joint Venture</a:t>
            </a:r>
            <a:r>
              <a:rPr lang="en-US" sz="2000" dirty="0"/>
              <a:t>: A specific type of strategic alliance in which the partners agree to form a separate, independent organization for some business purpose. Example, </a:t>
            </a:r>
            <a:r>
              <a:rPr lang="en-US" sz="2000" b="1" dirty="0"/>
              <a:t>Sony Honda Mobility </a:t>
            </a:r>
          </a:p>
          <a:p>
            <a:pPr marL="256032" lvl="1" indent="-256032">
              <a:spcBef>
                <a:spcPts val="1500"/>
              </a:spcBef>
              <a:buSzPct val="100000"/>
              <a:buFont typeface="Arial" panose="020B0604020202020204" pitchFamily="34" charset="0"/>
              <a:buChar char="•"/>
            </a:pPr>
            <a:r>
              <a:rPr lang="en-US" sz="2000" b="1" dirty="0"/>
              <a:t>Foreign Subsidiary</a:t>
            </a:r>
            <a:r>
              <a:rPr lang="en-US" sz="2000" dirty="0"/>
              <a:t>: directly investing in a foreign country by setting up a separate and independent production facility or office</a:t>
            </a:r>
          </a:p>
          <a:p>
            <a:pPr marL="256032" lvl="1" indent="-256032">
              <a:spcBef>
                <a:spcPts val="1500"/>
              </a:spcBef>
              <a:buSzPct val="100000"/>
              <a:buFont typeface="Arial" panose="020B0604020202020204" pitchFamily="34" charset="0"/>
              <a:buChar char="•"/>
            </a:pPr>
            <a:endParaRPr lang="en-US" sz="2000" dirty="0"/>
          </a:p>
          <a:p>
            <a:pPr>
              <a:buFont typeface="Arial"/>
              <a:buChar char="•"/>
            </a:pPr>
            <a:endParaRPr lang="en-US" sz="2000" dirty="0"/>
          </a:p>
        </p:txBody>
      </p:sp>
    </p:spTree>
    <p:extLst>
      <p:ext uri="{BB962C8B-B14F-4D97-AF65-F5344CB8AC3E}">
        <p14:creationId xmlns:p14="http://schemas.microsoft.com/office/powerpoint/2010/main" val="274249586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Structures To Go International </a:t>
            </a:r>
            <a:endParaRPr lang="en-US" sz="1800" b="0" dirty="0"/>
          </a:p>
        </p:txBody>
      </p:sp>
      <p:sp>
        <p:nvSpPr>
          <p:cNvPr id="3" name="Content Placeholder 2"/>
          <p:cNvSpPr>
            <a:spLocks noGrp="1"/>
          </p:cNvSpPr>
          <p:nvPr>
            <p:ph idx="1"/>
          </p:nvPr>
        </p:nvSpPr>
        <p:spPr/>
        <p:txBody>
          <a:bodyPr/>
          <a:lstStyle/>
          <a:p>
            <a:r>
              <a:rPr lang="en-US" sz="2400" dirty="0">
                <a:cs typeface="Arial"/>
              </a:rPr>
              <a:t>A multinational corporation (MNC)—an international company that maintains operations in multiple countries.</a:t>
            </a:r>
            <a:endParaRPr lang="en-US" sz="3200" dirty="0"/>
          </a:p>
          <a:p>
            <a:r>
              <a:rPr lang="en-US" sz="2400" dirty="0">
                <a:cs typeface="Arial"/>
              </a:rPr>
              <a:t>A multidomestic organization (IMF)—an MNC that decentralizes management and other decisions to the local country.</a:t>
            </a:r>
            <a:endParaRPr lang="en-US" sz="3200" dirty="0"/>
          </a:p>
          <a:p>
            <a:r>
              <a:rPr lang="en-US" sz="2400" dirty="0">
                <a:cs typeface="Arial"/>
              </a:rPr>
              <a:t>A global organization—an MNC that centralizes management and other decisions in the home country.</a:t>
            </a:r>
            <a:endParaRPr lang="en-US" sz="3200" dirty="0"/>
          </a:p>
          <a:p>
            <a:r>
              <a:rPr lang="en-US" sz="2400" dirty="0">
                <a:cs typeface="Arial"/>
              </a:rPr>
              <a:t>A transnational or borderless organization—an MNC that has eliminated artificial geographical barriers.</a:t>
            </a:r>
            <a:endParaRPr lang="en-US" sz="3200" dirty="0"/>
          </a:p>
        </p:txBody>
      </p:sp>
    </p:spTree>
    <p:extLst>
      <p:ext uri="{BB962C8B-B14F-4D97-AF65-F5344CB8AC3E}">
        <p14:creationId xmlns:p14="http://schemas.microsoft.com/office/powerpoint/2010/main" val="246407775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15372"/>
            <a:ext cx="8229600" cy="622828"/>
          </a:xfrm>
        </p:spPr>
        <p:txBody>
          <a:bodyPr/>
          <a:lstStyle/>
          <a:p>
            <a:r>
              <a:rPr lang="en-US" dirty="0"/>
              <a:t>Managing in a Global Environment</a:t>
            </a:r>
            <a:endParaRPr lang="en-US" sz="1800" b="0" dirty="0"/>
          </a:p>
        </p:txBody>
      </p:sp>
      <p:sp>
        <p:nvSpPr>
          <p:cNvPr id="3" name="Content Placeholder 2"/>
          <p:cNvSpPr>
            <a:spLocks noGrp="1"/>
          </p:cNvSpPr>
          <p:nvPr>
            <p:ph idx="1"/>
          </p:nvPr>
        </p:nvSpPr>
        <p:spPr>
          <a:xfrm>
            <a:off x="457200" y="1397700"/>
            <a:ext cx="8229600" cy="4850700"/>
          </a:xfrm>
        </p:spPr>
        <p:txBody>
          <a:bodyPr/>
          <a:lstStyle/>
          <a:p>
            <a:r>
              <a:rPr lang="en-US" sz="2400" dirty="0">
                <a:cs typeface="Arial"/>
              </a:rPr>
              <a:t>The laws and political stability of a country are issues in the global </a:t>
            </a:r>
            <a:r>
              <a:rPr lang="en-US" sz="2400" b="1" dirty="0">
                <a:cs typeface="Arial"/>
              </a:rPr>
              <a:t>political/legal environment </a:t>
            </a:r>
            <a:r>
              <a:rPr lang="en-US" sz="2400" dirty="0">
                <a:cs typeface="Arial"/>
              </a:rPr>
              <a:t>with which managers must be familiar</a:t>
            </a:r>
            <a:endParaRPr lang="en-US" sz="2400" dirty="0"/>
          </a:p>
          <a:p>
            <a:r>
              <a:rPr lang="en-US" sz="2400" dirty="0">
                <a:cs typeface="Arial"/>
              </a:rPr>
              <a:t>Managers must be aware of a country’s </a:t>
            </a:r>
            <a:r>
              <a:rPr lang="en-US" sz="2400" b="1" dirty="0">
                <a:cs typeface="Arial"/>
              </a:rPr>
              <a:t>economic issues</a:t>
            </a:r>
            <a:r>
              <a:rPr lang="en-US" sz="2400" dirty="0">
                <a:cs typeface="Arial"/>
              </a:rPr>
              <a:t> such as currency exchange rates, inflation rates, and tax policies.</a:t>
            </a:r>
          </a:p>
          <a:p>
            <a:r>
              <a:rPr lang="en-US" sz="2400" dirty="0">
                <a:cs typeface="Arial"/>
              </a:rPr>
              <a:t>Geert Hofstede identified five dimensions for assessing a country’s </a:t>
            </a:r>
            <a:r>
              <a:rPr lang="en-US" sz="2400" b="1" dirty="0">
                <a:cs typeface="Arial"/>
              </a:rPr>
              <a:t>culture</a:t>
            </a:r>
            <a:r>
              <a:rPr lang="en-US" sz="2400" dirty="0">
                <a:cs typeface="Arial"/>
              </a:rPr>
              <a:t>: individualism-collectivism, power distance, uncertainty avoidance, achievement-nurturing, and long-term/short-term orientation.</a:t>
            </a:r>
            <a:endParaRPr lang="en-US" sz="2400" dirty="0"/>
          </a:p>
        </p:txBody>
      </p:sp>
    </p:spTree>
    <p:extLst>
      <p:ext uri="{BB962C8B-B14F-4D97-AF65-F5344CB8AC3E}">
        <p14:creationId xmlns:p14="http://schemas.microsoft.com/office/powerpoint/2010/main" val="271510513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800" dirty="0"/>
              <a:t>Exhibit 4-6</a:t>
            </a:r>
            <a:br>
              <a:rPr lang="en-US" sz="2800" dirty="0"/>
            </a:br>
            <a:r>
              <a:rPr lang="en-US" sz="2800" dirty="0" err="1"/>
              <a:t>Hofstede’s</a:t>
            </a:r>
            <a:r>
              <a:rPr lang="en-US" sz="2800" dirty="0"/>
              <a:t> Five Dimensions of National Culture</a:t>
            </a:r>
          </a:p>
        </p:txBody>
      </p:sp>
      <p:pic>
        <p:nvPicPr>
          <p:cNvPr id="7" name="Content Placeholder 5" descr="The Hofstede’s Five Dimensions of National Culture are as follows:&#10;• Dimension 1, has Individualistic- in which people look after their own and family interests, seen in United States, Canada and Australia and Collectivistic- in which people expect the group to look after and protect them, seen in Mexico and Thailand. Japan has both.&#10;• Dimension 2, has High power distance- accepts wide differences in power; great deal of respect for those in authority, seen in Mexico, Singapore and France and Low power distance- plays down inequalities: employees are not afraid to approach nor are in awe of boss, seen in United States and  Sweden. Italy and Japan have both.&#10;• Dimension 3, has High uncertainty avoidance-  threatened with ambiguity and experience high levels of anxiety, seen in  Italy, Mexico and France and Low uncertainty avoidance-  comfortable with risks; tolerant of different behavior and opinions, seen in  Canada, United States and Singapore. United Kingdom has both.&#10;• Dimension 4, has Achievement- values such as assertiveness, acquiring money and goods, and competition prevail, seen in United States, Japan and Mexico and Nurturing- values such as relationships and concern for others prevail, seen in France and Sweden. Canada and Greece has both.&#10;• Dimension 5, has Long-term orientation- people look to the future and value thrift and persistence, seen in Germany, Australia, United States, Canada and Short- term orientation- people value tradition and the past, seen in China, Taiwan and Japan."/>
          <p:cNvPicPr>
            <a:picLocks noChangeAspect="1" noChangeArrowheads="1"/>
          </p:cNvPicPr>
          <p:nvPr/>
        </p:nvPicPr>
        <p:blipFill>
          <a:blip r:embed="rId3" cstate="print"/>
          <a:srcRect/>
          <a:stretch>
            <a:fillRect/>
          </a:stretch>
        </p:blipFill>
        <p:spPr bwMode="auto">
          <a:xfrm>
            <a:off x="2446557" y="1309522"/>
            <a:ext cx="4250886" cy="4616935"/>
          </a:xfrm>
          <a:prstGeom prst="rect">
            <a:avLst/>
          </a:prstGeom>
          <a:noFill/>
          <a:ln w="9525">
            <a:noFill/>
            <a:miter lim="800000"/>
            <a:headEnd/>
            <a:tailEnd/>
          </a:ln>
        </p:spPr>
      </p:pic>
      <p:sp>
        <p:nvSpPr>
          <p:cNvPr id="3" name="Text Placeholder 2"/>
          <p:cNvSpPr>
            <a:spLocks noGrp="1"/>
          </p:cNvSpPr>
          <p:nvPr>
            <p:ph type="body" sz="quarter" idx="13"/>
          </p:nvPr>
        </p:nvSpPr>
        <p:spPr/>
        <p:txBody>
          <a:bodyPr/>
          <a:lstStyle/>
          <a:p>
            <a:r>
              <a:rPr lang="en-US" sz="1600" dirty="0"/>
              <a:t>Exhibit 4-6 shows Hofstede’s Five Dimensions of National Culture.</a:t>
            </a:r>
          </a:p>
        </p:txBody>
      </p:sp>
    </p:spTree>
    <p:extLst>
      <p:ext uri="{BB962C8B-B14F-4D97-AF65-F5344CB8AC3E}">
        <p14:creationId xmlns:p14="http://schemas.microsoft.com/office/powerpoint/2010/main" val="64552477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5AC7F5-990E-68D4-4407-DEACF48D1C61}"/>
              </a:ext>
            </a:extLst>
          </p:cNvPr>
          <p:cNvSpPr>
            <a:spLocks noGrp="1"/>
          </p:cNvSpPr>
          <p:nvPr>
            <p:ph type="title"/>
          </p:nvPr>
        </p:nvSpPr>
        <p:spPr/>
        <p:txBody>
          <a:bodyPr/>
          <a:lstStyle/>
          <a:p>
            <a:r>
              <a:rPr lang="en-US" dirty="0"/>
              <a:t>Where India lies? </a:t>
            </a:r>
          </a:p>
        </p:txBody>
      </p:sp>
      <p:sp>
        <p:nvSpPr>
          <p:cNvPr id="3" name="Content Placeholder 2">
            <a:extLst>
              <a:ext uri="{FF2B5EF4-FFF2-40B4-BE49-F238E27FC236}">
                <a16:creationId xmlns:a16="http://schemas.microsoft.com/office/drawing/2014/main" id="{ABFCACB3-0187-79AE-3225-1871E6486671}"/>
              </a:ext>
            </a:extLst>
          </p:cNvPr>
          <p:cNvSpPr>
            <a:spLocks noGrp="1"/>
          </p:cNvSpPr>
          <p:nvPr>
            <p:ph idx="1"/>
          </p:nvPr>
        </p:nvSpPr>
        <p:spPr/>
        <p:txBody>
          <a:bodyPr/>
          <a:lstStyle/>
          <a:p>
            <a:r>
              <a:rPr lang="en-IN" sz="2400" dirty="0"/>
              <a:t>1. High Power Distance</a:t>
            </a:r>
          </a:p>
          <a:p>
            <a:r>
              <a:rPr lang="en-IN" sz="2400" dirty="0"/>
              <a:t>2. Moderately Collectivistic (with Individualistic Traits)</a:t>
            </a:r>
          </a:p>
          <a:p>
            <a:r>
              <a:rPr lang="en-IN" sz="2400" dirty="0"/>
              <a:t>3. Low to Medium Uncertainty Avoidance</a:t>
            </a:r>
          </a:p>
          <a:p>
            <a:r>
              <a:rPr lang="en-IN" sz="2400" dirty="0"/>
              <a:t>4. Moderately High Achievement-Oriented (Masculine)</a:t>
            </a:r>
          </a:p>
          <a:p>
            <a:r>
              <a:rPr lang="en-IN" sz="2400" dirty="0"/>
              <a:t>5. Long-Term Orientation</a:t>
            </a:r>
            <a:endParaRPr lang="en-US" sz="2400" dirty="0"/>
          </a:p>
        </p:txBody>
      </p:sp>
    </p:spTree>
    <p:extLst>
      <p:ext uri="{BB962C8B-B14F-4D97-AF65-F5344CB8AC3E}">
        <p14:creationId xmlns:p14="http://schemas.microsoft.com/office/powerpoint/2010/main" val="218505996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Global Leadership and Organizational Behavior Effectiveness (GLOBE)</a:t>
            </a:r>
          </a:p>
        </p:txBody>
      </p:sp>
      <p:sp>
        <p:nvSpPr>
          <p:cNvPr id="3" name="Content Placeholder 2"/>
          <p:cNvSpPr>
            <a:spLocks noGrp="1"/>
          </p:cNvSpPr>
          <p:nvPr>
            <p:ph idx="1"/>
          </p:nvPr>
        </p:nvSpPr>
        <p:spPr/>
        <p:txBody>
          <a:bodyPr/>
          <a:lstStyle/>
          <a:p>
            <a:pPr>
              <a:spcBef>
                <a:spcPts val="1200"/>
              </a:spcBef>
            </a:pPr>
            <a:r>
              <a:rPr lang="en-US" sz="2000" dirty="0">
                <a:cs typeface="Arial"/>
              </a:rPr>
              <a:t>The GLOBE studies identified nine dimensions for assessing country cultures.</a:t>
            </a:r>
            <a:endParaRPr lang="en-US" sz="2000" dirty="0"/>
          </a:p>
          <a:p>
            <a:pPr>
              <a:spcBef>
                <a:spcPts val="1200"/>
              </a:spcBef>
            </a:pPr>
            <a:r>
              <a:rPr lang="en-US" sz="2000" dirty="0"/>
              <a:t>Power distance</a:t>
            </a:r>
          </a:p>
          <a:p>
            <a:pPr>
              <a:spcBef>
                <a:spcPts val="1200"/>
              </a:spcBef>
            </a:pPr>
            <a:r>
              <a:rPr lang="en-US" sz="2000" dirty="0"/>
              <a:t>Uncertainty avoidance</a:t>
            </a:r>
          </a:p>
          <a:p>
            <a:pPr>
              <a:spcBef>
                <a:spcPts val="1200"/>
              </a:spcBef>
            </a:pPr>
            <a:r>
              <a:rPr lang="en-US" sz="2000" dirty="0"/>
              <a:t> Assertiveness</a:t>
            </a:r>
          </a:p>
          <a:p>
            <a:pPr>
              <a:spcBef>
                <a:spcPts val="1200"/>
              </a:spcBef>
            </a:pPr>
            <a:r>
              <a:rPr lang="en-US" sz="2000" dirty="0"/>
              <a:t>Humane orientation</a:t>
            </a:r>
          </a:p>
          <a:p>
            <a:pPr>
              <a:spcBef>
                <a:spcPts val="1200"/>
              </a:spcBef>
            </a:pPr>
            <a:r>
              <a:rPr lang="en-US" sz="2000" dirty="0"/>
              <a:t>Future orientation</a:t>
            </a:r>
          </a:p>
          <a:p>
            <a:pPr>
              <a:spcBef>
                <a:spcPts val="1200"/>
              </a:spcBef>
            </a:pPr>
            <a:r>
              <a:rPr lang="en-US" sz="2000" dirty="0"/>
              <a:t>Institutional collectivism</a:t>
            </a:r>
          </a:p>
          <a:p>
            <a:pPr>
              <a:spcBef>
                <a:spcPts val="1200"/>
              </a:spcBef>
            </a:pPr>
            <a:r>
              <a:rPr lang="en-US" sz="2000" dirty="0"/>
              <a:t>Gender differentiation</a:t>
            </a:r>
          </a:p>
          <a:p>
            <a:pPr>
              <a:spcBef>
                <a:spcPts val="1200"/>
              </a:spcBef>
            </a:pPr>
            <a:r>
              <a:rPr lang="en-US" sz="2000" dirty="0"/>
              <a:t>In-group collectivism</a:t>
            </a:r>
          </a:p>
          <a:p>
            <a:pPr>
              <a:spcBef>
                <a:spcPts val="1200"/>
              </a:spcBef>
            </a:pPr>
            <a:r>
              <a:rPr lang="en-US" sz="2000" dirty="0"/>
              <a:t>Performance orientation</a:t>
            </a:r>
            <a:endParaRPr lang="en-US" sz="2400" dirty="0"/>
          </a:p>
        </p:txBody>
      </p:sp>
    </p:spTree>
    <p:extLst>
      <p:ext uri="{BB962C8B-B14F-4D97-AF65-F5344CB8AC3E}">
        <p14:creationId xmlns:p14="http://schemas.microsoft.com/office/powerpoint/2010/main" val="31410708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dirty="0"/>
              <a:t>Global Management in Today’s World</a:t>
            </a:r>
            <a:endParaRPr lang="en-US" sz="1800" b="0" dirty="0"/>
          </a:p>
        </p:txBody>
      </p:sp>
      <p:sp>
        <p:nvSpPr>
          <p:cNvPr id="3" name="Content Placeholder 2"/>
          <p:cNvSpPr>
            <a:spLocks noGrp="1"/>
          </p:cNvSpPr>
          <p:nvPr>
            <p:ph idx="1"/>
          </p:nvPr>
        </p:nvSpPr>
        <p:spPr/>
        <p:txBody>
          <a:bodyPr/>
          <a:lstStyle/>
          <a:p>
            <a:pPr eaLnBrk="0" hangingPunct="0">
              <a:spcBef>
                <a:spcPct val="20000"/>
              </a:spcBef>
            </a:pPr>
            <a:r>
              <a:rPr lang="en-US" sz="2800" b="1" dirty="0">
                <a:cs typeface="Gill Sans MT"/>
              </a:rPr>
              <a:t>Cultural Intelligence</a:t>
            </a:r>
            <a:r>
              <a:rPr lang="en-US" sz="2800" dirty="0">
                <a:cs typeface="Gill Sans MT"/>
              </a:rPr>
              <a:t>: cultural awareness and sensitivity skills</a:t>
            </a:r>
          </a:p>
          <a:p>
            <a:pPr eaLnBrk="0" hangingPunct="0">
              <a:spcBef>
                <a:spcPct val="20000"/>
              </a:spcBef>
            </a:pPr>
            <a:r>
              <a:rPr lang="en-US" sz="2800" b="1" dirty="0">
                <a:cs typeface="Gill Sans MT"/>
              </a:rPr>
              <a:t>Global Mind-Set: </a:t>
            </a:r>
            <a:r>
              <a:rPr lang="en-US" sz="2800" dirty="0">
                <a:cs typeface="Gill Sans MT"/>
              </a:rPr>
              <a:t>attributes that allow a leader to be effective in cross-cultural environments</a:t>
            </a:r>
            <a:endParaRPr lang="en-US" sz="2800" dirty="0"/>
          </a:p>
        </p:txBody>
      </p:sp>
    </p:spTree>
    <p:extLst>
      <p:ext uri="{BB962C8B-B14F-4D97-AF65-F5344CB8AC3E}">
        <p14:creationId xmlns:p14="http://schemas.microsoft.com/office/powerpoint/2010/main" val="88295073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Exhibit 4-7</a:t>
            </a:r>
            <a:br>
              <a:rPr lang="en-US" dirty="0"/>
            </a:br>
            <a:r>
              <a:rPr lang="en-US" dirty="0"/>
              <a:t>A Global Mind-Set</a:t>
            </a:r>
          </a:p>
        </p:txBody>
      </p:sp>
      <p:graphicFrame>
        <p:nvGraphicFramePr>
          <p:cNvPr id="7" name="Table 6" descr="Headers: Rewards, Challenges"/>
          <p:cNvGraphicFramePr>
            <a:graphicFrameLocks noGrp="1"/>
          </p:cNvGraphicFramePr>
          <p:nvPr>
            <p:extLst>
              <p:ext uri="{D42A27DB-BD31-4B8C-83A1-F6EECF244321}">
                <p14:modId xmlns:p14="http://schemas.microsoft.com/office/powerpoint/2010/main" val="2430115597"/>
              </p:ext>
            </p:extLst>
          </p:nvPr>
        </p:nvGraphicFramePr>
        <p:xfrm>
          <a:off x="123825" y="1752600"/>
          <a:ext cx="8896350" cy="3144520"/>
        </p:xfrm>
        <a:graphic>
          <a:graphicData uri="http://schemas.openxmlformats.org/drawingml/2006/table">
            <a:tbl>
              <a:tblPr>
                <a:tableStyleId>{3B4B98B0-60AC-42C2-AFA5-B58CD77FA1E5}</a:tableStyleId>
              </a:tblPr>
              <a:tblGrid>
                <a:gridCol w="2343150">
                  <a:extLst>
                    <a:ext uri="{9D8B030D-6E8A-4147-A177-3AD203B41FA5}">
                      <a16:colId xmlns:a16="http://schemas.microsoft.com/office/drawing/2014/main" val="20000"/>
                    </a:ext>
                  </a:extLst>
                </a:gridCol>
                <a:gridCol w="4724400">
                  <a:extLst>
                    <a:ext uri="{9D8B030D-6E8A-4147-A177-3AD203B41FA5}">
                      <a16:colId xmlns:a16="http://schemas.microsoft.com/office/drawing/2014/main" val="20001"/>
                    </a:ext>
                  </a:extLst>
                </a:gridCol>
                <a:gridCol w="1828800">
                  <a:extLst>
                    <a:ext uri="{9D8B030D-6E8A-4147-A177-3AD203B41FA5}">
                      <a16:colId xmlns:a16="http://schemas.microsoft.com/office/drawing/2014/main" val="20002"/>
                    </a:ext>
                  </a:extLst>
                </a:gridCol>
              </a:tblGrid>
              <a:tr h="1087120">
                <a:tc>
                  <a:txBody>
                    <a:bodyPr/>
                    <a:lstStyle/>
                    <a:p>
                      <a:pPr algn="l"/>
                      <a:r>
                        <a:rPr lang="en-US" sz="2000" b="1" kern="1200" dirty="0">
                          <a:solidFill>
                            <a:schemeClr val="tx1"/>
                          </a:solidFill>
                          <a:latin typeface="+mn-lt"/>
                          <a:ea typeface="+mn-ea"/>
                          <a:cs typeface="+mn-cs"/>
                        </a:rPr>
                        <a:t>Intellectual capital:</a:t>
                      </a:r>
                    </a:p>
                  </a:txBody>
                  <a:tcPr>
                    <a:lnL>
                      <a:noFill/>
                    </a:lnL>
                    <a:lnR>
                      <a:noFill/>
                    </a:lnR>
                    <a:lnT w="12700" cap="flat" cmpd="sng" algn="ctr">
                      <a:solidFill>
                        <a:schemeClr val="tx1"/>
                      </a:solidFill>
                      <a:prstDash val="solid"/>
                      <a:round/>
                      <a:headEnd type="none" w="med" len="med"/>
                      <a:tailEnd type="none" w="med" len="med"/>
                    </a:lnT>
                    <a:lnB>
                      <a:noFill/>
                    </a:lnB>
                    <a:lnTlToBr w="12700" cmpd="sng">
                      <a:noFill/>
                      <a:prstDash val="solid"/>
                    </a:lnTlToBr>
                    <a:lnBlToTr w="12700" cmpd="sng">
                      <a:noFill/>
                      <a:prstDash val="solid"/>
                    </a:lnBlToTr>
                  </a:tcPr>
                </a:tc>
                <a:tc>
                  <a:txBody>
                    <a:bodyPr/>
                    <a:lstStyle/>
                    <a:p>
                      <a:r>
                        <a:rPr lang="en-US" sz="2000" b="0" kern="1200" dirty="0">
                          <a:solidFill>
                            <a:schemeClr val="tx1"/>
                          </a:solidFill>
                          <a:latin typeface="+mn-lt"/>
                          <a:ea typeface="+mn-ea"/>
                          <a:cs typeface="+mn-cs"/>
                        </a:rPr>
                        <a:t>Knowledge of international business and the capacity to understand how business works on a global scale</a:t>
                      </a:r>
                    </a:p>
                  </a:txBody>
                  <a:tcPr>
                    <a:lnL>
                      <a:noFill/>
                    </a:lnL>
                    <a:lnR>
                      <a:noFill/>
                    </a:lnR>
                    <a:lnT w="12700" cap="flat" cmpd="sng" algn="ctr">
                      <a:solidFill>
                        <a:schemeClr val="tx1"/>
                      </a:solidFill>
                      <a:prstDash val="solid"/>
                      <a:round/>
                      <a:headEnd type="none" w="med" len="med"/>
                      <a:tailEnd type="none" w="med" len="med"/>
                    </a:lnT>
                    <a:lnB>
                      <a:noFill/>
                    </a:lnB>
                    <a:lnTlToBr w="12700" cmpd="sng">
                      <a:noFill/>
                      <a:prstDash val="solid"/>
                    </a:lnTlToBr>
                    <a:lnBlToTr w="12700" cmpd="sng">
                      <a:noFill/>
                      <a:prstDash val="solid"/>
                    </a:lnBlToTr>
                  </a:tcPr>
                </a:tc>
                <a:tc>
                  <a:txBody>
                    <a:bodyPr/>
                    <a:lstStyle/>
                    <a:p>
                      <a:endParaRPr lang="en-US" sz="2000" b="0" dirty="0"/>
                    </a:p>
                  </a:txBody>
                  <a:tcPr>
                    <a:lnL>
                      <a:noFill/>
                    </a:lnL>
                    <a:lnR>
                      <a:noFill/>
                    </a:lnR>
                    <a:lnT w="12700" cap="flat" cmpd="sng" algn="ctr">
                      <a:solidFill>
                        <a:schemeClr val="tx1"/>
                      </a:solidFill>
                      <a:prstDash val="solid"/>
                      <a:round/>
                      <a:headEnd type="none" w="med" len="med"/>
                      <a:tailEnd type="none" w="med" len="med"/>
                    </a:lnT>
                    <a:lnB>
                      <a:noFill/>
                    </a:lnB>
                    <a:lnTlToBr w="12700" cmpd="sng">
                      <a:noFill/>
                      <a:prstDash val="solid"/>
                    </a:lnTlToBr>
                    <a:lnBlToTr w="12700" cmpd="sng">
                      <a:noFill/>
                      <a:prstDash val="solid"/>
                    </a:lnBlToTr>
                  </a:tcPr>
                </a:tc>
                <a:extLst>
                  <a:ext uri="{0D108BD9-81ED-4DB2-BD59-A6C34878D82A}">
                    <a16:rowId xmlns:a16="http://schemas.microsoft.com/office/drawing/2014/main" val="10000"/>
                  </a:ext>
                </a:extLst>
              </a:tr>
              <a:tr h="979857">
                <a:tc>
                  <a:txBody>
                    <a:bodyPr/>
                    <a:lstStyle/>
                    <a:p>
                      <a:pPr algn="l"/>
                      <a:r>
                        <a:rPr lang="en-US" sz="2000" b="1" kern="1200" dirty="0">
                          <a:solidFill>
                            <a:schemeClr val="tx1"/>
                          </a:solidFill>
                          <a:latin typeface="+mn-lt"/>
                          <a:ea typeface="+mn-ea"/>
                          <a:cs typeface="+mn-cs"/>
                        </a:rPr>
                        <a:t>Psychological capital:</a:t>
                      </a:r>
                    </a:p>
                  </a:txBody>
                  <a:tcPr>
                    <a:lnL>
                      <a:noFill/>
                    </a:lnL>
                    <a:lnR>
                      <a:noFill/>
                    </a:lnR>
                    <a:lnT>
                      <a:noFill/>
                    </a:lnT>
                    <a:lnB>
                      <a:noFill/>
                    </a:lnB>
                    <a:lnTlToBr w="12700" cmpd="sng">
                      <a:noFill/>
                      <a:prstDash val="solid"/>
                    </a:lnTlToBr>
                    <a:lnBlToTr w="12700" cmpd="sng">
                      <a:noFill/>
                      <a:prstDash val="solid"/>
                    </a:lnBlToTr>
                  </a:tcPr>
                </a:tc>
                <a:tc>
                  <a:txBody>
                    <a:bodyPr/>
                    <a:lstStyle/>
                    <a:p>
                      <a:r>
                        <a:rPr lang="en-US" sz="2000" kern="1200" dirty="0">
                          <a:solidFill>
                            <a:schemeClr val="tx1"/>
                          </a:solidFill>
                          <a:latin typeface="+mn-lt"/>
                          <a:ea typeface="+mn-ea"/>
                          <a:cs typeface="+mn-cs"/>
                        </a:rPr>
                        <a:t>Openness to new ideas and experiences</a:t>
                      </a:r>
                    </a:p>
                  </a:txBody>
                  <a:tcPr>
                    <a:lnL>
                      <a:noFill/>
                    </a:lnL>
                    <a:lnR>
                      <a:noFill/>
                    </a:lnR>
                    <a:lnT>
                      <a:noFill/>
                    </a:lnT>
                    <a:lnB>
                      <a:noFill/>
                    </a:lnB>
                    <a:lnTlToBr w="12700" cmpd="sng">
                      <a:noFill/>
                      <a:prstDash val="solid"/>
                    </a:lnTlToBr>
                    <a:lnBlToTr w="12700" cmpd="sng">
                      <a:noFill/>
                      <a:prstDash val="solid"/>
                    </a:lnBlToTr>
                  </a:tcPr>
                </a:tc>
                <a:tc>
                  <a:txBody>
                    <a:bodyPr/>
                    <a:lstStyle/>
                    <a:p>
                      <a:endParaRPr lang="en-US" sz="2000" dirty="0"/>
                    </a:p>
                  </a:txBody>
                  <a:tcPr>
                    <a:lnL>
                      <a:noFill/>
                    </a:lnL>
                    <a:lnR>
                      <a:noFill/>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10001"/>
                  </a:ext>
                </a:extLst>
              </a:tr>
              <a:tr h="1077543">
                <a:tc>
                  <a:txBody>
                    <a:bodyPr/>
                    <a:lstStyle/>
                    <a:p>
                      <a:pPr algn="l"/>
                      <a:r>
                        <a:rPr lang="en-US" sz="2000" b="1" kern="1200" dirty="0">
                          <a:solidFill>
                            <a:schemeClr val="tx1"/>
                          </a:solidFill>
                          <a:latin typeface="+mn-lt"/>
                          <a:ea typeface="+mn-ea"/>
                          <a:cs typeface="+mn-cs"/>
                        </a:rPr>
                        <a:t>Social capital:</a:t>
                      </a:r>
                    </a:p>
                  </a:txBody>
                  <a:tcPr>
                    <a:lnL>
                      <a:noFill/>
                    </a:lnL>
                    <a:lnR>
                      <a:noFill/>
                    </a:lnR>
                    <a:lnT>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2000" kern="1200" dirty="0">
                          <a:solidFill>
                            <a:schemeClr val="tx1"/>
                          </a:solidFill>
                          <a:latin typeface="+mn-lt"/>
                          <a:ea typeface="+mn-ea"/>
                          <a:cs typeface="+mn-cs"/>
                        </a:rPr>
                        <a:t>Ability to form connections and build trusting relationships with people who are different from you</a:t>
                      </a:r>
                    </a:p>
                  </a:txBody>
                  <a:tcPr>
                    <a:lnL>
                      <a:noFill/>
                    </a:lnL>
                    <a:lnR>
                      <a:noFill/>
                    </a:lnR>
                    <a:lnT>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sz="2000" dirty="0"/>
                    </a:p>
                  </a:txBody>
                  <a:tcPr>
                    <a:lnL>
                      <a:noFill/>
                    </a:lnL>
                    <a:lnR>
                      <a:noFill/>
                    </a:lnR>
                    <a:lnT>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2"/>
                  </a:ext>
                </a:extLst>
              </a:tr>
            </a:tbl>
          </a:graphicData>
        </a:graphic>
      </p:graphicFrame>
      <p:pic>
        <p:nvPicPr>
          <p:cNvPr id="8" name="Picture 7" descr="The components are:&#10;• Intellectual capital: knowledge of international business and the capacity to understand how business works on a global scale.&#10;• Psychological capital: openness to new ideas and experiences.&#10;• Social capital: ability to form connections and build trusting relationships with people who are different from you."/>
          <p:cNvPicPr>
            <a:picLocks noChangeAspect="1"/>
          </p:cNvPicPr>
          <p:nvPr/>
        </p:nvPicPr>
        <p:blipFill rotWithShape="1">
          <a:blip r:embed="rId3" cstate="print"/>
          <a:srcRect l="80000" t="9230" r="8125" b="66601"/>
          <a:stretch/>
        </p:blipFill>
        <p:spPr>
          <a:xfrm>
            <a:off x="7610516" y="1800406"/>
            <a:ext cx="1043480" cy="942794"/>
          </a:xfrm>
          <a:prstGeom prst="rect">
            <a:avLst/>
          </a:prstGeom>
        </p:spPr>
      </p:pic>
      <p:pic>
        <p:nvPicPr>
          <p:cNvPr id="9" name="Picture 8" descr="The components are:&#10;• Intellectual capital: knowledge of international business and the capacity to understand how business works on a global scale.&#10;• Psychological capital: openness to new ideas and experiences.&#10;• Social capital: ability to form connections and build trusting relationships with people who are different from you."/>
          <p:cNvPicPr>
            <a:picLocks noChangeAspect="1"/>
          </p:cNvPicPr>
          <p:nvPr/>
        </p:nvPicPr>
        <p:blipFill rotWithShape="1">
          <a:blip r:embed="rId3" cstate="print"/>
          <a:srcRect l="79270" t="35510" r="8542" b="39148"/>
          <a:stretch/>
        </p:blipFill>
        <p:spPr>
          <a:xfrm>
            <a:off x="7632813" y="2830802"/>
            <a:ext cx="998886" cy="922048"/>
          </a:xfrm>
          <a:prstGeom prst="rect">
            <a:avLst/>
          </a:prstGeom>
        </p:spPr>
      </p:pic>
      <p:pic>
        <p:nvPicPr>
          <p:cNvPr id="11" name="Picture 10" descr="The components are:&#10;• Intellectual capital: knowledge of international business and the capacity to understand how business works on a global scale.&#10;• Psychological capital: openness to new ideas and experiences.&#10;• Social capital: ability to form connections and build trusting relationships with people who are different from you."/>
          <p:cNvPicPr>
            <a:picLocks noChangeAspect="1"/>
          </p:cNvPicPr>
          <p:nvPr/>
        </p:nvPicPr>
        <p:blipFill rotWithShape="1">
          <a:blip r:embed="rId3" cstate="print"/>
          <a:srcRect l="79688" t="61792" r="4062" b="5591"/>
          <a:stretch/>
        </p:blipFill>
        <p:spPr>
          <a:xfrm>
            <a:off x="7558663" y="3800475"/>
            <a:ext cx="1147187" cy="1022172"/>
          </a:xfrm>
          <a:prstGeom prst="rect">
            <a:avLst/>
          </a:prstGeom>
        </p:spPr>
      </p:pic>
      <p:sp>
        <p:nvSpPr>
          <p:cNvPr id="3" name="Text Placeholder 2"/>
          <p:cNvSpPr>
            <a:spLocks noGrp="1"/>
          </p:cNvSpPr>
          <p:nvPr>
            <p:ph type="body" sz="quarter" idx="13"/>
          </p:nvPr>
        </p:nvSpPr>
        <p:spPr/>
        <p:txBody>
          <a:bodyPr/>
          <a:lstStyle/>
          <a:p>
            <a:r>
              <a:rPr lang="en-US" sz="1600" dirty="0"/>
              <a:t>Exhibit 4-7 shows components of a global mind-set.</a:t>
            </a:r>
          </a:p>
        </p:txBody>
      </p:sp>
    </p:spTree>
    <p:extLst>
      <p:ext uri="{BB962C8B-B14F-4D97-AF65-F5344CB8AC3E}">
        <p14:creationId xmlns:p14="http://schemas.microsoft.com/office/powerpoint/2010/main" val="1087925592"/>
      </p:ext>
    </p:extLst>
  </p:cSld>
  <p:clrMapOvr>
    <a:masterClrMapping/>
  </p:clrMapOvr>
</p:sld>
</file>

<file path=ppt/theme/theme1.xml><?xml version="1.0" encoding="utf-8"?>
<a:theme xmlns:a="http://schemas.openxmlformats.org/drawingml/2006/main" name="508 Lecture">
  <a:themeElements>
    <a:clrScheme name="Custom 7">
      <a:dk1>
        <a:sysClr val="windowText" lastClr="000000"/>
      </a:dk1>
      <a:lt1>
        <a:sysClr val="window" lastClr="FFFFFF"/>
      </a:lt1>
      <a:dk2>
        <a:srgbClr val="000000"/>
      </a:dk2>
      <a:lt2>
        <a:srgbClr val="007FA3"/>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Classic 2">
      <a:maj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rtlCol="0" anchor="ctr"/>
      <a:lstStyle>
        <a:defPPr algn="ctr">
          <a:defRPr sz="2000" dirty="0" err="1" smtClean="0"/>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none" rtlCol="0">
        <a:spAutoFit/>
      </a:bodyPr>
      <a:lstStyle>
        <a:defPPr>
          <a:defRPr sz="2000" dirty="0" err="1" smtClean="0"/>
        </a:defPPr>
      </a:lstStyle>
    </a:txDef>
  </a:objectDefaults>
  <a:extraClrSchemeLst/>
</a:theme>
</file>

<file path=ppt/theme/theme2.xml><?xml version="1.0" encoding="utf-8"?>
<a:theme xmlns:a="http://schemas.openxmlformats.org/drawingml/2006/main" name="Office Theme">
  <a:themeElements>
    <a:clrScheme name="Pearson 508">
      <a:dk1>
        <a:sysClr val="windowText" lastClr="000000"/>
      </a:dk1>
      <a:lt1>
        <a:sysClr val="window" lastClr="FFFFFF"/>
      </a:lt1>
      <a:dk2>
        <a:srgbClr val="000000"/>
      </a:dk2>
      <a:lt2>
        <a:srgbClr val="EEEEEE"/>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Classic 2">
      <a:maj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Pearson 508">
      <a:dk1>
        <a:sysClr val="windowText" lastClr="000000"/>
      </a:dk1>
      <a:lt1>
        <a:sysClr val="window" lastClr="FFFFFF"/>
      </a:lt1>
      <a:dk2>
        <a:srgbClr val="000000"/>
      </a:dk2>
      <a:lt2>
        <a:srgbClr val="EEEEEE"/>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Classic 2">
      <a:maj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Horizon</Template>
  <TotalTime>17670</TotalTime>
  <Words>2493</Words>
  <Application>Microsoft Macintosh PowerPoint</Application>
  <PresentationFormat>On-screen Show (4:3)</PresentationFormat>
  <Paragraphs>124</Paragraphs>
  <Slides>17</Slides>
  <Notes>14</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17</vt:i4>
      </vt:variant>
    </vt:vector>
  </HeadingPairs>
  <TitlesOfParts>
    <vt:vector size="23" baseType="lpstr">
      <vt:lpstr>Arial</vt:lpstr>
      <vt:lpstr>Gill Sans MT</vt:lpstr>
      <vt:lpstr>Times New Roman</vt:lpstr>
      <vt:lpstr>Verdana</vt:lpstr>
      <vt:lpstr>Wingdings</vt:lpstr>
      <vt:lpstr>508 Lecture</vt:lpstr>
      <vt:lpstr>MS-601 Managing in a Global Environment</vt:lpstr>
      <vt:lpstr>Learning Objectives</vt:lpstr>
      <vt:lpstr>Global Attitudes and Perspectives</vt:lpstr>
      <vt:lpstr>Regional Trading Alliances</vt:lpstr>
      <vt:lpstr>Global Trade Mechanisms</vt:lpstr>
      <vt:lpstr>Exhibit 4-4 How Organizations Go Global</vt:lpstr>
      <vt:lpstr>Approaches To Go Global (1/3) </vt:lpstr>
      <vt:lpstr>Approaches To Go Global (2/3) </vt:lpstr>
      <vt:lpstr>PowerPoint Presentation</vt:lpstr>
      <vt:lpstr>Approaches To Go Global (3/3) </vt:lpstr>
      <vt:lpstr>Structures To Go International </vt:lpstr>
      <vt:lpstr>Managing in a Global Environment</vt:lpstr>
      <vt:lpstr>Exhibit 4-6 Hofstede’s Five Dimensions of National Culture</vt:lpstr>
      <vt:lpstr>Where India lies? </vt:lpstr>
      <vt:lpstr>Global Leadership and Organizational Behavior Effectiveness (GLOBE)</vt:lpstr>
      <vt:lpstr>Global Management in Today’s World</vt:lpstr>
      <vt:lpstr>Exhibit 4-7 A Global Mind-Set</vt:lpstr>
    </vt:vector>
  </TitlesOfParts>
  <Manager/>
  <Company>Cenveo Publisher</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Management 14e</dc:title>
  <dc:subject>Chapter 4: Managing in a Global Environment</dc:subject>
  <dc:creator>Stephen P. Robbins and Mary Coulter</dc:creator>
  <cp:keywords>Management</cp:keywords>
  <dc:description/>
  <cp:lastModifiedBy>chetanya singh</cp:lastModifiedBy>
  <cp:revision>645</cp:revision>
  <dcterms:created xsi:type="dcterms:W3CDTF">2014-07-14T20:04:21Z</dcterms:created>
  <dcterms:modified xsi:type="dcterms:W3CDTF">2026-08-25T06:36:54Z</dcterms:modified>
  <cp:category/>
</cp:coreProperties>
</file>