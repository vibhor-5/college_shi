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0" r:id="rId3"/>
    <p:sldId id="262" r:id="rId4"/>
    <p:sldId id="264" r:id="rId5"/>
    <p:sldId id="275" r:id="rId6"/>
    <p:sldId id="277" r:id="rId7"/>
    <p:sldId id="276" r:id="rId8"/>
    <p:sldId id="278" r:id="rId9"/>
    <p:sldId id="263" r:id="rId10"/>
    <p:sldId id="280" r:id="rId11"/>
    <p:sldId id="282" r:id="rId12"/>
    <p:sldId id="281" r:id="rId13"/>
    <p:sldId id="266" r:id="rId14"/>
    <p:sldId id="274" r:id="rId15"/>
    <p:sldId id="283" r:id="rId16"/>
    <p:sldId id="284" r:id="rId17"/>
    <p:sldId id="285" r:id="rId18"/>
    <p:sldId id="28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79"/>
    <p:restoredTop sz="94661"/>
  </p:normalViewPr>
  <p:slideViewPr>
    <p:cSldViewPr snapToGrid="0">
      <p:cViewPr varScale="1">
        <p:scale>
          <a:sx n="100" d="100"/>
          <a:sy n="100" d="100"/>
        </p:scale>
        <p:origin x="188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66952F-675B-4963-8B04-8432BBA8D3A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EAAF11-34BD-4C83-A73D-521B9FCA994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Reducing ambiguity in methods of working </a:t>
          </a:r>
          <a:r>
            <a:rPr lang="en-IN"/>
            <a:t>through SOPs and defined roles and responsibilities </a:t>
          </a:r>
          <a:endParaRPr lang="en-US"/>
        </a:p>
      </dgm:t>
    </dgm:pt>
    <dgm:pt modelId="{3B467556-F32E-46D1-9041-AD5BBA437A2A}" type="parTrans" cxnId="{DB3ADA26-C2CF-4E94-A2E1-D7094B019201}">
      <dgm:prSet/>
      <dgm:spPr/>
      <dgm:t>
        <a:bodyPr/>
        <a:lstStyle/>
        <a:p>
          <a:endParaRPr lang="en-US"/>
        </a:p>
      </dgm:t>
    </dgm:pt>
    <dgm:pt modelId="{26DC50F1-2E8F-45BC-B10F-623B19EE057A}" type="sibTrans" cxnId="{DB3ADA26-C2CF-4E94-A2E1-D7094B019201}">
      <dgm:prSet/>
      <dgm:spPr/>
      <dgm:t>
        <a:bodyPr/>
        <a:lstStyle/>
        <a:p>
          <a:endParaRPr lang="en-US"/>
        </a:p>
      </dgm:t>
    </dgm:pt>
    <dgm:pt modelId="{837C6EA0-A1F0-4A41-83EF-8EFE2E21FCD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Keeping costs down</a:t>
          </a:r>
          <a:r>
            <a:rPr lang="en-IN"/>
            <a:t>, and motivating others to do the same through resource optimization and budgetary control </a:t>
          </a:r>
          <a:endParaRPr lang="en-US"/>
        </a:p>
      </dgm:t>
    </dgm:pt>
    <dgm:pt modelId="{316B3EA6-690E-441A-ABA2-0308D70C5A1E}" type="parTrans" cxnId="{20BE946E-AAFD-4011-9F85-01B9F03496BB}">
      <dgm:prSet/>
      <dgm:spPr/>
      <dgm:t>
        <a:bodyPr/>
        <a:lstStyle/>
        <a:p>
          <a:endParaRPr lang="en-US"/>
        </a:p>
      </dgm:t>
    </dgm:pt>
    <dgm:pt modelId="{88AF31CF-81B3-487E-BE01-3B097B6B11B1}" type="sibTrans" cxnId="{20BE946E-AAFD-4011-9F85-01B9F03496BB}">
      <dgm:prSet/>
      <dgm:spPr/>
      <dgm:t>
        <a:bodyPr/>
        <a:lstStyle/>
        <a:p>
          <a:endParaRPr lang="en-US"/>
        </a:p>
      </dgm:t>
    </dgm:pt>
    <dgm:pt modelId="{C5553652-59B3-459F-B574-CA6289FEE2B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Taking calculated risks </a:t>
          </a:r>
          <a:r>
            <a:rPr lang="en-IN"/>
            <a:t>through data driven analytics and cost benefit evaluation</a:t>
          </a:r>
          <a:endParaRPr lang="en-US"/>
        </a:p>
      </dgm:t>
    </dgm:pt>
    <dgm:pt modelId="{54DAEA2E-066F-4E15-B334-25403007E576}" type="parTrans" cxnId="{667BD8E0-E276-4B22-9E7F-69187604640D}">
      <dgm:prSet/>
      <dgm:spPr/>
      <dgm:t>
        <a:bodyPr/>
        <a:lstStyle/>
        <a:p>
          <a:endParaRPr lang="en-US"/>
        </a:p>
      </dgm:t>
    </dgm:pt>
    <dgm:pt modelId="{2EECB33F-2AC5-4A4B-A7AA-C7247A7AFAD2}" type="sibTrans" cxnId="{667BD8E0-E276-4B22-9E7F-69187604640D}">
      <dgm:prSet/>
      <dgm:spPr/>
      <dgm:t>
        <a:bodyPr/>
        <a:lstStyle/>
        <a:p>
          <a:endParaRPr lang="en-US"/>
        </a:p>
      </dgm:t>
    </dgm:pt>
    <dgm:pt modelId="{DD20B457-0791-4CD7-AE55-4C632A04E8D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Managing prospective risk </a:t>
          </a:r>
          <a:r>
            <a:rPr lang="en-IN"/>
            <a:t>through crisis and contingency planning and market trend forecasting </a:t>
          </a:r>
          <a:endParaRPr lang="en-US"/>
        </a:p>
      </dgm:t>
    </dgm:pt>
    <dgm:pt modelId="{B7C93205-FF43-40A7-A9AC-4E6324B5AF03}" type="parTrans" cxnId="{AF85262D-AF7C-403C-9ADA-B3AE4E6F74BF}">
      <dgm:prSet/>
      <dgm:spPr/>
      <dgm:t>
        <a:bodyPr/>
        <a:lstStyle/>
        <a:p>
          <a:endParaRPr lang="en-US"/>
        </a:p>
      </dgm:t>
    </dgm:pt>
    <dgm:pt modelId="{3CC5A7F9-2E3D-4060-B482-02379ECC9BD6}" type="sibTrans" cxnId="{AF85262D-AF7C-403C-9ADA-B3AE4E6F74BF}">
      <dgm:prSet/>
      <dgm:spPr/>
      <dgm:t>
        <a:bodyPr/>
        <a:lstStyle/>
        <a:p>
          <a:endParaRPr lang="en-US"/>
        </a:p>
      </dgm:t>
    </dgm:pt>
    <dgm:pt modelId="{5E180643-3E7B-4D33-A3AE-D71A0680DEF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Exercise good judgement </a:t>
          </a:r>
          <a:r>
            <a:rPr lang="en-IN"/>
            <a:t>by balancing conflicting interests and evidence based decisions </a:t>
          </a:r>
          <a:endParaRPr lang="en-US"/>
        </a:p>
      </dgm:t>
    </dgm:pt>
    <dgm:pt modelId="{055AC3E5-313A-4A62-8B1A-E4ECF5C60DD6}" type="parTrans" cxnId="{9CF799BC-BDA8-465F-BCB3-BB7D9960136C}">
      <dgm:prSet/>
      <dgm:spPr/>
      <dgm:t>
        <a:bodyPr/>
        <a:lstStyle/>
        <a:p>
          <a:endParaRPr lang="en-US"/>
        </a:p>
      </dgm:t>
    </dgm:pt>
    <dgm:pt modelId="{3C9324C8-7900-4DED-9A80-4533BFDDCCB5}" type="sibTrans" cxnId="{9CF799BC-BDA8-465F-BCB3-BB7D9960136C}">
      <dgm:prSet/>
      <dgm:spPr/>
      <dgm:t>
        <a:bodyPr/>
        <a:lstStyle/>
        <a:p>
          <a:endParaRPr lang="en-US"/>
        </a:p>
      </dgm:t>
    </dgm:pt>
    <dgm:pt modelId="{DD93CEA0-4D6E-46EB-A03D-A4554E2E32C8}" type="pres">
      <dgm:prSet presAssocID="{7666952F-675B-4963-8B04-8432BBA8D3AC}" presName="root" presStyleCnt="0">
        <dgm:presLayoutVars>
          <dgm:dir/>
          <dgm:resizeHandles val="exact"/>
        </dgm:presLayoutVars>
      </dgm:prSet>
      <dgm:spPr/>
    </dgm:pt>
    <dgm:pt modelId="{03B6D742-9226-43AE-BCF1-6945CDDE36F3}" type="pres">
      <dgm:prSet presAssocID="{B0EAAF11-34BD-4C83-A73D-521B9FCA9940}" presName="compNode" presStyleCnt="0"/>
      <dgm:spPr/>
    </dgm:pt>
    <dgm:pt modelId="{8A002AAA-092D-4319-8875-9C9009BE7588}" type="pres">
      <dgm:prSet presAssocID="{B0EAAF11-34BD-4C83-A73D-521B9FCA9940}" presName="bgRect" presStyleLbl="bgShp" presStyleIdx="0" presStyleCnt="5"/>
      <dgm:spPr/>
    </dgm:pt>
    <dgm:pt modelId="{319C399C-D66A-4256-AC19-5C126ED4C39F}" type="pres">
      <dgm:prSet presAssocID="{B0EAAF11-34BD-4C83-A73D-521B9FCA994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C3335C9-9311-4FCB-8E29-0E21813C3707}" type="pres">
      <dgm:prSet presAssocID="{B0EAAF11-34BD-4C83-A73D-521B9FCA9940}" presName="spaceRect" presStyleCnt="0"/>
      <dgm:spPr/>
    </dgm:pt>
    <dgm:pt modelId="{85496B5C-9169-47CA-9294-7AB940B888C0}" type="pres">
      <dgm:prSet presAssocID="{B0EAAF11-34BD-4C83-A73D-521B9FCA9940}" presName="parTx" presStyleLbl="revTx" presStyleIdx="0" presStyleCnt="5">
        <dgm:presLayoutVars>
          <dgm:chMax val="0"/>
          <dgm:chPref val="0"/>
        </dgm:presLayoutVars>
      </dgm:prSet>
      <dgm:spPr/>
    </dgm:pt>
    <dgm:pt modelId="{25EB1F79-F508-45FB-A514-72DAA87CEB57}" type="pres">
      <dgm:prSet presAssocID="{26DC50F1-2E8F-45BC-B10F-623B19EE057A}" presName="sibTrans" presStyleCnt="0"/>
      <dgm:spPr/>
    </dgm:pt>
    <dgm:pt modelId="{B85120E5-A8DC-464E-932D-ED6734F2166E}" type="pres">
      <dgm:prSet presAssocID="{837C6EA0-A1F0-4A41-83EF-8EFE2E21FCD1}" presName="compNode" presStyleCnt="0"/>
      <dgm:spPr/>
    </dgm:pt>
    <dgm:pt modelId="{8CCC6D22-05A9-482A-AC41-E2DD5FC58623}" type="pres">
      <dgm:prSet presAssocID="{837C6EA0-A1F0-4A41-83EF-8EFE2E21FCD1}" presName="bgRect" presStyleLbl="bgShp" presStyleIdx="1" presStyleCnt="5"/>
      <dgm:spPr/>
    </dgm:pt>
    <dgm:pt modelId="{D5686049-7E0D-419A-AFBB-6010AA4198BF}" type="pres">
      <dgm:prSet presAssocID="{837C6EA0-A1F0-4A41-83EF-8EFE2E21FCD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23CE46BC-6D48-4008-9083-EE2BB08B0C82}" type="pres">
      <dgm:prSet presAssocID="{837C6EA0-A1F0-4A41-83EF-8EFE2E21FCD1}" presName="spaceRect" presStyleCnt="0"/>
      <dgm:spPr/>
    </dgm:pt>
    <dgm:pt modelId="{31CAA683-2F4C-4FD0-B24B-49DF570CED37}" type="pres">
      <dgm:prSet presAssocID="{837C6EA0-A1F0-4A41-83EF-8EFE2E21FCD1}" presName="parTx" presStyleLbl="revTx" presStyleIdx="1" presStyleCnt="5">
        <dgm:presLayoutVars>
          <dgm:chMax val="0"/>
          <dgm:chPref val="0"/>
        </dgm:presLayoutVars>
      </dgm:prSet>
      <dgm:spPr/>
    </dgm:pt>
    <dgm:pt modelId="{BE528B14-571F-4E2D-B796-8E3B4EBC5FFB}" type="pres">
      <dgm:prSet presAssocID="{88AF31CF-81B3-487E-BE01-3B097B6B11B1}" presName="sibTrans" presStyleCnt="0"/>
      <dgm:spPr/>
    </dgm:pt>
    <dgm:pt modelId="{34B6A781-9226-4BEE-9F5B-8CB362D907AA}" type="pres">
      <dgm:prSet presAssocID="{C5553652-59B3-459F-B574-CA6289FEE2B6}" presName="compNode" presStyleCnt="0"/>
      <dgm:spPr/>
    </dgm:pt>
    <dgm:pt modelId="{6593A772-B410-40EC-8A02-25E12FDC7720}" type="pres">
      <dgm:prSet presAssocID="{C5553652-59B3-459F-B574-CA6289FEE2B6}" presName="bgRect" presStyleLbl="bgShp" presStyleIdx="2" presStyleCnt="5"/>
      <dgm:spPr/>
    </dgm:pt>
    <dgm:pt modelId="{37F62101-64B1-4BA4-B681-525D30BDCD75}" type="pres">
      <dgm:prSet presAssocID="{C5553652-59B3-459F-B574-CA6289FEE2B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579FDA0-9952-4861-A090-4F9B8EC200F3}" type="pres">
      <dgm:prSet presAssocID="{C5553652-59B3-459F-B574-CA6289FEE2B6}" presName="spaceRect" presStyleCnt="0"/>
      <dgm:spPr/>
    </dgm:pt>
    <dgm:pt modelId="{0FF4AB9C-B1EF-415D-A8A5-BDED62A31EE7}" type="pres">
      <dgm:prSet presAssocID="{C5553652-59B3-459F-B574-CA6289FEE2B6}" presName="parTx" presStyleLbl="revTx" presStyleIdx="2" presStyleCnt="5">
        <dgm:presLayoutVars>
          <dgm:chMax val="0"/>
          <dgm:chPref val="0"/>
        </dgm:presLayoutVars>
      </dgm:prSet>
      <dgm:spPr/>
    </dgm:pt>
    <dgm:pt modelId="{167475FB-73F3-47AD-A8CA-EC3E6954C6E3}" type="pres">
      <dgm:prSet presAssocID="{2EECB33F-2AC5-4A4B-A7AA-C7247A7AFAD2}" presName="sibTrans" presStyleCnt="0"/>
      <dgm:spPr/>
    </dgm:pt>
    <dgm:pt modelId="{954A10B5-43F1-4691-B5F6-8997A325BE4F}" type="pres">
      <dgm:prSet presAssocID="{DD20B457-0791-4CD7-AE55-4C632A04E8D4}" presName="compNode" presStyleCnt="0"/>
      <dgm:spPr/>
    </dgm:pt>
    <dgm:pt modelId="{B7DA2116-2C99-461C-A282-CF9155C4FA0B}" type="pres">
      <dgm:prSet presAssocID="{DD20B457-0791-4CD7-AE55-4C632A04E8D4}" presName="bgRect" presStyleLbl="bgShp" presStyleIdx="3" presStyleCnt="5"/>
      <dgm:spPr/>
    </dgm:pt>
    <dgm:pt modelId="{FB1DCA8F-7E0B-41BC-9BB6-1C7B17502B35}" type="pres">
      <dgm:prSet presAssocID="{DD20B457-0791-4CD7-AE55-4C632A04E8D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E856F41-AC67-41B8-AE12-98E0C2943A74}" type="pres">
      <dgm:prSet presAssocID="{DD20B457-0791-4CD7-AE55-4C632A04E8D4}" presName="spaceRect" presStyleCnt="0"/>
      <dgm:spPr/>
    </dgm:pt>
    <dgm:pt modelId="{AFFE7BDC-C4E6-4148-8540-B573DC770839}" type="pres">
      <dgm:prSet presAssocID="{DD20B457-0791-4CD7-AE55-4C632A04E8D4}" presName="parTx" presStyleLbl="revTx" presStyleIdx="3" presStyleCnt="5">
        <dgm:presLayoutVars>
          <dgm:chMax val="0"/>
          <dgm:chPref val="0"/>
        </dgm:presLayoutVars>
      </dgm:prSet>
      <dgm:spPr/>
    </dgm:pt>
    <dgm:pt modelId="{518DA783-D5C5-402B-9322-7724AE5654E8}" type="pres">
      <dgm:prSet presAssocID="{3CC5A7F9-2E3D-4060-B482-02379ECC9BD6}" presName="sibTrans" presStyleCnt="0"/>
      <dgm:spPr/>
    </dgm:pt>
    <dgm:pt modelId="{AC830D51-08CA-4844-B410-4E2D83864E2A}" type="pres">
      <dgm:prSet presAssocID="{5E180643-3E7B-4D33-A3AE-D71A0680DEF0}" presName="compNode" presStyleCnt="0"/>
      <dgm:spPr/>
    </dgm:pt>
    <dgm:pt modelId="{4D082D00-0343-45C9-8D41-D2BE6BE0FBD7}" type="pres">
      <dgm:prSet presAssocID="{5E180643-3E7B-4D33-A3AE-D71A0680DEF0}" presName="bgRect" presStyleLbl="bgShp" presStyleIdx="4" presStyleCnt="5"/>
      <dgm:spPr/>
    </dgm:pt>
    <dgm:pt modelId="{04B14ADE-CA73-4864-816D-488C50DD890C}" type="pres">
      <dgm:prSet presAssocID="{5E180643-3E7B-4D33-A3AE-D71A0680DEF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2DEE5B20-5343-4ADD-9FD8-450E421A863C}" type="pres">
      <dgm:prSet presAssocID="{5E180643-3E7B-4D33-A3AE-D71A0680DEF0}" presName="spaceRect" presStyleCnt="0"/>
      <dgm:spPr/>
    </dgm:pt>
    <dgm:pt modelId="{29BABDF5-C332-4422-95C4-372DC898F60B}" type="pres">
      <dgm:prSet presAssocID="{5E180643-3E7B-4D33-A3AE-D71A0680DEF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6D8531F-5523-4E34-8CFC-9BCCFD3AE378}" type="presOf" srcId="{B0EAAF11-34BD-4C83-A73D-521B9FCA9940}" destId="{85496B5C-9169-47CA-9294-7AB940B888C0}" srcOrd="0" destOrd="0" presId="urn:microsoft.com/office/officeart/2018/2/layout/IconVerticalSolidList"/>
    <dgm:cxn modelId="{DB3ADA26-C2CF-4E94-A2E1-D7094B019201}" srcId="{7666952F-675B-4963-8B04-8432BBA8D3AC}" destId="{B0EAAF11-34BD-4C83-A73D-521B9FCA9940}" srcOrd="0" destOrd="0" parTransId="{3B467556-F32E-46D1-9041-AD5BBA437A2A}" sibTransId="{26DC50F1-2E8F-45BC-B10F-623B19EE057A}"/>
    <dgm:cxn modelId="{AF85262D-AF7C-403C-9ADA-B3AE4E6F74BF}" srcId="{7666952F-675B-4963-8B04-8432BBA8D3AC}" destId="{DD20B457-0791-4CD7-AE55-4C632A04E8D4}" srcOrd="3" destOrd="0" parTransId="{B7C93205-FF43-40A7-A9AC-4E6324B5AF03}" sibTransId="{3CC5A7F9-2E3D-4060-B482-02379ECC9BD6}"/>
    <dgm:cxn modelId="{20BE946E-AAFD-4011-9F85-01B9F03496BB}" srcId="{7666952F-675B-4963-8B04-8432BBA8D3AC}" destId="{837C6EA0-A1F0-4A41-83EF-8EFE2E21FCD1}" srcOrd="1" destOrd="0" parTransId="{316B3EA6-690E-441A-ABA2-0308D70C5A1E}" sibTransId="{88AF31CF-81B3-487E-BE01-3B097B6B11B1}"/>
    <dgm:cxn modelId="{8C4A6B84-CD67-4BB3-8940-A9B743C6B7DC}" type="presOf" srcId="{DD20B457-0791-4CD7-AE55-4C632A04E8D4}" destId="{AFFE7BDC-C4E6-4148-8540-B573DC770839}" srcOrd="0" destOrd="0" presId="urn:microsoft.com/office/officeart/2018/2/layout/IconVerticalSolidList"/>
    <dgm:cxn modelId="{47E04498-2511-441F-AA96-4E9887FE581E}" type="presOf" srcId="{5E180643-3E7B-4D33-A3AE-D71A0680DEF0}" destId="{29BABDF5-C332-4422-95C4-372DC898F60B}" srcOrd="0" destOrd="0" presId="urn:microsoft.com/office/officeart/2018/2/layout/IconVerticalSolidList"/>
    <dgm:cxn modelId="{BD39DFA4-110D-4414-AB5C-D77F27FF4338}" type="presOf" srcId="{837C6EA0-A1F0-4A41-83EF-8EFE2E21FCD1}" destId="{31CAA683-2F4C-4FD0-B24B-49DF570CED37}" srcOrd="0" destOrd="0" presId="urn:microsoft.com/office/officeart/2018/2/layout/IconVerticalSolidList"/>
    <dgm:cxn modelId="{9CF799BC-BDA8-465F-BCB3-BB7D9960136C}" srcId="{7666952F-675B-4963-8B04-8432BBA8D3AC}" destId="{5E180643-3E7B-4D33-A3AE-D71A0680DEF0}" srcOrd="4" destOrd="0" parTransId="{055AC3E5-313A-4A62-8B1A-E4ECF5C60DD6}" sibTransId="{3C9324C8-7900-4DED-9A80-4533BFDDCCB5}"/>
    <dgm:cxn modelId="{610027D7-9832-4A59-B4E0-21F688E5D432}" type="presOf" srcId="{7666952F-675B-4963-8B04-8432BBA8D3AC}" destId="{DD93CEA0-4D6E-46EB-A03D-A4554E2E32C8}" srcOrd="0" destOrd="0" presId="urn:microsoft.com/office/officeart/2018/2/layout/IconVerticalSolidList"/>
    <dgm:cxn modelId="{667BD8E0-E276-4B22-9E7F-69187604640D}" srcId="{7666952F-675B-4963-8B04-8432BBA8D3AC}" destId="{C5553652-59B3-459F-B574-CA6289FEE2B6}" srcOrd="2" destOrd="0" parTransId="{54DAEA2E-066F-4E15-B334-25403007E576}" sibTransId="{2EECB33F-2AC5-4A4B-A7AA-C7247A7AFAD2}"/>
    <dgm:cxn modelId="{94EA0AF3-4853-4426-B2A4-FB4FBAB3A0BE}" type="presOf" srcId="{C5553652-59B3-459F-B574-CA6289FEE2B6}" destId="{0FF4AB9C-B1EF-415D-A8A5-BDED62A31EE7}" srcOrd="0" destOrd="0" presId="urn:microsoft.com/office/officeart/2018/2/layout/IconVerticalSolidList"/>
    <dgm:cxn modelId="{98133F9C-BB2E-4C33-BE81-3D07AE91D059}" type="presParOf" srcId="{DD93CEA0-4D6E-46EB-A03D-A4554E2E32C8}" destId="{03B6D742-9226-43AE-BCF1-6945CDDE36F3}" srcOrd="0" destOrd="0" presId="urn:microsoft.com/office/officeart/2018/2/layout/IconVerticalSolidList"/>
    <dgm:cxn modelId="{9C1235F8-930B-46FE-88C1-D5CB63B24939}" type="presParOf" srcId="{03B6D742-9226-43AE-BCF1-6945CDDE36F3}" destId="{8A002AAA-092D-4319-8875-9C9009BE7588}" srcOrd="0" destOrd="0" presId="urn:microsoft.com/office/officeart/2018/2/layout/IconVerticalSolidList"/>
    <dgm:cxn modelId="{293FFB5C-56CD-4556-9211-076D3B3A869D}" type="presParOf" srcId="{03B6D742-9226-43AE-BCF1-6945CDDE36F3}" destId="{319C399C-D66A-4256-AC19-5C126ED4C39F}" srcOrd="1" destOrd="0" presId="urn:microsoft.com/office/officeart/2018/2/layout/IconVerticalSolidList"/>
    <dgm:cxn modelId="{77666244-F6D8-4B92-8733-9CD881936D60}" type="presParOf" srcId="{03B6D742-9226-43AE-BCF1-6945CDDE36F3}" destId="{9C3335C9-9311-4FCB-8E29-0E21813C3707}" srcOrd="2" destOrd="0" presId="urn:microsoft.com/office/officeart/2018/2/layout/IconVerticalSolidList"/>
    <dgm:cxn modelId="{1481CB09-8098-47EB-9960-327812D2CF1C}" type="presParOf" srcId="{03B6D742-9226-43AE-BCF1-6945CDDE36F3}" destId="{85496B5C-9169-47CA-9294-7AB940B888C0}" srcOrd="3" destOrd="0" presId="urn:microsoft.com/office/officeart/2018/2/layout/IconVerticalSolidList"/>
    <dgm:cxn modelId="{77D68F13-9C71-417C-AF2B-392828D8721B}" type="presParOf" srcId="{DD93CEA0-4D6E-46EB-A03D-A4554E2E32C8}" destId="{25EB1F79-F508-45FB-A514-72DAA87CEB57}" srcOrd="1" destOrd="0" presId="urn:microsoft.com/office/officeart/2018/2/layout/IconVerticalSolidList"/>
    <dgm:cxn modelId="{53B02214-B15F-4BAB-A1D7-7122BF9B88C8}" type="presParOf" srcId="{DD93CEA0-4D6E-46EB-A03D-A4554E2E32C8}" destId="{B85120E5-A8DC-464E-932D-ED6734F2166E}" srcOrd="2" destOrd="0" presId="urn:microsoft.com/office/officeart/2018/2/layout/IconVerticalSolidList"/>
    <dgm:cxn modelId="{C32C5F8D-403B-4FD2-9D93-6044AA683838}" type="presParOf" srcId="{B85120E5-A8DC-464E-932D-ED6734F2166E}" destId="{8CCC6D22-05A9-482A-AC41-E2DD5FC58623}" srcOrd="0" destOrd="0" presId="urn:microsoft.com/office/officeart/2018/2/layout/IconVerticalSolidList"/>
    <dgm:cxn modelId="{2AA52E6F-2038-48E4-AB3E-2B4F25F2335E}" type="presParOf" srcId="{B85120E5-A8DC-464E-932D-ED6734F2166E}" destId="{D5686049-7E0D-419A-AFBB-6010AA4198BF}" srcOrd="1" destOrd="0" presId="urn:microsoft.com/office/officeart/2018/2/layout/IconVerticalSolidList"/>
    <dgm:cxn modelId="{56F7451C-881B-4EA4-91EA-7409EABDBE23}" type="presParOf" srcId="{B85120E5-A8DC-464E-932D-ED6734F2166E}" destId="{23CE46BC-6D48-4008-9083-EE2BB08B0C82}" srcOrd="2" destOrd="0" presId="urn:microsoft.com/office/officeart/2018/2/layout/IconVerticalSolidList"/>
    <dgm:cxn modelId="{E0954C25-89BF-4774-9637-F118C232EE21}" type="presParOf" srcId="{B85120E5-A8DC-464E-932D-ED6734F2166E}" destId="{31CAA683-2F4C-4FD0-B24B-49DF570CED37}" srcOrd="3" destOrd="0" presId="urn:microsoft.com/office/officeart/2018/2/layout/IconVerticalSolidList"/>
    <dgm:cxn modelId="{EA235D1F-96F0-4943-BA1B-57CDB76E1221}" type="presParOf" srcId="{DD93CEA0-4D6E-46EB-A03D-A4554E2E32C8}" destId="{BE528B14-571F-4E2D-B796-8E3B4EBC5FFB}" srcOrd="3" destOrd="0" presId="urn:microsoft.com/office/officeart/2018/2/layout/IconVerticalSolidList"/>
    <dgm:cxn modelId="{611992E8-C4FE-4642-A6A5-077C6C4927C0}" type="presParOf" srcId="{DD93CEA0-4D6E-46EB-A03D-A4554E2E32C8}" destId="{34B6A781-9226-4BEE-9F5B-8CB362D907AA}" srcOrd="4" destOrd="0" presId="urn:microsoft.com/office/officeart/2018/2/layout/IconVerticalSolidList"/>
    <dgm:cxn modelId="{3D7B0125-FD24-4358-A202-1684E5855DD1}" type="presParOf" srcId="{34B6A781-9226-4BEE-9F5B-8CB362D907AA}" destId="{6593A772-B410-40EC-8A02-25E12FDC7720}" srcOrd="0" destOrd="0" presId="urn:microsoft.com/office/officeart/2018/2/layout/IconVerticalSolidList"/>
    <dgm:cxn modelId="{EEAAEFBF-B0DE-4E3C-A109-D747FAFFC4D4}" type="presParOf" srcId="{34B6A781-9226-4BEE-9F5B-8CB362D907AA}" destId="{37F62101-64B1-4BA4-B681-525D30BDCD75}" srcOrd="1" destOrd="0" presId="urn:microsoft.com/office/officeart/2018/2/layout/IconVerticalSolidList"/>
    <dgm:cxn modelId="{6685621B-8A1C-47DB-A27A-E33AEDA8C53E}" type="presParOf" srcId="{34B6A781-9226-4BEE-9F5B-8CB362D907AA}" destId="{B579FDA0-9952-4861-A090-4F9B8EC200F3}" srcOrd="2" destOrd="0" presId="urn:microsoft.com/office/officeart/2018/2/layout/IconVerticalSolidList"/>
    <dgm:cxn modelId="{9B40A386-408D-4DE8-A1A2-693FC18724ED}" type="presParOf" srcId="{34B6A781-9226-4BEE-9F5B-8CB362D907AA}" destId="{0FF4AB9C-B1EF-415D-A8A5-BDED62A31EE7}" srcOrd="3" destOrd="0" presId="urn:microsoft.com/office/officeart/2018/2/layout/IconVerticalSolidList"/>
    <dgm:cxn modelId="{035087CF-760C-4AA8-AFA9-0F1D0CA84D5C}" type="presParOf" srcId="{DD93CEA0-4D6E-46EB-A03D-A4554E2E32C8}" destId="{167475FB-73F3-47AD-A8CA-EC3E6954C6E3}" srcOrd="5" destOrd="0" presId="urn:microsoft.com/office/officeart/2018/2/layout/IconVerticalSolidList"/>
    <dgm:cxn modelId="{FCB794E5-34DF-4323-8CE4-6BECBFDAD023}" type="presParOf" srcId="{DD93CEA0-4D6E-46EB-A03D-A4554E2E32C8}" destId="{954A10B5-43F1-4691-B5F6-8997A325BE4F}" srcOrd="6" destOrd="0" presId="urn:microsoft.com/office/officeart/2018/2/layout/IconVerticalSolidList"/>
    <dgm:cxn modelId="{1F65D8E5-2CE8-4462-A881-37E01EE24515}" type="presParOf" srcId="{954A10B5-43F1-4691-B5F6-8997A325BE4F}" destId="{B7DA2116-2C99-461C-A282-CF9155C4FA0B}" srcOrd="0" destOrd="0" presId="urn:microsoft.com/office/officeart/2018/2/layout/IconVerticalSolidList"/>
    <dgm:cxn modelId="{CB879A75-6E8B-43C9-B548-5FA65DA59883}" type="presParOf" srcId="{954A10B5-43F1-4691-B5F6-8997A325BE4F}" destId="{FB1DCA8F-7E0B-41BC-9BB6-1C7B17502B35}" srcOrd="1" destOrd="0" presId="urn:microsoft.com/office/officeart/2018/2/layout/IconVerticalSolidList"/>
    <dgm:cxn modelId="{660F1B50-A227-4717-9E7F-8830DD1D3E24}" type="presParOf" srcId="{954A10B5-43F1-4691-B5F6-8997A325BE4F}" destId="{1E856F41-AC67-41B8-AE12-98E0C2943A74}" srcOrd="2" destOrd="0" presId="urn:microsoft.com/office/officeart/2018/2/layout/IconVerticalSolidList"/>
    <dgm:cxn modelId="{17022010-FF4F-41ED-A79C-FF6531020B9B}" type="presParOf" srcId="{954A10B5-43F1-4691-B5F6-8997A325BE4F}" destId="{AFFE7BDC-C4E6-4148-8540-B573DC770839}" srcOrd="3" destOrd="0" presId="urn:microsoft.com/office/officeart/2018/2/layout/IconVerticalSolidList"/>
    <dgm:cxn modelId="{BE212BA8-3BFF-4E89-B8C2-6B02799AB41B}" type="presParOf" srcId="{DD93CEA0-4D6E-46EB-A03D-A4554E2E32C8}" destId="{518DA783-D5C5-402B-9322-7724AE5654E8}" srcOrd="7" destOrd="0" presId="urn:microsoft.com/office/officeart/2018/2/layout/IconVerticalSolidList"/>
    <dgm:cxn modelId="{95B1F6D5-EAA9-4B08-BEA9-D133B7701135}" type="presParOf" srcId="{DD93CEA0-4D6E-46EB-A03D-A4554E2E32C8}" destId="{AC830D51-08CA-4844-B410-4E2D83864E2A}" srcOrd="8" destOrd="0" presId="urn:microsoft.com/office/officeart/2018/2/layout/IconVerticalSolidList"/>
    <dgm:cxn modelId="{E35EA281-3432-48B1-96E0-A71223C89394}" type="presParOf" srcId="{AC830D51-08CA-4844-B410-4E2D83864E2A}" destId="{4D082D00-0343-45C9-8D41-D2BE6BE0FBD7}" srcOrd="0" destOrd="0" presId="urn:microsoft.com/office/officeart/2018/2/layout/IconVerticalSolidList"/>
    <dgm:cxn modelId="{C890F9B7-1445-490F-96C8-082B89EBB70A}" type="presParOf" srcId="{AC830D51-08CA-4844-B410-4E2D83864E2A}" destId="{04B14ADE-CA73-4864-816D-488C50DD890C}" srcOrd="1" destOrd="0" presId="urn:microsoft.com/office/officeart/2018/2/layout/IconVerticalSolidList"/>
    <dgm:cxn modelId="{9527F607-F723-483C-9F8C-DB88A9017CC5}" type="presParOf" srcId="{AC830D51-08CA-4844-B410-4E2D83864E2A}" destId="{2DEE5B20-5343-4ADD-9FD8-450E421A863C}" srcOrd="2" destOrd="0" presId="urn:microsoft.com/office/officeart/2018/2/layout/IconVerticalSolidList"/>
    <dgm:cxn modelId="{AB853644-F21C-4F73-83C9-7603007A675F}" type="presParOf" srcId="{AC830D51-08CA-4844-B410-4E2D83864E2A}" destId="{29BABDF5-C332-4422-95C4-372DC898F6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F71CA4-D02F-46BA-8341-2471CAD2CDA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272F767-5994-4C94-A970-8F814F1A84B5}">
      <dgm:prSet/>
      <dgm:spPr/>
      <dgm:t>
        <a:bodyPr/>
        <a:lstStyle/>
        <a:p>
          <a:r>
            <a:rPr lang="en-US" b="1"/>
            <a:t>First line (or first level) managers: </a:t>
          </a:r>
          <a:r>
            <a:rPr lang="en-US"/>
            <a:t>managers who are responsible for the work of operating employees only and do not supervise other managers; they are the first or the lowest level of managers in the organizational hierarchy </a:t>
          </a:r>
        </a:p>
      </dgm:t>
    </dgm:pt>
    <dgm:pt modelId="{1272D83A-2554-47B0-8A96-A811D203AB40}" type="parTrans" cxnId="{BF1F354F-8251-479F-B243-F5B8C42325E4}">
      <dgm:prSet/>
      <dgm:spPr/>
      <dgm:t>
        <a:bodyPr/>
        <a:lstStyle/>
        <a:p>
          <a:endParaRPr lang="en-US"/>
        </a:p>
      </dgm:t>
    </dgm:pt>
    <dgm:pt modelId="{83B60984-0B6B-4398-9D28-B95351AC0767}" type="sibTrans" cxnId="{BF1F354F-8251-479F-B243-F5B8C42325E4}">
      <dgm:prSet/>
      <dgm:spPr/>
      <dgm:t>
        <a:bodyPr/>
        <a:lstStyle/>
        <a:p>
          <a:endParaRPr lang="en-US"/>
        </a:p>
      </dgm:t>
    </dgm:pt>
    <dgm:pt modelId="{7D95B967-922F-4AE9-8A1C-C29D49DD7928}">
      <dgm:prSet/>
      <dgm:spPr/>
      <dgm:t>
        <a:bodyPr/>
        <a:lstStyle/>
        <a:p>
          <a:r>
            <a:rPr lang="en-US" b="1"/>
            <a:t>Middle Managers: </a:t>
          </a:r>
          <a:r>
            <a:rPr lang="en-US"/>
            <a:t>Managers in the midrange of the organizational hierarchy; they are responsible for other managers and sometimes for some operating employees; they also report to more senior managers</a:t>
          </a:r>
        </a:p>
      </dgm:t>
    </dgm:pt>
    <dgm:pt modelId="{62ABEEF5-24BE-465E-83B0-E54EF3190A21}" type="parTrans" cxnId="{9E3A4C48-E1A3-479B-8589-BCEA735E6DEA}">
      <dgm:prSet/>
      <dgm:spPr/>
      <dgm:t>
        <a:bodyPr/>
        <a:lstStyle/>
        <a:p>
          <a:endParaRPr lang="en-US"/>
        </a:p>
      </dgm:t>
    </dgm:pt>
    <dgm:pt modelId="{4BA67BF3-5B19-4327-B038-56BFFBC88421}" type="sibTrans" cxnId="{9E3A4C48-E1A3-479B-8589-BCEA735E6DEA}">
      <dgm:prSet/>
      <dgm:spPr/>
      <dgm:t>
        <a:bodyPr/>
        <a:lstStyle/>
        <a:p>
          <a:endParaRPr lang="en-US"/>
        </a:p>
      </dgm:t>
    </dgm:pt>
    <dgm:pt modelId="{C9A32099-8958-4332-A9DC-40164E3EA1F5}">
      <dgm:prSet/>
      <dgm:spPr/>
      <dgm:t>
        <a:bodyPr/>
        <a:lstStyle/>
        <a:p>
          <a:r>
            <a:rPr lang="en-US" b="1"/>
            <a:t>Top managers: </a:t>
          </a:r>
          <a:r>
            <a:rPr lang="en-US"/>
            <a:t>Managers responsible for the overall management of the organization; they establish operating policies and guide the organization’s interaction with its environment </a:t>
          </a:r>
        </a:p>
      </dgm:t>
    </dgm:pt>
    <dgm:pt modelId="{9F1ECD5B-CA8E-4CE1-9B94-AAB822F8BC1E}" type="parTrans" cxnId="{40A2770B-6783-44DC-9519-13B900B13E6C}">
      <dgm:prSet/>
      <dgm:spPr/>
      <dgm:t>
        <a:bodyPr/>
        <a:lstStyle/>
        <a:p>
          <a:endParaRPr lang="en-US"/>
        </a:p>
      </dgm:t>
    </dgm:pt>
    <dgm:pt modelId="{233B4779-C629-4B20-A2CB-BF7D1BE70623}" type="sibTrans" cxnId="{40A2770B-6783-44DC-9519-13B900B13E6C}">
      <dgm:prSet/>
      <dgm:spPr/>
      <dgm:t>
        <a:bodyPr/>
        <a:lstStyle/>
        <a:p>
          <a:endParaRPr lang="en-US"/>
        </a:p>
      </dgm:t>
    </dgm:pt>
    <dgm:pt modelId="{980B28A0-5091-BB40-9C28-378F1FF5EA78}" type="pres">
      <dgm:prSet presAssocID="{36F71CA4-D02F-46BA-8341-2471CAD2CDA3}" presName="linear" presStyleCnt="0">
        <dgm:presLayoutVars>
          <dgm:animLvl val="lvl"/>
          <dgm:resizeHandles val="exact"/>
        </dgm:presLayoutVars>
      </dgm:prSet>
      <dgm:spPr/>
    </dgm:pt>
    <dgm:pt modelId="{BCC0157F-9C48-6141-BF8B-146B1365C03B}" type="pres">
      <dgm:prSet presAssocID="{E272F767-5994-4C94-A970-8F814F1A84B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DE41554-12F9-BE49-9496-7FE76FC40EBE}" type="pres">
      <dgm:prSet presAssocID="{83B60984-0B6B-4398-9D28-B95351AC0767}" presName="spacer" presStyleCnt="0"/>
      <dgm:spPr/>
    </dgm:pt>
    <dgm:pt modelId="{359777F0-4864-2F4C-BCDB-F81189A9B471}" type="pres">
      <dgm:prSet presAssocID="{7D95B967-922F-4AE9-8A1C-C29D49DD79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85AD739-BAB7-1E47-9863-7610EB6B56AE}" type="pres">
      <dgm:prSet presAssocID="{4BA67BF3-5B19-4327-B038-56BFFBC88421}" presName="spacer" presStyleCnt="0"/>
      <dgm:spPr/>
    </dgm:pt>
    <dgm:pt modelId="{D3DF71F3-699D-3B42-9138-B28C4A0B1F4A}" type="pres">
      <dgm:prSet presAssocID="{C9A32099-8958-4332-A9DC-40164E3EA1F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0A2770B-6783-44DC-9519-13B900B13E6C}" srcId="{36F71CA4-D02F-46BA-8341-2471CAD2CDA3}" destId="{C9A32099-8958-4332-A9DC-40164E3EA1F5}" srcOrd="2" destOrd="0" parTransId="{9F1ECD5B-CA8E-4CE1-9B94-AAB822F8BC1E}" sibTransId="{233B4779-C629-4B20-A2CB-BF7D1BE70623}"/>
    <dgm:cxn modelId="{98C2A437-0F98-0945-9FB0-25430854B4A7}" type="presOf" srcId="{7D95B967-922F-4AE9-8A1C-C29D49DD7928}" destId="{359777F0-4864-2F4C-BCDB-F81189A9B471}" srcOrd="0" destOrd="0" presId="urn:microsoft.com/office/officeart/2005/8/layout/vList2"/>
    <dgm:cxn modelId="{9E3A4C48-E1A3-479B-8589-BCEA735E6DEA}" srcId="{36F71CA4-D02F-46BA-8341-2471CAD2CDA3}" destId="{7D95B967-922F-4AE9-8A1C-C29D49DD7928}" srcOrd="1" destOrd="0" parTransId="{62ABEEF5-24BE-465E-83B0-E54EF3190A21}" sibTransId="{4BA67BF3-5B19-4327-B038-56BFFBC88421}"/>
    <dgm:cxn modelId="{BF1F354F-8251-479F-B243-F5B8C42325E4}" srcId="{36F71CA4-D02F-46BA-8341-2471CAD2CDA3}" destId="{E272F767-5994-4C94-A970-8F814F1A84B5}" srcOrd="0" destOrd="0" parTransId="{1272D83A-2554-47B0-8A96-A811D203AB40}" sibTransId="{83B60984-0B6B-4398-9D28-B95351AC0767}"/>
    <dgm:cxn modelId="{B14E3959-27F0-5F49-B4FC-808014E25047}" type="presOf" srcId="{36F71CA4-D02F-46BA-8341-2471CAD2CDA3}" destId="{980B28A0-5091-BB40-9C28-378F1FF5EA78}" srcOrd="0" destOrd="0" presId="urn:microsoft.com/office/officeart/2005/8/layout/vList2"/>
    <dgm:cxn modelId="{269CD6DB-6374-C14B-BB6B-D6445664EFC2}" type="presOf" srcId="{C9A32099-8958-4332-A9DC-40164E3EA1F5}" destId="{D3DF71F3-699D-3B42-9138-B28C4A0B1F4A}" srcOrd="0" destOrd="0" presId="urn:microsoft.com/office/officeart/2005/8/layout/vList2"/>
    <dgm:cxn modelId="{F1443FE7-E82C-8A41-A180-6D55FDD3AAA2}" type="presOf" srcId="{E272F767-5994-4C94-A970-8F814F1A84B5}" destId="{BCC0157F-9C48-6141-BF8B-146B1365C03B}" srcOrd="0" destOrd="0" presId="urn:microsoft.com/office/officeart/2005/8/layout/vList2"/>
    <dgm:cxn modelId="{63F7E2FE-E813-8944-971C-46031345396F}" type="presParOf" srcId="{980B28A0-5091-BB40-9C28-378F1FF5EA78}" destId="{BCC0157F-9C48-6141-BF8B-146B1365C03B}" srcOrd="0" destOrd="0" presId="urn:microsoft.com/office/officeart/2005/8/layout/vList2"/>
    <dgm:cxn modelId="{8A261FF6-6FCF-DF49-B85D-F8360FD7549A}" type="presParOf" srcId="{980B28A0-5091-BB40-9C28-378F1FF5EA78}" destId="{CDE41554-12F9-BE49-9496-7FE76FC40EBE}" srcOrd="1" destOrd="0" presId="urn:microsoft.com/office/officeart/2005/8/layout/vList2"/>
    <dgm:cxn modelId="{C0DD7A07-D9C3-F64C-B58A-A206AE2AE081}" type="presParOf" srcId="{980B28A0-5091-BB40-9C28-378F1FF5EA78}" destId="{359777F0-4864-2F4C-BCDB-F81189A9B471}" srcOrd="2" destOrd="0" presId="urn:microsoft.com/office/officeart/2005/8/layout/vList2"/>
    <dgm:cxn modelId="{BC3E8077-B1BE-9140-8066-B8C896C3AB9F}" type="presParOf" srcId="{980B28A0-5091-BB40-9C28-378F1FF5EA78}" destId="{E85AD739-BAB7-1E47-9863-7610EB6B56AE}" srcOrd="3" destOrd="0" presId="urn:microsoft.com/office/officeart/2005/8/layout/vList2"/>
    <dgm:cxn modelId="{E433DFE5-BFC3-2E4E-8DB0-3DEE882D6967}" type="presParOf" srcId="{980B28A0-5091-BB40-9C28-378F1FF5EA78}" destId="{D3DF71F3-699D-3B42-9138-B28C4A0B1F4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E520EC-7ACF-42AA-A753-571F909891F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481B3D-4FAB-4926-B844-5BF5159BA278}">
      <dgm:prSet/>
      <dgm:spPr/>
      <dgm:t>
        <a:bodyPr/>
        <a:lstStyle/>
        <a:p>
          <a:r>
            <a:rPr lang="en-IN" b="1"/>
            <a:t>Planning: </a:t>
          </a:r>
          <a:r>
            <a:rPr lang="en-IN"/>
            <a:t>It is the process of determining enterprise objectives and selecting future courses of actions necessary for their accomplishment. </a:t>
          </a:r>
          <a:endParaRPr lang="en-US"/>
        </a:p>
      </dgm:t>
    </dgm:pt>
    <dgm:pt modelId="{930A75E2-5E2C-4862-B9F8-AE13A59D28DD}" type="parTrans" cxnId="{3E08D704-D4B2-47AD-8541-D3C3D0D20DCB}">
      <dgm:prSet/>
      <dgm:spPr/>
      <dgm:t>
        <a:bodyPr/>
        <a:lstStyle/>
        <a:p>
          <a:endParaRPr lang="en-US"/>
        </a:p>
      </dgm:t>
    </dgm:pt>
    <dgm:pt modelId="{D4D42877-CB88-4BAE-88D7-C517EEFFB0A1}" type="sibTrans" cxnId="{3E08D704-D4B2-47AD-8541-D3C3D0D20DCB}">
      <dgm:prSet/>
      <dgm:spPr/>
      <dgm:t>
        <a:bodyPr/>
        <a:lstStyle/>
        <a:p>
          <a:endParaRPr lang="en-US"/>
        </a:p>
      </dgm:t>
    </dgm:pt>
    <dgm:pt modelId="{D7E7BDFC-299F-4E60-A12F-F5E00C79EAE2}">
      <dgm:prSet/>
      <dgm:spPr/>
      <dgm:t>
        <a:bodyPr/>
        <a:lstStyle/>
        <a:p>
          <a:r>
            <a:rPr lang="en-IN" b="1"/>
            <a:t>Organising: </a:t>
          </a:r>
          <a:r>
            <a:rPr lang="en-IN"/>
            <a:t>it is concerned with the arrangement of an organisation’s resources - people, materials, technology and finance in order to achieve enterprise objectives. </a:t>
          </a:r>
          <a:endParaRPr lang="en-US"/>
        </a:p>
      </dgm:t>
    </dgm:pt>
    <dgm:pt modelId="{6FC9CD88-4363-42F6-AEEE-EC9F4031463E}" type="parTrans" cxnId="{C7C4D802-BF5D-42AF-8DCD-B5E7747C1B7A}">
      <dgm:prSet/>
      <dgm:spPr/>
      <dgm:t>
        <a:bodyPr/>
        <a:lstStyle/>
        <a:p>
          <a:endParaRPr lang="en-US"/>
        </a:p>
      </dgm:t>
    </dgm:pt>
    <dgm:pt modelId="{7B708516-8F44-4941-87F1-3F553D7D3134}" type="sibTrans" cxnId="{C7C4D802-BF5D-42AF-8DCD-B5E7747C1B7A}">
      <dgm:prSet/>
      <dgm:spPr/>
      <dgm:t>
        <a:bodyPr/>
        <a:lstStyle/>
        <a:p>
          <a:endParaRPr lang="en-US"/>
        </a:p>
      </dgm:t>
    </dgm:pt>
    <dgm:pt modelId="{DACDDBF2-2438-4026-85B3-31E327263A26}">
      <dgm:prSet/>
      <dgm:spPr/>
      <dgm:t>
        <a:bodyPr/>
        <a:lstStyle/>
        <a:p>
          <a:r>
            <a:rPr lang="en-IN"/>
            <a:t>It involves decisions about the division of work, allocation of authority and responsibility and the coordination of tasks. </a:t>
          </a:r>
          <a:endParaRPr lang="en-US"/>
        </a:p>
      </dgm:t>
    </dgm:pt>
    <dgm:pt modelId="{D8EB7DC4-0765-4B1D-9647-BEE2753F117B}" type="parTrans" cxnId="{4443E48F-48CA-4157-8005-E8B1419A0514}">
      <dgm:prSet/>
      <dgm:spPr/>
      <dgm:t>
        <a:bodyPr/>
        <a:lstStyle/>
        <a:p>
          <a:endParaRPr lang="en-US"/>
        </a:p>
      </dgm:t>
    </dgm:pt>
    <dgm:pt modelId="{B600E23A-9473-47CF-9EC6-312C28C55A13}" type="sibTrans" cxnId="{4443E48F-48CA-4157-8005-E8B1419A0514}">
      <dgm:prSet/>
      <dgm:spPr/>
      <dgm:t>
        <a:bodyPr/>
        <a:lstStyle/>
        <a:p>
          <a:endParaRPr lang="en-US"/>
        </a:p>
      </dgm:t>
    </dgm:pt>
    <dgm:pt modelId="{8966B237-B73A-4077-81D6-B26CA296A3E9}">
      <dgm:prSet/>
      <dgm:spPr/>
      <dgm:t>
        <a:bodyPr/>
        <a:lstStyle/>
        <a:p>
          <a:r>
            <a:rPr lang="en-IN" b="1"/>
            <a:t>Staffing: </a:t>
          </a:r>
          <a:r>
            <a:rPr lang="en-IN"/>
            <a:t>It is defined as an activity where people are recruited, selected, trained, developed, motivated and compensated for manning various positions.</a:t>
          </a:r>
          <a:endParaRPr lang="en-US"/>
        </a:p>
      </dgm:t>
    </dgm:pt>
    <dgm:pt modelId="{0A16038B-4D48-48FB-B802-99D76917F39A}" type="parTrans" cxnId="{E85D37B8-8E19-4B6B-8426-CDBF0F99F732}">
      <dgm:prSet/>
      <dgm:spPr/>
      <dgm:t>
        <a:bodyPr/>
        <a:lstStyle/>
        <a:p>
          <a:endParaRPr lang="en-US"/>
        </a:p>
      </dgm:t>
    </dgm:pt>
    <dgm:pt modelId="{DF763D60-C084-4584-98A7-3A9E63A49DCC}" type="sibTrans" cxnId="{E85D37B8-8E19-4B6B-8426-CDBF0F99F732}">
      <dgm:prSet/>
      <dgm:spPr/>
      <dgm:t>
        <a:bodyPr/>
        <a:lstStyle/>
        <a:p>
          <a:endParaRPr lang="en-US"/>
        </a:p>
      </dgm:t>
    </dgm:pt>
    <dgm:pt modelId="{41787303-F4A6-2E4F-BC4D-6A0038A200E3}" type="pres">
      <dgm:prSet presAssocID="{58E520EC-7ACF-42AA-A753-571F909891F2}" presName="vert0" presStyleCnt="0">
        <dgm:presLayoutVars>
          <dgm:dir/>
          <dgm:animOne val="branch"/>
          <dgm:animLvl val="lvl"/>
        </dgm:presLayoutVars>
      </dgm:prSet>
      <dgm:spPr/>
    </dgm:pt>
    <dgm:pt modelId="{350A31A3-FAFB-8940-9602-E89D75B4B945}" type="pres">
      <dgm:prSet presAssocID="{BD481B3D-4FAB-4926-B844-5BF5159BA278}" presName="thickLine" presStyleLbl="alignNode1" presStyleIdx="0" presStyleCnt="4"/>
      <dgm:spPr/>
    </dgm:pt>
    <dgm:pt modelId="{544123C2-A8CB-4046-AF7D-72543A6B6EBB}" type="pres">
      <dgm:prSet presAssocID="{BD481B3D-4FAB-4926-B844-5BF5159BA278}" presName="horz1" presStyleCnt="0"/>
      <dgm:spPr/>
    </dgm:pt>
    <dgm:pt modelId="{660DC2F9-30C1-0C46-9675-F50B12684E36}" type="pres">
      <dgm:prSet presAssocID="{BD481B3D-4FAB-4926-B844-5BF5159BA278}" presName="tx1" presStyleLbl="revTx" presStyleIdx="0" presStyleCnt="4"/>
      <dgm:spPr/>
    </dgm:pt>
    <dgm:pt modelId="{038FD26C-9914-B64F-866D-DD351DD03C51}" type="pres">
      <dgm:prSet presAssocID="{BD481B3D-4FAB-4926-B844-5BF5159BA278}" presName="vert1" presStyleCnt="0"/>
      <dgm:spPr/>
    </dgm:pt>
    <dgm:pt modelId="{FB93C1CA-48DA-EC4E-A289-2FB68A69A7E6}" type="pres">
      <dgm:prSet presAssocID="{D7E7BDFC-299F-4E60-A12F-F5E00C79EAE2}" presName="thickLine" presStyleLbl="alignNode1" presStyleIdx="1" presStyleCnt="4"/>
      <dgm:spPr/>
    </dgm:pt>
    <dgm:pt modelId="{DC7386DD-B41E-B94E-A7D0-A94B9E5803D5}" type="pres">
      <dgm:prSet presAssocID="{D7E7BDFC-299F-4E60-A12F-F5E00C79EAE2}" presName="horz1" presStyleCnt="0"/>
      <dgm:spPr/>
    </dgm:pt>
    <dgm:pt modelId="{2B1697C3-3DBC-9C44-B719-B395ECFD48F9}" type="pres">
      <dgm:prSet presAssocID="{D7E7BDFC-299F-4E60-A12F-F5E00C79EAE2}" presName="tx1" presStyleLbl="revTx" presStyleIdx="1" presStyleCnt="4"/>
      <dgm:spPr/>
    </dgm:pt>
    <dgm:pt modelId="{BCE64A38-A41C-8E42-AFF8-EE44735F177D}" type="pres">
      <dgm:prSet presAssocID="{D7E7BDFC-299F-4E60-A12F-F5E00C79EAE2}" presName="vert1" presStyleCnt="0"/>
      <dgm:spPr/>
    </dgm:pt>
    <dgm:pt modelId="{F5DB0F20-4DD4-E045-B58D-3674E6451F52}" type="pres">
      <dgm:prSet presAssocID="{DACDDBF2-2438-4026-85B3-31E327263A26}" presName="thickLine" presStyleLbl="alignNode1" presStyleIdx="2" presStyleCnt="4"/>
      <dgm:spPr/>
    </dgm:pt>
    <dgm:pt modelId="{6DA076AA-E3AF-4A46-AD4A-7B1E171EA063}" type="pres">
      <dgm:prSet presAssocID="{DACDDBF2-2438-4026-85B3-31E327263A26}" presName="horz1" presStyleCnt="0"/>
      <dgm:spPr/>
    </dgm:pt>
    <dgm:pt modelId="{7FBFDB76-0982-034B-B880-185231205E78}" type="pres">
      <dgm:prSet presAssocID="{DACDDBF2-2438-4026-85B3-31E327263A26}" presName="tx1" presStyleLbl="revTx" presStyleIdx="2" presStyleCnt="4"/>
      <dgm:spPr/>
    </dgm:pt>
    <dgm:pt modelId="{E52E0723-394B-2B43-9284-7B39D87617C7}" type="pres">
      <dgm:prSet presAssocID="{DACDDBF2-2438-4026-85B3-31E327263A26}" presName="vert1" presStyleCnt="0"/>
      <dgm:spPr/>
    </dgm:pt>
    <dgm:pt modelId="{13CAD934-C222-DB4A-BB83-4850568EC339}" type="pres">
      <dgm:prSet presAssocID="{8966B237-B73A-4077-81D6-B26CA296A3E9}" presName="thickLine" presStyleLbl="alignNode1" presStyleIdx="3" presStyleCnt="4"/>
      <dgm:spPr/>
    </dgm:pt>
    <dgm:pt modelId="{4911B4EA-C4E2-A444-9E00-85C5DD6D4F67}" type="pres">
      <dgm:prSet presAssocID="{8966B237-B73A-4077-81D6-B26CA296A3E9}" presName="horz1" presStyleCnt="0"/>
      <dgm:spPr/>
    </dgm:pt>
    <dgm:pt modelId="{733C9D28-E8D5-5C44-A182-B89EC8BAB4F7}" type="pres">
      <dgm:prSet presAssocID="{8966B237-B73A-4077-81D6-B26CA296A3E9}" presName="tx1" presStyleLbl="revTx" presStyleIdx="3" presStyleCnt="4"/>
      <dgm:spPr/>
    </dgm:pt>
    <dgm:pt modelId="{99559B54-EAA1-2A4E-A6D5-D97F07ED55E6}" type="pres">
      <dgm:prSet presAssocID="{8966B237-B73A-4077-81D6-B26CA296A3E9}" presName="vert1" presStyleCnt="0"/>
      <dgm:spPr/>
    </dgm:pt>
  </dgm:ptLst>
  <dgm:cxnLst>
    <dgm:cxn modelId="{C7C4D802-BF5D-42AF-8DCD-B5E7747C1B7A}" srcId="{58E520EC-7ACF-42AA-A753-571F909891F2}" destId="{D7E7BDFC-299F-4E60-A12F-F5E00C79EAE2}" srcOrd="1" destOrd="0" parTransId="{6FC9CD88-4363-42F6-AEEE-EC9F4031463E}" sibTransId="{7B708516-8F44-4941-87F1-3F553D7D3134}"/>
    <dgm:cxn modelId="{3E08D704-D4B2-47AD-8541-D3C3D0D20DCB}" srcId="{58E520EC-7ACF-42AA-A753-571F909891F2}" destId="{BD481B3D-4FAB-4926-B844-5BF5159BA278}" srcOrd="0" destOrd="0" parTransId="{930A75E2-5E2C-4862-B9F8-AE13A59D28DD}" sibTransId="{D4D42877-CB88-4BAE-88D7-C517EEFFB0A1}"/>
    <dgm:cxn modelId="{FA3B1F0D-D26D-454A-9F4D-2579B46CB121}" type="presOf" srcId="{BD481B3D-4FAB-4926-B844-5BF5159BA278}" destId="{660DC2F9-30C1-0C46-9675-F50B12684E36}" srcOrd="0" destOrd="0" presId="urn:microsoft.com/office/officeart/2008/layout/LinedList"/>
    <dgm:cxn modelId="{6DA10448-7E40-8246-A105-92B1542A5584}" type="presOf" srcId="{DACDDBF2-2438-4026-85B3-31E327263A26}" destId="{7FBFDB76-0982-034B-B880-185231205E78}" srcOrd="0" destOrd="0" presId="urn:microsoft.com/office/officeart/2008/layout/LinedList"/>
    <dgm:cxn modelId="{4443E48F-48CA-4157-8005-E8B1419A0514}" srcId="{58E520EC-7ACF-42AA-A753-571F909891F2}" destId="{DACDDBF2-2438-4026-85B3-31E327263A26}" srcOrd="2" destOrd="0" parTransId="{D8EB7DC4-0765-4B1D-9647-BEE2753F117B}" sibTransId="{B600E23A-9473-47CF-9EC6-312C28C55A13}"/>
    <dgm:cxn modelId="{582D539F-EDD6-7342-AC45-C4D121ADF29C}" type="presOf" srcId="{58E520EC-7ACF-42AA-A753-571F909891F2}" destId="{41787303-F4A6-2E4F-BC4D-6A0038A200E3}" srcOrd="0" destOrd="0" presId="urn:microsoft.com/office/officeart/2008/layout/LinedList"/>
    <dgm:cxn modelId="{E85D37B8-8E19-4B6B-8426-CDBF0F99F732}" srcId="{58E520EC-7ACF-42AA-A753-571F909891F2}" destId="{8966B237-B73A-4077-81D6-B26CA296A3E9}" srcOrd="3" destOrd="0" parTransId="{0A16038B-4D48-48FB-B802-99D76917F39A}" sibTransId="{DF763D60-C084-4584-98A7-3A9E63A49DCC}"/>
    <dgm:cxn modelId="{4F81CFF0-7E6D-664B-A501-D7C043708631}" type="presOf" srcId="{8966B237-B73A-4077-81D6-B26CA296A3E9}" destId="{733C9D28-E8D5-5C44-A182-B89EC8BAB4F7}" srcOrd="0" destOrd="0" presId="urn:microsoft.com/office/officeart/2008/layout/LinedList"/>
    <dgm:cxn modelId="{A59C31FF-AF51-3E4E-B853-BBC0DAE6E5F9}" type="presOf" srcId="{D7E7BDFC-299F-4E60-A12F-F5E00C79EAE2}" destId="{2B1697C3-3DBC-9C44-B719-B395ECFD48F9}" srcOrd="0" destOrd="0" presId="urn:microsoft.com/office/officeart/2008/layout/LinedList"/>
    <dgm:cxn modelId="{FEF11AEB-B15C-B848-BC62-BB2C5C2751BF}" type="presParOf" srcId="{41787303-F4A6-2E4F-BC4D-6A0038A200E3}" destId="{350A31A3-FAFB-8940-9602-E89D75B4B945}" srcOrd="0" destOrd="0" presId="urn:microsoft.com/office/officeart/2008/layout/LinedList"/>
    <dgm:cxn modelId="{B1E71485-4BE6-1346-A9FF-1B6B978304A9}" type="presParOf" srcId="{41787303-F4A6-2E4F-BC4D-6A0038A200E3}" destId="{544123C2-A8CB-4046-AF7D-72543A6B6EBB}" srcOrd="1" destOrd="0" presId="urn:microsoft.com/office/officeart/2008/layout/LinedList"/>
    <dgm:cxn modelId="{14D46681-48BE-5E47-8647-D5D21A327977}" type="presParOf" srcId="{544123C2-A8CB-4046-AF7D-72543A6B6EBB}" destId="{660DC2F9-30C1-0C46-9675-F50B12684E36}" srcOrd="0" destOrd="0" presId="urn:microsoft.com/office/officeart/2008/layout/LinedList"/>
    <dgm:cxn modelId="{251B5B12-289A-1342-B60C-3717E44715CF}" type="presParOf" srcId="{544123C2-A8CB-4046-AF7D-72543A6B6EBB}" destId="{038FD26C-9914-B64F-866D-DD351DD03C51}" srcOrd="1" destOrd="0" presId="urn:microsoft.com/office/officeart/2008/layout/LinedList"/>
    <dgm:cxn modelId="{56FB15AD-0614-9B43-BC77-8C3565DAAE22}" type="presParOf" srcId="{41787303-F4A6-2E4F-BC4D-6A0038A200E3}" destId="{FB93C1CA-48DA-EC4E-A289-2FB68A69A7E6}" srcOrd="2" destOrd="0" presId="urn:microsoft.com/office/officeart/2008/layout/LinedList"/>
    <dgm:cxn modelId="{F13B63A8-EABA-274B-BBD0-95169FBC96E9}" type="presParOf" srcId="{41787303-F4A6-2E4F-BC4D-6A0038A200E3}" destId="{DC7386DD-B41E-B94E-A7D0-A94B9E5803D5}" srcOrd="3" destOrd="0" presId="urn:microsoft.com/office/officeart/2008/layout/LinedList"/>
    <dgm:cxn modelId="{0B14F19E-4D41-6F4B-9433-9D2D2B28C5B4}" type="presParOf" srcId="{DC7386DD-B41E-B94E-A7D0-A94B9E5803D5}" destId="{2B1697C3-3DBC-9C44-B719-B395ECFD48F9}" srcOrd="0" destOrd="0" presId="urn:microsoft.com/office/officeart/2008/layout/LinedList"/>
    <dgm:cxn modelId="{F593A083-C0B1-2142-8F84-48EC6B02FAC6}" type="presParOf" srcId="{DC7386DD-B41E-B94E-A7D0-A94B9E5803D5}" destId="{BCE64A38-A41C-8E42-AFF8-EE44735F177D}" srcOrd="1" destOrd="0" presId="urn:microsoft.com/office/officeart/2008/layout/LinedList"/>
    <dgm:cxn modelId="{7863ECEF-EA69-BA4E-93EE-08CA98F85C65}" type="presParOf" srcId="{41787303-F4A6-2E4F-BC4D-6A0038A200E3}" destId="{F5DB0F20-4DD4-E045-B58D-3674E6451F52}" srcOrd="4" destOrd="0" presId="urn:microsoft.com/office/officeart/2008/layout/LinedList"/>
    <dgm:cxn modelId="{1B430EB4-3F56-1D49-BE4C-542070684BE2}" type="presParOf" srcId="{41787303-F4A6-2E4F-BC4D-6A0038A200E3}" destId="{6DA076AA-E3AF-4A46-AD4A-7B1E171EA063}" srcOrd="5" destOrd="0" presId="urn:microsoft.com/office/officeart/2008/layout/LinedList"/>
    <dgm:cxn modelId="{66802B9F-021A-B248-93CD-A1CB9377450B}" type="presParOf" srcId="{6DA076AA-E3AF-4A46-AD4A-7B1E171EA063}" destId="{7FBFDB76-0982-034B-B880-185231205E78}" srcOrd="0" destOrd="0" presId="urn:microsoft.com/office/officeart/2008/layout/LinedList"/>
    <dgm:cxn modelId="{68B89258-55E4-4D49-88AA-DE0C2BCD3BE1}" type="presParOf" srcId="{6DA076AA-E3AF-4A46-AD4A-7B1E171EA063}" destId="{E52E0723-394B-2B43-9284-7B39D87617C7}" srcOrd="1" destOrd="0" presId="urn:microsoft.com/office/officeart/2008/layout/LinedList"/>
    <dgm:cxn modelId="{4AC81FB1-D9F8-0E4D-9234-CDD00F05A254}" type="presParOf" srcId="{41787303-F4A6-2E4F-BC4D-6A0038A200E3}" destId="{13CAD934-C222-DB4A-BB83-4850568EC339}" srcOrd="6" destOrd="0" presId="urn:microsoft.com/office/officeart/2008/layout/LinedList"/>
    <dgm:cxn modelId="{5434CD42-82CA-274E-9D07-994476A2B141}" type="presParOf" srcId="{41787303-F4A6-2E4F-BC4D-6A0038A200E3}" destId="{4911B4EA-C4E2-A444-9E00-85C5DD6D4F67}" srcOrd="7" destOrd="0" presId="urn:microsoft.com/office/officeart/2008/layout/LinedList"/>
    <dgm:cxn modelId="{D963F3DB-ABD9-0043-87DA-63F47A213140}" type="presParOf" srcId="{4911B4EA-C4E2-A444-9E00-85C5DD6D4F67}" destId="{733C9D28-E8D5-5C44-A182-B89EC8BAB4F7}" srcOrd="0" destOrd="0" presId="urn:microsoft.com/office/officeart/2008/layout/LinedList"/>
    <dgm:cxn modelId="{87FC2152-32A4-344F-8543-EA26E9FB6F33}" type="presParOf" srcId="{4911B4EA-C4E2-A444-9E00-85C5DD6D4F67}" destId="{99559B54-EAA1-2A4E-A6D5-D97F07ED55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02AAA-092D-4319-8875-9C9009BE7588}">
      <dsp:nvSpPr>
        <dsp:cNvPr id="0" name=""/>
        <dsp:cNvSpPr/>
      </dsp:nvSpPr>
      <dsp:spPr>
        <a:xfrm>
          <a:off x="0" y="3399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C399C-D66A-4256-AC19-5C126ED4C39F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96B5C-9169-47CA-9294-7AB940B888C0}">
      <dsp:nvSpPr>
        <dsp:cNvPr id="0" name=""/>
        <dsp:cNvSpPr/>
      </dsp:nvSpPr>
      <dsp:spPr>
        <a:xfrm>
          <a:off x="836323" y="3399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Reducing ambiguity in methods of working </a:t>
          </a:r>
          <a:r>
            <a:rPr lang="en-IN" sz="1800" kern="1200"/>
            <a:t>through SOPs and defined roles and responsibilities </a:t>
          </a:r>
          <a:endParaRPr lang="en-US" sz="1800" kern="1200"/>
        </a:p>
      </dsp:txBody>
      <dsp:txXfrm>
        <a:off x="836323" y="3399"/>
        <a:ext cx="7050376" cy="724089"/>
      </dsp:txXfrm>
    </dsp:sp>
    <dsp:sp modelId="{8CCC6D22-05A9-482A-AC41-E2DD5FC58623}">
      <dsp:nvSpPr>
        <dsp:cNvPr id="0" name=""/>
        <dsp:cNvSpPr/>
      </dsp:nvSpPr>
      <dsp:spPr>
        <a:xfrm>
          <a:off x="0" y="908511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686049-7E0D-419A-AFBB-6010AA4198BF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AA683-2F4C-4FD0-B24B-49DF570CED37}">
      <dsp:nvSpPr>
        <dsp:cNvPr id="0" name=""/>
        <dsp:cNvSpPr/>
      </dsp:nvSpPr>
      <dsp:spPr>
        <a:xfrm>
          <a:off x="836323" y="908511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Keeping costs down</a:t>
          </a:r>
          <a:r>
            <a:rPr lang="en-IN" sz="1800" kern="1200"/>
            <a:t>, and motivating others to do the same through resource optimization and budgetary control </a:t>
          </a:r>
          <a:endParaRPr lang="en-US" sz="1800" kern="1200"/>
        </a:p>
      </dsp:txBody>
      <dsp:txXfrm>
        <a:off x="836323" y="908511"/>
        <a:ext cx="7050376" cy="724089"/>
      </dsp:txXfrm>
    </dsp:sp>
    <dsp:sp modelId="{6593A772-B410-40EC-8A02-25E12FDC7720}">
      <dsp:nvSpPr>
        <dsp:cNvPr id="0" name=""/>
        <dsp:cNvSpPr/>
      </dsp:nvSpPr>
      <dsp:spPr>
        <a:xfrm>
          <a:off x="0" y="1813624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62101-64B1-4BA4-B681-525D30BDCD75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4AB9C-B1EF-415D-A8A5-BDED62A31EE7}">
      <dsp:nvSpPr>
        <dsp:cNvPr id="0" name=""/>
        <dsp:cNvSpPr/>
      </dsp:nvSpPr>
      <dsp:spPr>
        <a:xfrm>
          <a:off x="836323" y="1813624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Taking calculated risks </a:t>
          </a:r>
          <a:r>
            <a:rPr lang="en-IN" sz="1800" kern="1200"/>
            <a:t>through data driven analytics and cost benefit evaluation</a:t>
          </a:r>
          <a:endParaRPr lang="en-US" sz="1800" kern="1200"/>
        </a:p>
      </dsp:txBody>
      <dsp:txXfrm>
        <a:off x="836323" y="1813624"/>
        <a:ext cx="7050376" cy="724089"/>
      </dsp:txXfrm>
    </dsp:sp>
    <dsp:sp modelId="{B7DA2116-2C99-461C-A282-CF9155C4FA0B}">
      <dsp:nvSpPr>
        <dsp:cNvPr id="0" name=""/>
        <dsp:cNvSpPr/>
      </dsp:nvSpPr>
      <dsp:spPr>
        <a:xfrm>
          <a:off x="0" y="2718736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DCA8F-7E0B-41BC-9BB6-1C7B17502B35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FE7BDC-C4E6-4148-8540-B573DC770839}">
      <dsp:nvSpPr>
        <dsp:cNvPr id="0" name=""/>
        <dsp:cNvSpPr/>
      </dsp:nvSpPr>
      <dsp:spPr>
        <a:xfrm>
          <a:off x="836323" y="2718736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Managing prospective risk </a:t>
          </a:r>
          <a:r>
            <a:rPr lang="en-IN" sz="1800" kern="1200"/>
            <a:t>through crisis and contingency planning and market trend forecasting </a:t>
          </a:r>
          <a:endParaRPr lang="en-US" sz="1800" kern="1200"/>
        </a:p>
      </dsp:txBody>
      <dsp:txXfrm>
        <a:off x="836323" y="2718736"/>
        <a:ext cx="7050376" cy="724089"/>
      </dsp:txXfrm>
    </dsp:sp>
    <dsp:sp modelId="{4D082D00-0343-45C9-8D41-D2BE6BE0FBD7}">
      <dsp:nvSpPr>
        <dsp:cNvPr id="0" name=""/>
        <dsp:cNvSpPr/>
      </dsp:nvSpPr>
      <dsp:spPr>
        <a:xfrm>
          <a:off x="0" y="3623848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14ADE-CA73-4864-816D-488C50DD890C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ABDF5-C332-4422-95C4-372DC898F60B}">
      <dsp:nvSpPr>
        <dsp:cNvPr id="0" name=""/>
        <dsp:cNvSpPr/>
      </dsp:nvSpPr>
      <dsp:spPr>
        <a:xfrm>
          <a:off x="836323" y="3623848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Exercise good judgement </a:t>
          </a:r>
          <a:r>
            <a:rPr lang="en-IN" sz="1800" kern="1200"/>
            <a:t>by balancing conflicting interests and evidence based decisions </a:t>
          </a:r>
          <a:endParaRPr lang="en-US" sz="1800" kern="1200"/>
        </a:p>
      </dsp:txBody>
      <dsp:txXfrm>
        <a:off x="836323" y="3623848"/>
        <a:ext cx="7050376" cy="72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0157F-9C48-6141-BF8B-146B1365C03B}">
      <dsp:nvSpPr>
        <dsp:cNvPr id="0" name=""/>
        <dsp:cNvSpPr/>
      </dsp:nvSpPr>
      <dsp:spPr>
        <a:xfrm>
          <a:off x="0" y="86904"/>
          <a:ext cx="7886700" cy="13560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First line (or first level) managers: </a:t>
          </a:r>
          <a:r>
            <a:rPr lang="en-US" sz="1900" kern="1200"/>
            <a:t>managers who are responsible for the work of operating employees only and do not supervise other managers; they are the first or the lowest level of managers in the organizational hierarchy </a:t>
          </a:r>
        </a:p>
      </dsp:txBody>
      <dsp:txXfrm>
        <a:off x="66196" y="153100"/>
        <a:ext cx="7754308" cy="1223637"/>
      </dsp:txXfrm>
    </dsp:sp>
    <dsp:sp modelId="{359777F0-4864-2F4C-BCDB-F81189A9B471}">
      <dsp:nvSpPr>
        <dsp:cNvPr id="0" name=""/>
        <dsp:cNvSpPr/>
      </dsp:nvSpPr>
      <dsp:spPr>
        <a:xfrm>
          <a:off x="0" y="1497654"/>
          <a:ext cx="7886700" cy="1356029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Middle Managers: </a:t>
          </a:r>
          <a:r>
            <a:rPr lang="en-US" sz="1900" kern="1200"/>
            <a:t>Managers in the midrange of the organizational hierarchy; they are responsible for other managers and sometimes for some operating employees; they also report to more senior managers</a:t>
          </a:r>
        </a:p>
      </dsp:txBody>
      <dsp:txXfrm>
        <a:off x="66196" y="1563850"/>
        <a:ext cx="7754308" cy="1223637"/>
      </dsp:txXfrm>
    </dsp:sp>
    <dsp:sp modelId="{D3DF71F3-699D-3B42-9138-B28C4A0B1F4A}">
      <dsp:nvSpPr>
        <dsp:cNvPr id="0" name=""/>
        <dsp:cNvSpPr/>
      </dsp:nvSpPr>
      <dsp:spPr>
        <a:xfrm>
          <a:off x="0" y="2908403"/>
          <a:ext cx="7886700" cy="135602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Top managers: </a:t>
          </a:r>
          <a:r>
            <a:rPr lang="en-US" sz="1900" kern="1200"/>
            <a:t>Managers responsible for the overall management of the organization; they establish operating policies and guide the organization’s interaction with its environment </a:t>
          </a:r>
        </a:p>
      </dsp:txBody>
      <dsp:txXfrm>
        <a:off x="66196" y="2974599"/>
        <a:ext cx="7754308" cy="12236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A31A3-FAFB-8940-9602-E89D75B4B945}">
      <dsp:nvSpPr>
        <dsp:cNvPr id="0" name=""/>
        <dsp:cNvSpPr/>
      </dsp:nvSpPr>
      <dsp:spPr>
        <a:xfrm>
          <a:off x="0" y="0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DC2F9-30C1-0C46-9675-F50B12684E36}">
      <dsp:nvSpPr>
        <dsp:cNvPr id="0" name=""/>
        <dsp:cNvSpPr/>
      </dsp:nvSpPr>
      <dsp:spPr>
        <a:xfrm>
          <a:off x="0" y="0"/>
          <a:ext cx="78867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Planning: </a:t>
          </a:r>
          <a:r>
            <a:rPr lang="en-IN" sz="2100" kern="1200"/>
            <a:t>It is the process of determining enterprise objectives and selecting future courses of actions necessary for their accomplishment. </a:t>
          </a:r>
          <a:endParaRPr lang="en-US" sz="2100" kern="1200"/>
        </a:p>
      </dsp:txBody>
      <dsp:txXfrm>
        <a:off x="0" y="0"/>
        <a:ext cx="7886700" cy="1087834"/>
      </dsp:txXfrm>
    </dsp:sp>
    <dsp:sp modelId="{FB93C1CA-48DA-EC4E-A289-2FB68A69A7E6}">
      <dsp:nvSpPr>
        <dsp:cNvPr id="0" name=""/>
        <dsp:cNvSpPr/>
      </dsp:nvSpPr>
      <dsp:spPr>
        <a:xfrm>
          <a:off x="0" y="1087834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697C3-3DBC-9C44-B719-B395ECFD48F9}">
      <dsp:nvSpPr>
        <dsp:cNvPr id="0" name=""/>
        <dsp:cNvSpPr/>
      </dsp:nvSpPr>
      <dsp:spPr>
        <a:xfrm>
          <a:off x="0" y="1087834"/>
          <a:ext cx="78867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Organising: </a:t>
          </a:r>
          <a:r>
            <a:rPr lang="en-IN" sz="2100" kern="1200"/>
            <a:t>it is concerned with the arrangement of an organisation’s resources - people, materials, technology and finance in order to achieve enterprise objectives. </a:t>
          </a:r>
          <a:endParaRPr lang="en-US" sz="2100" kern="1200"/>
        </a:p>
      </dsp:txBody>
      <dsp:txXfrm>
        <a:off x="0" y="1087834"/>
        <a:ext cx="7886700" cy="1087834"/>
      </dsp:txXfrm>
    </dsp:sp>
    <dsp:sp modelId="{F5DB0F20-4DD4-E045-B58D-3674E6451F52}">
      <dsp:nvSpPr>
        <dsp:cNvPr id="0" name=""/>
        <dsp:cNvSpPr/>
      </dsp:nvSpPr>
      <dsp:spPr>
        <a:xfrm>
          <a:off x="0" y="2175669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FDB76-0982-034B-B880-185231205E78}">
      <dsp:nvSpPr>
        <dsp:cNvPr id="0" name=""/>
        <dsp:cNvSpPr/>
      </dsp:nvSpPr>
      <dsp:spPr>
        <a:xfrm>
          <a:off x="0" y="2175669"/>
          <a:ext cx="78867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It involves decisions about the division of work, allocation of authority and responsibility and the coordination of tasks. </a:t>
          </a:r>
          <a:endParaRPr lang="en-US" sz="2100" kern="1200"/>
        </a:p>
      </dsp:txBody>
      <dsp:txXfrm>
        <a:off x="0" y="2175669"/>
        <a:ext cx="7886700" cy="1087834"/>
      </dsp:txXfrm>
    </dsp:sp>
    <dsp:sp modelId="{13CAD934-C222-DB4A-BB83-4850568EC339}">
      <dsp:nvSpPr>
        <dsp:cNvPr id="0" name=""/>
        <dsp:cNvSpPr/>
      </dsp:nvSpPr>
      <dsp:spPr>
        <a:xfrm>
          <a:off x="0" y="3263503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C9D28-E8D5-5C44-A182-B89EC8BAB4F7}">
      <dsp:nvSpPr>
        <dsp:cNvPr id="0" name=""/>
        <dsp:cNvSpPr/>
      </dsp:nvSpPr>
      <dsp:spPr>
        <a:xfrm>
          <a:off x="0" y="3263503"/>
          <a:ext cx="78867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Staffing: </a:t>
          </a:r>
          <a:r>
            <a:rPr lang="en-IN" sz="2100" kern="1200"/>
            <a:t>It is defined as an activity where people are recruited, selected, trained, developed, motivated and compensated for manning various positions.</a:t>
          </a:r>
          <a:endParaRPr lang="en-US" sz="2100" kern="1200"/>
        </a:p>
      </dsp:txBody>
      <dsp:txXfrm>
        <a:off x="0" y="3263503"/>
        <a:ext cx="78867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7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9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9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9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4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45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2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6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3F82B-6030-8349-9DAC-511C896E41B2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2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31284-22A5-1BB5-57C4-437070AD9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 dirty="0"/>
              <a:t>MS 601 </a:t>
            </a:r>
            <a:br>
              <a:rPr lang="en-US" sz="5700" dirty="0"/>
            </a:br>
            <a:br>
              <a:rPr lang="en-US" sz="5700" dirty="0"/>
            </a:br>
            <a:r>
              <a:rPr lang="en-US" sz="5700" dirty="0"/>
              <a:t>INTRODUCTION TO MANAGEMENT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96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933EA-53FE-88D8-765B-5C01D558F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Definitions in Management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44058-0DE8-4C7A-45B2-CF8C5FF79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b="1" dirty="0"/>
              <a:t>Organization: </a:t>
            </a:r>
            <a:r>
              <a:rPr lang="en-US" sz="1900" dirty="0"/>
              <a:t>Two or more people who work together in a structured way to achieve a specific goal or a set of goals </a:t>
            </a:r>
          </a:p>
          <a:p>
            <a:r>
              <a:rPr lang="en-US" sz="1900" b="1" dirty="0"/>
              <a:t>Goal: </a:t>
            </a:r>
            <a:r>
              <a:rPr lang="en-US" sz="1900" dirty="0"/>
              <a:t>the purpose that an organization strives to achieve; organizations often have more than one goal; goals are fundamental elements of organizations</a:t>
            </a:r>
          </a:p>
          <a:p>
            <a:r>
              <a:rPr lang="en-US" sz="1900" b="1" dirty="0"/>
              <a:t>Management: </a:t>
            </a:r>
            <a:r>
              <a:rPr lang="en-US" sz="1900" dirty="0"/>
              <a:t>The process of planning, organizing, leading, and controlling the work of organization members and of using all available organizational resources to reach stated organizational goals </a:t>
            </a:r>
            <a:r>
              <a:rPr lang="en-US" sz="2000" b="1" i="1" dirty="0"/>
              <a:t>(James A.F. Stoner)</a:t>
            </a:r>
            <a:endParaRPr lang="en-US" sz="1900" b="1" i="1" dirty="0"/>
          </a:p>
          <a:p>
            <a:r>
              <a:rPr lang="en-US" sz="1900" b="1" dirty="0"/>
              <a:t>Manager: </a:t>
            </a:r>
            <a:r>
              <a:rPr lang="en-US" sz="1900" dirty="0"/>
              <a:t>people responsible for directing the efforts aimed at helping organizations achieve their goals </a:t>
            </a:r>
          </a:p>
          <a:p>
            <a:endParaRPr lang="en-US" sz="1900" b="1" i="1" dirty="0"/>
          </a:p>
        </p:txBody>
      </p:sp>
    </p:spTree>
    <p:extLst>
      <p:ext uri="{BB962C8B-B14F-4D97-AF65-F5344CB8AC3E}">
        <p14:creationId xmlns:p14="http://schemas.microsoft.com/office/powerpoint/2010/main" val="3118230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DBD2F-5AB8-DAD2-9FD9-A84FDFEA6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Management Process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D0BBA-0ACE-81D7-F6D6-BD45DB58F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b="1"/>
              <a:t>Process: </a:t>
            </a:r>
            <a:r>
              <a:rPr lang="en-US" sz="1900"/>
              <a:t>A systematic method of handling activities </a:t>
            </a:r>
          </a:p>
          <a:p>
            <a:r>
              <a:rPr lang="en-US" sz="1900" b="1"/>
              <a:t>Planning: </a:t>
            </a:r>
            <a:r>
              <a:rPr lang="en-US" sz="1900"/>
              <a:t>the process of establishing goals and a suitable course of action for achieving those goals </a:t>
            </a:r>
          </a:p>
          <a:p>
            <a:r>
              <a:rPr lang="en-US" sz="1900" b="1"/>
              <a:t>Organizing: </a:t>
            </a:r>
            <a:r>
              <a:rPr lang="en-US" sz="1900"/>
              <a:t>the process of engaging two or more people in working together in a structured way to achieve a specific goal or set of goals. </a:t>
            </a:r>
          </a:p>
          <a:p>
            <a:r>
              <a:rPr lang="en-US" sz="1900" b="1"/>
              <a:t>Leading: </a:t>
            </a:r>
            <a:r>
              <a:rPr lang="en-US" sz="1900"/>
              <a:t>The process of directing and influencing the task-related activities of group members or an entire organization </a:t>
            </a:r>
          </a:p>
          <a:p>
            <a:r>
              <a:rPr lang="en-US" sz="1900" b="1"/>
              <a:t>Controlling: </a:t>
            </a:r>
            <a:r>
              <a:rPr lang="en-US" sz="1900"/>
              <a:t>the process of ensuring that actual activities conform to planned activities </a:t>
            </a:r>
          </a:p>
        </p:txBody>
      </p:sp>
    </p:spTree>
    <p:extLst>
      <p:ext uri="{BB962C8B-B14F-4D97-AF65-F5344CB8AC3E}">
        <p14:creationId xmlns:p14="http://schemas.microsoft.com/office/powerpoint/2010/main" val="90264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AB4DB0-49CD-B602-283E-ED2944CE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8" b="1290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3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E9567-9323-D7D2-35B8-D5FA99927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NATURE OF MANAGEMENT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7A41-58F4-9765-B1F7-E77A66AD0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IN" sz="2000" dirty="0"/>
              <a:t>Management aims at reaping rich results in economic terms through the </a:t>
            </a:r>
            <a:r>
              <a:rPr lang="en-IN" sz="2000" b="1" dirty="0"/>
              <a:t>rational utilization of resources</a:t>
            </a:r>
            <a:r>
              <a:rPr lang="en-IN" sz="2000" dirty="0"/>
              <a:t>, </a:t>
            </a:r>
            <a:r>
              <a:rPr lang="en-IN" sz="2000" b="1" dirty="0"/>
              <a:t>productive performance via planning and control</a:t>
            </a:r>
            <a:r>
              <a:rPr lang="en-IN" sz="2000" dirty="0"/>
              <a:t>, and </a:t>
            </a:r>
            <a:r>
              <a:rPr lang="en-IN" sz="2000" b="1" dirty="0"/>
              <a:t>maximizing profits</a:t>
            </a:r>
            <a:r>
              <a:rPr lang="en-IN" sz="2000" dirty="0"/>
              <a:t>.</a:t>
            </a:r>
          </a:p>
          <a:p>
            <a:r>
              <a:rPr lang="en-IN" sz="2000" dirty="0"/>
              <a:t>Management means </a:t>
            </a:r>
            <a:r>
              <a:rPr lang="en-IN" sz="2000" b="1" dirty="0"/>
              <a:t>getting work done through people </a:t>
            </a:r>
            <a:r>
              <a:rPr lang="en-IN" sz="2000" dirty="0"/>
              <a:t>to reach a shared goal. </a:t>
            </a:r>
          </a:p>
          <a:p>
            <a:r>
              <a:rPr lang="en-IN" sz="2000" dirty="0"/>
              <a:t>Management is a </a:t>
            </a:r>
            <a:r>
              <a:rPr lang="en-IN" sz="2000" b="1" dirty="0"/>
              <a:t>process</a:t>
            </a:r>
            <a:r>
              <a:rPr lang="en-IN" sz="2000" dirty="0"/>
              <a:t>, a continuous, systematic way of getting work done</a:t>
            </a:r>
          </a:p>
          <a:p>
            <a:r>
              <a:rPr lang="en-IN" sz="2000" dirty="0"/>
              <a:t>Management is a </a:t>
            </a:r>
            <a:r>
              <a:rPr lang="en-IN" sz="2000" b="1" dirty="0"/>
              <a:t>universal activity </a:t>
            </a:r>
            <a:r>
              <a:rPr lang="en-IN" sz="2000" dirty="0"/>
              <a:t>required in all types of organizations (political, social, religious and educational institutions) where group efforts are needed </a:t>
            </a:r>
          </a:p>
          <a:p>
            <a:r>
              <a:rPr lang="en-IN" sz="2000" dirty="0"/>
              <a:t>Management is both </a:t>
            </a:r>
            <a:r>
              <a:rPr lang="en-IN" sz="2000" b="1" dirty="0"/>
              <a:t>an art and a science </a:t>
            </a:r>
            <a:r>
              <a:rPr lang="en-IN" sz="2000" dirty="0"/>
              <a:t>because it uses structured rules and facts like a science, and personal skills and creativity like an art</a:t>
            </a:r>
          </a:p>
        </p:txBody>
      </p:sp>
    </p:spTree>
    <p:extLst>
      <p:ext uri="{BB962C8B-B14F-4D97-AF65-F5344CB8AC3E}">
        <p14:creationId xmlns:p14="http://schemas.microsoft.com/office/powerpoint/2010/main" val="1910204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F6F61-37D8-D04F-2BB7-79DD89C2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6CA63-0839-8D2A-33CB-D7566367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NATURE OF MANAGEMENT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69E81-9E66-1C4E-7243-90C52E10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IN" sz="2000" dirty="0"/>
              <a:t>Management is considered a </a:t>
            </a:r>
            <a:r>
              <a:rPr lang="en-IN" sz="2000" b="1" dirty="0"/>
              <a:t>profession</a:t>
            </a:r>
            <a:r>
              <a:rPr lang="en-IN" sz="2000" dirty="0"/>
              <a:t> because it features specialized knowledge and formal training</a:t>
            </a:r>
          </a:p>
          <a:p>
            <a:r>
              <a:rPr lang="en-IN" sz="2000" dirty="0"/>
              <a:t>Management is a </a:t>
            </a:r>
            <a:r>
              <a:rPr lang="en-IN" sz="2000" b="1" dirty="0"/>
              <a:t>goal-oriented process </a:t>
            </a:r>
          </a:p>
          <a:p>
            <a:r>
              <a:rPr lang="en-IN" sz="2000" dirty="0"/>
              <a:t>Management is a </a:t>
            </a:r>
            <a:r>
              <a:rPr lang="en-IN" sz="2000" b="1" dirty="0"/>
              <a:t>group activity </a:t>
            </a:r>
          </a:p>
          <a:p>
            <a:r>
              <a:rPr lang="en-IN" sz="2000" dirty="0"/>
              <a:t>Management is fundamentally a </a:t>
            </a:r>
            <a:r>
              <a:rPr lang="en-IN" sz="2000" b="1" dirty="0"/>
              <a:t>system of authority </a:t>
            </a:r>
            <a:r>
              <a:rPr lang="en-IN" sz="2000" dirty="0"/>
              <a:t>as it relies on formal hierarchy, command structures, and the legitimate right to direct resources</a:t>
            </a:r>
          </a:p>
          <a:p>
            <a:r>
              <a:rPr lang="en-IN" sz="2000" dirty="0"/>
              <a:t>Management implies </a:t>
            </a:r>
            <a:r>
              <a:rPr lang="en-IN" sz="2000" b="1" dirty="0"/>
              <a:t>decision making </a:t>
            </a:r>
            <a:endParaRPr lang="en-IN" sz="2000" dirty="0"/>
          </a:p>
          <a:p>
            <a:r>
              <a:rPr lang="en-IN" sz="2000" dirty="0"/>
              <a:t>Management implies </a:t>
            </a:r>
            <a:r>
              <a:rPr lang="en-IN" sz="2000" b="1" dirty="0"/>
              <a:t>good leadership </a:t>
            </a:r>
          </a:p>
          <a:p>
            <a:r>
              <a:rPr lang="en-IN" sz="2000" dirty="0"/>
              <a:t>Management is a </a:t>
            </a:r>
            <a:r>
              <a:rPr lang="en-IN" sz="2000" b="1" dirty="0"/>
              <a:t>dynamic</a:t>
            </a:r>
            <a:r>
              <a:rPr lang="en-IN" sz="2000" dirty="0"/>
              <a:t> function as it must adapt to the world around it to help a group or business succeed</a:t>
            </a:r>
          </a:p>
        </p:txBody>
      </p:sp>
    </p:spTree>
    <p:extLst>
      <p:ext uri="{BB962C8B-B14F-4D97-AF65-F5344CB8AC3E}">
        <p14:creationId xmlns:p14="http://schemas.microsoft.com/office/powerpoint/2010/main" val="63181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4FD1A-94F8-276E-DE57-DF7FC3869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Nature of Management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E376A-B08B-9AB1-9093-A2905D9C9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IN" sz="2000" dirty="0"/>
              <a:t>Management is a </a:t>
            </a:r>
            <a:r>
              <a:rPr lang="en-IN" sz="2000" b="1" dirty="0"/>
              <a:t>multidisciplinary field </a:t>
            </a:r>
          </a:p>
          <a:p>
            <a:r>
              <a:rPr lang="en-IN" sz="2000" dirty="0"/>
              <a:t>Management is </a:t>
            </a:r>
            <a:r>
              <a:rPr lang="en-IN" sz="2000" b="1" dirty="0"/>
              <a:t>goal oriented</a:t>
            </a:r>
            <a:endParaRPr lang="en-IN" sz="2000" dirty="0"/>
          </a:p>
          <a:p>
            <a:r>
              <a:rPr lang="en-IN" sz="2000" dirty="0"/>
              <a:t>Management is needed at different </a:t>
            </a:r>
            <a:r>
              <a:rPr lang="en-IN" sz="2000" b="1" dirty="0"/>
              <a:t>levels</a:t>
            </a:r>
            <a:r>
              <a:rPr lang="en-IN" sz="2000" dirty="0"/>
              <a:t> of an organisation </a:t>
            </a:r>
          </a:p>
          <a:p>
            <a:r>
              <a:rPr lang="en-IN" sz="2000" dirty="0"/>
              <a:t>There is the </a:t>
            </a:r>
            <a:r>
              <a:rPr lang="en-IN" sz="2000" b="1" dirty="0"/>
              <a:t>need of an organisation </a:t>
            </a:r>
            <a:r>
              <a:rPr lang="en-IN" sz="2000" dirty="0"/>
              <a:t>for the success of management</a:t>
            </a:r>
          </a:p>
          <a:p>
            <a:r>
              <a:rPr lang="en-IN" sz="2000" b="1" dirty="0"/>
              <a:t>Management need not be owners</a:t>
            </a:r>
            <a:r>
              <a:rPr lang="en-IN" sz="2000" dirty="0"/>
              <a:t>; the separation of ownership and control</a:t>
            </a:r>
          </a:p>
          <a:p>
            <a:r>
              <a:rPr lang="en-IN" sz="2000" dirty="0"/>
              <a:t>Management is an </a:t>
            </a:r>
            <a:r>
              <a:rPr lang="en-IN" sz="2000" b="1" dirty="0"/>
              <a:t>intangible</a:t>
            </a:r>
            <a:r>
              <a:rPr lang="en-IN" sz="2000" dirty="0"/>
              <a:t> force, its presence is experienced through how an organization functions, hits its targets, and maintains order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54879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4D995-18B2-288C-9E9D-79F1E0F2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EE7396-B3A6-77BE-33EC-1BBB8E414E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4648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096A45-85F4-41E8-0E41-24A0F1522B7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324" r="867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89C0D-EC17-7D49-3B33-1B2FE1D4F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Management Levels 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1B262F-4B8A-1C5F-02D4-EC32AF0C9E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25711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6911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FDF2-323E-1D83-0D8B-FDA658A04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5"/>
            <a:ext cx="7886700" cy="1325563"/>
          </a:xfrm>
        </p:spPr>
        <p:txBody>
          <a:bodyPr/>
          <a:lstStyle/>
          <a:p>
            <a:r>
              <a:rPr lang="en-US" dirty="0"/>
              <a:t>Roles of a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43D85-ADE9-CED1-3E6D-B50B8A337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1219200"/>
            <a:ext cx="4171950" cy="515620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Henry Mintzberg in the late 1960s</a:t>
            </a:r>
          </a:p>
          <a:p>
            <a:r>
              <a:rPr lang="en-IN" b="1" dirty="0"/>
              <a:t>Interpersonal roles: </a:t>
            </a:r>
            <a:r>
              <a:rPr lang="en-IN" dirty="0"/>
              <a:t>help the manager keep the organisation running smoothly</a:t>
            </a:r>
          </a:p>
          <a:p>
            <a:r>
              <a:rPr lang="en-IN" dirty="0"/>
              <a:t>figurehead role is performing duties that are ceremonial and symbolic in nature.</a:t>
            </a:r>
          </a:p>
          <a:p>
            <a:r>
              <a:rPr lang="en-IN" dirty="0"/>
              <a:t>leadership role includes hiring, training, motivating and disciplining employees.</a:t>
            </a:r>
          </a:p>
          <a:p>
            <a:r>
              <a:rPr lang="en-IN" dirty="0"/>
              <a:t>liaison role is serving as a connecting link between their organisation and others or between their units and other organisational units.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D429F5-EC61-999F-158C-1623DFA78D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7831"/>
          <a:stretch>
            <a:fillRect/>
          </a:stretch>
        </p:blipFill>
        <p:spPr>
          <a:xfrm>
            <a:off x="4629150" y="1003300"/>
            <a:ext cx="4362450" cy="548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9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E5CD7-6D95-D780-5280-A6BC6B4F8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BA334-A2F3-7F0C-144B-E0D328F6D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5"/>
            <a:ext cx="7886700" cy="1325563"/>
          </a:xfrm>
        </p:spPr>
        <p:txBody>
          <a:bodyPr/>
          <a:lstStyle/>
          <a:p>
            <a:r>
              <a:rPr lang="en-US" dirty="0"/>
              <a:t>Roles of a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4A8D-4708-05FD-4B2F-52736392F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1219200"/>
            <a:ext cx="4171950" cy="515620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Informational roles: </a:t>
            </a:r>
            <a:r>
              <a:rPr lang="en-IN" dirty="0"/>
              <a:t>receiving and communicating information are the most important aspects of a manager’s job.</a:t>
            </a:r>
          </a:p>
          <a:p>
            <a:r>
              <a:rPr lang="en-IN" dirty="0"/>
              <a:t>monitor role: referring to information from various sources to make right decisions </a:t>
            </a:r>
          </a:p>
          <a:p>
            <a:r>
              <a:rPr lang="en-IN" dirty="0"/>
              <a:t>disseminator role: distribute important information to subordinates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963886-D2F2-2811-0BD3-26C8D93370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7831"/>
          <a:stretch>
            <a:fillRect/>
          </a:stretch>
        </p:blipFill>
        <p:spPr>
          <a:xfrm>
            <a:off x="4629150" y="1003300"/>
            <a:ext cx="4362450" cy="548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898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93A53-5C3A-D227-26F2-129CCE41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AB0F-53F7-AD10-D297-14AA8FF2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5"/>
            <a:ext cx="7886700" cy="1325563"/>
          </a:xfrm>
        </p:spPr>
        <p:txBody>
          <a:bodyPr/>
          <a:lstStyle/>
          <a:p>
            <a:r>
              <a:rPr lang="en-US" dirty="0"/>
              <a:t>Roles of a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A1CFF-5962-9E74-6F89-5800E4349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1219200"/>
            <a:ext cx="4171950" cy="515620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Decisional roles</a:t>
            </a:r>
          </a:p>
          <a:p>
            <a:r>
              <a:rPr lang="en-IN" dirty="0"/>
              <a:t>Entrepreneur: manager tries to improve the unit.</a:t>
            </a:r>
          </a:p>
          <a:p>
            <a:r>
              <a:rPr lang="en-IN" dirty="0"/>
              <a:t>disturbance handlers: respond to situations that are beyond control such as strikes, shortages of materials, complaints, grievances, etc.</a:t>
            </a:r>
          </a:p>
          <a:p>
            <a:r>
              <a:rPr lang="en-IN" dirty="0"/>
              <a:t>resource allocator: responsible for allocating human, physical and monetary resources.</a:t>
            </a:r>
          </a:p>
          <a:p>
            <a:r>
              <a:rPr lang="en-IN" dirty="0"/>
              <a:t>Negotiators: mediate in internal conflicts and also carry out negotiations with other units</a:t>
            </a: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C486AA-D804-A668-F835-696651444D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7831"/>
          <a:stretch>
            <a:fillRect/>
          </a:stretch>
        </p:blipFill>
        <p:spPr>
          <a:xfrm>
            <a:off x="4629150" y="1003300"/>
            <a:ext cx="4362450" cy="548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1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A5D06-91D1-49D0-63D0-51711A6A7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Skills of an Effective Manager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58333-4B66-3B05-2E9F-4064624BF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IN" sz="2400" dirty="0"/>
              <a:t>Robert L. Katz three types of skills </a:t>
            </a:r>
            <a:endParaRPr lang="en-US" sz="2400" b="1" dirty="0"/>
          </a:p>
          <a:p>
            <a:r>
              <a:rPr lang="en-US" sz="2400" b="1" dirty="0"/>
              <a:t>Technical skill: </a:t>
            </a:r>
            <a:r>
              <a:rPr lang="en-US" sz="2400" dirty="0"/>
              <a:t>the ability to use the procedures, techniques, and knowledge of a specialized field (example, coding in Python, using a financial modeling software)</a:t>
            </a:r>
          </a:p>
          <a:p>
            <a:r>
              <a:rPr lang="en-US" sz="2400" b="1" dirty="0"/>
              <a:t>Human skill: </a:t>
            </a:r>
            <a:r>
              <a:rPr lang="en-US" sz="2400" dirty="0"/>
              <a:t>the ability to work with, understand, and motivate other people as individuals or in groups (example, communication, empathy, active listening)</a:t>
            </a:r>
          </a:p>
          <a:p>
            <a:r>
              <a:rPr lang="en-US" sz="2400" b="1" dirty="0"/>
              <a:t>Conceptual skill: </a:t>
            </a:r>
            <a:r>
              <a:rPr lang="en-US" sz="2400" dirty="0"/>
              <a:t>the ability to coordinate and integrate all of the organization’s interests and activities (example, a CEO </a:t>
            </a:r>
            <a:r>
              <a:rPr lang="en-IN" sz="2400" dirty="0"/>
              <a:t>deciding to launch a new global product)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2358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diagram of a different level of management&#10;&#10;AI-generated content may be incorrect.">
            <a:extLst>
              <a:ext uri="{FF2B5EF4-FFF2-40B4-BE49-F238E27FC236}">
                <a16:creationId xmlns:a16="http://schemas.microsoft.com/office/drawing/2014/main" id="{E67DC024-9297-2CE3-7F57-3DB22A82B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404746"/>
            <a:ext cx="8178799" cy="404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57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A8E63-EC8A-5544-0AED-E4A46995E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Functions of a Manager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414BF01-B4C4-3D60-B478-DA5CDE7AA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" y="1396588"/>
            <a:ext cx="8776493" cy="520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1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92E-4413-CF46-B60E-DB1FF735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a Manager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495945-10BA-A3C5-5BAF-0EC7794ADF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3677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7C6BC-836B-5271-A812-44B35E8C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a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4D6F3-E5C0-F5A5-A9D5-456B3835F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Directing: </a:t>
            </a:r>
            <a:r>
              <a:rPr lang="en-IN" dirty="0"/>
              <a:t>The function of guiding and supervising the activities of the subordinates is known as directing. </a:t>
            </a:r>
          </a:p>
          <a:p>
            <a:r>
              <a:rPr lang="en-IN" b="1" dirty="0"/>
              <a:t>Leadership: </a:t>
            </a:r>
            <a:r>
              <a:rPr lang="en-IN" dirty="0"/>
              <a:t>The success of an organisation depends upon the quality of leadership shown by its managers.</a:t>
            </a:r>
          </a:p>
          <a:p>
            <a:r>
              <a:rPr lang="en-IN" b="1" dirty="0"/>
              <a:t>Motivation: </a:t>
            </a:r>
            <a:r>
              <a:rPr lang="en-IN" dirty="0"/>
              <a:t>In order to motivate employees, manager must provide a healthy, safe working environment coupled with suitable incentives.</a:t>
            </a:r>
          </a:p>
          <a:p>
            <a:r>
              <a:rPr lang="en-IN" b="1" dirty="0"/>
              <a:t>Effective Communication</a:t>
            </a:r>
          </a:p>
          <a:p>
            <a:r>
              <a:rPr lang="en-IN" b="1" dirty="0"/>
              <a:t>Supervision: </a:t>
            </a:r>
            <a:r>
              <a:rPr lang="en-IN" dirty="0"/>
              <a:t>It is seeing that subordinates do their work and do it as directed.</a:t>
            </a:r>
            <a:endParaRPr lang="en-IN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16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B54D-08D6-671A-E77A-D1B066F9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of a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522D7-77C7-21B1-EF55-203352150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Controlling: </a:t>
            </a:r>
            <a:r>
              <a:rPr lang="en-IN" dirty="0"/>
              <a:t>The objective of controlling is to ensure that actions contribute to goal accomplishment. </a:t>
            </a:r>
          </a:p>
          <a:p>
            <a:r>
              <a:rPr lang="en-IN" dirty="0"/>
              <a:t>Setting standards of performance</a:t>
            </a:r>
          </a:p>
          <a:p>
            <a:r>
              <a:rPr lang="en-IN" dirty="0"/>
              <a:t>Measuring actual performance</a:t>
            </a:r>
          </a:p>
          <a:p>
            <a:r>
              <a:rPr lang="en-IN" dirty="0"/>
              <a:t>Comparing actual performance against the standard</a:t>
            </a:r>
          </a:p>
          <a:p>
            <a:r>
              <a:rPr lang="en-IN" dirty="0"/>
              <a:t>Taking corrective actions to ensure goal accomplishment.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546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</TotalTime>
  <Words>1123</Words>
  <Application>Microsoft Macintosh PowerPoint</Application>
  <PresentationFormat>On-screen Show (4:3)</PresentationFormat>
  <Paragraphs>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MS 601   INTRODUCTION TO MANAGEMENT</vt:lpstr>
      <vt:lpstr>Definitions in Management </vt:lpstr>
      <vt:lpstr>Management Process</vt:lpstr>
      <vt:lpstr>PowerPoint Presentation</vt:lpstr>
      <vt:lpstr>NATURE OF MANAGEMENT</vt:lpstr>
      <vt:lpstr>NATURE OF MANAGEMENT</vt:lpstr>
      <vt:lpstr>Nature of Management</vt:lpstr>
      <vt:lpstr>Purpose of Management</vt:lpstr>
      <vt:lpstr>Management Levels </vt:lpstr>
      <vt:lpstr>Roles of a Manager</vt:lpstr>
      <vt:lpstr>Roles of a Manager</vt:lpstr>
      <vt:lpstr>Roles of a Manager</vt:lpstr>
      <vt:lpstr>Skills of an Effective Manager</vt:lpstr>
      <vt:lpstr>PowerPoint Presentation</vt:lpstr>
      <vt:lpstr>Functions of a Manager</vt:lpstr>
      <vt:lpstr>Functions of a Manager </vt:lpstr>
      <vt:lpstr>Functions of a Manager</vt:lpstr>
      <vt:lpstr>Functions of a 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chetanya singh</dc:creator>
  <cp:lastModifiedBy>chetanya singh</cp:lastModifiedBy>
  <cp:revision>12</cp:revision>
  <dcterms:created xsi:type="dcterms:W3CDTF">2026-07-27T02:17:33Z</dcterms:created>
  <dcterms:modified xsi:type="dcterms:W3CDTF">2026-07-28T06:10:07Z</dcterms:modified>
</cp:coreProperties>
</file>