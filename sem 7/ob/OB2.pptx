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62" r:id="rId4"/>
    <p:sldId id="263" r:id="rId5"/>
    <p:sldId id="264" r:id="rId6"/>
    <p:sldId id="265" r:id="rId7"/>
    <p:sldId id="266" r:id="rId8"/>
    <p:sldId id="268" r:id="rId9"/>
    <p:sldId id="274" r:id="rId10"/>
    <p:sldId id="283" r:id="rId11"/>
    <p:sldId id="270" r:id="rId12"/>
    <p:sldId id="267" r:id="rId13"/>
    <p:sldId id="271" r:id="rId14"/>
    <p:sldId id="273" r:id="rId15"/>
    <p:sldId id="282" r:id="rId16"/>
    <p:sldId id="276" r:id="rId17"/>
    <p:sldId id="275" r:id="rId18"/>
    <p:sldId id="277" r:id="rId19"/>
    <p:sldId id="278" r:id="rId20"/>
    <p:sldId id="279" r:id="rId21"/>
    <p:sldId id="281" r:id="rId22"/>
    <p:sldId id="284" r:id="rId23"/>
    <p:sldId id="289" r:id="rId24"/>
    <p:sldId id="285" r:id="rId25"/>
    <p:sldId id="286" r:id="rId26"/>
    <p:sldId id="287" r:id="rId27"/>
    <p:sldId id="288" r:id="rId28"/>
    <p:sldId id="290" r:id="rId29"/>
    <p:sldId id="291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51"/>
  </p:normalViewPr>
  <p:slideViewPr>
    <p:cSldViewPr snapToGrid="0">
      <p:cViewPr varScale="1">
        <p:scale>
          <a:sx n="101" d="100"/>
          <a:sy n="101" d="100"/>
        </p:scale>
        <p:origin x="198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3E5B-DC2E-5849-ADD5-6F012C9D6DE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00532-3832-EC46-BED0-5C2AD26237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3E5B-DC2E-5849-ADD5-6F012C9D6DE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00532-3832-EC46-BED0-5C2AD26237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3E5B-DC2E-5849-ADD5-6F012C9D6DE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00532-3832-EC46-BED0-5C2AD26237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3E5B-DC2E-5849-ADD5-6F012C9D6DE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00532-3832-EC46-BED0-5C2AD26237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3E5B-DC2E-5849-ADD5-6F012C9D6DE5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00532-3832-EC46-BED0-5C2AD26237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3E5B-DC2E-5849-ADD5-6F012C9D6DE5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00532-3832-EC46-BED0-5C2AD26237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3E5B-DC2E-5849-ADD5-6F012C9D6DE5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00532-3832-EC46-BED0-5C2AD26237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3E5B-DC2E-5849-ADD5-6F012C9D6DE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00532-3832-EC46-BED0-5C2AD26237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3E5B-DC2E-5849-ADD5-6F012C9D6DE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00532-3832-EC46-BED0-5C2AD26237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3E5B-DC2E-5849-ADD5-6F012C9D6DE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00532-3832-EC46-BED0-5C2AD26237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3E5B-DC2E-5849-ADD5-6F012C9D6DE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00532-3832-EC46-BED0-5C2AD26237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193E5B-DC2E-5849-ADD5-6F012C9D6DE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300532-3832-EC46-BED0-5C2AD26237A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2"/>
            <a:ext cx="9144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47348" y="551962"/>
            <a:ext cx="8249304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293338"/>
            <a:ext cx="6858000" cy="3274592"/>
          </a:xfrm>
        </p:spPr>
        <p:txBody>
          <a:bodyPr anchor="ctr">
            <a:normAutofit/>
          </a:bodyPr>
          <a:lstStyle/>
          <a:p>
            <a:r>
              <a:rPr lang="en-US" sz="4400"/>
              <a:t>MS-606</a:t>
            </a:r>
            <a:br>
              <a:rPr lang="en-US" sz="4400"/>
            </a:br>
            <a:br>
              <a:rPr lang="en-US" sz="4400"/>
            </a:br>
            <a:r>
              <a:rPr lang="en-US" sz="4400"/>
              <a:t>Introduction to Management &amp; Organizational Behavior </a:t>
            </a:r>
            <a:endParaRPr lang="en-US" sz="4400"/>
          </a:p>
        </p:txBody>
      </p:sp>
      <p:cxnSp>
        <p:nvCxnSpPr>
          <p:cNvPr id="13" name="Straight Connector 12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 flipH="1">
            <a:off x="447348" y="6354708"/>
            <a:ext cx="8250174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IN" sz="4700"/>
              <a:t>Management Functions</a:t>
            </a:r>
            <a:endParaRPr lang="en-US" sz="4700"/>
          </a:p>
        </p:txBody>
      </p:sp>
      <p:grpSp>
        <p:nvGrpSpPr>
          <p:cNvPr id="10" name="Group 9"/>
          <p:cNvGrpSpPr>
            <a:grpSpLocks noGrp="1" noRot="1" noChangeAspect="1" noMove="1" noResize="1" noUngrp="1"/>
          </p:cNvGrpSpPr>
          <p:nvPr/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478" y="2389218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IN" sz="2100" dirty="0"/>
              <a:t>French industrialist </a:t>
            </a:r>
            <a:r>
              <a:rPr lang="en-IN" sz="2100" b="1" dirty="0"/>
              <a:t>Henri Fayol </a:t>
            </a:r>
            <a:r>
              <a:rPr lang="en-IN" sz="2100" dirty="0"/>
              <a:t>five management functions: planning, organizing, commanding, coordinating, and controlling</a:t>
            </a:r>
            <a:endParaRPr lang="en-IN" sz="2100" dirty="0"/>
          </a:p>
          <a:p>
            <a:r>
              <a:rPr lang="en-IN" sz="2100" b="1" dirty="0"/>
              <a:t>Stephen Robbins </a:t>
            </a:r>
            <a:r>
              <a:rPr lang="en-IN" sz="2100" dirty="0"/>
              <a:t>condensed these to four:</a:t>
            </a:r>
            <a:endParaRPr lang="en-IN" sz="2100" dirty="0"/>
          </a:p>
          <a:p>
            <a:pPr lvl="1"/>
            <a:r>
              <a:rPr lang="en-IN" sz="2100" dirty="0"/>
              <a:t>planning, </a:t>
            </a:r>
            <a:endParaRPr lang="en-IN" sz="2100" dirty="0"/>
          </a:p>
          <a:p>
            <a:pPr lvl="1"/>
            <a:r>
              <a:rPr lang="en-IN" sz="2100" dirty="0"/>
              <a:t>organizing, </a:t>
            </a:r>
            <a:endParaRPr lang="en-IN" sz="2100" dirty="0"/>
          </a:p>
          <a:p>
            <a:pPr lvl="1"/>
            <a:r>
              <a:rPr lang="en-IN" sz="2100" dirty="0"/>
              <a:t>leading, and </a:t>
            </a:r>
            <a:endParaRPr lang="en-IN" sz="2100" dirty="0"/>
          </a:p>
          <a:p>
            <a:pPr lvl="1"/>
            <a:r>
              <a:rPr lang="en-IN" sz="2100" dirty="0"/>
              <a:t>controlling.</a:t>
            </a:r>
            <a:endParaRPr lang="en-IN" sz="2100" dirty="0"/>
          </a:p>
          <a:p>
            <a:endParaRPr lang="en-IN" sz="2100" dirty="0"/>
          </a:p>
          <a:p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IN" sz="4700"/>
              <a:t>Management Roles</a:t>
            </a:r>
            <a:endParaRPr lang="en-US" sz="4700"/>
          </a:p>
        </p:txBody>
      </p:sp>
      <p:grpSp>
        <p:nvGrpSpPr>
          <p:cNvPr id="10" name="Group 9"/>
          <p:cNvGrpSpPr>
            <a:grpSpLocks noGrp="1" noRot="1" noChangeAspect="1" noMove="1" noResize="1" noUngrp="1"/>
          </p:cNvGrpSpPr>
          <p:nvPr/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478" y="2203079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IN" sz="2100" dirty="0"/>
              <a:t>In the </a:t>
            </a:r>
            <a:r>
              <a:rPr lang="en-IN" sz="2100" b="1" dirty="0"/>
              <a:t>late 1960s, Henry Mintzberg</a:t>
            </a:r>
            <a:r>
              <a:rPr lang="en-US" sz="2100" dirty="0"/>
              <a:t>, </a:t>
            </a:r>
            <a:r>
              <a:rPr lang="en-IN" sz="2100" dirty="0"/>
              <a:t>concluded that managers perform 3  roles </a:t>
            </a:r>
            <a:endParaRPr lang="en-IN" sz="2100" dirty="0"/>
          </a:p>
          <a:p>
            <a:r>
              <a:rPr lang="en-IN" sz="2100" dirty="0"/>
              <a:t>(1) interpersonal</a:t>
            </a:r>
            <a:endParaRPr lang="en-IN" sz="2100" dirty="0"/>
          </a:p>
          <a:p>
            <a:r>
              <a:rPr lang="en-IN" sz="2100" dirty="0"/>
              <a:t>(2) informational</a:t>
            </a:r>
            <a:endParaRPr lang="en-IN" sz="2100" dirty="0"/>
          </a:p>
          <a:p>
            <a:r>
              <a:rPr lang="en-IN" sz="2100" dirty="0"/>
              <a:t>(3) decisional</a:t>
            </a:r>
            <a:endParaRPr lang="en-IN" sz="2100" dirty="0"/>
          </a:p>
          <a:p>
            <a:endParaRPr lang="en-IN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577" y="0"/>
            <a:ext cx="76828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IN" sz="4700"/>
              <a:t>Management Skills</a:t>
            </a:r>
            <a:endParaRPr lang="en-US" sz="4700"/>
          </a:p>
        </p:txBody>
      </p:sp>
      <p:grpSp>
        <p:nvGrpSpPr>
          <p:cNvPr id="10" name="Group 9"/>
          <p:cNvGrpSpPr>
            <a:grpSpLocks noGrp="1" noRot="1" noChangeAspect="1" noMove="1" noResize="1" noUngrp="1"/>
          </p:cNvGrpSpPr>
          <p:nvPr/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478" y="2203079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IN" sz="2100" dirty="0"/>
              <a:t>Technical Skills</a:t>
            </a:r>
            <a:endParaRPr lang="en-IN" sz="2100" dirty="0"/>
          </a:p>
          <a:p>
            <a:r>
              <a:rPr lang="en-IN" sz="2100" dirty="0"/>
              <a:t>Human Skills</a:t>
            </a:r>
            <a:endParaRPr lang="en-IN" sz="2100" dirty="0"/>
          </a:p>
          <a:p>
            <a:r>
              <a:rPr lang="en-IN" sz="2100" dirty="0"/>
              <a:t>Conceptual Skills</a:t>
            </a:r>
            <a:endParaRPr lang="en-IN" sz="2100" dirty="0"/>
          </a:p>
          <a:p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IN" sz="4700"/>
              <a:t>Managerial Activities</a:t>
            </a:r>
            <a:endParaRPr lang="en-US" sz="4700"/>
          </a:p>
        </p:txBody>
      </p:sp>
      <p:grpSp>
        <p:nvGrpSpPr>
          <p:cNvPr id="20" name="Group 19"/>
          <p:cNvGrpSpPr>
            <a:grpSpLocks noGrp="1" noRot="1" noChangeAspect="1" noMove="1" noResize="1" noUngrp="1"/>
          </p:cNvGrpSpPr>
          <p:nvPr/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21" name="Rectangle 20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478" y="2847968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IN" sz="2100" b="1" dirty="0"/>
              <a:t>Fred Luthans</a:t>
            </a:r>
            <a:r>
              <a:rPr lang="en-US" sz="2100" b="1" dirty="0"/>
              <a:t> </a:t>
            </a:r>
            <a:r>
              <a:rPr lang="en-US" sz="2100" dirty="0"/>
              <a:t>studied </a:t>
            </a:r>
            <a:r>
              <a:rPr lang="en-IN" sz="2100" dirty="0"/>
              <a:t>four managerial activities</a:t>
            </a:r>
            <a:endParaRPr lang="en-IN" sz="2100" dirty="0"/>
          </a:p>
          <a:p>
            <a:r>
              <a:rPr lang="en-IN" sz="2100" dirty="0"/>
              <a:t>1. </a:t>
            </a:r>
            <a:r>
              <a:rPr lang="en-IN" sz="2100" b="1" dirty="0"/>
              <a:t>Traditional management</a:t>
            </a:r>
            <a:r>
              <a:rPr lang="en-IN" sz="2100" dirty="0"/>
              <a:t>. Decision making, planning, and controlling.</a:t>
            </a:r>
            <a:endParaRPr lang="en-IN" sz="2100" dirty="0"/>
          </a:p>
          <a:p>
            <a:r>
              <a:rPr lang="en-IN" sz="2100" dirty="0"/>
              <a:t>2. </a:t>
            </a:r>
            <a:r>
              <a:rPr lang="en-IN" sz="2100" b="1" dirty="0"/>
              <a:t>Communication</a:t>
            </a:r>
            <a:r>
              <a:rPr lang="en-IN" sz="2100" dirty="0"/>
              <a:t>. Exchanging routine information and processing paperwork.</a:t>
            </a:r>
            <a:endParaRPr lang="en-IN" sz="2100" dirty="0"/>
          </a:p>
          <a:p>
            <a:r>
              <a:rPr lang="en-IN" sz="2100" dirty="0"/>
              <a:t>3. </a:t>
            </a:r>
            <a:r>
              <a:rPr lang="en-IN" sz="2100" b="1" dirty="0"/>
              <a:t>Human resource management</a:t>
            </a:r>
            <a:r>
              <a:rPr lang="en-IN" sz="2100" dirty="0"/>
              <a:t>. Motivating, disciplining, managing conflict, staffing, and training.</a:t>
            </a:r>
            <a:endParaRPr lang="en-IN" sz="2100" dirty="0"/>
          </a:p>
          <a:p>
            <a:r>
              <a:rPr lang="en-IN" sz="2100" dirty="0"/>
              <a:t>4. </a:t>
            </a:r>
            <a:r>
              <a:rPr lang="en-IN" sz="2100" b="1" dirty="0"/>
              <a:t>Networking</a:t>
            </a:r>
            <a:r>
              <a:rPr lang="en-IN" sz="2100" dirty="0"/>
              <a:t>. Socializing, political activity, and interacting with outsiders.</a:t>
            </a:r>
            <a:endParaRPr lang="en-IN" sz="2100" dirty="0"/>
          </a:p>
          <a:p>
            <a:endParaRPr lang="en-IN" sz="2100" dirty="0"/>
          </a:p>
          <a:p>
            <a:endParaRPr lang="en-IN" sz="2100" dirty="0"/>
          </a:p>
          <a:p>
            <a:endParaRPr lang="en-IN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8534"/>
            <a:ext cx="9144000" cy="50711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5369436"/>
            <a:ext cx="914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i="1" dirty="0"/>
              <a:t>successful managers </a:t>
            </a:r>
            <a:r>
              <a:rPr lang="en-IN" dirty="0"/>
              <a:t>(defined in terms of speed of promotion within their organization)</a:t>
            </a:r>
            <a:endParaRPr lang="en-IN" dirty="0"/>
          </a:p>
          <a:p>
            <a:pPr algn="ctr"/>
            <a:r>
              <a:rPr lang="en-IN" i="1" dirty="0"/>
              <a:t>effective managers </a:t>
            </a:r>
            <a:r>
              <a:rPr lang="en-IN" dirty="0"/>
              <a:t>(defined in terms of quantity and quality of their performance and the satisfaction and commitment of employees)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US" sz="4000"/>
              <a:t>What is Organizational Behavior?</a:t>
            </a:r>
            <a:endParaRPr lang="en-US" sz="4000"/>
          </a:p>
        </p:txBody>
      </p:sp>
      <p:grpSp>
        <p:nvGrpSpPr>
          <p:cNvPr id="10" name="Group 9"/>
          <p:cNvGrpSpPr>
            <a:grpSpLocks noGrp="1" noRot="1" noChangeAspect="1" noMove="1" noResize="1" noUngrp="1"/>
          </p:cNvGrpSpPr>
          <p:nvPr/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478" y="2203079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IN" sz="1600" dirty="0"/>
              <a:t>Organizational </a:t>
            </a:r>
            <a:r>
              <a:rPr lang="en-IN" sz="1600" dirty="0" err="1"/>
              <a:t>behavior</a:t>
            </a:r>
            <a:r>
              <a:rPr lang="en-IN" sz="1600" dirty="0"/>
              <a:t> (often abbreviated OB) is a field of study that investigates the impact that individuals, groups, and structure have on </a:t>
            </a:r>
            <a:r>
              <a:rPr lang="en-IN" sz="1600" dirty="0" err="1"/>
              <a:t>behavior</a:t>
            </a:r>
            <a:r>
              <a:rPr lang="en-IN" sz="1600" dirty="0"/>
              <a:t> within organizations, for the purpose of applying such knowledge toward improving an organization’s effectiveness </a:t>
            </a:r>
            <a:r>
              <a:rPr lang="en-IN" sz="1600" b="1" i="1" dirty="0"/>
              <a:t>(Stephen P. Robbins, Timothy A. Judge)</a:t>
            </a:r>
            <a:endParaRPr lang="en-IN" sz="1600" i="1" dirty="0"/>
          </a:p>
          <a:p>
            <a:r>
              <a:rPr lang="en-IN" sz="1600" dirty="0"/>
              <a:t>It studies three determinants of </a:t>
            </a:r>
            <a:r>
              <a:rPr lang="en-IN" sz="1600" dirty="0" err="1"/>
              <a:t>behavior</a:t>
            </a:r>
            <a:r>
              <a:rPr lang="en-IN" sz="1600" dirty="0"/>
              <a:t> in organizations: individuals, groups, and structure.</a:t>
            </a:r>
            <a:endParaRPr lang="en-IN" sz="1600" dirty="0"/>
          </a:p>
          <a:p>
            <a:r>
              <a:rPr lang="en-IN" sz="1600" dirty="0"/>
              <a:t>OB applies the knowledge gained about individuals, groups, and the effect of structure on </a:t>
            </a:r>
            <a:r>
              <a:rPr lang="en-IN" sz="1600" dirty="0" err="1"/>
              <a:t>behavior</a:t>
            </a:r>
            <a:r>
              <a:rPr lang="en-IN" sz="1600" dirty="0"/>
              <a:t> in order to make organizations work more effectively</a:t>
            </a:r>
            <a:endParaRPr lang="en-IN" sz="1600" dirty="0"/>
          </a:p>
          <a:p>
            <a:r>
              <a:rPr lang="en-IN" sz="1600" dirty="0"/>
              <a:t>OB is the study of what people do in an organization and how their </a:t>
            </a:r>
            <a:r>
              <a:rPr lang="en-IN" sz="1600" dirty="0" err="1"/>
              <a:t>behavior</a:t>
            </a:r>
            <a:r>
              <a:rPr lang="en-IN" sz="1600" dirty="0"/>
              <a:t> affects the organization’s performance.</a:t>
            </a:r>
            <a:endParaRPr lang="en-IN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"/>
            <a:ext cx="9144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47348" y="551961"/>
            <a:ext cx="8249304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248587"/>
            <a:ext cx="6858000" cy="2387600"/>
          </a:xfrm>
        </p:spPr>
        <p:txBody>
          <a:bodyPr>
            <a:normAutofit/>
          </a:bodyPr>
          <a:lstStyle/>
          <a:p>
            <a:r>
              <a:rPr lang="en-US" sz="5200"/>
              <a:t>Disciplines that Contribute to the OB Field</a:t>
            </a:r>
            <a:endParaRPr lang="en-US" sz="5200"/>
          </a:p>
        </p:txBody>
      </p:sp>
      <p:cxnSp>
        <p:nvCxnSpPr>
          <p:cNvPr id="13" name="Straight Connector 12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 flipH="1">
            <a:off x="447348" y="6329769"/>
            <a:ext cx="8250174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IN" sz="3600"/>
              <a:t>Disciplines That Contribute to the OB Field</a:t>
            </a:r>
            <a:endParaRPr lang="en-US" sz="3600"/>
          </a:p>
        </p:txBody>
      </p:sp>
      <p:grpSp>
        <p:nvGrpSpPr>
          <p:cNvPr id="10" name="Group 9"/>
          <p:cNvGrpSpPr>
            <a:grpSpLocks noGrp="1" noRot="1" noChangeAspect="1" noMove="1" noResize="1" noUngrp="1"/>
          </p:cNvGrpSpPr>
          <p:nvPr/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478" y="2203079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IN" sz="2100" b="1" dirty="0"/>
              <a:t>Psychology’</a:t>
            </a:r>
            <a:r>
              <a:rPr lang="en-IN" sz="2100" dirty="0"/>
              <a:t>s contributions have been mainly at the individual or micro level of analysis</a:t>
            </a:r>
            <a:endParaRPr lang="en-IN" sz="2100" dirty="0"/>
          </a:p>
          <a:p>
            <a:r>
              <a:rPr lang="en-IN" sz="2100" dirty="0"/>
              <a:t>Psychology seeks to measure, explain, and sometimes change the </a:t>
            </a:r>
            <a:r>
              <a:rPr lang="en-IN" sz="2100" dirty="0" err="1"/>
              <a:t>behavior</a:t>
            </a:r>
            <a:r>
              <a:rPr lang="en-IN" sz="2100" dirty="0"/>
              <a:t> of humans.</a:t>
            </a:r>
            <a:endParaRPr lang="en-IN" sz="2100" dirty="0"/>
          </a:p>
          <a:p>
            <a:r>
              <a:rPr lang="en-IN" sz="2100" b="1" dirty="0"/>
              <a:t>Social psychology </a:t>
            </a:r>
            <a:r>
              <a:rPr lang="en-IN" sz="2100" dirty="0"/>
              <a:t>, generally considered a branch of psychology, blends concepts from both psychology and sociology to focus on peoples’ influence on one another. </a:t>
            </a:r>
            <a:endParaRPr lang="en-IN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IN" sz="3600"/>
              <a:t>Disciplines That Contribute to the OB Field</a:t>
            </a:r>
            <a:endParaRPr lang="en-US" sz="3600"/>
          </a:p>
        </p:txBody>
      </p:sp>
      <p:grpSp>
        <p:nvGrpSpPr>
          <p:cNvPr id="10" name="Group 9"/>
          <p:cNvGrpSpPr>
            <a:grpSpLocks noGrp="1" noRot="1" noChangeAspect="1" noMove="1" noResize="1" noUngrp="1"/>
          </p:cNvGrpSpPr>
          <p:nvPr/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478" y="3168613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IN" sz="2100" b="1" dirty="0"/>
              <a:t>Sociology</a:t>
            </a:r>
            <a:r>
              <a:rPr lang="en-IN" sz="2100" dirty="0"/>
              <a:t> studies people in relation to their social environment or culture. </a:t>
            </a:r>
            <a:endParaRPr lang="en-IN" sz="2100" dirty="0"/>
          </a:p>
          <a:p>
            <a:r>
              <a:rPr lang="en-IN" sz="2100" dirty="0"/>
              <a:t>Sociologists have contributed to OB through their study of group </a:t>
            </a:r>
            <a:r>
              <a:rPr lang="en-IN" sz="2100" dirty="0" err="1"/>
              <a:t>behavior</a:t>
            </a:r>
            <a:r>
              <a:rPr lang="en-IN" sz="2100" dirty="0"/>
              <a:t> in organizations</a:t>
            </a:r>
            <a:endParaRPr lang="en-IN" sz="2100" dirty="0"/>
          </a:p>
          <a:p>
            <a:r>
              <a:rPr lang="en-IN" sz="2100" b="1" dirty="0"/>
              <a:t>Anthropology</a:t>
            </a:r>
            <a:r>
              <a:rPr lang="en-IN" sz="2100" dirty="0"/>
              <a:t> is the study of societies to learn about human beings and their activities. </a:t>
            </a:r>
            <a:endParaRPr lang="en-IN" sz="2100" dirty="0"/>
          </a:p>
          <a:p>
            <a:r>
              <a:rPr lang="en-IN" sz="2100" dirty="0"/>
              <a:t>Anthropologists’ work on cultures and environments has helped us understand differences in fundamental values, attitudes, and </a:t>
            </a:r>
            <a:r>
              <a:rPr lang="en-IN" sz="2100" dirty="0" err="1"/>
              <a:t>behavior</a:t>
            </a:r>
            <a:r>
              <a:rPr lang="en-IN" sz="2100" dirty="0"/>
              <a:t> between people in different countries and within different organizations.</a:t>
            </a:r>
            <a:endParaRPr lang="en-IN" sz="2100" dirty="0"/>
          </a:p>
          <a:p>
            <a:endParaRPr lang="en-IN" sz="2100" dirty="0"/>
          </a:p>
          <a:p>
            <a:endParaRPr lang="en-IN" sz="2100" dirty="0"/>
          </a:p>
          <a:p>
            <a:endParaRPr lang="en-IN" sz="2100" dirty="0"/>
          </a:p>
          <a:p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IN" sz="3600" dirty="0"/>
              <a:t>Challenges and Opportunities for OB</a:t>
            </a:r>
            <a:endParaRPr lang="en-US" sz="3600" dirty="0"/>
          </a:p>
        </p:txBody>
      </p:sp>
      <p:grpSp>
        <p:nvGrpSpPr>
          <p:cNvPr id="10" name="Group 9"/>
          <p:cNvGrpSpPr>
            <a:grpSpLocks noGrp="1" noRot="1" noChangeAspect="1" noMove="1" noResize="1" noUngrp="1"/>
          </p:cNvGrpSpPr>
          <p:nvPr/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01" y="2559235"/>
            <a:ext cx="3557559" cy="3435531"/>
          </a:xfrm>
        </p:spPr>
        <p:txBody>
          <a:bodyPr anchor="ctr">
            <a:normAutofit/>
          </a:bodyPr>
          <a:lstStyle/>
          <a:p>
            <a:r>
              <a:rPr lang="en-IN" sz="1700" dirty="0"/>
              <a:t>Responding to Economic Pressures</a:t>
            </a:r>
            <a:endParaRPr lang="en-IN" sz="1700" dirty="0"/>
          </a:p>
          <a:p>
            <a:r>
              <a:rPr lang="en-IN" sz="1700" dirty="0"/>
              <a:t>Responding to Globalization</a:t>
            </a:r>
            <a:endParaRPr lang="en-IN" sz="1700" dirty="0"/>
          </a:p>
          <a:p>
            <a:pPr lvl="1"/>
            <a:r>
              <a:rPr lang="en-IN" sz="1700" dirty="0"/>
              <a:t>Increased Foreign Assignments</a:t>
            </a:r>
            <a:endParaRPr lang="en-IN" sz="1700" dirty="0"/>
          </a:p>
          <a:p>
            <a:pPr lvl="1"/>
            <a:r>
              <a:rPr lang="en-IN" sz="1700" dirty="0"/>
              <a:t>Working with People from Different Cultures</a:t>
            </a:r>
            <a:endParaRPr lang="en-IN" sz="1700" dirty="0"/>
          </a:p>
          <a:p>
            <a:pPr lvl="1"/>
            <a:r>
              <a:rPr lang="en-IN" sz="1700" dirty="0"/>
              <a:t>Overseeing Movement of Jobs to Countries with Low-Cost Labor</a:t>
            </a:r>
            <a:endParaRPr lang="en-IN" sz="1700" dirty="0"/>
          </a:p>
          <a:p>
            <a:r>
              <a:rPr lang="en-IN" sz="1700" dirty="0"/>
              <a:t>Managing Workforce Diversity</a:t>
            </a:r>
            <a:endParaRPr lang="en-IN" sz="1700" dirty="0"/>
          </a:p>
        </p:txBody>
      </p:sp>
      <p:sp>
        <p:nvSpPr>
          <p:cNvPr id="4" name="Content Placeholder 2"/>
          <p:cNvSpPr txBox="1"/>
          <p:nvPr/>
        </p:nvSpPr>
        <p:spPr>
          <a:xfrm>
            <a:off x="4334839" y="2559235"/>
            <a:ext cx="3794720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700" dirty="0"/>
              <a:t>Improving Customer Service</a:t>
            </a:r>
            <a:endParaRPr lang="en-IN" sz="1700" dirty="0"/>
          </a:p>
          <a:p>
            <a:r>
              <a:rPr lang="en-IN" sz="1700" dirty="0"/>
              <a:t>Improving People Skills</a:t>
            </a:r>
            <a:endParaRPr lang="en-IN" sz="1700" dirty="0"/>
          </a:p>
          <a:p>
            <a:r>
              <a:rPr lang="en-IN" sz="1700" dirty="0"/>
              <a:t>Stimulating Innovation and Change</a:t>
            </a:r>
            <a:endParaRPr lang="en-IN" sz="1700" dirty="0"/>
          </a:p>
          <a:p>
            <a:r>
              <a:rPr lang="en-IN" sz="1700" dirty="0"/>
              <a:t>Working in Networked Organizations</a:t>
            </a:r>
            <a:endParaRPr lang="en-IN" sz="1700" dirty="0"/>
          </a:p>
          <a:p>
            <a:r>
              <a:rPr lang="en-IN" sz="1700" dirty="0"/>
              <a:t>Helping Employees Balance Work–Life Conflicts</a:t>
            </a:r>
            <a:endParaRPr lang="en-IN" sz="1700" dirty="0"/>
          </a:p>
          <a:p>
            <a:r>
              <a:rPr lang="en-IN" sz="1700" dirty="0"/>
              <a:t>Creating a Positive Work Environment</a:t>
            </a:r>
            <a:endParaRPr lang="en-IN" sz="1700" dirty="0"/>
          </a:p>
          <a:p>
            <a:r>
              <a:rPr lang="en-IN" sz="1700" dirty="0"/>
              <a:t>Improving Ethical </a:t>
            </a:r>
            <a:r>
              <a:rPr lang="en-IN" sz="1700" dirty="0" err="1"/>
              <a:t>Behavior</a:t>
            </a:r>
            <a:endParaRPr lang="en-IN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2"/>
            <a:ext cx="9144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47348" y="551962"/>
            <a:ext cx="8249304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293338"/>
            <a:ext cx="6858000" cy="3274592"/>
          </a:xfrm>
        </p:spPr>
        <p:txBody>
          <a:bodyPr anchor="ctr">
            <a:normAutofit/>
          </a:bodyPr>
          <a:lstStyle/>
          <a:p>
            <a:r>
              <a:rPr lang="en-US" sz="6300"/>
              <a:t>Developing an OB model</a:t>
            </a:r>
            <a:endParaRPr lang="en-US" sz="6300"/>
          </a:p>
        </p:txBody>
      </p:sp>
      <p:cxnSp>
        <p:nvCxnSpPr>
          <p:cNvPr id="13" name="Straight Connector 12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 flipH="1">
            <a:off x="447348" y="6354708"/>
            <a:ext cx="8250174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IN" sz="4700"/>
              <a:t>Developing an OB Model</a:t>
            </a:r>
            <a:endParaRPr lang="en-US" sz="4700"/>
          </a:p>
        </p:txBody>
      </p:sp>
      <p:grpSp>
        <p:nvGrpSpPr>
          <p:cNvPr id="10" name="Group 9"/>
          <p:cNvGrpSpPr>
            <a:grpSpLocks noGrp="1" noRot="1" noChangeAspect="1" noMove="1" noResize="1" noUngrp="1"/>
          </p:cNvGrpSpPr>
          <p:nvPr/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478" y="2203079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IN" sz="2100" b="1" dirty="0"/>
              <a:t>Attitudes </a:t>
            </a:r>
            <a:r>
              <a:rPr lang="en-IN" sz="2100" dirty="0"/>
              <a:t>are the evaluations employees make, ranging from positive to negative, about objects, people, or events. For example, “I really think my job is great” </a:t>
            </a:r>
            <a:endParaRPr lang="en-IN" sz="2100" dirty="0"/>
          </a:p>
          <a:p>
            <a:r>
              <a:rPr lang="en-IN" sz="2100" b="1" dirty="0"/>
              <a:t>Stress </a:t>
            </a:r>
            <a:r>
              <a:rPr lang="en-IN" sz="2100" dirty="0"/>
              <a:t>is an unpleasant psychological process that occurs in response to environmental pressures.</a:t>
            </a:r>
            <a:endParaRPr lang="en-IN" sz="2100" dirty="0"/>
          </a:p>
          <a:p>
            <a:r>
              <a:rPr lang="en-IN" sz="2100" b="1" dirty="0"/>
              <a:t>Task Performance </a:t>
            </a:r>
            <a:r>
              <a:rPr lang="en-IN" sz="2100" dirty="0"/>
              <a:t>the combination of effectiveness and efficiency at doing your core job tasks.</a:t>
            </a:r>
            <a:endParaRPr lang="en-IN" sz="2100" dirty="0"/>
          </a:p>
          <a:p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IN" sz="4700"/>
              <a:t>Developing an OB Model</a:t>
            </a:r>
            <a:endParaRPr lang="en-US" sz="4700"/>
          </a:p>
        </p:txBody>
      </p:sp>
      <p:grpSp>
        <p:nvGrpSpPr>
          <p:cNvPr id="10" name="Group 9"/>
          <p:cNvGrpSpPr>
            <a:grpSpLocks noGrp="1" noRot="1" noChangeAspect="1" noMove="1" noResize="1" noUngrp="1"/>
          </p:cNvGrpSpPr>
          <p:nvPr/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478" y="2389218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IN" sz="2100" b="1" dirty="0"/>
              <a:t>Citizenship </a:t>
            </a:r>
            <a:r>
              <a:rPr lang="en-IN" sz="2100" b="1" dirty="0" err="1"/>
              <a:t>Behavior</a:t>
            </a:r>
            <a:r>
              <a:rPr lang="en-IN" sz="2100" b="1" dirty="0"/>
              <a:t>: </a:t>
            </a:r>
            <a:r>
              <a:rPr lang="en-IN" sz="2100" dirty="0"/>
              <a:t>The discretionary </a:t>
            </a:r>
            <a:r>
              <a:rPr lang="en-IN" sz="2100" dirty="0" err="1"/>
              <a:t>behavior</a:t>
            </a:r>
            <a:r>
              <a:rPr lang="en-IN" sz="2100" dirty="0"/>
              <a:t> that is not part of an employee’s formal job requirements, and that contributes to the psychological and social environment of the workplace. </a:t>
            </a:r>
            <a:endParaRPr lang="en-IN" sz="2100" dirty="0"/>
          </a:p>
          <a:p>
            <a:r>
              <a:rPr lang="en-IN" sz="2100" dirty="0"/>
              <a:t>Performance beyond expectations.</a:t>
            </a:r>
            <a:endParaRPr lang="en-IN" sz="2100" dirty="0"/>
          </a:p>
          <a:p>
            <a:r>
              <a:rPr lang="en-IN" sz="2100" b="1" dirty="0"/>
              <a:t>Withdrawal </a:t>
            </a:r>
            <a:r>
              <a:rPr lang="en-IN" sz="2100" b="1" dirty="0" err="1"/>
              <a:t>behavior</a:t>
            </a:r>
            <a:r>
              <a:rPr lang="en-IN" sz="2100" b="1" dirty="0"/>
              <a:t> </a:t>
            </a:r>
            <a:r>
              <a:rPr lang="en-IN" sz="2100" dirty="0"/>
              <a:t>The set of actions employee take to separate themselves from the organization. </a:t>
            </a:r>
            <a:endParaRPr lang="en-IN" sz="2100" dirty="0"/>
          </a:p>
          <a:p>
            <a:r>
              <a:rPr lang="en-IN" sz="2100" dirty="0"/>
              <a:t>Performance below expectations. </a:t>
            </a:r>
            <a:endParaRPr lang="en-IN" sz="2100" dirty="0"/>
          </a:p>
          <a:p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IN" sz="4700"/>
              <a:t>Developing an OB Model</a:t>
            </a:r>
            <a:endParaRPr lang="en-US" sz="4700"/>
          </a:p>
        </p:txBody>
      </p:sp>
      <p:grpSp>
        <p:nvGrpSpPr>
          <p:cNvPr id="10" name="Group 9"/>
          <p:cNvGrpSpPr>
            <a:grpSpLocks noGrp="1" noRot="1" noChangeAspect="1" noMove="1" noResize="1" noUngrp="1"/>
          </p:cNvGrpSpPr>
          <p:nvPr/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IN" sz="2100" b="1"/>
              <a:t>Group cohesion </a:t>
            </a:r>
            <a:r>
              <a:rPr lang="en-IN" sz="2100"/>
              <a:t>The extent to which members of a group support and validate one another while at work.</a:t>
            </a:r>
            <a:endParaRPr lang="en-IN" sz="2100"/>
          </a:p>
          <a:p>
            <a:r>
              <a:rPr lang="en-IN" sz="2100" b="1"/>
              <a:t>Group functioning </a:t>
            </a:r>
            <a:r>
              <a:rPr lang="en-IN" sz="2100"/>
              <a:t>The quantity and quality of a work group’s output.</a:t>
            </a:r>
            <a:endParaRPr lang="en-IN" sz="2100"/>
          </a:p>
          <a:p>
            <a:r>
              <a:rPr lang="en-IN" sz="2100" b="1"/>
              <a:t>Productivity</a:t>
            </a:r>
            <a:r>
              <a:rPr lang="en-IN" sz="2100"/>
              <a:t> The combination of the </a:t>
            </a:r>
            <a:r>
              <a:rPr lang="en-IN" sz="2100" b="1"/>
              <a:t>effectiveness </a:t>
            </a:r>
            <a:r>
              <a:rPr lang="en-IN" sz="2100"/>
              <a:t>and </a:t>
            </a:r>
            <a:r>
              <a:rPr lang="en-IN" sz="2100" b="1"/>
              <a:t>efficiency </a:t>
            </a:r>
            <a:r>
              <a:rPr lang="en-IN" sz="2100"/>
              <a:t>of an organization.</a:t>
            </a:r>
            <a:endParaRPr lang="en-IN" sz="2100"/>
          </a:p>
          <a:p>
            <a:r>
              <a:rPr lang="en-IN" sz="2100" b="1"/>
              <a:t>Organizational survival </a:t>
            </a:r>
            <a:r>
              <a:rPr lang="en-IN" sz="2100"/>
              <a:t>The degree to which an organization is able to exist and grow over the long term.</a:t>
            </a:r>
            <a:endParaRPr lang="en-IN" sz="2100"/>
          </a:p>
          <a:p>
            <a:endParaRPr lang="en-IN" sz="2100"/>
          </a:p>
          <a:p>
            <a:endParaRPr lang="en-IN" sz="2100"/>
          </a:p>
          <a:p>
            <a:endParaRPr lang="en-US" sz="2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US" sz="4000"/>
              <a:t>Diversity levels in Organizations</a:t>
            </a:r>
            <a:endParaRPr lang="en-IN" sz="4000"/>
          </a:p>
        </p:txBody>
      </p:sp>
      <p:grpSp>
        <p:nvGrpSpPr>
          <p:cNvPr id="10" name="Group 9"/>
          <p:cNvGrpSpPr>
            <a:grpSpLocks noGrp="1" noRot="1" noChangeAspect="1" noMove="1" noResize="1" noUngrp="1"/>
          </p:cNvGrpSpPr>
          <p:nvPr/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478" y="2389218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IN" sz="2100" b="1" dirty="0"/>
              <a:t>Surface-level diversity </a:t>
            </a:r>
            <a:r>
              <a:rPr lang="en-IN" sz="2100" dirty="0"/>
              <a:t>Differences in easily perceived characteristics, such as gender, race, ethnicity, age, or disability, that do not necessarily reflect the ways people think or feel but that may activate certain stereotypes.</a:t>
            </a:r>
            <a:endParaRPr lang="en-IN" sz="2100" dirty="0"/>
          </a:p>
          <a:p>
            <a:r>
              <a:rPr lang="en-IN" sz="2100" b="1" dirty="0"/>
              <a:t>Deep-level diversity </a:t>
            </a:r>
            <a:r>
              <a:rPr lang="en-IN" sz="2100" dirty="0"/>
              <a:t>Differences in values, personality, and work preferences that become progressively more important for determining similarity as people get to know one another better.</a:t>
            </a:r>
            <a:endParaRPr lang="en-IN" sz="2100" dirty="0"/>
          </a:p>
          <a:p>
            <a:r>
              <a:rPr lang="en-IN" sz="2100" b="1" dirty="0"/>
              <a:t>Discrimination </a:t>
            </a:r>
            <a:r>
              <a:rPr lang="en-IN" sz="2100" dirty="0"/>
              <a:t>means</a:t>
            </a:r>
            <a:r>
              <a:rPr lang="en-IN" sz="2100" b="1" dirty="0"/>
              <a:t> </a:t>
            </a:r>
            <a:r>
              <a:rPr lang="en-IN" sz="2100" dirty="0"/>
              <a:t>making judgments about individuals based on stereotypes regarding their demographic group.</a:t>
            </a:r>
            <a:endParaRPr lang="en-IN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r="43259"/>
          <a:stretch>
            <a:fillRect/>
          </a:stretch>
        </p:blipFill>
        <p:spPr>
          <a:xfrm>
            <a:off x="673100" y="0"/>
            <a:ext cx="77724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IN" sz="4300"/>
              <a:t>Biographical Characteristics</a:t>
            </a:r>
            <a:endParaRPr lang="en-US" sz="4300"/>
          </a:p>
        </p:txBody>
      </p:sp>
      <p:grpSp>
        <p:nvGrpSpPr>
          <p:cNvPr id="10" name="Group 9"/>
          <p:cNvGrpSpPr>
            <a:grpSpLocks noGrp="1" noRot="1" noChangeAspect="1" noMove="1" noResize="1" noUngrp="1"/>
          </p:cNvGrpSpPr>
          <p:nvPr/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478" y="2389218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IN" sz="1600" b="1" dirty="0"/>
              <a:t>Personal characteristics </a:t>
            </a:r>
            <a:r>
              <a:rPr lang="en-IN" sz="1600" dirty="0"/>
              <a:t>that are objective and easily obtained from personnel records. </a:t>
            </a:r>
            <a:endParaRPr lang="en-IN" sz="1600" dirty="0"/>
          </a:p>
          <a:p>
            <a:r>
              <a:rPr lang="en-IN" sz="1600" b="1" dirty="0"/>
              <a:t>Age</a:t>
            </a:r>
            <a:r>
              <a:rPr lang="en-IN" sz="1600" dirty="0"/>
              <a:t>: relationship between age and job performance; relationship between age and job satisfaction</a:t>
            </a:r>
            <a:endParaRPr lang="en-IN" sz="1600" dirty="0"/>
          </a:p>
          <a:p>
            <a:r>
              <a:rPr lang="en-IN" sz="1600" b="1" dirty="0"/>
              <a:t>Gender</a:t>
            </a:r>
            <a:r>
              <a:rPr lang="en-IN" sz="1600" dirty="0"/>
              <a:t>: differences between men and women job performance, workplace </a:t>
            </a:r>
            <a:r>
              <a:rPr lang="en-IN" sz="1600" dirty="0" err="1"/>
              <a:t>behavior</a:t>
            </a:r>
            <a:r>
              <a:rPr lang="en-IN" sz="1600" dirty="0"/>
              <a:t>, work schedules, turnover rates </a:t>
            </a:r>
            <a:endParaRPr lang="en-IN" sz="1600" dirty="0"/>
          </a:p>
          <a:p>
            <a:r>
              <a:rPr lang="en-IN" sz="1600" b="1" dirty="0"/>
              <a:t>Race and ethnicity</a:t>
            </a:r>
            <a:r>
              <a:rPr lang="en-IN" sz="1600" dirty="0"/>
              <a:t>: People find interacting with other racial groups uncomfortable unless there are clear </a:t>
            </a:r>
            <a:r>
              <a:rPr lang="en-IN" sz="1600" dirty="0" err="1"/>
              <a:t>behavioral</a:t>
            </a:r>
            <a:r>
              <a:rPr lang="en-IN" sz="1600" dirty="0"/>
              <a:t> scripts to guide their </a:t>
            </a:r>
            <a:r>
              <a:rPr lang="en-IN" sz="1600" dirty="0" err="1"/>
              <a:t>behavior</a:t>
            </a:r>
            <a:endParaRPr lang="en-IN" sz="1600" dirty="0"/>
          </a:p>
          <a:p>
            <a:r>
              <a:rPr lang="en-IN" sz="1600" dirty="0"/>
              <a:t>Affect hiring decisions, performance evaluations, pay, and workplace discrimination</a:t>
            </a:r>
            <a:endParaRPr lang="en-IN" sz="1600" dirty="0"/>
          </a:p>
          <a:p>
            <a:r>
              <a:rPr lang="en-IN" sz="1600" dirty="0"/>
              <a:t>Ethnic discrimination leads to negative workplace outcomes</a:t>
            </a:r>
            <a:endParaRPr lang="en-IN" sz="1600" dirty="0"/>
          </a:p>
          <a:p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IN" sz="4300"/>
              <a:t>Biographical Characteristics</a:t>
            </a:r>
            <a:endParaRPr lang="en-US" sz="4300"/>
          </a:p>
        </p:txBody>
      </p:sp>
      <p:grpSp>
        <p:nvGrpSpPr>
          <p:cNvPr id="10" name="Group 9"/>
          <p:cNvGrpSpPr>
            <a:grpSpLocks noGrp="1" noRot="1" noChangeAspect="1" noMove="1" noResize="1" noUngrp="1"/>
          </p:cNvGrpSpPr>
          <p:nvPr/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478" y="3168613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IN" sz="1600" b="1" dirty="0"/>
              <a:t>Disability</a:t>
            </a:r>
            <a:r>
              <a:rPr lang="en-IN" sz="1600" dirty="0"/>
              <a:t>: Employers are required to make accommodations so their workplaces will be accessible to individuals with physical or mental disabilities</a:t>
            </a:r>
            <a:endParaRPr lang="en-IN" sz="1600" dirty="0"/>
          </a:p>
          <a:p>
            <a:r>
              <a:rPr lang="en-IN" sz="1600" dirty="0"/>
              <a:t>Impact on performance outcome and evaluation </a:t>
            </a:r>
            <a:endParaRPr lang="en-IN" sz="1600" dirty="0"/>
          </a:p>
          <a:p>
            <a:r>
              <a:rPr lang="en-IN" sz="1600" b="1" dirty="0"/>
              <a:t>Tenure: </a:t>
            </a:r>
            <a:r>
              <a:rPr lang="en-IN" sz="1600" dirty="0"/>
              <a:t>expressed as work experience, appears to be a good predictor of employee productivity, as there is a positive relationship between seniority and job productivity</a:t>
            </a:r>
            <a:endParaRPr lang="en-IN" sz="1600" dirty="0"/>
          </a:p>
          <a:p>
            <a:r>
              <a:rPr lang="en-IN" sz="1600" b="1" dirty="0"/>
              <a:t>Religion: </a:t>
            </a:r>
            <a:r>
              <a:rPr lang="en-IN" sz="1600" dirty="0"/>
              <a:t>Employees of different religious faiths may conflict</a:t>
            </a:r>
            <a:endParaRPr lang="en-IN" sz="1600" dirty="0"/>
          </a:p>
          <a:p>
            <a:r>
              <a:rPr lang="en-IN" sz="1600" b="1" dirty="0"/>
              <a:t>Sexual Orientation and Gender Identity: </a:t>
            </a:r>
            <a:r>
              <a:rPr lang="en-IN" sz="1600" dirty="0"/>
              <a:t>Many organizations have implemented policies protecting employees on the basis of sexual orientation</a:t>
            </a:r>
            <a:endParaRPr lang="en-IN" sz="1600" dirty="0"/>
          </a:p>
          <a:p>
            <a:r>
              <a:rPr lang="en-IN" sz="1600" dirty="0"/>
              <a:t>Companies are putting in place policies to govern how their organization treats transgender employees</a:t>
            </a:r>
            <a:endParaRPr lang="en-IN" sz="1600" dirty="0"/>
          </a:p>
          <a:p>
            <a:endParaRPr lang="en-IN" sz="1600" b="1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IN" sz="4700"/>
              <a:t>Ability</a:t>
            </a:r>
            <a:endParaRPr lang="en-US" sz="4700"/>
          </a:p>
        </p:txBody>
      </p:sp>
      <p:grpSp>
        <p:nvGrpSpPr>
          <p:cNvPr id="10" name="Group 9"/>
          <p:cNvGrpSpPr>
            <a:grpSpLocks noGrp="1" noRot="1" noChangeAspect="1" noMove="1" noResize="1" noUngrp="1"/>
          </p:cNvGrpSpPr>
          <p:nvPr/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IN" sz="2100" b="1"/>
              <a:t>Ability</a:t>
            </a:r>
            <a:r>
              <a:rPr lang="en-IN" sz="2100"/>
              <a:t> is an individual’s capacity to perform the various tasks in a job.</a:t>
            </a:r>
            <a:endParaRPr lang="en-IN" sz="2100"/>
          </a:p>
          <a:p>
            <a:r>
              <a:rPr lang="en-IN" sz="2100" b="1"/>
              <a:t>Intellectual abilities </a:t>
            </a:r>
            <a:r>
              <a:rPr lang="en-IN" sz="2100"/>
              <a:t>The capacity to do mental activities-thinking, reasoning, and problem solving.</a:t>
            </a:r>
            <a:endParaRPr lang="en-IN" sz="2100"/>
          </a:p>
          <a:p>
            <a:r>
              <a:rPr lang="en-IN" sz="2100" b="1"/>
              <a:t>General Mental Ability (GMA) </a:t>
            </a:r>
            <a:r>
              <a:rPr lang="en-IN" sz="2100"/>
              <a:t>An overall factor of intelligence, generalized across cultures </a:t>
            </a:r>
            <a:endParaRPr lang="en-IN" sz="2100"/>
          </a:p>
          <a:p>
            <a:r>
              <a:rPr lang="en-IN" sz="2100" b="1"/>
              <a:t>Physical Abilities </a:t>
            </a:r>
            <a:r>
              <a:rPr lang="en-IN" sz="2100"/>
              <a:t>The capacity to do tasks that demand stamina, dexterity (skill in using hands), and strength</a:t>
            </a:r>
            <a:endParaRPr lang="en-IN" sz="2100"/>
          </a:p>
          <a:p>
            <a:endParaRPr lang="en-IN" sz="2100"/>
          </a:p>
          <a:p>
            <a:endParaRPr lang="en-US" sz="2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700" y="419100"/>
            <a:ext cx="8001000" cy="6070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000" y="215900"/>
            <a:ext cx="8585200" cy="641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IN" sz="4700"/>
              <a:t>Diversity Management</a:t>
            </a:r>
            <a:endParaRPr lang="en-US" sz="4700"/>
          </a:p>
        </p:txBody>
      </p:sp>
      <p:grpSp>
        <p:nvGrpSpPr>
          <p:cNvPr id="10" name="Group 9"/>
          <p:cNvGrpSpPr>
            <a:grpSpLocks noGrp="1" noRot="1" noChangeAspect="1" noMove="1" noResize="1" noUngrp="1"/>
          </p:cNvGrpSpPr>
          <p:nvPr/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478" y="2984778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IN" sz="1900" dirty="0"/>
              <a:t>The process and programs by which managers make everyone more aware of and sensitive to the needs and differences of others.</a:t>
            </a:r>
            <a:endParaRPr lang="en-IN" sz="1900" dirty="0"/>
          </a:p>
          <a:p>
            <a:r>
              <a:rPr lang="en-IN" sz="1900" b="1" dirty="0"/>
              <a:t>Attracting</a:t>
            </a:r>
            <a:r>
              <a:rPr lang="en-IN" sz="1900" dirty="0"/>
              <a:t>: Target recruiting messages to specific demographic groups underrepresented in the workforce</a:t>
            </a:r>
            <a:endParaRPr lang="en-IN" sz="1900" dirty="0"/>
          </a:p>
          <a:p>
            <a:r>
              <a:rPr lang="en-IN" sz="1900" b="1" dirty="0"/>
              <a:t>Selecting</a:t>
            </a:r>
            <a:r>
              <a:rPr lang="en-IN" sz="1900" dirty="0"/>
              <a:t>: Qualifications are far more important in determining who gets hired than demographic characteristics</a:t>
            </a:r>
            <a:endParaRPr lang="en-IN" sz="1900" dirty="0"/>
          </a:p>
          <a:p>
            <a:r>
              <a:rPr lang="en-IN" sz="1900" b="1" dirty="0"/>
              <a:t>Developing: </a:t>
            </a:r>
            <a:r>
              <a:rPr lang="en-IN" sz="1900" dirty="0"/>
              <a:t>Those whose personality traits are similar to those of their co-workers and supervisors are more likely to be promoted</a:t>
            </a:r>
            <a:endParaRPr lang="en-IN" sz="1900" dirty="0"/>
          </a:p>
          <a:p>
            <a:r>
              <a:rPr lang="en-IN" sz="1900" b="1" dirty="0"/>
              <a:t>Retaining: </a:t>
            </a:r>
            <a:r>
              <a:rPr lang="en-IN" sz="1900" dirty="0"/>
              <a:t>a positive diversity climate was related to higher organizational commitment and lower turnover intentions</a:t>
            </a:r>
            <a:endParaRPr lang="en-IN" sz="1900" dirty="0"/>
          </a:p>
          <a:p>
            <a:endParaRPr lang="en-IN" sz="1900" b="1" dirty="0"/>
          </a:p>
          <a:p>
            <a:endParaRPr lang="en-IN" sz="1900" dirty="0"/>
          </a:p>
          <a:p>
            <a:endParaRPr lang="en-US" sz="1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IN" sz="4700"/>
              <a:t>Diversity in Groups</a:t>
            </a:r>
            <a:endParaRPr lang="en-US" sz="4700"/>
          </a:p>
        </p:txBody>
      </p:sp>
      <p:grpSp>
        <p:nvGrpSpPr>
          <p:cNvPr id="10" name="Group 9"/>
          <p:cNvGrpSpPr>
            <a:grpSpLocks noGrp="1" noRot="1" noChangeAspect="1" noMove="1" noResize="1" noUngrp="1"/>
          </p:cNvGrpSpPr>
          <p:nvPr/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478" y="2389218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IN" sz="2100" dirty="0"/>
              <a:t>Demographic diversity does not increase or decrease team performance.</a:t>
            </a:r>
            <a:endParaRPr lang="en-IN" sz="2100" dirty="0"/>
          </a:p>
          <a:p>
            <a:r>
              <a:rPr lang="en-IN" sz="2100" dirty="0"/>
              <a:t>Teams of individuals who are highly intelligent are more effective. Thus diversity on these variables is likely to decrease team performance.</a:t>
            </a:r>
            <a:endParaRPr lang="en-IN" sz="2100" dirty="0"/>
          </a:p>
          <a:p>
            <a:r>
              <a:rPr lang="en-IN" sz="2100" dirty="0"/>
              <a:t>Groups of diverse individuals will be much more effective if leaders can show how members have a common interest in the group’s success</a:t>
            </a:r>
            <a:endParaRPr lang="en-IN" sz="2100" dirty="0"/>
          </a:p>
          <a:p>
            <a:endParaRPr lang="en-US" sz="2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IN" sz="4700"/>
              <a:t>Effective Diversity Programs</a:t>
            </a:r>
            <a:endParaRPr lang="en-US" sz="4700"/>
          </a:p>
        </p:txBody>
      </p:sp>
      <p:grpSp>
        <p:nvGrpSpPr>
          <p:cNvPr id="10" name="Group 9"/>
          <p:cNvGrpSpPr>
            <a:grpSpLocks noGrp="1" noRot="1" noChangeAspect="1" noMove="1" noResize="1" noUngrp="1"/>
          </p:cNvGrpSpPr>
          <p:nvPr/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478" y="2203079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IN" sz="2100" b="1" dirty="0"/>
              <a:t>First</a:t>
            </a:r>
            <a:r>
              <a:rPr lang="en-IN" sz="2100" dirty="0"/>
              <a:t>, they teach managers about the legal framework for equal employment opportunity and encourage fair treatment of all people regardless of their demographic characteristics. </a:t>
            </a:r>
            <a:endParaRPr lang="en-IN" sz="2100" dirty="0"/>
          </a:p>
          <a:p>
            <a:r>
              <a:rPr lang="en-IN" sz="2100" b="1" dirty="0"/>
              <a:t>Second</a:t>
            </a:r>
            <a:r>
              <a:rPr lang="en-IN" sz="2100" dirty="0"/>
              <a:t>, they teach managers how a diverse workforce will be better able to serve a diverse market of customers and clients. </a:t>
            </a:r>
            <a:endParaRPr lang="en-IN" sz="2100" dirty="0"/>
          </a:p>
          <a:p>
            <a:r>
              <a:rPr lang="en-IN" sz="2100" b="1" dirty="0"/>
              <a:t>Third</a:t>
            </a:r>
            <a:r>
              <a:rPr lang="en-IN" sz="2100" dirty="0"/>
              <a:t>, they foster personal development practices that bring out the skills and abilities of all workers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8006</Words>
  <Application>WPS Presentation</Application>
  <PresentationFormat>On-screen Show (4:3)</PresentationFormat>
  <Paragraphs>175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9" baseType="lpstr">
      <vt:lpstr>Arial</vt:lpstr>
      <vt:lpstr>SimSun</vt:lpstr>
      <vt:lpstr>Wingdings</vt:lpstr>
      <vt:lpstr>Aptos</vt:lpstr>
      <vt:lpstr>Segoe UI</vt:lpstr>
      <vt:lpstr>Aptos Display</vt:lpstr>
      <vt:lpstr>Segoe UI Variable Display</vt:lpstr>
      <vt:lpstr>Microsoft YaHei</vt:lpstr>
      <vt:lpstr>Arial Unicode MS</vt:lpstr>
      <vt:lpstr>Calibri</vt:lpstr>
      <vt:lpstr>Office Theme</vt:lpstr>
      <vt:lpstr>MS-606  Introduction to Management &amp; Organizational Behavior </vt:lpstr>
      <vt:lpstr>Management Functions</vt:lpstr>
      <vt:lpstr>Management Roles</vt:lpstr>
      <vt:lpstr>PowerPoint 演示文稿</vt:lpstr>
      <vt:lpstr>Management Skills</vt:lpstr>
      <vt:lpstr>Managerial Activities</vt:lpstr>
      <vt:lpstr>PowerPoint 演示文稿</vt:lpstr>
      <vt:lpstr>What is Organizational Behavior?</vt:lpstr>
      <vt:lpstr>Disciplines that Contribute to the OB Field</vt:lpstr>
      <vt:lpstr>PowerPoint 演示文稿</vt:lpstr>
      <vt:lpstr>Disciplines That Contribute to the OB Field</vt:lpstr>
      <vt:lpstr>Disciplines That Contribute to the OB Field</vt:lpstr>
      <vt:lpstr>Challenges and Opportunities for OB</vt:lpstr>
      <vt:lpstr>Developing an OB model</vt:lpstr>
      <vt:lpstr>PowerPoint 演示文稿</vt:lpstr>
      <vt:lpstr>Developing an OB Model</vt:lpstr>
      <vt:lpstr>Developing an OB Model</vt:lpstr>
      <vt:lpstr>Developing an OB Model</vt:lpstr>
      <vt:lpstr>Diversity levels in Organizations</vt:lpstr>
      <vt:lpstr>PowerPoint 演示文稿</vt:lpstr>
      <vt:lpstr>Biographical Characteristics</vt:lpstr>
      <vt:lpstr>Biographical Characteristics</vt:lpstr>
      <vt:lpstr>Ability</vt:lpstr>
      <vt:lpstr>PowerPoint 演示文稿</vt:lpstr>
      <vt:lpstr>PowerPoint 演示文稿</vt:lpstr>
      <vt:lpstr>Diversity Management</vt:lpstr>
      <vt:lpstr>Diversity in Groups</vt:lpstr>
      <vt:lpstr>Effective Diversity Programs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chetanya singh</dc:creator>
  <cp:lastModifiedBy>neha gujar0302</cp:lastModifiedBy>
  <cp:revision>14</cp:revision>
  <dcterms:created xsi:type="dcterms:W3CDTF">2026-07-30T06:13:00Z</dcterms:created>
  <dcterms:modified xsi:type="dcterms:W3CDTF">2026-08-03T17:30:58Z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20FC4B811FBF4EDAAD6179D8219DED53_12</vt:lpwstr>
  </property>
  <property fmtid="{D5CDD505-2E9C-101B-9397-08002B2CF9AE}" pid="3" name="KSOProductBuildVer">
    <vt:lpwstr>2057-12.2.0.23206</vt:lpwstr>
  </property>
</Properties>
</file>