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4" r:id="rId14"/>
    <p:sldId id="271" r:id="rId15"/>
    <p:sldId id="272" r:id="rId16"/>
    <p:sldId id="273" r:id="rId17"/>
    <p:sldId id="283" r:id="rId18"/>
    <p:sldId id="282" r:id="rId19"/>
    <p:sldId id="276" r:id="rId20"/>
    <p:sldId id="277" r:id="rId21"/>
    <p:sldId id="278" r:id="rId22"/>
    <p:sldId id="281" r:id="rId23"/>
    <p:sldId id="279" r:id="rId24"/>
    <p:sldId id="280" r:id="rId25"/>
    <p:sldId id="284" r:id="rId26"/>
    <p:sldId id="285" r:id="rId27"/>
    <p:sldId id="28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61"/>
  </p:normalViewPr>
  <p:slideViewPr>
    <p:cSldViewPr snapToGrid="0">
      <p:cViewPr varScale="1">
        <p:scale>
          <a:sx n="100" d="100"/>
          <a:sy n="100" d="100"/>
        </p:scale>
        <p:origin x="188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9EFFE7-0E3F-4FAA-B967-668A50F72C3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0117A6-5837-4637-8E8E-6AB37AC27005}">
      <dgm:prSet/>
      <dgm:spPr/>
      <dgm:t>
        <a:bodyPr/>
        <a:lstStyle/>
        <a:p>
          <a:r>
            <a:rPr lang="en-IN" b="1"/>
            <a:t>Affect </a:t>
          </a:r>
          <a:r>
            <a:rPr lang="en-IN"/>
            <a:t>is a generic term that covers a broad range of feelings people experience, including both emotions and moods.</a:t>
          </a:r>
          <a:endParaRPr lang="en-US"/>
        </a:p>
      </dgm:t>
    </dgm:pt>
    <dgm:pt modelId="{D830FFF2-34D9-4312-8A9A-513E3A86C05E}" type="parTrans" cxnId="{20CEFF86-F0D7-410E-81BE-78F21224A6BB}">
      <dgm:prSet/>
      <dgm:spPr/>
      <dgm:t>
        <a:bodyPr/>
        <a:lstStyle/>
        <a:p>
          <a:endParaRPr lang="en-US"/>
        </a:p>
      </dgm:t>
    </dgm:pt>
    <dgm:pt modelId="{BA0172A2-C795-47D2-B0F6-1AFD094DC929}" type="sibTrans" cxnId="{20CEFF86-F0D7-410E-81BE-78F21224A6BB}">
      <dgm:prSet/>
      <dgm:spPr/>
      <dgm:t>
        <a:bodyPr/>
        <a:lstStyle/>
        <a:p>
          <a:endParaRPr lang="en-US"/>
        </a:p>
      </dgm:t>
    </dgm:pt>
    <dgm:pt modelId="{298E736F-C677-4ABB-BC8E-A124410BB09D}">
      <dgm:prSet/>
      <dgm:spPr/>
      <dgm:t>
        <a:bodyPr/>
        <a:lstStyle/>
        <a:p>
          <a:r>
            <a:rPr lang="en-IN" b="1"/>
            <a:t>Emotions </a:t>
          </a:r>
          <a:r>
            <a:rPr lang="en-IN"/>
            <a:t>are intense feelings directed at someone or something.</a:t>
          </a:r>
          <a:endParaRPr lang="en-US"/>
        </a:p>
      </dgm:t>
    </dgm:pt>
    <dgm:pt modelId="{BD9AB0C9-9EE2-4A6F-920D-FD280EB32F06}" type="parTrans" cxnId="{CF526F6D-7237-48FE-A214-0E6441A945F7}">
      <dgm:prSet/>
      <dgm:spPr/>
      <dgm:t>
        <a:bodyPr/>
        <a:lstStyle/>
        <a:p>
          <a:endParaRPr lang="en-US"/>
        </a:p>
      </dgm:t>
    </dgm:pt>
    <dgm:pt modelId="{3F76B5D5-E475-4716-94F4-B60C79DC99C1}" type="sibTrans" cxnId="{CF526F6D-7237-48FE-A214-0E6441A945F7}">
      <dgm:prSet/>
      <dgm:spPr/>
      <dgm:t>
        <a:bodyPr/>
        <a:lstStyle/>
        <a:p>
          <a:endParaRPr lang="en-US"/>
        </a:p>
      </dgm:t>
    </dgm:pt>
    <dgm:pt modelId="{59ADF07E-375F-419F-8EE2-0EA8969ED4B2}">
      <dgm:prSet/>
      <dgm:spPr/>
      <dgm:t>
        <a:bodyPr/>
        <a:lstStyle/>
        <a:p>
          <a:r>
            <a:rPr lang="en-IN" b="1"/>
            <a:t>Moods </a:t>
          </a:r>
          <a:r>
            <a:rPr lang="en-IN"/>
            <a:t>are less intense feelings than emotions and often arise without a specific event acting as a stimulus. </a:t>
          </a:r>
          <a:endParaRPr lang="en-US"/>
        </a:p>
      </dgm:t>
    </dgm:pt>
    <dgm:pt modelId="{4DB76A36-AD11-467B-8DD9-A5A9E9FC7726}" type="parTrans" cxnId="{B5A590EE-FFE2-49B5-A45C-EB20EE309467}">
      <dgm:prSet/>
      <dgm:spPr/>
      <dgm:t>
        <a:bodyPr/>
        <a:lstStyle/>
        <a:p>
          <a:endParaRPr lang="en-US"/>
        </a:p>
      </dgm:t>
    </dgm:pt>
    <dgm:pt modelId="{86C12CD2-1840-40CA-99C2-06725EEAEEEC}" type="sibTrans" cxnId="{B5A590EE-FFE2-49B5-A45C-EB20EE309467}">
      <dgm:prSet/>
      <dgm:spPr/>
      <dgm:t>
        <a:bodyPr/>
        <a:lstStyle/>
        <a:p>
          <a:endParaRPr lang="en-US"/>
        </a:p>
      </dgm:t>
    </dgm:pt>
    <dgm:pt modelId="{579D7983-01EA-9B4C-8FDF-A8A38E822177}" type="pres">
      <dgm:prSet presAssocID="{A49EFFE7-0E3F-4FAA-B967-668A50F72C32}" presName="vert0" presStyleCnt="0">
        <dgm:presLayoutVars>
          <dgm:dir/>
          <dgm:animOne val="branch"/>
          <dgm:animLvl val="lvl"/>
        </dgm:presLayoutVars>
      </dgm:prSet>
      <dgm:spPr/>
    </dgm:pt>
    <dgm:pt modelId="{12F95DBA-B2B8-8A40-AE7F-00FC509D8F20}" type="pres">
      <dgm:prSet presAssocID="{170117A6-5837-4637-8E8E-6AB37AC27005}" presName="thickLine" presStyleLbl="alignNode1" presStyleIdx="0" presStyleCnt="3"/>
      <dgm:spPr/>
    </dgm:pt>
    <dgm:pt modelId="{21571B4A-999A-F543-B44B-0EABA8F9B26C}" type="pres">
      <dgm:prSet presAssocID="{170117A6-5837-4637-8E8E-6AB37AC27005}" presName="horz1" presStyleCnt="0"/>
      <dgm:spPr/>
    </dgm:pt>
    <dgm:pt modelId="{3D056374-7002-DD41-B280-DD9FA3814A61}" type="pres">
      <dgm:prSet presAssocID="{170117A6-5837-4637-8E8E-6AB37AC27005}" presName="tx1" presStyleLbl="revTx" presStyleIdx="0" presStyleCnt="3"/>
      <dgm:spPr/>
    </dgm:pt>
    <dgm:pt modelId="{F481486B-B0D6-8D43-9340-C8DFB756308C}" type="pres">
      <dgm:prSet presAssocID="{170117A6-5837-4637-8E8E-6AB37AC27005}" presName="vert1" presStyleCnt="0"/>
      <dgm:spPr/>
    </dgm:pt>
    <dgm:pt modelId="{3393608D-08B0-6D46-9E8C-D6902F17A2D6}" type="pres">
      <dgm:prSet presAssocID="{298E736F-C677-4ABB-BC8E-A124410BB09D}" presName="thickLine" presStyleLbl="alignNode1" presStyleIdx="1" presStyleCnt="3"/>
      <dgm:spPr/>
    </dgm:pt>
    <dgm:pt modelId="{8C4DEC8F-AE2C-DA45-BF17-A324FBA44543}" type="pres">
      <dgm:prSet presAssocID="{298E736F-C677-4ABB-BC8E-A124410BB09D}" presName="horz1" presStyleCnt="0"/>
      <dgm:spPr/>
    </dgm:pt>
    <dgm:pt modelId="{5AD881E5-352A-474C-9C0A-906CBBB5F6DF}" type="pres">
      <dgm:prSet presAssocID="{298E736F-C677-4ABB-BC8E-A124410BB09D}" presName="tx1" presStyleLbl="revTx" presStyleIdx="1" presStyleCnt="3"/>
      <dgm:spPr/>
    </dgm:pt>
    <dgm:pt modelId="{0A1A440F-ECC2-F34F-92C7-C834987132A4}" type="pres">
      <dgm:prSet presAssocID="{298E736F-C677-4ABB-BC8E-A124410BB09D}" presName="vert1" presStyleCnt="0"/>
      <dgm:spPr/>
    </dgm:pt>
    <dgm:pt modelId="{3853B433-9DF3-B74F-B8AF-4DF0BCCBA08B}" type="pres">
      <dgm:prSet presAssocID="{59ADF07E-375F-419F-8EE2-0EA8969ED4B2}" presName="thickLine" presStyleLbl="alignNode1" presStyleIdx="2" presStyleCnt="3"/>
      <dgm:spPr/>
    </dgm:pt>
    <dgm:pt modelId="{E8D7DC19-9DAB-9047-8ADF-DE6C542966F1}" type="pres">
      <dgm:prSet presAssocID="{59ADF07E-375F-419F-8EE2-0EA8969ED4B2}" presName="horz1" presStyleCnt="0"/>
      <dgm:spPr/>
    </dgm:pt>
    <dgm:pt modelId="{1262ECDD-022D-5641-8F1E-34D0D5AFF0BA}" type="pres">
      <dgm:prSet presAssocID="{59ADF07E-375F-419F-8EE2-0EA8969ED4B2}" presName="tx1" presStyleLbl="revTx" presStyleIdx="2" presStyleCnt="3"/>
      <dgm:spPr/>
    </dgm:pt>
    <dgm:pt modelId="{E38A538D-6829-2A48-ACC5-DBA0D35F7456}" type="pres">
      <dgm:prSet presAssocID="{59ADF07E-375F-419F-8EE2-0EA8969ED4B2}" presName="vert1" presStyleCnt="0"/>
      <dgm:spPr/>
    </dgm:pt>
  </dgm:ptLst>
  <dgm:cxnLst>
    <dgm:cxn modelId="{5ABAF913-308E-BC48-A434-B7F2A5E7BBA7}" type="presOf" srcId="{A49EFFE7-0E3F-4FAA-B967-668A50F72C32}" destId="{579D7983-01EA-9B4C-8FDF-A8A38E822177}" srcOrd="0" destOrd="0" presId="urn:microsoft.com/office/officeart/2008/layout/LinedList"/>
    <dgm:cxn modelId="{E62C5941-49AB-A547-A24A-4388A625B16B}" type="presOf" srcId="{59ADF07E-375F-419F-8EE2-0EA8969ED4B2}" destId="{1262ECDD-022D-5641-8F1E-34D0D5AFF0BA}" srcOrd="0" destOrd="0" presId="urn:microsoft.com/office/officeart/2008/layout/LinedList"/>
    <dgm:cxn modelId="{A8FCEC50-2DE3-EE40-860C-F49E2CEB9327}" type="presOf" srcId="{298E736F-C677-4ABB-BC8E-A124410BB09D}" destId="{5AD881E5-352A-474C-9C0A-906CBBB5F6DF}" srcOrd="0" destOrd="0" presId="urn:microsoft.com/office/officeart/2008/layout/LinedList"/>
    <dgm:cxn modelId="{CF526F6D-7237-48FE-A214-0E6441A945F7}" srcId="{A49EFFE7-0E3F-4FAA-B967-668A50F72C32}" destId="{298E736F-C677-4ABB-BC8E-A124410BB09D}" srcOrd="1" destOrd="0" parTransId="{BD9AB0C9-9EE2-4A6F-920D-FD280EB32F06}" sibTransId="{3F76B5D5-E475-4716-94F4-B60C79DC99C1}"/>
    <dgm:cxn modelId="{20CEFF86-F0D7-410E-81BE-78F21224A6BB}" srcId="{A49EFFE7-0E3F-4FAA-B967-668A50F72C32}" destId="{170117A6-5837-4637-8E8E-6AB37AC27005}" srcOrd="0" destOrd="0" parTransId="{D830FFF2-34D9-4312-8A9A-513E3A86C05E}" sibTransId="{BA0172A2-C795-47D2-B0F6-1AFD094DC929}"/>
    <dgm:cxn modelId="{EA2CFEA2-CA97-E44C-BEA2-D1681ABCBD79}" type="presOf" srcId="{170117A6-5837-4637-8E8E-6AB37AC27005}" destId="{3D056374-7002-DD41-B280-DD9FA3814A61}" srcOrd="0" destOrd="0" presId="urn:microsoft.com/office/officeart/2008/layout/LinedList"/>
    <dgm:cxn modelId="{B5A590EE-FFE2-49B5-A45C-EB20EE309467}" srcId="{A49EFFE7-0E3F-4FAA-B967-668A50F72C32}" destId="{59ADF07E-375F-419F-8EE2-0EA8969ED4B2}" srcOrd="2" destOrd="0" parTransId="{4DB76A36-AD11-467B-8DD9-A5A9E9FC7726}" sibTransId="{86C12CD2-1840-40CA-99C2-06725EEAEEEC}"/>
    <dgm:cxn modelId="{AB7CDCFE-3F5A-104B-97AE-A8F3A44E159B}" type="presParOf" srcId="{579D7983-01EA-9B4C-8FDF-A8A38E822177}" destId="{12F95DBA-B2B8-8A40-AE7F-00FC509D8F20}" srcOrd="0" destOrd="0" presId="urn:microsoft.com/office/officeart/2008/layout/LinedList"/>
    <dgm:cxn modelId="{3933C139-8CE6-F14C-BB08-67EC757624F6}" type="presParOf" srcId="{579D7983-01EA-9B4C-8FDF-A8A38E822177}" destId="{21571B4A-999A-F543-B44B-0EABA8F9B26C}" srcOrd="1" destOrd="0" presId="urn:microsoft.com/office/officeart/2008/layout/LinedList"/>
    <dgm:cxn modelId="{41E404A6-A45A-2B4F-B774-70874911DDEA}" type="presParOf" srcId="{21571B4A-999A-F543-B44B-0EABA8F9B26C}" destId="{3D056374-7002-DD41-B280-DD9FA3814A61}" srcOrd="0" destOrd="0" presId="urn:microsoft.com/office/officeart/2008/layout/LinedList"/>
    <dgm:cxn modelId="{44F49F64-A433-294E-89E9-41541CA3D04B}" type="presParOf" srcId="{21571B4A-999A-F543-B44B-0EABA8F9B26C}" destId="{F481486B-B0D6-8D43-9340-C8DFB756308C}" srcOrd="1" destOrd="0" presId="urn:microsoft.com/office/officeart/2008/layout/LinedList"/>
    <dgm:cxn modelId="{81331D0D-CB5F-0B4D-A1DA-4E76BF8CB92C}" type="presParOf" srcId="{579D7983-01EA-9B4C-8FDF-A8A38E822177}" destId="{3393608D-08B0-6D46-9E8C-D6902F17A2D6}" srcOrd="2" destOrd="0" presId="urn:microsoft.com/office/officeart/2008/layout/LinedList"/>
    <dgm:cxn modelId="{E58FA2EC-F272-9F45-881A-E167093EF24E}" type="presParOf" srcId="{579D7983-01EA-9B4C-8FDF-A8A38E822177}" destId="{8C4DEC8F-AE2C-DA45-BF17-A324FBA44543}" srcOrd="3" destOrd="0" presId="urn:microsoft.com/office/officeart/2008/layout/LinedList"/>
    <dgm:cxn modelId="{E4F0BBA4-280D-FA46-B859-0E3F52DA3D6B}" type="presParOf" srcId="{8C4DEC8F-AE2C-DA45-BF17-A324FBA44543}" destId="{5AD881E5-352A-474C-9C0A-906CBBB5F6DF}" srcOrd="0" destOrd="0" presId="urn:microsoft.com/office/officeart/2008/layout/LinedList"/>
    <dgm:cxn modelId="{559E487B-18F9-6541-A5D2-1755209045A2}" type="presParOf" srcId="{8C4DEC8F-AE2C-DA45-BF17-A324FBA44543}" destId="{0A1A440F-ECC2-F34F-92C7-C834987132A4}" srcOrd="1" destOrd="0" presId="urn:microsoft.com/office/officeart/2008/layout/LinedList"/>
    <dgm:cxn modelId="{14EA44D5-E1E6-9740-9C20-F3B0913D2A1D}" type="presParOf" srcId="{579D7983-01EA-9B4C-8FDF-A8A38E822177}" destId="{3853B433-9DF3-B74F-B8AF-4DF0BCCBA08B}" srcOrd="4" destOrd="0" presId="urn:microsoft.com/office/officeart/2008/layout/LinedList"/>
    <dgm:cxn modelId="{92D12772-D6B2-8B41-9543-662E2F3E9DE1}" type="presParOf" srcId="{579D7983-01EA-9B4C-8FDF-A8A38E822177}" destId="{E8D7DC19-9DAB-9047-8ADF-DE6C542966F1}" srcOrd="5" destOrd="0" presId="urn:microsoft.com/office/officeart/2008/layout/LinedList"/>
    <dgm:cxn modelId="{F95EAE0C-947C-F441-938D-D66E76E73514}" type="presParOf" srcId="{E8D7DC19-9DAB-9047-8ADF-DE6C542966F1}" destId="{1262ECDD-022D-5641-8F1E-34D0D5AFF0BA}" srcOrd="0" destOrd="0" presId="urn:microsoft.com/office/officeart/2008/layout/LinedList"/>
    <dgm:cxn modelId="{81DFA9EE-3DBA-AA45-A301-6300DA5410BB}" type="presParOf" srcId="{E8D7DC19-9DAB-9047-8ADF-DE6C542966F1}" destId="{E38A538D-6829-2A48-ACC5-DBA0D35F745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95DBA-B2B8-8A40-AE7F-00FC509D8F20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056374-7002-DD41-B280-DD9FA3814A61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Affect </a:t>
          </a:r>
          <a:r>
            <a:rPr lang="en-IN" sz="2800" kern="1200"/>
            <a:t>is a generic term that covers a broad range of feelings people experience, including both emotions and moods.</a:t>
          </a:r>
          <a:endParaRPr lang="en-US" sz="2800" kern="1200"/>
        </a:p>
      </dsp:txBody>
      <dsp:txXfrm>
        <a:off x="0" y="2703"/>
        <a:ext cx="5175384" cy="1843578"/>
      </dsp:txXfrm>
    </dsp:sp>
    <dsp:sp modelId="{3393608D-08B0-6D46-9E8C-D6902F17A2D6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D881E5-352A-474C-9C0A-906CBBB5F6DF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Emotions </a:t>
          </a:r>
          <a:r>
            <a:rPr lang="en-IN" sz="2800" kern="1200"/>
            <a:t>are intense feelings directed at someone or something.</a:t>
          </a:r>
          <a:endParaRPr lang="en-US" sz="2800" kern="1200"/>
        </a:p>
      </dsp:txBody>
      <dsp:txXfrm>
        <a:off x="0" y="1846281"/>
        <a:ext cx="5175384" cy="1843578"/>
      </dsp:txXfrm>
    </dsp:sp>
    <dsp:sp modelId="{3853B433-9DF3-B74F-B8AF-4DF0BCCBA08B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2ECDD-022D-5641-8F1E-34D0D5AFF0BA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Moods </a:t>
          </a:r>
          <a:r>
            <a:rPr lang="en-IN" sz="2800" kern="1200"/>
            <a:t>are less intense feelings than emotions and often arise without a specific event acting as a stimulus. </a:t>
          </a:r>
          <a:endParaRPr lang="en-US" sz="2800" kern="1200"/>
        </a:p>
      </dsp:txBody>
      <dsp:txXfrm>
        <a:off x="0" y="3689859"/>
        <a:ext cx="5175384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6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05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2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9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1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5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1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68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5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9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99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BBB5D-C309-9D4F-8AF4-18C105A5BFE3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3EA42-6FB0-0344-A64A-6B39435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63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47F93-88BB-7D91-240B-EFBFFB272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MS-606 </a:t>
            </a:r>
            <a:br>
              <a:rPr lang="en-US" sz="4700"/>
            </a:br>
            <a:r>
              <a:rPr lang="en-US" sz="4700"/>
              <a:t>EMOTIONS AND MOODS</a:t>
            </a:r>
          </a:p>
        </p:txBody>
      </p:sp>
      <p:pic>
        <p:nvPicPr>
          <p:cNvPr id="13" name="Picture 12" descr="Smiley face sticky notes">
            <a:extLst>
              <a:ext uri="{FF2B5EF4-FFF2-40B4-BE49-F238E27FC236}">
                <a16:creationId xmlns:a16="http://schemas.microsoft.com/office/drawing/2014/main" id="{29B0430E-D524-CC1E-4E7C-3B5B2197C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54" r="40748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59EFA-FBBF-03BC-A827-E703431A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5715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600" dirty="0"/>
              <a:t>Emotions at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FE768-D435-C3F0-C98C-9A231F01A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3397126"/>
            <a:ext cx="5664350" cy="3769835"/>
          </a:xfrm>
        </p:spPr>
        <p:txBody>
          <a:bodyPr anchor="ctr">
            <a:normAutofit/>
          </a:bodyPr>
          <a:lstStyle/>
          <a:p>
            <a:r>
              <a:rPr lang="en-IN" sz="2400" dirty="0"/>
              <a:t>Until recently, the field of OB has given emotions little attention</a:t>
            </a:r>
          </a:p>
          <a:p>
            <a:r>
              <a:rPr lang="en-IN" sz="2400" dirty="0"/>
              <a:t>Myth of rationality: Emotions are thought to be the antithesis of rationality. Managers tried to create organizations that were emotion-free</a:t>
            </a:r>
          </a:p>
          <a:p>
            <a:r>
              <a:rPr lang="en-IN" sz="2400" dirty="0"/>
              <a:t>Emotions are disruptive: Researchers looked at strong negative emotions that interfered with an employee’s ability to work effectively. 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US" sz="2400" dirty="0"/>
          </a:p>
        </p:txBody>
      </p:sp>
      <p:pic>
        <p:nvPicPr>
          <p:cNvPr id="5" name="Picture 4" descr="One in a crowd">
            <a:extLst>
              <a:ext uri="{FF2B5EF4-FFF2-40B4-BE49-F238E27FC236}">
                <a16:creationId xmlns:a16="http://schemas.microsoft.com/office/drawing/2014/main" id="{D781190B-EFBD-3D1E-398F-991C9C82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32" r="24785" b="-1"/>
          <a:stretch>
            <a:fillRect/>
          </a:stretch>
        </p:blipFill>
        <p:spPr>
          <a:xfrm>
            <a:off x="6375250" y="-10886"/>
            <a:ext cx="2768750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324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71F51-5341-6650-4289-32737FFD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 dirty="0"/>
              <a:t>Definitions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C43888-6222-FAEA-EFC3-1ACDD5162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36874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8547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532B-AB8C-D99F-2F66-37EA7E03F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Emotions &amp; Moods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BF5840-49A3-BE50-A094-89FCC15B6B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773360"/>
              </p:ext>
            </p:extLst>
          </p:nvPr>
        </p:nvGraphicFramePr>
        <p:xfrm>
          <a:off x="628650" y="1825624"/>
          <a:ext cx="7886700" cy="4359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71372917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17857272"/>
                    </a:ext>
                  </a:extLst>
                </a:gridCol>
              </a:tblGrid>
              <a:tr h="569279">
                <a:tc>
                  <a:txBody>
                    <a:bodyPr/>
                    <a:lstStyle/>
                    <a:p>
                      <a:r>
                        <a:rPr lang="en-US" dirty="0"/>
                        <a:t>EMOTIONS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936990"/>
                  </a:ext>
                </a:extLst>
              </a:tr>
              <a:tr h="982592">
                <a:tc>
                  <a:txBody>
                    <a:bodyPr/>
                    <a:lstStyle/>
                    <a:p>
                      <a:r>
                        <a:rPr lang="en-IN" dirty="0"/>
                        <a:t>Emotions are more fleeting than moods.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When you’re in a bad mood, you can feel bad for several hours.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7414"/>
                  </a:ext>
                </a:extLst>
              </a:tr>
              <a:tr h="982592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Emotions are reactions to a person or an event.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Moods are not directed at a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 or an event.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036611"/>
                  </a:ext>
                </a:extLst>
              </a:tr>
              <a:tr h="1824813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Emotions can turn into moods when you lose focus on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event or object that started the feeling.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 or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bad moods can make you more emotional in response to an event.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385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00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E8B33A-5896-237C-FF6D-257453CBB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228600"/>
            <a:ext cx="8585199" cy="6283871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2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29100-C667-EC4D-08DC-FC0413BA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/>
              <a:t>The Basic Emotions</a:t>
            </a:r>
            <a:endParaRPr lang="en-US" sz="47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2A4C-BC37-E47C-09AF-101999C01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IN" sz="1900" dirty="0"/>
              <a:t>Anger, contempt, enthusiasm, envy, fear, frustration, disappointment, embarrassment, disgust, happiness, hate, hope, jealousy, joy, love, pride, surprise, and sadness</a:t>
            </a:r>
          </a:p>
          <a:p>
            <a:r>
              <a:rPr lang="en-IN" sz="1900" dirty="0"/>
              <a:t>Researchers have tried to limit them to a fundamental set</a:t>
            </a:r>
          </a:p>
          <a:p>
            <a:r>
              <a:rPr lang="en-IN" sz="1900" dirty="0"/>
              <a:t>René Descartes, often called the founder of modern philosophy, identified six “simple and primitive passions”— wonder, love, hatred, desire, joy, and sadness</a:t>
            </a:r>
          </a:p>
          <a:p>
            <a:r>
              <a:rPr lang="en-IN" sz="1900" dirty="0"/>
              <a:t>Psychologists have tried to identify basic emotions by studying facial expressions.</a:t>
            </a:r>
          </a:p>
          <a:p>
            <a:r>
              <a:rPr lang="en-IN" sz="1900" dirty="0"/>
              <a:t>Cultures have norms that govern emotional expression</a:t>
            </a:r>
          </a:p>
          <a:p>
            <a:r>
              <a:rPr lang="en-IN" sz="1900" dirty="0"/>
              <a:t>Researchers agree on six essentially universal emotions—happiness—surprise—fear—sadness—anger—disgust</a:t>
            </a:r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77076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75ACD-1B17-0D47-D0B4-69A04478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300" dirty="0"/>
              <a:t>The Basic Moods: Positive and Negative Affect</a:t>
            </a:r>
            <a:endParaRPr lang="en-US" sz="4300" dirty="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F47A3-6444-6541-1DC8-594A9E4BC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IN" sz="1900" dirty="0"/>
              <a:t>Positive emotions—such as joy and gratitude—express a </a:t>
            </a:r>
            <a:r>
              <a:rPr lang="en-IN" sz="1900"/>
              <a:t>favorable</a:t>
            </a:r>
            <a:r>
              <a:rPr lang="en-IN" sz="1900" dirty="0"/>
              <a:t> evaluation or feeling. </a:t>
            </a:r>
          </a:p>
          <a:p>
            <a:r>
              <a:rPr lang="en-IN" sz="1900" dirty="0"/>
              <a:t>Negative emotions—such as anger or guilt</a:t>
            </a:r>
          </a:p>
          <a:p>
            <a:r>
              <a:rPr lang="en-IN" sz="1900" dirty="0"/>
              <a:t>Being neutral is being </a:t>
            </a:r>
            <a:r>
              <a:rPr lang="en-IN" sz="1900"/>
              <a:t>nonemotional</a:t>
            </a:r>
            <a:endParaRPr lang="en-IN" sz="1900" dirty="0"/>
          </a:p>
          <a:p>
            <a:r>
              <a:rPr lang="en-IN" sz="1900" dirty="0"/>
              <a:t>When we group emotions into positive and negative categories, they become mood states</a:t>
            </a:r>
          </a:p>
          <a:p>
            <a:r>
              <a:rPr lang="en-IN" sz="1900" b="1"/>
              <a:t>Positive affect </a:t>
            </a:r>
            <a:r>
              <a:rPr lang="en-IN" sz="1900"/>
              <a:t>A mood dimension that consists of specific positive emotions such as excitement, self-assurance, and cheerfulness at the high end and boredom, sluggishness, and tiredness at the low end.</a:t>
            </a:r>
          </a:p>
          <a:p>
            <a:r>
              <a:rPr lang="en-IN" sz="1900" b="1"/>
              <a:t>Negative affect </a:t>
            </a:r>
            <a:r>
              <a:rPr lang="en-IN" sz="1900"/>
              <a:t>A mood dimension that consists of emotions such as nervousness, stress, and anxiety at the high end and relaxation, tranquility, and poise at the low end.</a:t>
            </a:r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427485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353EC1-7B62-3B0D-8289-0A391CCF2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7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FDEB-66EB-CCA8-F26E-C0826C81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4000" dirty="0"/>
              <a:t>Moods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95754-F934-99A3-2A2A-D354F7814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1422401"/>
            <a:ext cx="5033221" cy="4593770"/>
          </a:xfrm>
        </p:spPr>
        <p:txBody>
          <a:bodyPr anchor="ctr">
            <a:normAutofit/>
          </a:bodyPr>
          <a:lstStyle/>
          <a:p>
            <a:r>
              <a:rPr lang="en-IN" sz="2400" dirty="0"/>
              <a:t>Negative emotions are likely to translate into negative moods.</a:t>
            </a:r>
          </a:p>
          <a:p>
            <a:r>
              <a:rPr lang="en-IN" sz="2400" dirty="0"/>
              <a:t>People recall negative experiences more readily than positive ones.</a:t>
            </a:r>
          </a:p>
          <a:p>
            <a:r>
              <a:rPr lang="en-IN" sz="2400" b="1" dirty="0"/>
              <a:t>Positivity offset: </a:t>
            </a:r>
            <a:r>
              <a:rPr lang="en-IN" sz="2400" dirty="0"/>
              <a:t>at zero input (when nothing in particular is going on), most individuals experience a mildly positive mood</a:t>
            </a:r>
          </a:p>
          <a:p>
            <a:endParaRPr lang="en-IN" sz="2400" dirty="0"/>
          </a:p>
          <a:p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Angel Face Outline">
            <a:extLst>
              <a:ext uri="{FF2B5EF4-FFF2-40B4-BE49-F238E27FC236}">
                <a16:creationId xmlns:a16="http://schemas.microsoft.com/office/drawing/2014/main" id="{B1553ACF-5FB7-0CDE-EFFF-C6D57FA17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15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5287" y="0"/>
            <a:ext cx="633870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280888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C6AD3-148E-184B-D91A-13C041B7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37762"/>
            <a:ext cx="2091625" cy="5576770"/>
          </a:xfrm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Emotions &amp; Cultures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1049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45EBB-0AC3-F885-7036-C23043AC1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049" y="850052"/>
            <a:ext cx="4792967" cy="5326911"/>
          </a:xfrm>
        </p:spPr>
        <p:txBody>
          <a:bodyPr>
            <a:normAutofit/>
          </a:bodyPr>
          <a:lstStyle/>
          <a:p>
            <a:r>
              <a:rPr lang="en-IN" sz="1900"/>
              <a:t>In China, people report experiencing fewer positive and negative emotions</a:t>
            </a:r>
          </a:p>
          <a:p>
            <a:r>
              <a:rPr lang="en-IN" sz="1900"/>
              <a:t>Taiwanese are more like U.S. workers, they report more positive and fewer negative emotions</a:t>
            </a:r>
          </a:p>
          <a:p>
            <a:r>
              <a:rPr lang="en-IN" sz="1900"/>
              <a:t>People from all over the world interpret negative and positive emotions in the same way cultures value certain emotions more than others.</a:t>
            </a:r>
          </a:p>
          <a:p>
            <a:r>
              <a:rPr lang="en-IN" sz="1900"/>
              <a:t>U.S. culture values enthusiasm, while the Chinese consider negative emotions more useful and constructive. </a:t>
            </a:r>
          </a:p>
          <a:p>
            <a:r>
              <a:rPr lang="en-IN" sz="1900"/>
              <a:t>Pride is generally a positive emotion in Western cultures such as the United States, but Eastern cultures such as China and Japan view pride as undesirable. </a:t>
            </a:r>
          </a:p>
          <a:p>
            <a:endParaRPr lang="en-IN" sz="1900"/>
          </a:p>
          <a:p>
            <a:endParaRPr lang="en-IN" sz="1900"/>
          </a:p>
          <a:p>
            <a:endParaRPr lang="en-IN" sz="1900"/>
          </a:p>
          <a:p>
            <a:endParaRPr lang="en-IN" sz="1900"/>
          </a:p>
          <a:p>
            <a:endParaRPr lang="en-IN" sz="1900"/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87840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24DA-F425-A13A-7092-4D7A2E9E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68590"/>
            <a:ext cx="259186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Function of Emotions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9260-4090-9BEA-26CB-50C89B7AE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518" y="1968500"/>
            <a:ext cx="3821959" cy="4279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/>
              <a:t>Do Emotions Make Us Irrational?</a:t>
            </a:r>
          </a:p>
          <a:p>
            <a:r>
              <a:rPr lang="en-US" sz="2400" dirty="0"/>
              <a:t>Rationality and emotion are in conflict</a:t>
            </a:r>
          </a:p>
          <a:p>
            <a:r>
              <a:rPr lang="en-US" sz="2400" dirty="0"/>
              <a:t>Emotions are critical to rational thinking </a:t>
            </a:r>
          </a:p>
          <a:p>
            <a:r>
              <a:rPr lang="en-US" sz="2400" dirty="0"/>
              <a:t>Example</a:t>
            </a:r>
            <a:r>
              <a:rPr lang="en-US" sz="2400" b="1" dirty="0"/>
              <a:t>, </a:t>
            </a:r>
            <a:r>
              <a:rPr lang="en-US" sz="2400" dirty="0"/>
              <a:t>Phineas Gage</a:t>
            </a:r>
          </a:p>
          <a:p>
            <a:r>
              <a:rPr lang="en-US" sz="2400" dirty="0"/>
              <a:t>The key to good decision making is to employ both thinking and feeling in our decisions.</a:t>
            </a:r>
          </a:p>
          <a:p>
            <a:endParaRPr lang="en-US" sz="2400" b="1" dirty="0"/>
          </a:p>
        </p:txBody>
      </p:sp>
      <p:pic>
        <p:nvPicPr>
          <p:cNvPr id="1026" name="Picture 2" descr="infographic illustration of right brain versus left brain ">
            <a:extLst>
              <a:ext uri="{FF2B5EF4-FFF2-40B4-BE49-F238E27FC236}">
                <a16:creationId xmlns:a16="http://schemas.microsoft.com/office/drawing/2014/main" id="{61DBD9E1-B418-C776-4E3A-05010B8A641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1829667"/>
            <a:ext cx="4479478" cy="319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8679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FA75-69B9-0C44-DBF8-1A81997BC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871146"/>
            <a:ext cx="4000500" cy="1669360"/>
          </a:xfrm>
        </p:spPr>
        <p:txBody>
          <a:bodyPr anchor="t">
            <a:normAutofit/>
          </a:bodyPr>
          <a:lstStyle/>
          <a:p>
            <a:r>
              <a:rPr lang="en-IN" sz="3600" dirty="0"/>
              <a:t>The Function of Emotions</a:t>
            </a:r>
            <a:endParaRPr lang="en-US" sz="3600" dirty="0"/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9841B-55F6-44F9-A524-C5D623D54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2146310"/>
            <a:ext cx="4622800" cy="3996074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dirty="0"/>
              <a:t>Do Emotions Make Us Ethical?</a:t>
            </a:r>
          </a:p>
          <a:p>
            <a:r>
              <a:rPr lang="en-IN" sz="2400" dirty="0"/>
              <a:t>Ethical decision making was based on cognition</a:t>
            </a:r>
          </a:p>
          <a:p>
            <a:r>
              <a:rPr lang="en-IN" sz="2400" dirty="0"/>
              <a:t>Moral emotions include sympathy for the suffering of others, guilt about our own immoral </a:t>
            </a:r>
            <a:r>
              <a:rPr lang="en-IN" sz="2400" dirty="0" err="1"/>
              <a:t>behavior</a:t>
            </a:r>
            <a:r>
              <a:rPr lang="en-IN" sz="2400" dirty="0"/>
              <a:t>, anger about injustice done to others, contempt for those who behave unethically</a:t>
            </a:r>
          </a:p>
          <a:p>
            <a:r>
              <a:rPr lang="en-IN" sz="2400" dirty="0"/>
              <a:t>These reactions are largely based on feelings rather than only cognition.</a:t>
            </a:r>
          </a:p>
          <a:p>
            <a:endParaRPr lang="en-IN" sz="2400" b="1" dirty="0"/>
          </a:p>
          <a:p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BCE8B0-5EA3-9B33-AFC3-FC4DFBE08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45" r="24886"/>
          <a:stretch>
            <a:fillRect/>
          </a:stretch>
        </p:blipFill>
        <p:spPr bwMode="auto">
          <a:xfrm>
            <a:off x="5194300" y="1960225"/>
            <a:ext cx="3784600" cy="399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221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6D900-A2A2-F6CF-F3CA-1D862BAE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0040"/>
            <a:ext cx="7886700" cy="1325563"/>
          </a:xfrm>
        </p:spPr>
        <p:txBody>
          <a:bodyPr>
            <a:normAutofit/>
          </a:bodyPr>
          <a:lstStyle/>
          <a:p>
            <a:r>
              <a:rPr lang="en-IN" dirty="0"/>
              <a:t>Sources of Emotions and Moods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FF42A-7F79-9761-84FF-3B6C83A9B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645602"/>
            <a:ext cx="3823335" cy="4615497"/>
          </a:xfrm>
        </p:spPr>
        <p:txBody>
          <a:bodyPr>
            <a:normAutofit lnSpcReduction="10000"/>
          </a:bodyPr>
          <a:lstStyle/>
          <a:p>
            <a:r>
              <a:rPr lang="en-IN" sz="1800" b="1" dirty="0"/>
              <a:t>Personality</a:t>
            </a:r>
            <a:endParaRPr lang="en-US" sz="1800" b="1" dirty="0"/>
          </a:p>
          <a:p>
            <a:pPr lvl="1"/>
            <a:r>
              <a:rPr lang="en-US" sz="1800" dirty="0"/>
              <a:t>People </a:t>
            </a:r>
            <a:r>
              <a:rPr lang="en-IN" sz="1800" dirty="0"/>
              <a:t>differ in </a:t>
            </a:r>
            <a:r>
              <a:rPr lang="en-IN" sz="1800" b="1" dirty="0"/>
              <a:t>affect intensity</a:t>
            </a:r>
            <a:r>
              <a:rPr lang="en-IN" sz="1800" dirty="0"/>
              <a:t>, or how strongly they experience their emotions</a:t>
            </a:r>
          </a:p>
          <a:p>
            <a:r>
              <a:rPr lang="en-IN" sz="1800" b="1" dirty="0"/>
              <a:t>Weather</a:t>
            </a:r>
          </a:p>
          <a:p>
            <a:pPr lvl="1"/>
            <a:r>
              <a:rPr lang="en-IN" sz="1800" b="1" dirty="0"/>
              <a:t>Illusory correlation </a:t>
            </a:r>
            <a:r>
              <a:rPr lang="en-IN" sz="1800" dirty="0"/>
              <a:t>occurs when people associate two events (nice weather and mood) that in reality have no connection.</a:t>
            </a:r>
          </a:p>
          <a:p>
            <a:r>
              <a:rPr lang="en-IN" sz="1800" b="1" dirty="0"/>
              <a:t>Social Activities</a:t>
            </a:r>
          </a:p>
          <a:p>
            <a:pPr lvl="1"/>
            <a:r>
              <a:rPr lang="en-IN" sz="1800" dirty="0"/>
              <a:t>Activities that are physical, informal, or epicurean are more strongly associated with increases in positive mood than events that are formal or sedentary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70DE4-49A5-DC98-B3F2-AF8DE6392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2015" y="1645602"/>
            <a:ext cx="3823335" cy="4615496"/>
          </a:xfrm>
        </p:spPr>
        <p:txBody>
          <a:bodyPr>
            <a:normAutofit lnSpcReduction="10000"/>
          </a:bodyPr>
          <a:lstStyle/>
          <a:p>
            <a:r>
              <a:rPr lang="en-IN" sz="1800" b="1" dirty="0"/>
              <a:t>Stress</a:t>
            </a:r>
          </a:p>
          <a:p>
            <a:r>
              <a:rPr lang="en-IN" sz="1800" b="1" dirty="0"/>
              <a:t>Sleep</a:t>
            </a:r>
          </a:p>
          <a:p>
            <a:pPr lvl="1"/>
            <a:r>
              <a:rPr lang="en-IN" sz="1800" dirty="0"/>
              <a:t>Poor or reduced sleep impairs decision making and makes it difficult to control emotions</a:t>
            </a:r>
            <a:endParaRPr lang="en-IN" sz="1800" b="1" dirty="0"/>
          </a:p>
          <a:p>
            <a:r>
              <a:rPr lang="en-IN" sz="1800" b="1" dirty="0"/>
              <a:t>Exercise</a:t>
            </a:r>
          </a:p>
          <a:p>
            <a:pPr lvl="1"/>
            <a:r>
              <a:rPr lang="en-IN" sz="1800" dirty="0"/>
              <a:t>“sweat therapy”</a:t>
            </a:r>
            <a:endParaRPr lang="en-IN" sz="1800" b="1" dirty="0"/>
          </a:p>
          <a:p>
            <a:r>
              <a:rPr lang="en-IN" sz="1800" b="1" dirty="0"/>
              <a:t>Age</a:t>
            </a:r>
          </a:p>
          <a:p>
            <a:pPr lvl="1"/>
            <a:r>
              <a:rPr lang="en-IN" sz="1800" dirty="0"/>
              <a:t>Emotional experience improves with age</a:t>
            </a:r>
            <a:endParaRPr lang="en-IN" sz="1800" b="1" dirty="0"/>
          </a:p>
          <a:p>
            <a:r>
              <a:rPr lang="en-IN" sz="1800" b="1" dirty="0"/>
              <a:t>Gender </a:t>
            </a:r>
          </a:p>
          <a:p>
            <a:pPr lvl="1"/>
            <a:r>
              <a:rPr lang="en-IN" sz="1800" dirty="0"/>
              <a:t>Women’s reactions as being dispositional, whereas men’s reactions were interpreted as being due to the situation around them</a:t>
            </a:r>
          </a:p>
          <a:p>
            <a:pPr lvl="1"/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354400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2EF6B0-4932-7884-1330-AEFF7703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8" y="241300"/>
            <a:ext cx="8782772" cy="65143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8906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67BE0B-7389-9DF4-6873-F395376E2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" y="254000"/>
            <a:ext cx="8213459" cy="6362699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95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362A9-5D99-7035-E985-98938F7AA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102348"/>
            <a:ext cx="8699500" cy="651435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1947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4CA3C-42B9-0171-C0CD-637CE167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Emotional Labor </a:t>
            </a:r>
            <a:r>
              <a:rPr lang="en-US" sz="4100" baseline="30000">
                <a:solidFill>
                  <a:srgbClr val="FFFFFF"/>
                </a:solidFill>
              </a:rPr>
              <a:t>(1/2)</a:t>
            </a:r>
            <a:endParaRPr lang="en-US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B2E68-08EA-0701-8D0D-3A0DA87E7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 sz="2400"/>
              <a:t>In addition to physical and mental </a:t>
            </a:r>
            <a:r>
              <a:rPr lang="en-IN" sz="2400" err="1"/>
              <a:t>labor</a:t>
            </a:r>
            <a:r>
              <a:rPr lang="en-IN" sz="2400"/>
              <a:t>, jobs also require emotional </a:t>
            </a:r>
            <a:r>
              <a:rPr lang="en-IN" sz="2400" err="1"/>
              <a:t>labor</a:t>
            </a:r>
            <a:r>
              <a:rPr lang="en-IN" sz="2400"/>
              <a:t>.</a:t>
            </a:r>
            <a:endParaRPr lang="en-IN" sz="2400" b="1"/>
          </a:p>
          <a:p>
            <a:r>
              <a:rPr lang="en-IN" sz="2400" b="1"/>
              <a:t>Emotional </a:t>
            </a:r>
            <a:r>
              <a:rPr lang="en-IN" sz="2400" b="1" err="1"/>
              <a:t>labor</a:t>
            </a:r>
            <a:r>
              <a:rPr lang="en-IN" sz="2400" b="1"/>
              <a:t> </a:t>
            </a:r>
            <a:r>
              <a:rPr lang="en-IN" sz="2400"/>
              <a:t>A situation in which an employee expresses organizationally desired emotions during interpersonal transactions at work.</a:t>
            </a:r>
          </a:p>
          <a:p>
            <a:r>
              <a:rPr lang="en-IN" sz="2400"/>
              <a:t>The concept of emotional </a:t>
            </a:r>
            <a:r>
              <a:rPr lang="en-IN" sz="2400" err="1"/>
              <a:t>labor</a:t>
            </a:r>
            <a:r>
              <a:rPr lang="en-IN" sz="2400"/>
              <a:t> emerged from studies of service jobs.</a:t>
            </a:r>
          </a:p>
          <a:p>
            <a:r>
              <a:rPr lang="en-IN" sz="2400"/>
              <a:t>The challenge arises when employees have to project one emotion while feeling another. This disparity is </a:t>
            </a:r>
            <a:r>
              <a:rPr lang="en-IN" sz="2400" b="1"/>
              <a:t>emotional dissonance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51309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022F7-912C-7050-B66F-B9322550E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Emotional Labor </a:t>
            </a:r>
            <a:r>
              <a:rPr lang="en-US" sz="4100" baseline="30000">
                <a:solidFill>
                  <a:srgbClr val="FFFFFF"/>
                </a:solidFill>
              </a:rPr>
              <a:t>(2/2)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85796-0FBD-5827-C5CE-B8CD8BBFC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 sz="2200"/>
              <a:t>It is helpful if you separate emotions into felt or displayed emotions on the job. </a:t>
            </a:r>
          </a:p>
          <a:p>
            <a:r>
              <a:rPr lang="en-IN" sz="2200" b="1"/>
              <a:t>Felt emotions </a:t>
            </a:r>
            <a:r>
              <a:rPr lang="en-IN" sz="2200"/>
              <a:t>are an individual’s actual emotions. In contrast, </a:t>
            </a:r>
            <a:r>
              <a:rPr lang="en-IN" sz="2200" b="1"/>
              <a:t>displayed emotions </a:t>
            </a:r>
            <a:r>
              <a:rPr lang="en-IN" sz="2200"/>
              <a:t>are those that the organization requires workers to show and considers appropriate in a given job.</a:t>
            </a:r>
          </a:p>
          <a:p>
            <a:r>
              <a:rPr lang="en-IN" sz="2200"/>
              <a:t>Displaying fake emotions requires us to suppress real ones. </a:t>
            </a:r>
          </a:p>
          <a:p>
            <a:r>
              <a:rPr lang="en-IN" sz="2200" b="1"/>
              <a:t>Surface acting </a:t>
            </a:r>
            <a:r>
              <a:rPr lang="en-IN" sz="2200"/>
              <a:t>is hiding inner feelings and forgoing emotional expressions in response to display rules. </a:t>
            </a:r>
            <a:r>
              <a:rPr lang="en-IN" sz="2200" b="1"/>
              <a:t>Deep acting </a:t>
            </a:r>
            <a:r>
              <a:rPr lang="en-IN" sz="2200"/>
              <a:t>is trying to modify our true inner feelings based on display rules. 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916907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7EE23-DBF1-7EDE-A743-13DADAF4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Affective Events Theory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23590-E71A-8F7F-82DA-18BE8F542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 b="1" dirty="0"/>
              <a:t>Affective events theory (AET) </a:t>
            </a:r>
            <a:r>
              <a:rPr lang="en-IN" dirty="0"/>
              <a:t>A model that suggests that workplace events cause emotional reactions on the part of employees, which then influence workplace attitudes and </a:t>
            </a:r>
            <a:r>
              <a:rPr lang="en-IN" dirty="0" err="1"/>
              <a:t>behaviors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566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87CCA8-928A-EF58-809A-BDC15BA5AE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50" b="1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36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DDA0C-B82D-5579-7250-852469C68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Emotional Intelligence</a:t>
            </a: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DDF81-4D59-C6AF-C6EC-A96785C9D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 b="1" dirty="0"/>
              <a:t>Emotional intelligence (EI) </a:t>
            </a:r>
            <a:r>
              <a:rPr lang="en-IN" dirty="0"/>
              <a:t>is a person’s ability to (1) perceive emotions in the self and others, (2) understand the meaning of these emotions, and (3) regulate one’s emotions accordingly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03295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4C4685-03E0-8F00-C256-497CC8E72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54000"/>
            <a:ext cx="8178799" cy="648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86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DCCBC7-D607-6A58-44FA-510190B6B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77800"/>
            <a:ext cx="8178799" cy="646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92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56D5C-5BF8-6648-684F-E9CEAA1B9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Emotion Regulation</a:t>
            </a: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15382-E53D-91DF-24DC-F0800B14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 dirty="0"/>
              <a:t>Emotion regulation is to identify and modify the emotions you feel. </a:t>
            </a:r>
          </a:p>
          <a:p>
            <a:r>
              <a:rPr lang="en-IN" dirty="0"/>
              <a:t>Strategies to change your emotions include </a:t>
            </a:r>
          </a:p>
          <a:p>
            <a:pPr lvl="1"/>
            <a:r>
              <a:rPr lang="en-IN" dirty="0"/>
              <a:t>thinking about more pleasant things</a:t>
            </a:r>
          </a:p>
          <a:p>
            <a:pPr lvl="1"/>
            <a:r>
              <a:rPr lang="en-IN" dirty="0"/>
              <a:t>suppressing negative thoughts</a:t>
            </a:r>
          </a:p>
          <a:p>
            <a:pPr lvl="1"/>
            <a:r>
              <a:rPr lang="en-IN" dirty="0"/>
              <a:t>distracting yourself</a:t>
            </a:r>
          </a:p>
          <a:p>
            <a:pPr lvl="1"/>
            <a:r>
              <a:rPr lang="en-IN" dirty="0"/>
              <a:t>reappraising the situation</a:t>
            </a:r>
          </a:p>
          <a:p>
            <a:pPr lvl="1"/>
            <a:r>
              <a:rPr lang="en-IN" dirty="0"/>
              <a:t>engaging in relaxation techniques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416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CBBCA-F30F-ABDB-FE22-25E3617E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rgbClr val="FFFFFF"/>
                </a:solidFill>
              </a:rPr>
              <a:t>OB Applications of Emotions and Moods </a:t>
            </a:r>
            <a:r>
              <a:rPr lang="en-IN" sz="3400" baseline="30000">
                <a:solidFill>
                  <a:srgbClr val="FFFFFF"/>
                </a:solidFill>
              </a:rPr>
              <a:t>(1/3)</a:t>
            </a:r>
            <a:endParaRPr lang="en-US" sz="3400" baseline="300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B09B-DD64-960D-DF68-D14B36394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 sz="2400" b="1"/>
              <a:t>Selection: </a:t>
            </a:r>
            <a:r>
              <a:rPr lang="en-IN" sz="2400"/>
              <a:t>Employers should consider EI a factor in hiring employees, especially in jobs that demand a high degree of social interaction.</a:t>
            </a:r>
          </a:p>
          <a:p>
            <a:r>
              <a:rPr lang="en-IN" sz="2400" b="1"/>
              <a:t>Decision Making: </a:t>
            </a:r>
            <a:r>
              <a:rPr lang="en-IN" sz="2400"/>
              <a:t>Moods and emotions have important effects. Positive emotions also enhance problem-solving skills, so positive people find better solutions to problems.</a:t>
            </a:r>
          </a:p>
          <a:p>
            <a:r>
              <a:rPr lang="en-IN" sz="2400" b="1"/>
              <a:t>Creativity: </a:t>
            </a:r>
            <a:r>
              <a:rPr lang="en-IN" sz="2400"/>
              <a:t>People in good moods tend to be more creative and produce more ideas than people in bad moods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18260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E36CA-7B7B-722F-AA7D-8881D0FC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rgbClr val="FFFFFF"/>
                </a:solidFill>
              </a:rPr>
              <a:t>OB Applications of Emotions and Moods </a:t>
            </a:r>
            <a:r>
              <a:rPr lang="en-IN" sz="3400" baseline="30000">
                <a:solidFill>
                  <a:srgbClr val="FFFFFF"/>
                </a:solidFill>
              </a:rPr>
              <a:t>(2/3)</a:t>
            </a: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64372-A8A8-8D35-A708-EE73CFC61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 b="1" dirty="0"/>
              <a:t>Motivation: </a:t>
            </a:r>
            <a:r>
              <a:rPr lang="en-IN" dirty="0"/>
              <a:t>Several studies have highlighted the importance of moods and emotions on motivation.</a:t>
            </a:r>
          </a:p>
          <a:p>
            <a:r>
              <a:rPr lang="en-IN" b="1" dirty="0"/>
              <a:t>Leadership: </a:t>
            </a:r>
            <a:r>
              <a:rPr lang="en-IN" dirty="0"/>
              <a:t>Effective leaders rely on emotional appeals to help convey their messages.</a:t>
            </a:r>
          </a:p>
          <a:p>
            <a:r>
              <a:rPr lang="en-IN" b="1" dirty="0"/>
              <a:t>Negotiation: </a:t>
            </a:r>
            <a:r>
              <a:rPr lang="en-IN" dirty="0"/>
              <a:t>It is an emotional process; a skilled negotiator has a “poker face.”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091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51093E-EA41-8273-9136-985726CEE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rgbClr val="FFFFFF"/>
                </a:solidFill>
              </a:rPr>
              <a:t>OB Applications of Emotions and Moods </a:t>
            </a:r>
            <a:r>
              <a:rPr lang="en-IN" sz="3400" baseline="30000">
                <a:solidFill>
                  <a:srgbClr val="FFFFFF"/>
                </a:solidFill>
              </a:rPr>
              <a:t>(3/3)</a:t>
            </a: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EDD0B-ED6A-4DE9-91E2-38613AAB8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 sz="2200" b="1"/>
              <a:t>Customer Service: </a:t>
            </a:r>
            <a:r>
              <a:rPr lang="en-IN" sz="2200"/>
              <a:t>A worker’s emotional state influences customer service, which influences levels of repeat business and of customer satisfaction. Employees’ emotions can transfer to the customer. It is called </a:t>
            </a:r>
            <a:r>
              <a:rPr lang="en-IN" sz="2200" b="1"/>
              <a:t>emotional contagion </a:t>
            </a:r>
            <a:r>
              <a:rPr lang="en-IN" sz="2200"/>
              <a:t>—the “catching” of emotions from others</a:t>
            </a:r>
          </a:p>
          <a:p>
            <a:r>
              <a:rPr lang="en-IN" sz="2200" b="1"/>
              <a:t>Deviant Workplace </a:t>
            </a:r>
            <a:r>
              <a:rPr lang="en-IN" sz="2200" b="1" err="1"/>
              <a:t>Behaviors</a:t>
            </a:r>
            <a:r>
              <a:rPr lang="en-IN" sz="2200" b="1"/>
              <a:t>: </a:t>
            </a:r>
            <a:r>
              <a:rPr lang="en-IN" sz="2200"/>
              <a:t>People often behave in ways that violate established norms and threaten the organization, its members, or both.</a:t>
            </a:r>
          </a:p>
          <a:p>
            <a:r>
              <a:rPr lang="en-IN" sz="2200" b="1"/>
              <a:t>Safety and Injury at Work: </a:t>
            </a:r>
            <a:r>
              <a:rPr lang="en-IN" sz="2200"/>
              <a:t>Bad moods can contribute to injury at work</a:t>
            </a:r>
          </a:p>
          <a:p>
            <a:endParaRPr lang="en-IN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284473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</TotalTime>
  <Words>1293</Words>
  <Application>Microsoft Macintosh PowerPoint</Application>
  <PresentationFormat>On-screen Show (4:3)</PresentationFormat>
  <Paragraphs>120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MS-606  EMOTIONS AND MOODS</vt:lpstr>
      <vt:lpstr>Emotions at Work</vt:lpstr>
      <vt:lpstr>Definitions</vt:lpstr>
      <vt:lpstr>Difference between Emotions &amp; Moods</vt:lpstr>
      <vt:lpstr>PowerPoint Presentation</vt:lpstr>
      <vt:lpstr>The Basic Emotions</vt:lpstr>
      <vt:lpstr>The Basic Moods: Positive and Negative Affect</vt:lpstr>
      <vt:lpstr>PowerPoint Presentation</vt:lpstr>
      <vt:lpstr>Moods </vt:lpstr>
      <vt:lpstr>Emotions &amp; Cultures</vt:lpstr>
      <vt:lpstr>The Function of Emotions</vt:lpstr>
      <vt:lpstr>The Function of Emotions</vt:lpstr>
      <vt:lpstr>Sources of Emotions and Moods</vt:lpstr>
      <vt:lpstr>PowerPoint Presentation</vt:lpstr>
      <vt:lpstr>PowerPoint Presentation</vt:lpstr>
      <vt:lpstr>PowerPoint Presentation</vt:lpstr>
      <vt:lpstr>Emotional Labor (1/2)</vt:lpstr>
      <vt:lpstr>Emotional Labor (2/2)</vt:lpstr>
      <vt:lpstr>Affective Events Theory</vt:lpstr>
      <vt:lpstr>PowerPoint Presentation</vt:lpstr>
      <vt:lpstr>Emotional Intelligence</vt:lpstr>
      <vt:lpstr>PowerPoint Presentation</vt:lpstr>
      <vt:lpstr>PowerPoint Presentation</vt:lpstr>
      <vt:lpstr>Emotion Regulation</vt:lpstr>
      <vt:lpstr>OB Applications of Emotions and Moods (1/3)</vt:lpstr>
      <vt:lpstr>OB Applications of Emotions and Moods (2/3)</vt:lpstr>
      <vt:lpstr>OB Applications of Emotions and Moods (3/3)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chetanya singh</dc:creator>
  <cp:lastModifiedBy>chetanya singh</cp:lastModifiedBy>
  <cp:revision>23</cp:revision>
  <dcterms:created xsi:type="dcterms:W3CDTF">2026-08-19T07:27:33Z</dcterms:created>
  <dcterms:modified xsi:type="dcterms:W3CDTF">2026-08-25T06:05:30Z</dcterms:modified>
</cp:coreProperties>
</file>