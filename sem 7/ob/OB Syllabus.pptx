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5" r:id="rId4"/>
    <p:sldId id="264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51"/>
  </p:normalViewPr>
  <p:slideViewPr>
    <p:cSldViewPr snapToGrid="0">
      <p:cViewPr varScale="1">
        <p:scale>
          <a:sx n="115" d="100"/>
          <a:sy n="115" d="100"/>
        </p:scale>
        <p:origin x="1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0B0197-2E02-48A8-BFAB-E23A6AE0A80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3A66807-339C-4FD9-80B4-7495A577BA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analyze </a:t>
          </a:r>
          <a:r>
            <a:rPr lang="en-US" b="1"/>
            <a:t>individual</a:t>
          </a:r>
          <a:r>
            <a:rPr lang="en-US"/>
            <a:t> and </a:t>
          </a:r>
          <a:r>
            <a:rPr lang="en-US" b="1"/>
            <a:t>group behavior</a:t>
          </a:r>
          <a:r>
            <a:rPr lang="en-US"/>
            <a:t> in an organization (how single workers and teams act, feel, and make choices)</a:t>
          </a:r>
        </a:p>
      </dgm:t>
    </dgm:pt>
    <dgm:pt modelId="{FC8D4A4A-6277-4211-90FF-B1824370B312}" type="parTrans" cxnId="{53D265CD-FFFE-493E-A7ED-62A69862E000}">
      <dgm:prSet/>
      <dgm:spPr/>
      <dgm:t>
        <a:bodyPr/>
        <a:lstStyle/>
        <a:p>
          <a:endParaRPr lang="en-US"/>
        </a:p>
      </dgm:t>
    </dgm:pt>
    <dgm:pt modelId="{D911E4A1-F790-4178-8A9E-F9541AA81363}" type="sibTrans" cxnId="{53D265CD-FFFE-493E-A7ED-62A69862E000}">
      <dgm:prSet/>
      <dgm:spPr/>
      <dgm:t>
        <a:bodyPr/>
        <a:lstStyle/>
        <a:p>
          <a:endParaRPr lang="en-US"/>
        </a:p>
      </dgm:t>
    </dgm:pt>
    <dgm:pt modelId="{8EB8689A-64B1-4453-8633-EA1733EB3F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b="1"/>
            <a:t>manage organizations effectively </a:t>
          </a:r>
          <a:r>
            <a:rPr lang="en-US"/>
            <a:t>(leadership, solving conflicts, and boost company output)</a:t>
          </a:r>
        </a:p>
      </dgm:t>
    </dgm:pt>
    <dgm:pt modelId="{B7C44B61-77FF-4DC3-B972-36F09E394DAB}" type="parTrans" cxnId="{910D9B55-8224-4F12-AD54-3F78510A613A}">
      <dgm:prSet/>
      <dgm:spPr/>
      <dgm:t>
        <a:bodyPr/>
        <a:lstStyle/>
        <a:p>
          <a:endParaRPr lang="en-US"/>
        </a:p>
      </dgm:t>
    </dgm:pt>
    <dgm:pt modelId="{A3912D69-EAE7-4FD8-9F92-3477DC4ECC78}" type="sibTrans" cxnId="{910D9B55-8224-4F12-AD54-3F78510A613A}">
      <dgm:prSet/>
      <dgm:spPr/>
      <dgm:t>
        <a:bodyPr/>
        <a:lstStyle/>
        <a:p>
          <a:endParaRPr lang="en-US"/>
        </a:p>
      </dgm:t>
    </dgm:pt>
    <dgm:pt modelId="{B6149E2A-5584-4164-9FE9-4FB51D65CF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b="1"/>
            <a:t>enhance quality of employees work life </a:t>
          </a:r>
          <a:r>
            <a:rPr lang="en-US"/>
            <a:t>(job satisfaction, healthy environment)</a:t>
          </a:r>
        </a:p>
      </dgm:t>
    </dgm:pt>
    <dgm:pt modelId="{F12A694D-9502-487F-804F-74BA010522BC}" type="parTrans" cxnId="{19A3CF1B-134D-4291-8F04-3771881D7F9C}">
      <dgm:prSet/>
      <dgm:spPr/>
      <dgm:t>
        <a:bodyPr/>
        <a:lstStyle/>
        <a:p>
          <a:endParaRPr lang="en-US"/>
        </a:p>
      </dgm:t>
    </dgm:pt>
    <dgm:pt modelId="{9585F8E8-EF96-42C9-9354-20D953697628}" type="sibTrans" cxnId="{19A3CF1B-134D-4291-8F04-3771881D7F9C}">
      <dgm:prSet/>
      <dgm:spPr/>
      <dgm:t>
        <a:bodyPr/>
        <a:lstStyle/>
        <a:p>
          <a:endParaRPr lang="en-US"/>
        </a:p>
      </dgm:t>
    </dgm:pt>
    <dgm:pt modelId="{91599F7F-29A0-49D5-9C3D-40BD79B0DBF4}" type="pres">
      <dgm:prSet presAssocID="{1E0B0197-2E02-48A8-BFAB-E23A6AE0A80B}" presName="root" presStyleCnt="0">
        <dgm:presLayoutVars>
          <dgm:dir/>
          <dgm:resizeHandles val="exact"/>
        </dgm:presLayoutVars>
      </dgm:prSet>
      <dgm:spPr/>
    </dgm:pt>
    <dgm:pt modelId="{682AE702-6AB8-464F-90B3-1FFBAC3FB2E3}" type="pres">
      <dgm:prSet presAssocID="{83A66807-339C-4FD9-80B4-7495A577BA2D}" presName="compNode" presStyleCnt="0"/>
      <dgm:spPr/>
    </dgm:pt>
    <dgm:pt modelId="{09B6D7BA-DAD1-411E-A82A-00296CAC80B3}" type="pres">
      <dgm:prSet presAssocID="{83A66807-339C-4FD9-80B4-7495A577BA2D}" presName="bgRect" presStyleLbl="bgShp" presStyleIdx="0" presStyleCnt="3"/>
      <dgm:spPr/>
    </dgm:pt>
    <dgm:pt modelId="{9E22233F-350C-45FF-95B3-B8538C386EB4}" type="pres">
      <dgm:prSet presAssocID="{83A66807-339C-4FD9-80B4-7495A577BA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AC46120E-F7F3-486C-B14A-D97F5FD937E2}" type="pres">
      <dgm:prSet presAssocID="{83A66807-339C-4FD9-80B4-7495A577BA2D}" presName="spaceRect" presStyleCnt="0"/>
      <dgm:spPr/>
    </dgm:pt>
    <dgm:pt modelId="{7D701D6D-1533-43BE-BE7D-1FA787004562}" type="pres">
      <dgm:prSet presAssocID="{83A66807-339C-4FD9-80B4-7495A577BA2D}" presName="parTx" presStyleLbl="revTx" presStyleIdx="0" presStyleCnt="3">
        <dgm:presLayoutVars>
          <dgm:chMax val="0"/>
          <dgm:chPref val="0"/>
        </dgm:presLayoutVars>
      </dgm:prSet>
      <dgm:spPr/>
    </dgm:pt>
    <dgm:pt modelId="{3315E8D7-9B05-4E37-90E7-7969151C7B66}" type="pres">
      <dgm:prSet presAssocID="{D911E4A1-F790-4178-8A9E-F9541AA81363}" presName="sibTrans" presStyleCnt="0"/>
      <dgm:spPr/>
    </dgm:pt>
    <dgm:pt modelId="{039F84A4-2D77-4A68-A066-24573B40E8BE}" type="pres">
      <dgm:prSet presAssocID="{8EB8689A-64B1-4453-8633-EA1733EB3F7C}" presName="compNode" presStyleCnt="0"/>
      <dgm:spPr/>
    </dgm:pt>
    <dgm:pt modelId="{A5E986E4-4696-4D3E-BAB0-DE7E450C442D}" type="pres">
      <dgm:prSet presAssocID="{8EB8689A-64B1-4453-8633-EA1733EB3F7C}" presName="bgRect" presStyleLbl="bgShp" presStyleIdx="1" presStyleCnt="3"/>
      <dgm:spPr/>
    </dgm:pt>
    <dgm:pt modelId="{9CB73744-42B8-40EC-A89F-E798AA03DD22}" type="pres">
      <dgm:prSet presAssocID="{8EB8689A-64B1-4453-8633-EA1733EB3F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78A28E71-0BE7-473E-B09A-9619E5FF48E6}" type="pres">
      <dgm:prSet presAssocID="{8EB8689A-64B1-4453-8633-EA1733EB3F7C}" presName="spaceRect" presStyleCnt="0"/>
      <dgm:spPr/>
    </dgm:pt>
    <dgm:pt modelId="{8CAB9712-045F-42DA-8EDB-B086A2B30CD1}" type="pres">
      <dgm:prSet presAssocID="{8EB8689A-64B1-4453-8633-EA1733EB3F7C}" presName="parTx" presStyleLbl="revTx" presStyleIdx="1" presStyleCnt="3">
        <dgm:presLayoutVars>
          <dgm:chMax val="0"/>
          <dgm:chPref val="0"/>
        </dgm:presLayoutVars>
      </dgm:prSet>
      <dgm:spPr/>
    </dgm:pt>
    <dgm:pt modelId="{6592BCF0-9FB9-4DEE-A7C1-3782A4DD98C1}" type="pres">
      <dgm:prSet presAssocID="{A3912D69-EAE7-4FD8-9F92-3477DC4ECC78}" presName="sibTrans" presStyleCnt="0"/>
      <dgm:spPr/>
    </dgm:pt>
    <dgm:pt modelId="{ACC3804F-11FF-44F7-ACEE-789461F6BA39}" type="pres">
      <dgm:prSet presAssocID="{B6149E2A-5584-4164-9FE9-4FB51D65CFBF}" presName="compNode" presStyleCnt="0"/>
      <dgm:spPr/>
    </dgm:pt>
    <dgm:pt modelId="{8BBE0437-3FB2-404F-8C10-29C448C7193E}" type="pres">
      <dgm:prSet presAssocID="{B6149E2A-5584-4164-9FE9-4FB51D65CFBF}" presName="bgRect" presStyleLbl="bgShp" presStyleIdx="2" presStyleCnt="3"/>
      <dgm:spPr/>
    </dgm:pt>
    <dgm:pt modelId="{24E36E37-05C4-4809-B7FA-31658489C92B}" type="pres">
      <dgm:prSet presAssocID="{B6149E2A-5584-4164-9FE9-4FB51D65CF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9EF3561-7128-47F4-94D3-E39851255A0F}" type="pres">
      <dgm:prSet presAssocID="{B6149E2A-5584-4164-9FE9-4FB51D65CFBF}" presName="spaceRect" presStyleCnt="0"/>
      <dgm:spPr/>
    </dgm:pt>
    <dgm:pt modelId="{335E337B-9D13-459B-8DFC-EF3B4BC8B889}" type="pres">
      <dgm:prSet presAssocID="{B6149E2A-5584-4164-9FE9-4FB51D65CFB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9A3CF1B-134D-4291-8F04-3771881D7F9C}" srcId="{1E0B0197-2E02-48A8-BFAB-E23A6AE0A80B}" destId="{B6149E2A-5584-4164-9FE9-4FB51D65CFBF}" srcOrd="2" destOrd="0" parTransId="{F12A694D-9502-487F-804F-74BA010522BC}" sibTransId="{9585F8E8-EF96-42C9-9354-20D953697628}"/>
    <dgm:cxn modelId="{39DD0F37-F210-4D4E-B8B3-6179018785AA}" type="presOf" srcId="{B6149E2A-5584-4164-9FE9-4FB51D65CFBF}" destId="{335E337B-9D13-459B-8DFC-EF3B4BC8B889}" srcOrd="0" destOrd="0" presId="urn:microsoft.com/office/officeart/2018/2/layout/IconVerticalSolidList"/>
    <dgm:cxn modelId="{910D9B55-8224-4F12-AD54-3F78510A613A}" srcId="{1E0B0197-2E02-48A8-BFAB-E23A6AE0A80B}" destId="{8EB8689A-64B1-4453-8633-EA1733EB3F7C}" srcOrd="1" destOrd="0" parTransId="{B7C44B61-77FF-4DC3-B972-36F09E394DAB}" sibTransId="{A3912D69-EAE7-4FD8-9F92-3477DC4ECC78}"/>
    <dgm:cxn modelId="{8757D165-6E4C-41AF-8C97-9C8BC7B90EF3}" type="presOf" srcId="{83A66807-339C-4FD9-80B4-7495A577BA2D}" destId="{7D701D6D-1533-43BE-BE7D-1FA787004562}" srcOrd="0" destOrd="0" presId="urn:microsoft.com/office/officeart/2018/2/layout/IconVerticalSolidList"/>
    <dgm:cxn modelId="{5C696371-32C2-4298-8C61-7D7DC5415AA7}" type="presOf" srcId="{8EB8689A-64B1-4453-8633-EA1733EB3F7C}" destId="{8CAB9712-045F-42DA-8EDB-B086A2B30CD1}" srcOrd="0" destOrd="0" presId="urn:microsoft.com/office/officeart/2018/2/layout/IconVerticalSolidList"/>
    <dgm:cxn modelId="{53D265CD-FFFE-493E-A7ED-62A69862E000}" srcId="{1E0B0197-2E02-48A8-BFAB-E23A6AE0A80B}" destId="{83A66807-339C-4FD9-80B4-7495A577BA2D}" srcOrd="0" destOrd="0" parTransId="{FC8D4A4A-6277-4211-90FF-B1824370B312}" sibTransId="{D911E4A1-F790-4178-8A9E-F9541AA81363}"/>
    <dgm:cxn modelId="{819B2FFB-FC05-4A67-B93E-C7CC34C72DA9}" type="presOf" srcId="{1E0B0197-2E02-48A8-BFAB-E23A6AE0A80B}" destId="{91599F7F-29A0-49D5-9C3D-40BD79B0DBF4}" srcOrd="0" destOrd="0" presId="urn:microsoft.com/office/officeart/2018/2/layout/IconVerticalSolidList"/>
    <dgm:cxn modelId="{E4E56E35-E1B5-4188-8B66-9EC727602928}" type="presParOf" srcId="{91599F7F-29A0-49D5-9C3D-40BD79B0DBF4}" destId="{682AE702-6AB8-464F-90B3-1FFBAC3FB2E3}" srcOrd="0" destOrd="0" presId="urn:microsoft.com/office/officeart/2018/2/layout/IconVerticalSolidList"/>
    <dgm:cxn modelId="{A07640E0-7045-4FD2-A42D-94CA22A26E4D}" type="presParOf" srcId="{682AE702-6AB8-464F-90B3-1FFBAC3FB2E3}" destId="{09B6D7BA-DAD1-411E-A82A-00296CAC80B3}" srcOrd="0" destOrd="0" presId="urn:microsoft.com/office/officeart/2018/2/layout/IconVerticalSolidList"/>
    <dgm:cxn modelId="{B81A03E1-842A-45C7-B25C-9E0C41185580}" type="presParOf" srcId="{682AE702-6AB8-464F-90B3-1FFBAC3FB2E3}" destId="{9E22233F-350C-45FF-95B3-B8538C386EB4}" srcOrd="1" destOrd="0" presId="urn:microsoft.com/office/officeart/2018/2/layout/IconVerticalSolidList"/>
    <dgm:cxn modelId="{432CBBE3-9CBE-4807-8654-7E069E6A58CF}" type="presParOf" srcId="{682AE702-6AB8-464F-90B3-1FFBAC3FB2E3}" destId="{AC46120E-F7F3-486C-B14A-D97F5FD937E2}" srcOrd="2" destOrd="0" presId="urn:microsoft.com/office/officeart/2018/2/layout/IconVerticalSolidList"/>
    <dgm:cxn modelId="{C0331688-4C9B-4AC1-958F-930F635F829B}" type="presParOf" srcId="{682AE702-6AB8-464F-90B3-1FFBAC3FB2E3}" destId="{7D701D6D-1533-43BE-BE7D-1FA787004562}" srcOrd="3" destOrd="0" presId="urn:microsoft.com/office/officeart/2018/2/layout/IconVerticalSolidList"/>
    <dgm:cxn modelId="{35A024E1-62E7-4D64-93E2-759E31C66B5D}" type="presParOf" srcId="{91599F7F-29A0-49D5-9C3D-40BD79B0DBF4}" destId="{3315E8D7-9B05-4E37-90E7-7969151C7B66}" srcOrd="1" destOrd="0" presId="urn:microsoft.com/office/officeart/2018/2/layout/IconVerticalSolidList"/>
    <dgm:cxn modelId="{15E6D880-8114-45F0-8DC8-A5D465874BA4}" type="presParOf" srcId="{91599F7F-29A0-49D5-9C3D-40BD79B0DBF4}" destId="{039F84A4-2D77-4A68-A066-24573B40E8BE}" srcOrd="2" destOrd="0" presId="urn:microsoft.com/office/officeart/2018/2/layout/IconVerticalSolidList"/>
    <dgm:cxn modelId="{9DDB3805-3604-4E38-A037-A6A0EE79B277}" type="presParOf" srcId="{039F84A4-2D77-4A68-A066-24573B40E8BE}" destId="{A5E986E4-4696-4D3E-BAB0-DE7E450C442D}" srcOrd="0" destOrd="0" presId="urn:microsoft.com/office/officeart/2018/2/layout/IconVerticalSolidList"/>
    <dgm:cxn modelId="{5F7FDDC0-FFA8-4175-9FF9-B81A3C5EE816}" type="presParOf" srcId="{039F84A4-2D77-4A68-A066-24573B40E8BE}" destId="{9CB73744-42B8-40EC-A89F-E798AA03DD22}" srcOrd="1" destOrd="0" presId="urn:microsoft.com/office/officeart/2018/2/layout/IconVerticalSolidList"/>
    <dgm:cxn modelId="{4355376A-70F9-43F4-9121-5346E5B695E1}" type="presParOf" srcId="{039F84A4-2D77-4A68-A066-24573B40E8BE}" destId="{78A28E71-0BE7-473E-B09A-9619E5FF48E6}" srcOrd="2" destOrd="0" presId="urn:microsoft.com/office/officeart/2018/2/layout/IconVerticalSolidList"/>
    <dgm:cxn modelId="{622A3CD3-7541-45D4-A293-349755298005}" type="presParOf" srcId="{039F84A4-2D77-4A68-A066-24573B40E8BE}" destId="{8CAB9712-045F-42DA-8EDB-B086A2B30CD1}" srcOrd="3" destOrd="0" presId="urn:microsoft.com/office/officeart/2018/2/layout/IconVerticalSolidList"/>
    <dgm:cxn modelId="{8A5C39DC-BF2F-42C1-8CAC-4F1588832E4E}" type="presParOf" srcId="{91599F7F-29A0-49D5-9C3D-40BD79B0DBF4}" destId="{6592BCF0-9FB9-4DEE-A7C1-3782A4DD98C1}" srcOrd="3" destOrd="0" presId="urn:microsoft.com/office/officeart/2018/2/layout/IconVerticalSolidList"/>
    <dgm:cxn modelId="{418EB900-7E57-4E67-B9E0-C7EEB34E8038}" type="presParOf" srcId="{91599F7F-29A0-49D5-9C3D-40BD79B0DBF4}" destId="{ACC3804F-11FF-44F7-ACEE-789461F6BA39}" srcOrd="4" destOrd="0" presId="urn:microsoft.com/office/officeart/2018/2/layout/IconVerticalSolidList"/>
    <dgm:cxn modelId="{996C8BA9-4AA1-4C3C-96FE-E9477ED3E4A8}" type="presParOf" srcId="{ACC3804F-11FF-44F7-ACEE-789461F6BA39}" destId="{8BBE0437-3FB2-404F-8C10-29C448C7193E}" srcOrd="0" destOrd="0" presId="urn:microsoft.com/office/officeart/2018/2/layout/IconVerticalSolidList"/>
    <dgm:cxn modelId="{6E1733F2-C5F5-4C74-8D7D-2BC8126BE20B}" type="presParOf" srcId="{ACC3804F-11FF-44F7-ACEE-789461F6BA39}" destId="{24E36E37-05C4-4809-B7FA-31658489C92B}" srcOrd="1" destOrd="0" presId="urn:microsoft.com/office/officeart/2018/2/layout/IconVerticalSolidList"/>
    <dgm:cxn modelId="{30E8476E-0656-4C05-A81D-16C98985375D}" type="presParOf" srcId="{ACC3804F-11FF-44F7-ACEE-789461F6BA39}" destId="{59EF3561-7128-47F4-94D3-E39851255A0F}" srcOrd="2" destOrd="0" presId="urn:microsoft.com/office/officeart/2018/2/layout/IconVerticalSolidList"/>
    <dgm:cxn modelId="{FE3CC8F4-F7A1-4AE5-A055-B7B15A15A672}" type="presParOf" srcId="{ACC3804F-11FF-44F7-ACEE-789461F6BA39}" destId="{335E337B-9D13-459B-8DFC-EF3B4BC8B8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6D7BA-DAD1-411E-A82A-00296CAC80B3}">
      <dsp:nvSpPr>
        <dsp:cNvPr id="0" name=""/>
        <dsp:cNvSpPr/>
      </dsp:nvSpPr>
      <dsp:spPr>
        <a:xfrm>
          <a:off x="0" y="531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2233F-350C-45FF-95B3-B8538C386EB4}">
      <dsp:nvSpPr>
        <dsp:cNvPr id="0" name=""/>
        <dsp:cNvSpPr/>
      </dsp:nvSpPr>
      <dsp:spPr>
        <a:xfrm>
          <a:off x="376092" y="280269"/>
          <a:ext cx="683804" cy="6838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01D6D-1533-43BE-BE7D-1FA787004562}">
      <dsp:nvSpPr>
        <dsp:cNvPr id="0" name=""/>
        <dsp:cNvSpPr/>
      </dsp:nvSpPr>
      <dsp:spPr>
        <a:xfrm>
          <a:off x="1435988" y="5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analyze </a:t>
          </a:r>
          <a:r>
            <a:rPr lang="en-US" sz="2100" b="1" kern="1200"/>
            <a:t>individual</a:t>
          </a:r>
          <a:r>
            <a:rPr lang="en-US" sz="2100" kern="1200"/>
            <a:t> and </a:t>
          </a:r>
          <a:r>
            <a:rPr lang="en-US" sz="2100" b="1" kern="1200"/>
            <a:t>group behavior</a:t>
          </a:r>
          <a:r>
            <a:rPr lang="en-US" sz="2100" kern="1200"/>
            <a:t> in an organization (how single workers and teams act, feel, and make choices)</a:t>
          </a:r>
        </a:p>
      </dsp:txBody>
      <dsp:txXfrm>
        <a:off x="1435988" y="531"/>
        <a:ext cx="6450711" cy="1243280"/>
      </dsp:txXfrm>
    </dsp:sp>
    <dsp:sp modelId="{A5E986E4-4696-4D3E-BAB0-DE7E450C442D}">
      <dsp:nvSpPr>
        <dsp:cNvPr id="0" name=""/>
        <dsp:cNvSpPr/>
      </dsp:nvSpPr>
      <dsp:spPr>
        <a:xfrm>
          <a:off x="0" y="1554631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73744-42B8-40EC-A89F-E798AA03DD22}">
      <dsp:nvSpPr>
        <dsp:cNvPr id="0" name=""/>
        <dsp:cNvSpPr/>
      </dsp:nvSpPr>
      <dsp:spPr>
        <a:xfrm>
          <a:off x="376092" y="1834369"/>
          <a:ext cx="683804" cy="6838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B9712-045F-42DA-8EDB-B086A2B30CD1}">
      <dsp:nvSpPr>
        <dsp:cNvPr id="0" name=""/>
        <dsp:cNvSpPr/>
      </dsp:nvSpPr>
      <dsp:spPr>
        <a:xfrm>
          <a:off x="1435988" y="15546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</a:t>
          </a:r>
          <a:r>
            <a:rPr lang="en-US" sz="2100" b="1" kern="1200"/>
            <a:t>manage organizations effectively </a:t>
          </a:r>
          <a:r>
            <a:rPr lang="en-US" sz="2100" kern="1200"/>
            <a:t>(leadership, solving conflicts, and boost company output)</a:t>
          </a:r>
        </a:p>
      </dsp:txBody>
      <dsp:txXfrm>
        <a:off x="1435988" y="1554631"/>
        <a:ext cx="6450711" cy="1243280"/>
      </dsp:txXfrm>
    </dsp:sp>
    <dsp:sp modelId="{8BBE0437-3FB2-404F-8C10-29C448C7193E}">
      <dsp:nvSpPr>
        <dsp:cNvPr id="0" name=""/>
        <dsp:cNvSpPr/>
      </dsp:nvSpPr>
      <dsp:spPr>
        <a:xfrm>
          <a:off x="0" y="3108732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36E37-05C4-4809-B7FA-31658489C92B}">
      <dsp:nvSpPr>
        <dsp:cNvPr id="0" name=""/>
        <dsp:cNvSpPr/>
      </dsp:nvSpPr>
      <dsp:spPr>
        <a:xfrm>
          <a:off x="376092" y="3388470"/>
          <a:ext cx="683804" cy="6838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E337B-9D13-459B-8DFC-EF3B4BC8B889}">
      <dsp:nvSpPr>
        <dsp:cNvPr id="0" name=""/>
        <dsp:cNvSpPr/>
      </dsp:nvSpPr>
      <dsp:spPr>
        <a:xfrm>
          <a:off x="1435988" y="3108732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</a:t>
          </a:r>
          <a:r>
            <a:rPr lang="en-US" sz="2100" b="1" kern="1200"/>
            <a:t>enhance quality of employees work life </a:t>
          </a:r>
          <a:r>
            <a:rPr lang="en-US" sz="2100" kern="1200"/>
            <a:t>(job satisfaction, healthy environment)</a:t>
          </a:r>
        </a:p>
      </dsp:txBody>
      <dsp:txXfrm>
        <a:off x="1435988" y="3108732"/>
        <a:ext cx="6450711" cy="1243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8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1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72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6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5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0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9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9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3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0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38CFD-FE52-5943-8E1B-32585BBB4E51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E9546-107C-304A-A5DB-B4A0DAF6F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0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F8718-D8D4-6449-F8FE-7385E395A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MS-606 </a:t>
            </a:r>
            <a:br>
              <a:rPr lang="en-US" sz="5700"/>
            </a:br>
            <a:br>
              <a:rPr lang="en-US" sz="5700"/>
            </a:br>
            <a:r>
              <a:rPr lang="en-US" sz="5700"/>
              <a:t>ORGANIZATIONAL BEHAVIOR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9E9C0-45FB-7EEC-6474-FCFE08F6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 algn="ctr"/>
            <a:r>
              <a:rPr lang="en-US" sz="4500"/>
              <a:t>Objectives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6BFC50-7E96-CA2B-50B7-404EE98D6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40175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261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FE594-C4DC-6C22-B685-1D883EA9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84735"/>
            <a:ext cx="7886700" cy="1828444"/>
          </a:xfrm>
        </p:spPr>
        <p:txBody>
          <a:bodyPr>
            <a:normAutofit/>
          </a:bodyPr>
          <a:lstStyle/>
          <a:p>
            <a:r>
              <a:rPr lang="en-US" sz="4500" dirty="0"/>
              <a:t>Contents to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05097-D06C-97A3-85E3-D4DF53E1F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720" y="1371600"/>
            <a:ext cx="4038750" cy="5016500"/>
          </a:xfrm>
        </p:spPr>
        <p:txBody>
          <a:bodyPr>
            <a:normAutofit lnSpcReduction="10000"/>
          </a:bodyPr>
          <a:lstStyle/>
          <a:p>
            <a:r>
              <a:rPr lang="en-US" sz="1600" b="1" dirty="0"/>
              <a:t>What is Organizational Behavior?</a:t>
            </a:r>
          </a:p>
          <a:p>
            <a:pPr lvl="1"/>
            <a:r>
              <a:rPr lang="en-US" sz="1600" b="1" dirty="0"/>
              <a:t>Interpersonal Skills </a:t>
            </a:r>
            <a:r>
              <a:rPr lang="en-US" sz="1600" dirty="0"/>
              <a:t>(Communicate, build relationships and work well)</a:t>
            </a:r>
          </a:p>
          <a:p>
            <a:pPr lvl="1"/>
            <a:r>
              <a:rPr lang="en-US" sz="1600" b="1" dirty="0"/>
              <a:t>Organizational Behavior </a:t>
            </a:r>
            <a:r>
              <a:rPr lang="en-US" sz="1600" dirty="0"/>
              <a:t>(How people act, think, and work individually, in groups, and as a whole company)</a:t>
            </a:r>
          </a:p>
          <a:p>
            <a:pPr lvl="1"/>
            <a:r>
              <a:rPr lang="en-US" sz="1600" b="1" dirty="0"/>
              <a:t>Disciplines that contribute to OB field </a:t>
            </a:r>
          </a:p>
          <a:p>
            <a:pPr lvl="2"/>
            <a:r>
              <a:rPr lang="en-US" sz="1600" dirty="0"/>
              <a:t>Psychology (individual human behavior)</a:t>
            </a:r>
          </a:p>
          <a:p>
            <a:pPr lvl="2"/>
            <a:r>
              <a:rPr lang="en-US" sz="1600" dirty="0"/>
              <a:t>Sociology (people in relation to their social environment) </a:t>
            </a:r>
          </a:p>
          <a:p>
            <a:pPr lvl="2"/>
            <a:r>
              <a:rPr lang="en-US" sz="1600" dirty="0"/>
              <a:t>Social psychology (how people influence one another)</a:t>
            </a:r>
          </a:p>
          <a:p>
            <a:pPr lvl="2"/>
            <a:r>
              <a:rPr lang="en-US" sz="1600" dirty="0"/>
              <a:t>Anthropology (societies and human environments)</a:t>
            </a:r>
          </a:p>
          <a:p>
            <a:pPr lvl="1"/>
            <a:r>
              <a:rPr lang="en-US" sz="1600" b="1" dirty="0"/>
              <a:t>OB Model </a:t>
            </a:r>
            <a:r>
              <a:rPr lang="en-US" sz="1600" dirty="0"/>
              <a:t>(inputs, processes, and outcomes at individual, group, and organizational levels)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80F2A-6C5C-15A0-8E7D-ED95E79C6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7470" y="1371600"/>
            <a:ext cx="4187810" cy="4927600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Challenges and Opportunities for OB</a:t>
            </a:r>
          </a:p>
          <a:p>
            <a:r>
              <a:rPr lang="en-US" sz="1400" dirty="0"/>
              <a:t>Responding to Economic Pressures (Managing financial stress, cutting costs, adapting budgets)</a:t>
            </a:r>
          </a:p>
          <a:p>
            <a:r>
              <a:rPr lang="en-US" sz="1400" dirty="0"/>
              <a:t>Globalization (Economic, culture, and political)</a:t>
            </a:r>
          </a:p>
          <a:p>
            <a:r>
              <a:rPr lang="en-US" sz="1400" dirty="0"/>
              <a:t>Managing Workforce Diversity (people with different background, ages, cultures and abilities feel valued and treated fairly)</a:t>
            </a:r>
          </a:p>
          <a:p>
            <a:r>
              <a:rPr lang="en-US" sz="1400" dirty="0"/>
              <a:t>Improving Customer Service</a:t>
            </a:r>
          </a:p>
          <a:p>
            <a:r>
              <a:rPr lang="en-US" sz="1400" dirty="0"/>
              <a:t>Improving People Skills (Active listening, empathy, clear communication)</a:t>
            </a:r>
          </a:p>
          <a:p>
            <a:r>
              <a:rPr lang="en-US" sz="1400" dirty="0"/>
              <a:t>Innovation and Change</a:t>
            </a:r>
          </a:p>
          <a:p>
            <a:r>
              <a:rPr lang="en-US" sz="1400" dirty="0"/>
              <a:t>Working in Networked Organizations (flexible, decentralized structure) </a:t>
            </a:r>
          </a:p>
          <a:p>
            <a:r>
              <a:rPr lang="en-US" sz="1400" dirty="0"/>
              <a:t>Employees Work-Life Balance</a:t>
            </a:r>
          </a:p>
          <a:p>
            <a:r>
              <a:rPr lang="en-US" sz="1400" dirty="0"/>
              <a:t>Positive Work Environment (employee safety, growth, and WLB)</a:t>
            </a:r>
          </a:p>
          <a:p>
            <a:r>
              <a:rPr lang="en-US" sz="1400" dirty="0"/>
              <a:t>Improving Ethical Behavior (clear standards, good leadership, and safe reporting) </a:t>
            </a:r>
          </a:p>
        </p:txBody>
      </p:sp>
    </p:spTree>
    <p:extLst>
      <p:ext uri="{BB962C8B-B14F-4D97-AF65-F5344CB8AC3E}">
        <p14:creationId xmlns:p14="http://schemas.microsoft.com/office/powerpoint/2010/main" val="92435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00D50-8369-8229-7EAA-4C0844C1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07975"/>
            <a:ext cx="7886700" cy="1828444"/>
          </a:xfrm>
        </p:spPr>
        <p:txBody>
          <a:bodyPr>
            <a:normAutofit/>
          </a:bodyPr>
          <a:lstStyle/>
          <a:p>
            <a:r>
              <a:rPr lang="en-US" sz="45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61BE1-FB85-14BD-77B6-38A161C80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30300"/>
            <a:ext cx="3868820" cy="4998786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The Individual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Diversity in Organizations </a:t>
            </a:r>
          </a:p>
          <a:p>
            <a:pPr lvl="1"/>
            <a:r>
              <a:rPr lang="en-US" dirty="0"/>
              <a:t>Attitudes and Job Satisfaction </a:t>
            </a:r>
          </a:p>
          <a:p>
            <a:pPr lvl="1"/>
            <a:r>
              <a:rPr lang="en-US" dirty="0"/>
              <a:t>Emotions and Moods </a:t>
            </a:r>
          </a:p>
          <a:p>
            <a:pPr lvl="1"/>
            <a:r>
              <a:rPr lang="en-US" dirty="0"/>
              <a:t>Personality and Values </a:t>
            </a:r>
          </a:p>
          <a:p>
            <a:pPr lvl="1"/>
            <a:r>
              <a:rPr lang="en-US" dirty="0"/>
              <a:t>Perception and Individual Decision Making </a:t>
            </a:r>
          </a:p>
          <a:p>
            <a:pPr lvl="1"/>
            <a:r>
              <a:rPr lang="en-US" dirty="0"/>
              <a:t>Motivation Concepts </a:t>
            </a:r>
          </a:p>
          <a:p>
            <a:pPr lvl="1"/>
            <a:r>
              <a:rPr lang="en-US" dirty="0"/>
              <a:t>Motivation: From Concepts to Application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BC4EE-0624-4479-F530-EE67DEFCE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1865" y="1130300"/>
            <a:ext cx="3873484" cy="4998786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The Group</a:t>
            </a:r>
          </a:p>
          <a:p>
            <a:pPr lvl="1"/>
            <a:r>
              <a:rPr lang="en-US" sz="2000" dirty="0"/>
              <a:t>Foundations of Group Behavior</a:t>
            </a:r>
          </a:p>
          <a:p>
            <a:pPr lvl="1"/>
            <a:r>
              <a:rPr lang="en-US" sz="2000" dirty="0"/>
              <a:t>Understanding Work Teams </a:t>
            </a:r>
          </a:p>
          <a:p>
            <a:pPr lvl="1"/>
            <a:r>
              <a:rPr lang="en-US" sz="2000" dirty="0"/>
              <a:t>Communication </a:t>
            </a:r>
          </a:p>
          <a:p>
            <a:pPr lvl="1"/>
            <a:r>
              <a:rPr lang="en-US" sz="2000" dirty="0"/>
              <a:t>Leadership </a:t>
            </a:r>
          </a:p>
          <a:p>
            <a:pPr lvl="1"/>
            <a:r>
              <a:rPr lang="en-US" sz="2000" dirty="0"/>
              <a:t>Power and Politics</a:t>
            </a:r>
          </a:p>
          <a:p>
            <a:pPr lvl="1"/>
            <a:r>
              <a:rPr lang="en-US" sz="2000" dirty="0"/>
              <a:t>Conflict and Negotiations </a:t>
            </a:r>
          </a:p>
          <a:p>
            <a:pPr lvl="1"/>
            <a:r>
              <a:rPr lang="en-US" sz="2000" dirty="0"/>
              <a:t>Foundations of Organization Structure </a:t>
            </a:r>
          </a:p>
          <a:p>
            <a:r>
              <a:rPr lang="en-US" sz="2000" b="1" dirty="0"/>
              <a:t>The Organization System</a:t>
            </a:r>
          </a:p>
          <a:p>
            <a:pPr lvl="1"/>
            <a:r>
              <a:rPr lang="en-US" sz="2000" dirty="0"/>
              <a:t>Organizational Culture</a:t>
            </a:r>
          </a:p>
          <a:p>
            <a:pPr lvl="1"/>
            <a:r>
              <a:rPr lang="en-US" sz="2000" dirty="0"/>
              <a:t>Human Resource Policies and Practices </a:t>
            </a:r>
          </a:p>
          <a:p>
            <a:pPr lvl="1"/>
            <a:r>
              <a:rPr lang="en-US" sz="2000" dirty="0"/>
              <a:t>Organizational Change and Stress Management</a:t>
            </a:r>
          </a:p>
        </p:txBody>
      </p:sp>
    </p:spTree>
    <p:extLst>
      <p:ext uri="{BB962C8B-B14F-4D97-AF65-F5344CB8AC3E}">
        <p14:creationId xmlns:p14="http://schemas.microsoft.com/office/powerpoint/2010/main" val="86582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1AAC1-ED2C-93D8-B8B7-D9E12AA1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Recommended Guide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ADF7F-3256-CBDF-3CE2-A11222F57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2000" dirty="0"/>
              <a:t>Organizational Behavior (15</a:t>
            </a:r>
            <a:r>
              <a:rPr lang="en-US" sz="2000" baseline="30000" dirty="0"/>
              <a:t>th </a:t>
            </a:r>
            <a:r>
              <a:rPr lang="en-US" sz="2000" dirty="0"/>
              <a:t>edition), Stephen P. Robbins and Timothy A. Judge (Pearson)</a:t>
            </a:r>
          </a:p>
          <a:p>
            <a:endParaRPr lang="en-US" sz="2000" dirty="0"/>
          </a:p>
          <a:p>
            <a:r>
              <a:rPr lang="en-US" sz="2000" dirty="0"/>
              <a:t> Global Edition Organizational Behavior (18</a:t>
            </a:r>
            <a:r>
              <a:rPr lang="en-US" sz="2000" baseline="30000" dirty="0"/>
              <a:t>th</a:t>
            </a:r>
            <a:r>
              <a:rPr lang="en-US" sz="2000" dirty="0"/>
              <a:t> edition) Stephen P. Robbins, Timothy A. Judge (Pearson) </a:t>
            </a:r>
          </a:p>
        </p:txBody>
      </p:sp>
    </p:spTree>
    <p:extLst>
      <p:ext uri="{BB962C8B-B14F-4D97-AF65-F5344CB8AC3E}">
        <p14:creationId xmlns:p14="http://schemas.microsoft.com/office/powerpoint/2010/main" val="399841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FF4C3-72CD-0F32-3CCB-0352CC45D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What is Organizational Behavior?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2403A-EE35-4252-71C5-BA2107815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159000"/>
            <a:ext cx="7626096" cy="4017963"/>
          </a:xfrm>
        </p:spPr>
        <p:txBody>
          <a:bodyPr>
            <a:normAutofit/>
          </a:bodyPr>
          <a:lstStyle/>
          <a:p>
            <a:r>
              <a:rPr lang="en-IN" sz="2000" dirty="0"/>
              <a:t>Organizational </a:t>
            </a:r>
            <a:r>
              <a:rPr lang="en-IN" sz="2000" dirty="0" err="1"/>
              <a:t>behavior</a:t>
            </a:r>
            <a:r>
              <a:rPr lang="en-IN" sz="2000" dirty="0"/>
              <a:t> (often abbreviated OB) is a field of study that investigates the </a:t>
            </a:r>
            <a:r>
              <a:rPr lang="en-IN" sz="2000" b="1" dirty="0"/>
              <a:t>impact that individuals, groups, and structure have on </a:t>
            </a:r>
            <a:r>
              <a:rPr lang="en-IN" sz="2000" b="1" dirty="0" err="1"/>
              <a:t>behavior</a:t>
            </a:r>
            <a:r>
              <a:rPr lang="en-IN" sz="2000" b="1" dirty="0"/>
              <a:t> within organizations</a:t>
            </a:r>
            <a:r>
              <a:rPr lang="en-IN" sz="2000" dirty="0"/>
              <a:t>, for the purpose of applying such knowledge toward </a:t>
            </a:r>
            <a:r>
              <a:rPr lang="en-IN" sz="2000" b="1" dirty="0"/>
              <a:t>improving an organization’s effectiveness</a:t>
            </a:r>
            <a:r>
              <a:rPr lang="en-IN" sz="2000" dirty="0"/>
              <a:t>.</a:t>
            </a:r>
          </a:p>
          <a:p>
            <a:r>
              <a:rPr lang="en-IN" sz="2000" dirty="0"/>
              <a:t>It studies three determinants of </a:t>
            </a:r>
            <a:r>
              <a:rPr lang="en-IN" sz="2000" dirty="0" err="1"/>
              <a:t>behavior</a:t>
            </a:r>
            <a:r>
              <a:rPr lang="en-IN" sz="2000" dirty="0"/>
              <a:t> in organizations: individuals, groups, and structure.</a:t>
            </a:r>
          </a:p>
          <a:p>
            <a:r>
              <a:rPr lang="en-IN" sz="2000" dirty="0"/>
              <a:t>OB applies the knowledge gained about individuals, groups, and the effect of structure on </a:t>
            </a:r>
            <a:r>
              <a:rPr lang="en-IN" sz="2000" dirty="0" err="1"/>
              <a:t>behavior</a:t>
            </a:r>
            <a:r>
              <a:rPr lang="en-IN" sz="2000" dirty="0"/>
              <a:t> in order to make organizations work more effectively</a:t>
            </a:r>
          </a:p>
          <a:p>
            <a:r>
              <a:rPr lang="en-IN" sz="2000" dirty="0"/>
              <a:t>OB is the study of what people do in an organization and how their </a:t>
            </a:r>
            <a:r>
              <a:rPr lang="en-IN" sz="2000" dirty="0" err="1"/>
              <a:t>behavior</a:t>
            </a:r>
            <a:r>
              <a:rPr lang="en-IN" sz="2000" dirty="0"/>
              <a:t> affects the organization’s performance.</a:t>
            </a:r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760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475</Words>
  <Application>Microsoft Macintosh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MS-606   ORGANIZATIONAL BEHAVIOR</vt:lpstr>
      <vt:lpstr>Objectives </vt:lpstr>
      <vt:lpstr>Contents to Cover</vt:lpstr>
      <vt:lpstr>Contents</vt:lpstr>
      <vt:lpstr>Recommended Guide </vt:lpstr>
      <vt:lpstr>What is Organizational Behavior?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chetanya singh</dc:creator>
  <cp:lastModifiedBy>chetanya singh</cp:lastModifiedBy>
  <cp:revision>7</cp:revision>
  <dcterms:created xsi:type="dcterms:W3CDTF">2026-07-27T05:36:09Z</dcterms:created>
  <dcterms:modified xsi:type="dcterms:W3CDTF">2026-07-30T07:27:44Z</dcterms:modified>
</cp:coreProperties>
</file>