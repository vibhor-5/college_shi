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2" r:id="rId7"/>
    <p:sldId id="264" r:id="rId8"/>
    <p:sldId id="265" r:id="rId9"/>
    <p:sldId id="267" r:id="rId10"/>
    <p:sldId id="268" r:id="rId11"/>
    <p:sldId id="269" r:id="rId12"/>
    <p:sldId id="271" r:id="rId13"/>
    <p:sldId id="272" r:id="rId14"/>
    <p:sldId id="273" r:id="rId15"/>
    <p:sldId id="274" r:id="rId16"/>
    <p:sldId id="275" r:id="rId17"/>
    <p:sldId id="276" r:id="rId18"/>
    <p:sldId id="277" r:id="rId19"/>
    <p:sldId id="278" r:id="rId20"/>
    <p:sldId id="279" r:id="rId21"/>
    <p:sldId id="280" r:id="rId22"/>
    <p:sldId id="28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5"/>
    <p:restoredTop sz="94653"/>
  </p:normalViewPr>
  <p:slideViewPr>
    <p:cSldViewPr snapToGrid="0">
      <p:cViewPr varScale="1">
        <p:scale>
          <a:sx n="100" d="100"/>
          <a:sy n="100" d="100"/>
        </p:scale>
        <p:origin x="1888"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356CD6B-8A4B-444A-A9CA-8FE326EB304A}"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529951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56CD6B-8A4B-444A-A9CA-8FE326EB304A}"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1673750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356CD6B-8A4B-444A-A9CA-8FE326EB304A}"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4094812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356CD6B-8A4B-444A-A9CA-8FE326EB304A}"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4120481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356CD6B-8A4B-444A-A9CA-8FE326EB304A}" type="datetimeFigureOut">
              <a:rPr lang="en-US" smtClean="0"/>
              <a:t>8/10/26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2026321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356CD6B-8A4B-444A-A9CA-8FE326EB304A}" type="datetimeFigureOut">
              <a:rPr lang="en-US" smtClean="0"/>
              <a:t>8/10/26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3977815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56CD6B-8A4B-444A-A9CA-8FE326EB304A}" type="datetimeFigureOut">
              <a:rPr lang="en-US" smtClean="0"/>
              <a:t>8/10/26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1442516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356CD6B-8A4B-444A-A9CA-8FE326EB304A}"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3948887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356CD6B-8A4B-444A-A9CA-8FE326EB304A}" type="datetimeFigureOut">
              <a:rPr lang="en-US" smtClean="0"/>
              <a:t>8/10/26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712299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56CD6B-8A4B-444A-A9CA-8FE326EB304A}"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1921472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56CD6B-8A4B-444A-A9CA-8FE326EB304A}" type="datetimeFigureOut">
              <a:rPr lang="en-US" smtClean="0"/>
              <a:t>8/10/26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0F4DA6-992E-2B4E-90A9-A4C4D8C5C9F7}" type="slidenum">
              <a:rPr lang="en-US" smtClean="0"/>
              <a:t>‹#›</a:t>
            </a:fld>
            <a:endParaRPr lang="en-US"/>
          </a:p>
        </p:txBody>
      </p:sp>
    </p:spTree>
    <p:extLst>
      <p:ext uri="{BB962C8B-B14F-4D97-AF65-F5344CB8AC3E}">
        <p14:creationId xmlns:p14="http://schemas.microsoft.com/office/powerpoint/2010/main" val="3950148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56CD6B-8A4B-444A-A9CA-8FE326EB304A}" type="datetimeFigureOut">
              <a:rPr lang="en-US" smtClean="0"/>
              <a:t>8/10/26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0F4DA6-992E-2B4E-90A9-A4C4D8C5C9F7}" type="slidenum">
              <a:rPr lang="en-US" smtClean="0"/>
              <a:t>‹#›</a:t>
            </a:fld>
            <a:endParaRPr lang="en-US"/>
          </a:p>
        </p:txBody>
      </p:sp>
    </p:spTree>
    <p:extLst>
      <p:ext uri="{BB962C8B-B14F-4D97-AF65-F5344CB8AC3E}">
        <p14:creationId xmlns:p14="http://schemas.microsoft.com/office/powerpoint/2010/main" val="2864455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AFC454B-A080-4D23-B177-6D5356C6E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427"/>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77107" y="220196"/>
            <a:ext cx="7066893"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8521" y="3334786"/>
            <a:ext cx="145668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4" name="Arc 33">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732372" y="1469901"/>
            <a:ext cx="2987899" cy="2240924"/>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D21FD6-1E77-41BE-43F7-5B43983D2897}"/>
              </a:ext>
            </a:extLst>
          </p:cNvPr>
          <p:cNvSpPr>
            <a:spLocks noGrp="1"/>
          </p:cNvSpPr>
          <p:nvPr>
            <p:ph type="ctrTitle"/>
          </p:nvPr>
        </p:nvSpPr>
        <p:spPr>
          <a:xfrm>
            <a:off x="3028950" y="1939159"/>
            <a:ext cx="5733470" cy="2751086"/>
          </a:xfrm>
        </p:spPr>
        <p:txBody>
          <a:bodyPr>
            <a:normAutofit/>
          </a:bodyPr>
          <a:lstStyle/>
          <a:p>
            <a:pPr algn="r"/>
            <a:r>
              <a:rPr lang="en-US" sz="5100"/>
              <a:t>MS-606</a:t>
            </a:r>
            <a:br>
              <a:rPr lang="en-US" sz="5100"/>
            </a:br>
            <a:r>
              <a:rPr lang="en-US" sz="5100"/>
              <a:t>ATTITUDES AND JOB SATISFACTION</a:t>
            </a:r>
          </a:p>
        </p:txBody>
      </p:sp>
    </p:spTree>
    <p:extLst>
      <p:ext uri="{BB962C8B-B14F-4D97-AF65-F5344CB8AC3E}">
        <p14:creationId xmlns:p14="http://schemas.microsoft.com/office/powerpoint/2010/main" val="2071398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57D82E-7297-0283-29F9-04E901D067EB}"/>
              </a:ext>
            </a:extLst>
          </p:cNvPr>
          <p:cNvSpPr>
            <a:spLocks noGrp="1"/>
          </p:cNvSpPr>
          <p:nvPr>
            <p:ph type="title"/>
          </p:nvPr>
        </p:nvSpPr>
        <p:spPr>
          <a:xfrm>
            <a:off x="515125" y="1153572"/>
            <a:ext cx="2400300" cy="4461163"/>
          </a:xfrm>
        </p:spPr>
        <p:txBody>
          <a:bodyPr>
            <a:normAutofit/>
          </a:bodyPr>
          <a:lstStyle/>
          <a:p>
            <a:r>
              <a:rPr lang="en-US">
                <a:solidFill>
                  <a:srgbClr val="FFFFFF"/>
                </a:solidFill>
              </a:rPr>
              <a:t>Attitudes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F40CB5E-9796-EF8B-6152-8D054B154827}"/>
              </a:ext>
            </a:extLst>
          </p:cNvPr>
          <p:cNvSpPr>
            <a:spLocks noGrp="1"/>
          </p:cNvSpPr>
          <p:nvPr>
            <p:ph idx="1"/>
          </p:nvPr>
        </p:nvSpPr>
        <p:spPr>
          <a:xfrm>
            <a:off x="3335481" y="591344"/>
            <a:ext cx="5179868" cy="5585619"/>
          </a:xfrm>
        </p:spPr>
        <p:txBody>
          <a:bodyPr anchor="ctr">
            <a:normAutofit/>
          </a:bodyPr>
          <a:lstStyle/>
          <a:p>
            <a:r>
              <a:rPr lang="en-IN" dirty="0"/>
              <a:t>Attitudes are evaluative statements-either </a:t>
            </a:r>
            <a:r>
              <a:rPr lang="en-IN" dirty="0" err="1"/>
              <a:t>favorable</a:t>
            </a:r>
            <a:r>
              <a:rPr lang="en-IN" dirty="0"/>
              <a:t> or </a:t>
            </a:r>
            <a:r>
              <a:rPr lang="en-IN" dirty="0" err="1"/>
              <a:t>unfavorable</a:t>
            </a:r>
            <a:r>
              <a:rPr lang="en-IN" dirty="0"/>
              <a:t>-about objects, people, or events. </a:t>
            </a:r>
          </a:p>
          <a:p>
            <a:r>
              <a:rPr lang="en-IN" dirty="0"/>
              <a:t>They reflect how we feel about something. </a:t>
            </a:r>
          </a:p>
          <a:p>
            <a:r>
              <a:rPr lang="en-IN" dirty="0"/>
              <a:t>“I like my job”</a:t>
            </a:r>
          </a:p>
          <a:p>
            <a:endParaRPr lang="en-US" dirty="0"/>
          </a:p>
        </p:txBody>
      </p:sp>
    </p:spTree>
    <p:extLst>
      <p:ext uri="{BB962C8B-B14F-4D97-AF65-F5344CB8AC3E}">
        <p14:creationId xmlns:p14="http://schemas.microsoft.com/office/powerpoint/2010/main" val="3697042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FEC29C-63A7-B948-3350-DED6C0D9DFAE}"/>
              </a:ext>
            </a:extLst>
          </p:cNvPr>
          <p:cNvSpPr>
            <a:spLocks noGrp="1"/>
          </p:cNvSpPr>
          <p:nvPr>
            <p:ph type="title"/>
          </p:nvPr>
        </p:nvSpPr>
        <p:spPr>
          <a:xfrm>
            <a:off x="515125" y="1153572"/>
            <a:ext cx="2400300" cy="4461163"/>
          </a:xfrm>
        </p:spPr>
        <p:txBody>
          <a:bodyPr>
            <a:normAutofit/>
          </a:bodyPr>
          <a:lstStyle/>
          <a:p>
            <a:r>
              <a:rPr lang="en-IN" sz="3100">
                <a:solidFill>
                  <a:srgbClr val="FFFFFF"/>
                </a:solidFill>
              </a:rPr>
              <a:t>Main Components of Attitudes</a:t>
            </a:r>
            <a:endParaRPr lang="en-US" sz="3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2CA3528-3B68-3E9F-848D-5595B8C9D32B}"/>
              </a:ext>
            </a:extLst>
          </p:cNvPr>
          <p:cNvSpPr>
            <a:spLocks noGrp="1"/>
          </p:cNvSpPr>
          <p:nvPr>
            <p:ph idx="1"/>
          </p:nvPr>
        </p:nvSpPr>
        <p:spPr>
          <a:xfrm>
            <a:off x="3310081" y="1454944"/>
            <a:ext cx="5179868" cy="5585619"/>
          </a:xfrm>
        </p:spPr>
        <p:txBody>
          <a:bodyPr anchor="ctr">
            <a:normAutofit/>
          </a:bodyPr>
          <a:lstStyle/>
          <a:p>
            <a:r>
              <a:rPr lang="en-IN" sz="2400" b="1" dirty="0"/>
              <a:t>Cognitive component </a:t>
            </a:r>
            <a:r>
              <a:rPr lang="en-IN" sz="2400" dirty="0"/>
              <a:t>of an attitude-a description of or belief in the way things are.</a:t>
            </a:r>
          </a:p>
          <a:p>
            <a:r>
              <a:rPr lang="en-IN" sz="2400" dirty="0"/>
              <a:t>The statement “My pay is low” </a:t>
            </a:r>
          </a:p>
          <a:p>
            <a:r>
              <a:rPr lang="en-IN" sz="2400" b="1" dirty="0"/>
              <a:t>Affect </a:t>
            </a:r>
            <a:r>
              <a:rPr lang="en-IN" sz="2400" dirty="0"/>
              <a:t>is the emotional or feeling segment of an attitude </a:t>
            </a:r>
          </a:p>
          <a:p>
            <a:r>
              <a:rPr lang="en-IN" sz="2400" dirty="0"/>
              <a:t>“I am angry over how little I’m paid.”</a:t>
            </a:r>
          </a:p>
          <a:p>
            <a:r>
              <a:rPr lang="en-IN" sz="2400" b="1" dirty="0"/>
              <a:t>The </a:t>
            </a:r>
            <a:r>
              <a:rPr lang="en-IN" sz="2400" b="1" dirty="0" err="1"/>
              <a:t>behavioral</a:t>
            </a:r>
            <a:r>
              <a:rPr lang="en-IN" sz="2400" b="1" dirty="0"/>
              <a:t> component </a:t>
            </a:r>
            <a:r>
              <a:rPr lang="en-IN" sz="2400" dirty="0"/>
              <a:t>of an attitude describes an intention to behave in a certain way toward someone or something</a:t>
            </a:r>
          </a:p>
          <a:p>
            <a:r>
              <a:rPr lang="en-IN" sz="2400" dirty="0"/>
              <a:t>“I’m going to look for another job that pays better.”</a:t>
            </a:r>
          </a:p>
          <a:p>
            <a:endParaRPr lang="en-IN" sz="2400" dirty="0"/>
          </a:p>
          <a:p>
            <a:endParaRPr lang="en-IN" sz="2400" dirty="0"/>
          </a:p>
          <a:p>
            <a:endParaRPr lang="en-IN" sz="2400" dirty="0"/>
          </a:p>
          <a:p>
            <a:endParaRPr lang="en-IN" sz="2400" dirty="0"/>
          </a:p>
          <a:p>
            <a:endParaRPr lang="en-US" sz="2400" dirty="0"/>
          </a:p>
        </p:txBody>
      </p:sp>
    </p:spTree>
    <p:extLst>
      <p:ext uri="{BB962C8B-B14F-4D97-AF65-F5344CB8AC3E}">
        <p14:creationId xmlns:p14="http://schemas.microsoft.com/office/powerpoint/2010/main" val="2676829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D742177E-8D90-837E-EB54-A75CEA68DFB5}"/>
              </a:ext>
            </a:extLst>
          </p:cNvPr>
          <p:cNvPicPr>
            <a:picLocks noChangeAspect="1"/>
          </p:cNvPicPr>
          <p:nvPr/>
        </p:nvPicPr>
        <p:blipFill>
          <a:blip r:embed="rId2"/>
          <a:srcRect l="1982" r="-1" b="-1"/>
          <a:stretch>
            <a:fillRect/>
          </a:stretch>
        </p:blipFill>
        <p:spPr>
          <a:xfrm>
            <a:off x="20" y="1282"/>
            <a:ext cx="9143980" cy="6856718"/>
          </a:xfrm>
          <a:prstGeom prst="rect">
            <a:avLst/>
          </a:prstGeom>
        </p:spPr>
      </p:pic>
    </p:spTree>
    <p:extLst>
      <p:ext uri="{BB962C8B-B14F-4D97-AF65-F5344CB8AC3E}">
        <p14:creationId xmlns:p14="http://schemas.microsoft.com/office/powerpoint/2010/main" val="3968023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9E382F-DC33-ACF8-0E39-C85E520D115B}"/>
              </a:ext>
            </a:extLst>
          </p:cNvPr>
          <p:cNvSpPr>
            <a:spLocks noGrp="1"/>
          </p:cNvSpPr>
          <p:nvPr>
            <p:ph type="title"/>
          </p:nvPr>
        </p:nvSpPr>
        <p:spPr>
          <a:xfrm>
            <a:off x="515125" y="1153572"/>
            <a:ext cx="2400300" cy="4461163"/>
          </a:xfrm>
        </p:spPr>
        <p:txBody>
          <a:bodyPr>
            <a:normAutofit/>
          </a:bodyPr>
          <a:lstStyle/>
          <a:p>
            <a:r>
              <a:rPr lang="en-IN" sz="4100">
                <a:solidFill>
                  <a:srgbClr val="FFFFFF"/>
                </a:solidFill>
              </a:rPr>
              <a:t>Does Behavior Always Follow from Attitudes?</a:t>
            </a:r>
            <a:endParaRPr lang="en-US" sz="4100">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FFF39C4-FA11-CDF9-F1F1-A53682E0D26D}"/>
              </a:ext>
            </a:extLst>
          </p:cNvPr>
          <p:cNvSpPr>
            <a:spLocks noGrp="1"/>
          </p:cNvSpPr>
          <p:nvPr>
            <p:ph idx="1"/>
          </p:nvPr>
        </p:nvSpPr>
        <p:spPr>
          <a:xfrm>
            <a:off x="3335481" y="591344"/>
            <a:ext cx="5179868" cy="5585619"/>
          </a:xfrm>
        </p:spPr>
        <p:txBody>
          <a:bodyPr anchor="ctr">
            <a:normAutofit/>
          </a:bodyPr>
          <a:lstStyle/>
          <a:p>
            <a:r>
              <a:rPr lang="en-IN" sz="2200" dirty="0"/>
              <a:t>Early research on attitudes assumed they were causally related to </a:t>
            </a:r>
            <a:r>
              <a:rPr lang="en-IN" sz="2200" dirty="0" err="1"/>
              <a:t>behavior</a:t>
            </a:r>
            <a:r>
              <a:rPr lang="en-IN" sz="2200" dirty="0"/>
              <a:t>.</a:t>
            </a:r>
          </a:p>
          <a:p>
            <a:r>
              <a:rPr lang="en-IN" sz="2200" dirty="0"/>
              <a:t>In the late 1960s, Leon Festinger argued that attitudes follow </a:t>
            </a:r>
            <a:r>
              <a:rPr lang="en-IN" sz="2200" dirty="0" err="1"/>
              <a:t>behavior</a:t>
            </a:r>
            <a:r>
              <a:rPr lang="en-IN" sz="2200" dirty="0"/>
              <a:t>.</a:t>
            </a:r>
          </a:p>
          <a:p>
            <a:r>
              <a:rPr lang="en-IN" sz="2200" b="1" dirty="0"/>
              <a:t>Cognitive dissonance </a:t>
            </a:r>
            <a:r>
              <a:rPr lang="en-IN" sz="2200" dirty="0"/>
              <a:t>- any incompatibility an individual might perceive between two attitudes or between </a:t>
            </a:r>
            <a:r>
              <a:rPr lang="en-IN" sz="2200" dirty="0" err="1"/>
              <a:t>behavior</a:t>
            </a:r>
            <a:r>
              <a:rPr lang="en-IN" sz="2200" dirty="0"/>
              <a:t> and attitudes. </a:t>
            </a:r>
          </a:p>
          <a:p>
            <a:r>
              <a:rPr lang="en-IN" sz="2200" dirty="0"/>
              <a:t>Any form of </a:t>
            </a:r>
            <a:r>
              <a:rPr lang="en-IN" sz="2200" b="1" dirty="0"/>
              <a:t>inconsistency is uncomfortable </a:t>
            </a:r>
            <a:r>
              <a:rPr lang="en-IN" sz="2200" dirty="0"/>
              <a:t>and that individuals will therefore attempt to reduce it.</a:t>
            </a:r>
          </a:p>
          <a:p>
            <a:r>
              <a:rPr lang="en-IN" sz="2200" dirty="0"/>
              <a:t>People either alter the attitudes or the </a:t>
            </a:r>
            <a:r>
              <a:rPr lang="en-IN" sz="2200" dirty="0" err="1"/>
              <a:t>behavior</a:t>
            </a:r>
            <a:r>
              <a:rPr lang="en-IN" sz="2200" dirty="0"/>
              <a:t>, or they develop a </a:t>
            </a:r>
            <a:r>
              <a:rPr lang="en-IN" sz="2200" b="1" dirty="0"/>
              <a:t>rationalization for the discrepancy. </a:t>
            </a:r>
            <a:r>
              <a:rPr lang="en-IN" sz="2200" dirty="0"/>
              <a:t> </a:t>
            </a:r>
          </a:p>
          <a:p>
            <a:r>
              <a:rPr lang="en-IN" sz="2200" b="1" dirty="0"/>
              <a:t>Rewards of dissonance</a:t>
            </a:r>
            <a:endParaRPr lang="en-IN" sz="2200" dirty="0"/>
          </a:p>
        </p:txBody>
      </p:sp>
    </p:spTree>
    <p:extLst>
      <p:ext uri="{BB962C8B-B14F-4D97-AF65-F5344CB8AC3E}">
        <p14:creationId xmlns:p14="http://schemas.microsoft.com/office/powerpoint/2010/main" val="729773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4A9F01-40C1-02FA-1406-F1AB49E0A718}"/>
              </a:ext>
            </a:extLst>
          </p:cNvPr>
          <p:cNvSpPr>
            <a:spLocks noGrp="1"/>
          </p:cNvSpPr>
          <p:nvPr>
            <p:ph type="title"/>
          </p:nvPr>
        </p:nvSpPr>
        <p:spPr>
          <a:xfrm>
            <a:off x="515125" y="1153572"/>
            <a:ext cx="2400300" cy="4461163"/>
          </a:xfrm>
        </p:spPr>
        <p:txBody>
          <a:bodyPr>
            <a:normAutofit/>
          </a:bodyPr>
          <a:lstStyle/>
          <a:p>
            <a:r>
              <a:rPr lang="en-IN">
                <a:solidFill>
                  <a:srgbClr val="FFFFFF"/>
                </a:solidFill>
              </a:rPr>
              <a:t>Major Job Attitudes</a:t>
            </a:r>
            <a:endParaRPr lang="en-US">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234770F-2774-60FB-FB9B-A6E1F23445EA}"/>
              </a:ext>
            </a:extLst>
          </p:cNvPr>
          <p:cNvSpPr>
            <a:spLocks noGrp="1"/>
          </p:cNvSpPr>
          <p:nvPr>
            <p:ph idx="1"/>
          </p:nvPr>
        </p:nvSpPr>
        <p:spPr>
          <a:xfrm>
            <a:off x="3322781" y="573088"/>
            <a:ext cx="5179868" cy="6119812"/>
          </a:xfrm>
        </p:spPr>
        <p:txBody>
          <a:bodyPr anchor="ctr">
            <a:normAutofit lnSpcReduction="10000"/>
          </a:bodyPr>
          <a:lstStyle/>
          <a:p>
            <a:r>
              <a:rPr lang="en-IN" sz="1800" b="1" dirty="0"/>
              <a:t>Job satisfaction </a:t>
            </a:r>
            <a:r>
              <a:rPr lang="en-IN" sz="1800" dirty="0"/>
              <a:t>A positive feeling about one’s job resulting from an evaluation of its characteristics.</a:t>
            </a:r>
          </a:p>
          <a:p>
            <a:r>
              <a:rPr lang="en-IN" sz="1800" b="1" dirty="0"/>
              <a:t>Job involvement </a:t>
            </a:r>
            <a:r>
              <a:rPr lang="en-IN" sz="1800" dirty="0"/>
              <a:t>the degree to which people identify psychologically with their job and consider their perceived performance level important to self-worth.</a:t>
            </a:r>
          </a:p>
          <a:p>
            <a:r>
              <a:rPr lang="en-IN" sz="1800" b="1" dirty="0"/>
              <a:t>Psychological empowerment </a:t>
            </a:r>
            <a:r>
              <a:rPr lang="en-IN" sz="1800" dirty="0"/>
              <a:t>Employees’ belief in the degree to which they affect their work environment, their competence, the meaningfulness of their job, and their perceived autonomy</a:t>
            </a:r>
          </a:p>
          <a:p>
            <a:r>
              <a:rPr lang="en-IN" sz="1800" b="1" dirty="0"/>
              <a:t>Organizational commitment </a:t>
            </a:r>
            <a:r>
              <a:rPr lang="en-IN" sz="1800" dirty="0"/>
              <a:t>The degree to which an employee identifies with a particular organization and its goals and wishes to remain a member</a:t>
            </a:r>
          </a:p>
          <a:p>
            <a:r>
              <a:rPr lang="en-IN" sz="1800" b="1" dirty="0"/>
              <a:t>Perceived organizational support (POS) </a:t>
            </a:r>
            <a:r>
              <a:rPr lang="en-IN" sz="1800" dirty="0"/>
              <a:t>The degree to which employees believe an organization values their contribution and cares about their well-being.</a:t>
            </a:r>
          </a:p>
          <a:p>
            <a:r>
              <a:rPr lang="en-IN" sz="1800" b="1" dirty="0"/>
              <a:t>Employee engagement </a:t>
            </a:r>
            <a:r>
              <a:rPr lang="en-IN" sz="1800" dirty="0"/>
              <a:t>An individual’s involvement with, satisfaction with, and enthusiasm for the work he or she does.</a:t>
            </a:r>
          </a:p>
          <a:p>
            <a:endParaRPr lang="en-IN" sz="1600" dirty="0"/>
          </a:p>
          <a:p>
            <a:endParaRPr lang="en-US" sz="1600" dirty="0"/>
          </a:p>
        </p:txBody>
      </p:sp>
    </p:spTree>
    <p:extLst>
      <p:ext uri="{BB962C8B-B14F-4D97-AF65-F5344CB8AC3E}">
        <p14:creationId xmlns:p14="http://schemas.microsoft.com/office/powerpoint/2010/main" val="2966525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AD1CF9-8483-D52E-5224-BA7FB1F7D79A}"/>
              </a:ext>
            </a:extLst>
          </p:cNvPr>
          <p:cNvSpPr>
            <a:spLocks noGrp="1"/>
          </p:cNvSpPr>
          <p:nvPr>
            <p:ph type="title"/>
          </p:nvPr>
        </p:nvSpPr>
        <p:spPr>
          <a:xfrm>
            <a:off x="515125" y="1153572"/>
            <a:ext cx="2400300" cy="4461163"/>
          </a:xfrm>
        </p:spPr>
        <p:txBody>
          <a:bodyPr>
            <a:normAutofit/>
          </a:bodyPr>
          <a:lstStyle/>
          <a:p>
            <a:r>
              <a:rPr lang="en-IN" sz="3400">
                <a:solidFill>
                  <a:srgbClr val="FFFFFF"/>
                </a:solidFill>
              </a:rPr>
              <a:t>Measuring Job Satisfaction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ED4C07B-E48F-B730-1DD7-7D87F013C90C}"/>
              </a:ext>
            </a:extLst>
          </p:cNvPr>
          <p:cNvSpPr>
            <a:spLocks noGrp="1"/>
          </p:cNvSpPr>
          <p:nvPr>
            <p:ph idx="1"/>
          </p:nvPr>
        </p:nvSpPr>
        <p:spPr>
          <a:xfrm>
            <a:off x="3335481" y="591344"/>
            <a:ext cx="5179868" cy="5585619"/>
          </a:xfrm>
        </p:spPr>
        <p:txBody>
          <a:bodyPr anchor="ctr">
            <a:normAutofit/>
          </a:bodyPr>
          <a:lstStyle/>
          <a:p>
            <a:r>
              <a:rPr lang="en-IN" sz="2000"/>
              <a:t>A positive feeling about a job resulting from an evaluation of its characteristics</a:t>
            </a:r>
          </a:p>
          <a:p>
            <a:r>
              <a:rPr lang="en-IN" sz="2000"/>
              <a:t>The </a:t>
            </a:r>
            <a:r>
              <a:rPr lang="en-IN" sz="2000" b="1"/>
              <a:t>first approach, the single global rating </a:t>
            </a:r>
            <a:r>
              <a:rPr lang="en-IN" sz="2000"/>
              <a:t>is a response to one question, such as “All things considered, how satisfied are you with your job?” Respondents circle a number between 1 and 5 on a scale from “highly satisfied” to “highly dissatisfied.” </a:t>
            </a:r>
          </a:p>
          <a:p>
            <a:r>
              <a:rPr lang="en-IN" sz="2000"/>
              <a:t>The </a:t>
            </a:r>
            <a:r>
              <a:rPr lang="en-IN" sz="2000" b="1"/>
              <a:t>second method </a:t>
            </a:r>
            <a:r>
              <a:rPr lang="en-IN" sz="2000"/>
              <a:t>identifies </a:t>
            </a:r>
            <a:r>
              <a:rPr lang="en-IN" sz="2000" b="1"/>
              <a:t>key elements in a job </a:t>
            </a:r>
            <a:r>
              <a:rPr lang="en-IN" sz="2000"/>
              <a:t>such as the nature of the work, supervision, present pay, promotion opportunities, and relationships with co-workers. Respondents rate these on a standardized scale, and researchers add the ratings to create an overall job satisfaction score.</a:t>
            </a:r>
          </a:p>
          <a:p>
            <a:r>
              <a:rPr lang="en-IN" sz="2000"/>
              <a:t>Is one of these approaches superior?</a:t>
            </a:r>
          </a:p>
          <a:p>
            <a:endParaRPr lang="en-IN" sz="2000"/>
          </a:p>
          <a:p>
            <a:endParaRPr lang="en-US" sz="2000"/>
          </a:p>
        </p:txBody>
      </p:sp>
    </p:spTree>
    <p:extLst>
      <p:ext uri="{BB962C8B-B14F-4D97-AF65-F5344CB8AC3E}">
        <p14:creationId xmlns:p14="http://schemas.microsoft.com/office/powerpoint/2010/main" val="2193322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5ACADE-5FD7-48D3-4A75-CD98F6689693}"/>
              </a:ext>
            </a:extLst>
          </p:cNvPr>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865174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184878BB-56D6-332B-C548-AB132F465EFF}"/>
              </a:ext>
            </a:extLst>
          </p:cNvPr>
          <p:cNvPicPr>
            <a:picLocks noChangeAspect="1"/>
          </p:cNvPicPr>
          <p:nvPr/>
        </p:nvPicPr>
        <p:blipFill>
          <a:blip r:embed="rId2"/>
          <a:srcRect l="1649"/>
          <a:stretch>
            <a:fillRect/>
          </a:stretch>
        </p:blipFill>
        <p:spPr>
          <a:xfrm>
            <a:off x="20" y="1282"/>
            <a:ext cx="9143980" cy="6856718"/>
          </a:xfrm>
          <a:prstGeom prst="rect">
            <a:avLst/>
          </a:prstGeom>
        </p:spPr>
      </p:pic>
    </p:spTree>
    <p:extLst>
      <p:ext uri="{BB962C8B-B14F-4D97-AF65-F5344CB8AC3E}">
        <p14:creationId xmlns:p14="http://schemas.microsoft.com/office/powerpoint/2010/main" val="3525392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95FCA464-33B5-53A5-81D7-5C6A46C0C6FE}"/>
              </a:ext>
            </a:extLst>
          </p:cNvPr>
          <p:cNvPicPr>
            <a:picLocks noChangeAspect="1"/>
          </p:cNvPicPr>
          <p:nvPr/>
        </p:nvPicPr>
        <p:blipFill>
          <a:blip r:embed="rId2"/>
          <a:srcRect b="19"/>
          <a:stretch>
            <a:fillRect/>
          </a:stretch>
        </p:blipFill>
        <p:spPr>
          <a:xfrm>
            <a:off x="20" y="1282"/>
            <a:ext cx="9143980" cy="6856718"/>
          </a:xfrm>
          <a:prstGeom prst="rect">
            <a:avLst/>
          </a:prstGeom>
        </p:spPr>
      </p:pic>
    </p:spTree>
    <p:extLst>
      <p:ext uri="{BB962C8B-B14F-4D97-AF65-F5344CB8AC3E}">
        <p14:creationId xmlns:p14="http://schemas.microsoft.com/office/powerpoint/2010/main" val="1311216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101FB8-AC03-56FD-3AA6-027FF1A083BE}"/>
              </a:ext>
            </a:extLst>
          </p:cNvPr>
          <p:cNvSpPr>
            <a:spLocks noGrp="1"/>
          </p:cNvSpPr>
          <p:nvPr>
            <p:ph type="title"/>
          </p:nvPr>
        </p:nvSpPr>
        <p:spPr>
          <a:xfrm>
            <a:off x="515125" y="1153572"/>
            <a:ext cx="2400300" cy="4461163"/>
          </a:xfrm>
        </p:spPr>
        <p:txBody>
          <a:bodyPr>
            <a:normAutofit/>
          </a:bodyPr>
          <a:lstStyle/>
          <a:p>
            <a:r>
              <a:rPr lang="en-IN" sz="3400">
                <a:solidFill>
                  <a:srgbClr val="FFFFFF"/>
                </a:solidFill>
              </a:rPr>
              <a:t>Causes of Job Satisfaction</a:t>
            </a:r>
            <a:endParaRPr lang="en-US" sz="34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36B230C-CC0C-AA6A-5988-4081015C118D}"/>
              </a:ext>
            </a:extLst>
          </p:cNvPr>
          <p:cNvSpPr>
            <a:spLocks noGrp="1"/>
          </p:cNvSpPr>
          <p:nvPr>
            <p:ph idx="1"/>
          </p:nvPr>
        </p:nvSpPr>
        <p:spPr>
          <a:xfrm>
            <a:off x="3335481" y="1153572"/>
            <a:ext cx="5179868" cy="5585619"/>
          </a:xfrm>
        </p:spPr>
        <p:txBody>
          <a:bodyPr anchor="ctr">
            <a:normAutofit/>
          </a:bodyPr>
          <a:lstStyle/>
          <a:p>
            <a:r>
              <a:rPr lang="en-IN" sz="2200" dirty="0"/>
              <a:t>Interesting jobs that </a:t>
            </a:r>
            <a:r>
              <a:rPr lang="en-IN" sz="2200" b="1" dirty="0"/>
              <a:t>provide training, variety, independence, and control </a:t>
            </a:r>
            <a:r>
              <a:rPr lang="en-IN" sz="2200" dirty="0"/>
              <a:t>satisfy most employees</a:t>
            </a:r>
          </a:p>
          <a:p>
            <a:r>
              <a:rPr lang="en-IN" sz="2200" b="1" dirty="0"/>
              <a:t>Interdependence, feedback, social support, and interaction </a:t>
            </a:r>
            <a:r>
              <a:rPr lang="en-IN" sz="2200" dirty="0"/>
              <a:t>with co-workers outside the workplace are strongly related to job satisfaction</a:t>
            </a:r>
          </a:p>
          <a:p>
            <a:r>
              <a:rPr lang="en-IN" sz="2200" dirty="0"/>
              <a:t>Pay motivate people. But what motivates us is not necessarily the same as what makes us happy.</a:t>
            </a:r>
          </a:p>
          <a:p>
            <a:r>
              <a:rPr lang="en-IN" sz="2200" dirty="0"/>
              <a:t>People who have </a:t>
            </a:r>
            <a:r>
              <a:rPr lang="en-IN" sz="2200" b="1" dirty="0"/>
              <a:t>positive core self-evaluations </a:t>
            </a:r>
            <a:r>
              <a:rPr lang="en-IN" sz="2200" dirty="0"/>
              <a:t>–who believe in their inner worth and basic competence-are more satisfied with their jobs than those with negative core self-evaluations.</a:t>
            </a:r>
          </a:p>
          <a:p>
            <a:endParaRPr lang="en-IN" sz="2200" dirty="0"/>
          </a:p>
          <a:p>
            <a:endParaRPr lang="en-IN" sz="2200" dirty="0"/>
          </a:p>
          <a:p>
            <a:endParaRPr lang="en-IN" sz="2200" dirty="0"/>
          </a:p>
          <a:p>
            <a:endParaRPr lang="en-US" sz="2200" dirty="0"/>
          </a:p>
        </p:txBody>
      </p:sp>
    </p:spTree>
    <p:extLst>
      <p:ext uri="{BB962C8B-B14F-4D97-AF65-F5344CB8AC3E}">
        <p14:creationId xmlns:p14="http://schemas.microsoft.com/office/powerpoint/2010/main" val="2502308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FA875-70F1-FBD4-AE14-FBE3873CAE52}"/>
              </a:ext>
            </a:extLst>
          </p:cNvPr>
          <p:cNvSpPr>
            <a:spLocks noGrp="1"/>
          </p:cNvSpPr>
          <p:nvPr>
            <p:ph type="title"/>
          </p:nvPr>
        </p:nvSpPr>
        <p:spPr/>
        <p:txBody>
          <a:bodyPr/>
          <a:lstStyle/>
          <a:p>
            <a:r>
              <a:rPr lang="en-IN" dirty="0"/>
              <a:t>Employee</a:t>
            </a:r>
            <a:br>
              <a:rPr lang="en-IN" dirty="0"/>
            </a:br>
            <a:r>
              <a:rPr lang="en-IN" dirty="0"/>
              <a:t>responses to dissatisfaction</a:t>
            </a:r>
            <a:endParaRPr lang="en-US" dirty="0"/>
          </a:p>
        </p:txBody>
      </p:sp>
      <p:sp>
        <p:nvSpPr>
          <p:cNvPr id="3" name="Content Placeholder 2">
            <a:extLst>
              <a:ext uri="{FF2B5EF4-FFF2-40B4-BE49-F238E27FC236}">
                <a16:creationId xmlns:a16="http://schemas.microsoft.com/office/drawing/2014/main" id="{16778D4F-9B70-FC8F-A463-ACB43A1307D3}"/>
              </a:ext>
            </a:extLst>
          </p:cNvPr>
          <p:cNvSpPr>
            <a:spLocks noGrp="1"/>
          </p:cNvSpPr>
          <p:nvPr>
            <p:ph sz="half" idx="1"/>
          </p:nvPr>
        </p:nvSpPr>
        <p:spPr>
          <a:xfrm>
            <a:off x="628650" y="1825625"/>
            <a:ext cx="4095750" cy="4351338"/>
          </a:xfrm>
        </p:spPr>
        <p:txBody>
          <a:bodyPr>
            <a:normAutofit fontScale="70000" lnSpcReduction="20000"/>
          </a:bodyPr>
          <a:lstStyle/>
          <a:p>
            <a:r>
              <a:rPr lang="en-IN" b="1" dirty="0"/>
              <a:t>Exit </a:t>
            </a:r>
            <a:r>
              <a:rPr lang="en-IN" dirty="0"/>
              <a:t>Dissatisfaction expressed through </a:t>
            </a:r>
            <a:r>
              <a:rPr lang="en-IN" dirty="0" err="1"/>
              <a:t>behavior</a:t>
            </a:r>
            <a:r>
              <a:rPr lang="en-IN" dirty="0"/>
              <a:t> directed toward leaving the organization</a:t>
            </a:r>
          </a:p>
          <a:p>
            <a:r>
              <a:rPr lang="en-IN" b="1" dirty="0"/>
              <a:t>Voice</a:t>
            </a:r>
            <a:r>
              <a:rPr lang="en-IN" dirty="0"/>
              <a:t> Dissatisfaction expressed through active and constructive attempts to improve conditions</a:t>
            </a:r>
          </a:p>
          <a:p>
            <a:r>
              <a:rPr lang="en-IN" b="1" dirty="0"/>
              <a:t>Loyalty</a:t>
            </a:r>
            <a:r>
              <a:rPr lang="en-IN" dirty="0"/>
              <a:t> Dissatisfaction expressed by passively waiting for conditions to improve.</a:t>
            </a:r>
          </a:p>
          <a:p>
            <a:r>
              <a:rPr lang="en-IN" b="1" dirty="0"/>
              <a:t>Neglect</a:t>
            </a:r>
            <a:r>
              <a:rPr lang="en-IN" dirty="0"/>
              <a:t> Dissatisfaction expressed through allowing conditions to worsen.</a:t>
            </a:r>
          </a:p>
          <a:p>
            <a:r>
              <a:rPr lang="en-IN" dirty="0"/>
              <a:t>Union members often express dissatisfaction through the grievance procedure or formal contract negotiations.</a:t>
            </a:r>
            <a:endParaRPr lang="en-IN" dirty="0">
              <a:solidFill>
                <a:srgbClr val="FF0000"/>
              </a:solidFill>
            </a:endParaRPr>
          </a:p>
          <a:p>
            <a:endParaRPr lang="en-IN" dirty="0"/>
          </a:p>
          <a:p>
            <a:endParaRPr lang="en-IN" dirty="0"/>
          </a:p>
          <a:p>
            <a:endParaRPr lang="en-US" dirty="0"/>
          </a:p>
        </p:txBody>
      </p:sp>
      <p:pic>
        <p:nvPicPr>
          <p:cNvPr id="5" name="Content Placeholder 4">
            <a:extLst>
              <a:ext uri="{FF2B5EF4-FFF2-40B4-BE49-F238E27FC236}">
                <a16:creationId xmlns:a16="http://schemas.microsoft.com/office/drawing/2014/main" id="{428F953F-90B6-9A58-2D4F-6F1CEDB9E294}"/>
              </a:ext>
            </a:extLst>
          </p:cNvPr>
          <p:cNvPicPr>
            <a:picLocks noGrp="1" noChangeAspect="1"/>
          </p:cNvPicPr>
          <p:nvPr>
            <p:ph sz="half" idx="2"/>
          </p:nvPr>
        </p:nvPicPr>
        <p:blipFill>
          <a:blip r:embed="rId2"/>
          <a:srcRect l="15523" t="14138" r="19444" b="7135"/>
          <a:stretch>
            <a:fillRect/>
          </a:stretch>
        </p:blipFill>
        <p:spPr>
          <a:xfrm>
            <a:off x="4724400" y="1690689"/>
            <a:ext cx="3886200" cy="4486274"/>
          </a:xfrm>
          <a:prstGeom prst="rect">
            <a:avLst/>
          </a:prstGeom>
        </p:spPr>
      </p:pic>
    </p:spTree>
    <p:extLst>
      <p:ext uri="{BB962C8B-B14F-4D97-AF65-F5344CB8AC3E}">
        <p14:creationId xmlns:p14="http://schemas.microsoft.com/office/powerpoint/2010/main" val="1629379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1946" y="148929"/>
            <a:ext cx="4920107"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6E59FFC-3EB1-546D-688A-88D67394D069}"/>
              </a:ext>
            </a:extLst>
          </p:cNvPr>
          <p:cNvSpPr>
            <a:spLocks noGrp="1"/>
          </p:cNvSpPr>
          <p:nvPr>
            <p:ph type="ctrTitle"/>
          </p:nvPr>
        </p:nvSpPr>
        <p:spPr>
          <a:xfrm>
            <a:off x="2486273" y="1380754"/>
            <a:ext cx="4171453" cy="2513516"/>
          </a:xfrm>
        </p:spPr>
        <p:txBody>
          <a:bodyPr>
            <a:normAutofit/>
          </a:bodyPr>
          <a:lstStyle/>
          <a:p>
            <a:r>
              <a:rPr lang="en-US" sz="4200"/>
              <a:t>Favorable Job Attitudes Make Organizations More Profitable </a:t>
            </a:r>
          </a:p>
        </p:txBody>
      </p:sp>
      <p:sp>
        <p:nvSpPr>
          <p:cNvPr id="3" name="Subtitle 2">
            <a:extLst>
              <a:ext uri="{FF2B5EF4-FFF2-40B4-BE49-F238E27FC236}">
                <a16:creationId xmlns:a16="http://schemas.microsoft.com/office/drawing/2014/main" id="{9E5A5E5E-ABA4-E32D-7919-78014A879B2B}"/>
              </a:ext>
            </a:extLst>
          </p:cNvPr>
          <p:cNvSpPr>
            <a:spLocks noGrp="1"/>
          </p:cNvSpPr>
          <p:nvPr>
            <p:ph type="subTitle" idx="1"/>
          </p:nvPr>
        </p:nvSpPr>
        <p:spPr>
          <a:xfrm>
            <a:off x="2486273" y="4076802"/>
            <a:ext cx="4171453" cy="1534587"/>
          </a:xfrm>
        </p:spPr>
        <p:txBody>
          <a:bodyPr>
            <a:normAutofit/>
          </a:bodyPr>
          <a:lstStyle/>
          <a:p>
            <a:endParaRPr lang="en-US"/>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1870589" y="6170"/>
            <a:ext cx="5112196"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0746" y="5310973"/>
            <a:ext cx="529461"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7121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B5E3EB-0F73-A636-FE9E-A7A91821C605}"/>
              </a:ext>
            </a:extLst>
          </p:cNvPr>
          <p:cNvSpPr>
            <a:spLocks noGrp="1"/>
          </p:cNvSpPr>
          <p:nvPr>
            <p:ph type="title"/>
          </p:nvPr>
        </p:nvSpPr>
        <p:spPr>
          <a:xfrm>
            <a:off x="515125" y="1153572"/>
            <a:ext cx="2400300" cy="4461163"/>
          </a:xfrm>
        </p:spPr>
        <p:txBody>
          <a:bodyPr>
            <a:normAutofit/>
          </a:bodyPr>
          <a:lstStyle/>
          <a:p>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9F66F20-3C48-1618-CB80-D6D6190877B5}"/>
              </a:ext>
            </a:extLst>
          </p:cNvPr>
          <p:cNvSpPr>
            <a:spLocks noGrp="1"/>
          </p:cNvSpPr>
          <p:nvPr>
            <p:ph idx="1"/>
          </p:nvPr>
        </p:nvSpPr>
        <p:spPr>
          <a:xfrm>
            <a:off x="3335481" y="591344"/>
            <a:ext cx="5179868" cy="5585619"/>
          </a:xfrm>
        </p:spPr>
        <p:txBody>
          <a:bodyPr anchor="ctr">
            <a:normAutofit/>
          </a:bodyPr>
          <a:lstStyle/>
          <a:p>
            <a:r>
              <a:rPr lang="en-IN" dirty="0"/>
              <a:t>Virtuous cycle: having satisfied employees tends to improve subsequent financial performance, which tends to improve later employee satisfaction even further.</a:t>
            </a:r>
          </a:p>
          <a:p>
            <a:endParaRPr lang="en-US" dirty="0"/>
          </a:p>
        </p:txBody>
      </p:sp>
    </p:spTree>
    <p:extLst>
      <p:ext uri="{BB962C8B-B14F-4D97-AF65-F5344CB8AC3E}">
        <p14:creationId xmlns:p14="http://schemas.microsoft.com/office/powerpoint/2010/main" val="111697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731BD4-7E14-C12A-BD35-5191FA4204CB}"/>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Job Satisfaction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8570870-88C6-A9AC-7C0F-1D48B11E947E}"/>
              </a:ext>
            </a:extLst>
          </p:cNvPr>
          <p:cNvSpPr>
            <a:spLocks noGrp="1"/>
          </p:cNvSpPr>
          <p:nvPr>
            <p:ph idx="1"/>
          </p:nvPr>
        </p:nvSpPr>
        <p:spPr>
          <a:xfrm>
            <a:off x="3335481" y="591344"/>
            <a:ext cx="5179868" cy="5585619"/>
          </a:xfrm>
        </p:spPr>
        <p:txBody>
          <a:bodyPr anchor="ctr">
            <a:normAutofit/>
          </a:bodyPr>
          <a:lstStyle/>
          <a:p>
            <a:r>
              <a:rPr lang="en-IN" sz="2600" b="1"/>
              <a:t>Job Satisfaction and Job Performance: </a:t>
            </a:r>
            <a:r>
              <a:rPr lang="en-IN" sz="2600"/>
              <a:t>Strong support for the satisfaction–performance relationship</a:t>
            </a:r>
          </a:p>
          <a:p>
            <a:r>
              <a:rPr lang="en-IN" sz="2600" b="1"/>
              <a:t>Job Satisfaction and Organizational Citizenship </a:t>
            </a:r>
            <a:r>
              <a:rPr lang="en-IN" sz="2600" b="1" err="1"/>
              <a:t>Behavior</a:t>
            </a:r>
            <a:r>
              <a:rPr lang="en-IN" sz="2600" b="1"/>
              <a:t> (OCB): </a:t>
            </a:r>
            <a:r>
              <a:rPr lang="en-IN" sz="2600"/>
              <a:t>Satisfied employees would seem more likely to talk positively about the organization, help others, and go beyond the normal expectations in their job because they want to reciprocate their positive experiences.</a:t>
            </a:r>
          </a:p>
          <a:p>
            <a:endParaRPr lang="en-IN" sz="2600" b="1"/>
          </a:p>
          <a:p>
            <a:endParaRPr lang="en-US" sz="2600"/>
          </a:p>
        </p:txBody>
      </p:sp>
    </p:spTree>
    <p:extLst>
      <p:ext uri="{BB962C8B-B14F-4D97-AF65-F5344CB8AC3E}">
        <p14:creationId xmlns:p14="http://schemas.microsoft.com/office/powerpoint/2010/main" val="1444967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0B22DA-F298-9B74-3A05-F5A58FD2F1D3}"/>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Job Satisfaction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2D10CCC-8A80-1D15-BEFE-0CC01B71BC30}"/>
              </a:ext>
            </a:extLst>
          </p:cNvPr>
          <p:cNvSpPr>
            <a:spLocks noGrp="1"/>
          </p:cNvSpPr>
          <p:nvPr>
            <p:ph idx="1"/>
          </p:nvPr>
        </p:nvSpPr>
        <p:spPr>
          <a:xfrm>
            <a:off x="3335481" y="591344"/>
            <a:ext cx="5179868" cy="5585619"/>
          </a:xfrm>
        </p:spPr>
        <p:txBody>
          <a:bodyPr anchor="ctr">
            <a:normAutofit/>
          </a:bodyPr>
          <a:lstStyle/>
          <a:p>
            <a:r>
              <a:rPr lang="en-IN" sz="2200" b="1"/>
              <a:t>Job Satisfaction and Customer Satisfaction</a:t>
            </a:r>
            <a:r>
              <a:rPr lang="en-US" sz="2200" b="1"/>
              <a:t>: </a:t>
            </a:r>
            <a:r>
              <a:rPr lang="en-IN" sz="2200"/>
              <a:t>For frontline employees who have regular customer contact, Satisfied employees increase customer satisfaction and loyalty</a:t>
            </a:r>
          </a:p>
          <a:p>
            <a:r>
              <a:rPr lang="en-US" sz="2200" b="1"/>
              <a:t> </a:t>
            </a:r>
            <a:r>
              <a:rPr lang="en-IN" sz="2200" b="1"/>
              <a:t>Job Satisfaction and Absenteeism: </a:t>
            </a:r>
            <a:r>
              <a:rPr lang="en-IN" sz="2200"/>
              <a:t>Consistent negative relationship between satisfaction and absenteeism.</a:t>
            </a:r>
          </a:p>
          <a:p>
            <a:r>
              <a:rPr lang="en-IN" sz="2200"/>
              <a:t>But, other factors affect the relationship. Organizations that provide </a:t>
            </a:r>
            <a:r>
              <a:rPr lang="en-IN" sz="2200" b="1"/>
              <a:t>liberal sick leave benefits </a:t>
            </a:r>
            <a:r>
              <a:rPr lang="en-IN" sz="2200"/>
              <a:t>encourage even satisfied employees</a:t>
            </a:r>
            <a:r>
              <a:rPr lang="en-IN" sz="2200" b="1"/>
              <a:t>. </a:t>
            </a:r>
            <a:r>
              <a:rPr lang="en-IN" sz="2200"/>
              <a:t>When numerous </a:t>
            </a:r>
            <a:r>
              <a:rPr lang="en-IN" sz="2200" b="1"/>
              <a:t>alternative jobs are available</a:t>
            </a:r>
            <a:r>
              <a:rPr lang="en-IN" sz="2200"/>
              <a:t>, dissatisfied employees have high absence rates, but when there are few they have the same (low) rate.</a:t>
            </a:r>
            <a:endParaRPr lang="en-IN" sz="2200" b="1"/>
          </a:p>
        </p:txBody>
      </p:sp>
    </p:spTree>
    <p:extLst>
      <p:ext uri="{BB962C8B-B14F-4D97-AF65-F5344CB8AC3E}">
        <p14:creationId xmlns:p14="http://schemas.microsoft.com/office/powerpoint/2010/main" val="2947321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EAC9F1-7B9B-3894-9E24-F61F1910352B}"/>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Job Satisfaction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E68965D-376B-17F7-3685-E51CFCAB9291}"/>
              </a:ext>
            </a:extLst>
          </p:cNvPr>
          <p:cNvSpPr>
            <a:spLocks noGrp="1"/>
          </p:cNvSpPr>
          <p:nvPr>
            <p:ph idx="1"/>
          </p:nvPr>
        </p:nvSpPr>
        <p:spPr>
          <a:xfrm>
            <a:off x="3335481" y="591344"/>
            <a:ext cx="5179868" cy="5585619"/>
          </a:xfrm>
        </p:spPr>
        <p:txBody>
          <a:bodyPr anchor="ctr">
            <a:normAutofit/>
          </a:bodyPr>
          <a:lstStyle/>
          <a:p>
            <a:r>
              <a:rPr lang="en-IN" sz="2200" b="1"/>
              <a:t>Job Satisfaction and Turnover</a:t>
            </a:r>
            <a:r>
              <a:rPr lang="en-US" sz="2200" b="1"/>
              <a:t>: </a:t>
            </a:r>
            <a:r>
              <a:rPr lang="en-IN" sz="2200"/>
              <a:t>The satisfaction–turnover relationship also is affected by alternative job prospects. </a:t>
            </a:r>
          </a:p>
          <a:p>
            <a:r>
              <a:rPr lang="en-IN" sz="2200"/>
              <a:t>If an employee is presented with an </a:t>
            </a:r>
            <a:r>
              <a:rPr lang="en-IN" sz="2200" b="1"/>
              <a:t>unsolicited job offer</a:t>
            </a:r>
            <a:r>
              <a:rPr lang="en-IN" sz="2200"/>
              <a:t>, job dissatisfaction is less predictive of turnover </a:t>
            </a:r>
          </a:p>
          <a:p>
            <a:r>
              <a:rPr lang="en-IN" sz="2200"/>
              <a:t>Similarly, job dissatisfaction is more likely to translate into turnover when </a:t>
            </a:r>
            <a:r>
              <a:rPr lang="en-IN" sz="2200" b="1"/>
              <a:t>employment opportunities are plentiful</a:t>
            </a:r>
            <a:r>
              <a:rPr lang="en-IN" sz="2200"/>
              <a:t> </a:t>
            </a:r>
          </a:p>
          <a:p>
            <a:r>
              <a:rPr lang="en-IN" sz="2200"/>
              <a:t>When employees have high “</a:t>
            </a:r>
            <a:r>
              <a:rPr lang="en-IN" sz="2200" b="1"/>
              <a:t>human capital</a:t>
            </a:r>
            <a:r>
              <a:rPr lang="en-IN" sz="2200"/>
              <a:t>” (high education, high ability), job dissatisfaction is more likely to translate into turnover</a:t>
            </a:r>
          </a:p>
        </p:txBody>
      </p:sp>
    </p:spTree>
    <p:extLst>
      <p:ext uri="{BB962C8B-B14F-4D97-AF65-F5344CB8AC3E}">
        <p14:creationId xmlns:p14="http://schemas.microsoft.com/office/powerpoint/2010/main" val="30258407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860624-7129-1D3D-A4E2-BD292D404961}"/>
              </a:ext>
            </a:extLst>
          </p:cNvPr>
          <p:cNvSpPr>
            <a:spLocks noGrp="1"/>
          </p:cNvSpPr>
          <p:nvPr>
            <p:ph type="title"/>
          </p:nvPr>
        </p:nvSpPr>
        <p:spPr>
          <a:xfrm>
            <a:off x="515125" y="1153572"/>
            <a:ext cx="2400300" cy="4461163"/>
          </a:xfrm>
        </p:spPr>
        <p:txBody>
          <a:bodyPr>
            <a:normAutofit/>
          </a:bodyPr>
          <a:lstStyle/>
          <a:p>
            <a:r>
              <a:rPr lang="en-US" sz="3400">
                <a:solidFill>
                  <a:srgbClr val="FFFFFF"/>
                </a:solidFill>
              </a:rPr>
              <a:t>Job Satisfaction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0C5D8A6-0FAA-CBC1-CA36-08CFBBA23C80}"/>
              </a:ext>
            </a:extLst>
          </p:cNvPr>
          <p:cNvSpPr>
            <a:spLocks noGrp="1"/>
          </p:cNvSpPr>
          <p:nvPr>
            <p:ph idx="1"/>
          </p:nvPr>
        </p:nvSpPr>
        <p:spPr>
          <a:xfrm>
            <a:off x="3335481" y="591344"/>
            <a:ext cx="5179868" cy="5585619"/>
          </a:xfrm>
        </p:spPr>
        <p:txBody>
          <a:bodyPr anchor="ctr">
            <a:normAutofit/>
          </a:bodyPr>
          <a:lstStyle/>
          <a:p>
            <a:r>
              <a:rPr lang="en-IN" sz="2400" b="1"/>
              <a:t>Job Satisfaction and Workplace Deviance: </a:t>
            </a:r>
            <a:r>
              <a:rPr lang="en-IN" sz="2400"/>
              <a:t>Job dissatisfaction and antagonistic relationships with co-workers predict a variety of </a:t>
            </a:r>
            <a:r>
              <a:rPr lang="en-IN" sz="2400" err="1"/>
              <a:t>behaviors</a:t>
            </a:r>
            <a:r>
              <a:rPr lang="en-IN" sz="2400"/>
              <a:t> organizations find undesirable, including unionization attempts, substance abuse, stealing at work, undue socializing, and tardiness. </a:t>
            </a:r>
          </a:p>
          <a:p>
            <a:r>
              <a:rPr lang="en-IN" sz="2400"/>
              <a:t>Researchers argue these </a:t>
            </a:r>
            <a:r>
              <a:rPr lang="en-IN" sz="2400" err="1"/>
              <a:t>behaviors</a:t>
            </a:r>
            <a:r>
              <a:rPr lang="en-IN" sz="2400"/>
              <a:t> are indicators of a broader syndrome called </a:t>
            </a:r>
            <a:r>
              <a:rPr lang="en-IN" sz="2400" b="1"/>
              <a:t>deviant </a:t>
            </a:r>
            <a:r>
              <a:rPr lang="en-IN" sz="2400" b="1" err="1"/>
              <a:t>behavior</a:t>
            </a:r>
            <a:r>
              <a:rPr lang="en-IN" sz="2400" b="1"/>
              <a:t> in the workplace </a:t>
            </a:r>
            <a:r>
              <a:rPr lang="en-IN" sz="2400"/>
              <a:t>(or counterproductive </a:t>
            </a:r>
            <a:r>
              <a:rPr lang="en-IN" sz="2400" err="1"/>
              <a:t>behavior</a:t>
            </a:r>
            <a:r>
              <a:rPr lang="en-IN" sz="2400"/>
              <a:t> or employee withdrawal ).</a:t>
            </a:r>
          </a:p>
        </p:txBody>
      </p:sp>
    </p:spTree>
    <p:extLst>
      <p:ext uri="{BB962C8B-B14F-4D97-AF65-F5344CB8AC3E}">
        <p14:creationId xmlns:p14="http://schemas.microsoft.com/office/powerpoint/2010/main" val="3930478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C8A83D-EE3F-EEE4-BD69-5B005809C8F7}"/>
              </a:ext>
            </a:extLst>
          </p:cNvPr>
          <p:cNvSpPr>
            <a:spLocks noGrp="1"/>
          </p:cNvSpPr>
          <p:nvPr>
            <p:ph type="title"/>
          </p:nvPr>
        </p:nvSpPr>
        <p:spPr>
          <a:xfrm>
            <a:off x="515125" y="1153572"/>
            <a:ext cx="2400300" cy="4461163"/>
          </a:xfrm>
        </p:spPr>
        <p:txBody>
          <a:bodyPr>
            <a:normAutofit/>
          </a:bodyPr>
          <a:lstStyle/>
          <a:p>
            <a:r>
              <a:rPr lang="en-IN" sz="3700">
                <a:solidFill>
                  <a:srgbClr val="FFFFFF"/>
                </a:solidFill>
              </a:rPr>
              <a:t>When Managers "Don't Get It": The Perception Gap</a:t>
            </a:r>
            <a:endParaRPr lang="en-US" sz="37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D8BCA1A-4FD6-4068-6F15-20E53A26013B}"/>
              </a:ext>
            </a:extLst>
          </p:cNvPr>
          <p:cNvSpPr>
            <a:spLocks noGrp="1"/>
          </p:cNvSpPr>
          <p:nvPr>
            <p:ph idx="1"/>
          </p:nvPr>
        </p:nvSpPr>
        <p:spPr>
          <a:xfrm>
            <a:off x="3335481" y="591344"/>
            <a:ext cx="5179868" cy="5585619"/>
          </a:xfrm>
        </p:spPr>
        <p:txBody>
          <a:bodyPr anchor="ctr">
            <a:normAutofit/>
          </a:bodyPr>
          <a:lstStyle/>
          <a:p>
            <a:r>
              <a:rPr lang="en-IN" sz="2200" dirty="0"/>
              <a:t>Many managers are unconcerned about employee job satisfaction. Still others overestimate how satisfied employees are with their jobs, so they don’t think there’s a problem when there is. </a:t>
            </a:r>
            <a:endParaRPr lang="en-IN" sz="2200" b="1" dirty="0"/>
          </a:p>
          <a:p>
            <a:r>
              <a:rPr lang="en-IN" sz="2200" b="1" dirty="0"/>
              <a:t>Regular surveys can reduce gaps between what managers think employees feel and what they really feel. </a:t>
            </a:r>
          </a:p>
          <a:p>
            <a:r>
              <a:rPr lang="en-IN" sz="2200" dirty="0"/>
              <a:t>Jonathan McDaniel, manager of a KFC restaurant in Houston, surveys his employees every 3 months. </a:t>
            </a:r>
            <a:endParaRPr lang="en-US" sz="2200" dirty="0"/>
          </a:p>
        </p:txBody>
      </p:sp>
    </p:spTree>
    <p:extLst>
      <p:ext uri="{BB962C8B-B14F-4D97-AF65-F5344CB8AC3E}">
        <p14:creationId xmlns:p14="http://schemas.microsoft.com/office/powerpoint/2010/main" val="27959430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76A1B86-DC99-46B9-B5AA-A7E928EA9C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9304FFE-74E9-4316-B822-F35A685E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86D22B-77D0-C8A4-275F-FEE58E41A22B}"/>
              </a:ext>
            </a:extLst>
          </p:cNvPr>
          <p:cNvSpPr>
            <a:spLocks noGrp="1"/>
          </p:cNvSpPr>
          <p:nvPr>
            <p:ph type="ctrTitle"/>
          </p:nvPr>
        </p:nvSpPr>
        <p:spPr>
          <a:xfrm>
            <a:off x="3871912" y="1562669"/>
            <a:ext cx="4227085" cy="2456597"/>
          </a:xfrm>
        </p:spPr>
        <p:txBody>
          <a:bodyPr anchor="b">
            <a:normAutofit/>
          </a:bodyPr>
          <a:lstStyle/>
          <a:p>
            <a:r>
              <a:rPr lang="en-US" sz="3800">
                <a:solidFill>
                  <a:schemeClr val="tx1">
                    <a:lumMod val="85000"/>
                    <a:lumOff val="15000"/>
                  </a:schemeClr>
                </a:solidFill>
              </a:rPr>
              <a:t>Employer-Employee Loyalty is an Outdated Concept </a:t>
            </a:r>
          </a:p>
        </p:txBody>
      </p:sp>
      <p:sp>
        <p:nvSpPr>
          <p:cNvPr id="3" name="Subtitle 2">
            <a:extLst>
              <a:ext uri="{FF2B5EF4-FFF2-40B4-BE49-F238E27FC236}">
                <a16:creationId xmlns:a16="http://schemas.microsoft.com/office/drawing/2014/main" id="{A296C697-D68B-492D-2ABB-33AE4F8CBF9D}"/>
              </a:ext>
            </a:extLst>
          </p:cNvPr>
          <p:cNvSpPr>
            <a:spLocks noGrp="1"/>
          </p:cNvSpPr>
          <p:nvPr>
            <p:ph type="subTitle" idx="1"/>
          </p:nvPr>
        </p:nvSpPr>
        <p:spPr>
          <a:xfrm>
            <a:off x="4236981" y="4298722"/>
            <a:ext cx="3508565" cy="1148885"/>
          </a:xfrm>
        </p:spPr>
        <p:txBody>
          <a:bodyPr anchor="t">
            <a:normAutofit/>
          </a:bodyPr>
          <a:lstStyle/>
          <a:p>
            <a:endParaRPr lang="en-US" sz="1600">
              <a:solidFill>
                <a:schemeClr val="tx1">
                  <a:lumMod val="85000"/>
                  <a:lumOff val="15000"/>
                </a:schemeClr>
              </a:solidFill>
            </a:endParaRPr>
          </a:p>
        </p:txBody>
      </p:sp>
      <p:pic>
        <p:nvPicPr>
          <p:cNvPr id="5" name="Picture 4" descr="Colourful carved figures of humans">
            <a:extLst>
              <a:ext uri="{FF2B5EF4-FFF2-40B4-BE49-F238E27FC236}">
                <a16:creationId xmlns:a16="http://schemas.microsoft.com/office/drawing/2014/main" id="{58CEF002-8D80-FAC2-40D8-BA231141BA8B}"/>
              </a:ext>
            </a:extLst>
          </p:cNvPr>
          <p:cNvPicPr>
            <a:picLocks noChangeAspect="1"/>
          </p:cNvPicPr>
          <p:nvPr/>
        </p:nvPicPr>
        <p:blipFill>
          <a:blip r:embed="rId2"/>
          <a:srcRect l="36209" r="35976" b="-1"/>
          <a:stretch>
            <a:fillRect/>
          </a:stretch>
        </p:blipFill>
        <p:spPr>
          <a:xfrm>
            <a:off x="-5449" y="10"/>
            <a:ext cx="2677211" cy="6857990"/>
          </a:xfrm>
          <a:custGeom>
            <a:avLst/>
            <a:gdLst/>
            <a:ahLst/>
            <a:cxnLst/>
            <a:rect l="l" t="t" r="r" b="b"/>
            <a:pathLst>
              <a:path w="3569616" h="6858000">
                <a:moveTo>
                  <a:pt x="0" y="0"/>
                </a:moveTo>
                <a:lnTo>
                  <a:pt x="3119345" y="0"/>
                </a:lnTo>
                <a:lnTo>
                  <a:pt x="3123529" y="17226"/>
                </a:lnTo>
                <a:cubicBezTo>
                  <a:pt x="3124924" y="23927"/>
                  <a:pt x="3126075" y="29690"/>
                  <a:pt x="3127926" y="35733"/>
                </a:cubicBezTo>
                <a:cubicBezTo>
                  <a:pt x="3135983" y="55162"/>
                  <a:pt x="3152761" y="75163"/>
                  <a:pt x="3158476" y="86830"/>
                </a:cubicBezTo>
                <a:lnTo>
                  <a:pt x="3162217" y="105744"/>
                </a:lnTo>
                <a:lnTo>
                  <a:pt x="3166997" y="104727"/>
                </a:lnTo>
                <a:lnTo>
                  <a:pt x="3167793" y="111793"/>
                </a:lnTo>
                <a:lnTo>
                  <a:pt x="3168896" y="127609"/>
                </a:lnTo>
                <a:cubicBezTo>
                  <a:pt x="3170241" y="137435"/>
                  <a:pt x="3170795" y="164972"/>
                  <a:pt x="3173185" y="174906"/>
                </a:cubicBezTo>
                <a:cubicBezTo>
                  <a:pt x="3178510" y="177461"/>
                  <a:pt x="3181593" y="181749"/>
                  <a:pt x="3183238" y="187215"/>
                </a:cubicBezTo>
                <a:lnTo>
                  <a:pt x="3184145" y="199435"/>
                </a:lnTo>
                <a:lnTo>
                  <a:pt x="3200957" y="269529"/>
                </a:lnTo>
                <a:lnTo>
                  <a:pt x="3202491" y="279219"/>
                </a:lnTo>
                <a:lnTo>
                  <a:pt x="3206975" y="284221"/>
                </a:lnTo>
                <a:cubicBezTo>
                  <a:pt x="3208056" y="288198"/>
                  <a:pt x="3208241" y="299815"/>
                  <a:pt x="3208979" y="303078"/>
                </a:cubicBezTo>
                <a:cubicBezTo>
                  <a:pt x="3209786" y="303316"/>
                  <a:pt x="3210593" y="303555"/>
                  <a:pt x="3211400" y="303794"/>
                </a:cubicBezTo>
                <a:cubicBezTo>
                  <a:pt x="3215834" y="314048"/>
                  <a:pt x="3230882" y="352723"/>
                  <a:pt x="3235583" y="364595"/>
                </a:cubicBezTo>
                <a:cubicBezTo>
                  <a:pt x="3232098" y="367263"/>
                  <a:pt x="3238178" y="372307"/>
                  <a:pt x="3239601" y="375020"/>
                </a:cubicBezTo>
                <a:cubicBezTo>
                  <a:pt x="3237179" y="375617"/>
                  <a:pt x="3236854" y="382439"/>
                  <a:pt x="3239157" y="384290"/>
                </a:cubicBezTo>
                <a:cubicBezTo>
                  <a:pt x="3254070" y="431093"/>
                  <a:pt x="3227895" y="408920"/>
                  <a:pt x="3245230" y="435044"/>
                </a:cubicBezTo>
                <a:cubicBezTo>
                  <a:pt x="3246565" y="439781"/>
                  <a:pt x="3245820" y="443743"/>
                  <a:pt x="3244204" y="447282"/>
                </a:cubicBezTo>
                <a:lnTo>
                  <a:pt x="3240762" y="452630"/>
                </a:lnTo>
                <a:lnTo>
                  <a:pt x="3249093" y="471880"/>
                </a:lnTo>
                <a:cubicBezTo>
                  <a:pt x="3252174" y="481431"/>
                  <a:pt x="3254453" y="491548"/>
                  <a:pt x="3255857" y="501992"/>
                </a:cubicBezTo>
                <a:cubicBezTo>
                  <a:pt x="3250999" y="504682"/>
                  <a:pt x="3258622" y="512442"/>
                  <a:pt x="3260271" y="516223"/>
                </a:cubicBezTo>
                <a:cubicBezTo>
                  <a:pt x="3257006" y="516482"/>
                  <a:pt x="3255973" y="525173"/>
                  <a:pt x="3258865" y="528038"/>
                </a:cubicBezTo>
                <a:cubicBezTo>
                  <a:pt x="3274535" y="591283"/>
                  <a:pt x="3241762" y="557303"/>
                  <a:pt x="3262462" y="594499"/>
                </a:cubicBezTo>
                <a:cubicBezTo>
                  <a:pt x="3263816" y="600863"/>
                  <a:pt x="3262479" y="605795"/>
                  <a:pt x="3260024" y="610000"/>
                </a:cubicBezTo>
                <a:lnTo>
                  <a:pt x="3253721" y="617692"/>
                </a:lnTo>
                <a:lnTo>
                  <a:pt x="3256482" y="623204"/>
                </a:lnTo>
                <a:cubicBezTo>
                  <a:pt x="3258005" y="644600"/>
                  <a:pt x="3251476" y="651376"/>
                  <a:pt x="3259225" y="663365"/>
                </a:cubicBezTo>
                <a:cubicBezTo>
                  <a:pt x="3245876" y="682744"/>
                  <a:pt x="3258539" y="675670"/>
                  <a:pt x="3261631" y="689522"/>
                </a:cubicBezTo>
                <a:cubicBezTo>
                  <a:pt x="3265207" y="700373"/>
                  <a:pt x="3269507" y="679723"/>
                  <a:pt x="3271002" y="690492"/>
                </a:cubicBezTo>
                <a:cubicBezTo>
                  <a:pt x="3267989" y="702455"/>
                  <a:pt x="3279578" y="701125"/>
                  <a:pt x="3275760" y="713609"/>
                </a:cubicBezTo>
                <a:cubicBezTo>
                  <a:pt x="3266819" y="711239"/>
                  <a:pt x="3278954" y="737528"/>
                  <a:pt x="3271356" y="738880"/>
                </a:cubicBezTo>
                <a:cubicBezTo>
                  <a:pt x="3282938" y="748490"/>
                  <a:pt x="3269788" y="754591"/>
                  <a:pt x="3274016" y="768139"/>
                </a:cubicBezTo>
                <a:cubicBezTo>
                  <a:pt x="3278559" y="774347"/>
                  <a:pt x="3279560" y="778980"/>
                  <a:pt x="3275507" y="785654"/>
                </a:cubicBezTo>
                <a:cubicBezTo>
                  <a:pt x="3297514" y="814181"/>
                  <a:pt x="3277534" y="803670"/>
                  <a:pt x="3287024" y="831111"/>
                </a:cubicBezTo>
                <a:cubicBezTo>
                  <a:pt x="3296672" y="854655"/>
                  <a:pt x="3303659" y="881610"/>
                  <a:pt x="3324562" y="903604"/>
                </a:cubicBezTo>
                <a:cubicBezTo>
                  <a:pt x="3330338" y="907511"/>
                  <a:pt x="3333079" y="917872"/>
                  <a:pt x="3330682" y="926744"/>
                </a:cubicBezTo>
                <a:cubicBezTo>
                  <a:pt x="3330269" y="928269"/>
                  <a:pt x="3329716" y="929694"/>
                  <a:pt x="3329041" y="930971"/>
                </a:cubicBezTo>
                <a:cubicBezTo>
                  <a:pt x="3333270" y="950914"/>
                  <a:pt x="3351150" y="1023696"/>
                  <a:pt x="3356062" y="1046405"/>
                </a:cubicBezTo>
                <a:cubicBezTo>
                  <a:pt x="3349099" y="1048737"/>
                  <a:pt x="3362597" y="1059482"/>
                  <a:pt x="3358521" y="1067217"/>
                </a:cubicBezTo>
                <a:cubicBezTo>
                  <a:pt x="3354869" y="1072807"/>
                  <a:pt x="3358113" y="1077371"/>
                  <a:pt x="3358773" y="1082909"/>
                </a:cubicBezTo>
                <a:cubicBezTo>
                  <a:pt x="3356098" y="1090444"/>
                  <a:pt x="3363241" y="1113953"/>
                  <a:pt x="3367682" y="1119909"/>
                </a:cubicBezTo>
                <a:cubicBezTo>
                  <a:pt x="3382703" y="1133847"/>
                  <a:pt x="3374343" y="1168367"/>
                  <a:pt x="3385911" y="1180009"/>
                </a:cubicBezTo>
                <a:cubicBezTo>
                  <a:pt x="3387774" y="1184389"/>
                  <a:pt x="3388688" y="1188737"/>
                  <a:pt x="3389010" y="1193041"/>
                </a:cubicBezTo>
                <a:lnTo>
                  <a:pt x="3388572" y="1205179"/>
                </a:lnTo>
                <a:lnTo>
                  <a:pt x="3385768" y="1208811"/>
                </a:lnTo>
                <a:lnTo>
                  <a:pt x="3386975" y="1216129"/>
                </a:lnTo>
                <a:lnTo>
                  <a:pt x="3386647" y="1218271"/>
                </a:lnTo>
                <a:cubicBezTo>
                  <a:pt x="3386007" y="1222365"/>
                  <a:pt x="3385480" y="1226399"/>
                  <a:pt x="3385420" y="1230360"/>
                </a:cubicBezTo>
                <a:cubicBezTo>
                  <a:pt x="3400233" y="1224163"/>
                  <a:pt x="3387342" y="1263034"/>
                  <a:pt x="3398902" y="1251303"/>
                </a:cubicBezTo>
                <a:cubicBezTo>
                  <a:pt x="3401143" y="1271991"/>
                  <a:pt x="3411558" y="1255397"/>
                  <a:pt x="3402244" y="1281071"/>
                </a:cubicBezTo>
                <a:cubicBezTo>
                  <a:pt x="3416627" y="1312459"/>
                  <a:pt x="3415183" y="1363554"/>
                  <a:pt x="3435533" y="1387530"/>
                </a:cubicBezTo>
                <a:cubicBezTo>
                  <a:pt x="3428168" y="1384876"/>
                  <a:pt x="3423452" y="1398828"/>
                  <a:pt x="3427595" y="1407995"/>
                </a:cubicBezTo>
                <a:cubicBezTo>
                  <a:pt x="3398778" y="1398886"/>
                  <a:pt x="3455260" y="1443485"/>
                  <a:pt x="3436580" y="1453051"/>
                </a:cubicBezTo>
                <a:cubicBezTo>
                  <a:pt x="3454427" y="1452263"/>
                  <a:pt x="3487273" y="1492392"/>
                  <a:pt x="3473886" y="1513215"/>
                </a:cubicBezTo>
                <a:cubicBezTo>
                  <a:pt x="3479337" y="1543203"/>
                  <a:pt x="3495403" y="1563620"/>
                  <a:pt x="3491486" y="1595707"/>
                </a:cubicBezTo>
                <a:cubicBezTo>
                  <a:pt x="3493932" y="1596530"/>
                  <a:pt x="3496028" y="1598008"/>
                  <a:pt x="3497869" y="1599939"/>
                </a:cubicBezTo>
                <a:lnTo>
                  <a:pt x="3502453" y="1606503"/>
                </a:lnTo>
                <a:lnTo>
                  <a:pt x="3502232" y="1607846"/>
                </a:lnTo>
                <a:cubicBezTo>
                  <a:pt x="3502503" y="1613048"/>
                  <a:pt x="3503673" y="1615641"/>
                  <a:pt x="3505239" y="1617081"/>
                </a:cubicBezTo>
                <a:cubicBezTo>
                  <a:pt x="3505979" y="1617395"/>
                  <a:pt x="3506719" y="1617710"/>
                  <a:pt x="3507459" y="1618024"/>
                </a:cubicBezTo>
                <a:lnTo>
                  <a:pt x="3510011" y="1624022"/>
                </a:lnTo>
                <a:lnTo>
                  <a:pt x="3516358" y="1634929"/>
                </a:lnTo>
                <a:lnTo>
                  <a:pt x="3516308" y="1637821"/>
                </a:lnTo>
                <a:lnTo>
                  <a:pt x="3523955" y="1655598"/>
                </a:lnTo>
                <a:lnTo>
                  <a:pt x="3523473" y="1656247"/>
                </a:lnTo>
                <a:cubicBezTo>
                  <a:pt x="3522567" y="1658107"/>
                  <a:pt x="3522227" y="1660249"/>
                  <a:pt x="3523061" y="1663024"/>
                </a:cubicBezTo>
                <a:cubicBezTo>
                  <a:pt x="3513175" y="1664689"/>
                  <a:pt x="3520280" y="1667013"/>
                  <a:pt x="3523616" y="1675054"/>
                </a:cubicBezTo>
                <a:cubicBezTo>
                  <a:pt x="3509006" y="1679436"/>
                  <a:pt x="3523682" y="1698702"/>
                  <a:pt x="3517630" y="1707801"/>
                </a:cubicBezTo>
                <a:cubicBezTo>
                  <a:pt x="3520410" y="1713612"/>
                  <a:pt x="3523083" y="1719836"/>
                  <a:pt x="3525537" y="1726380"/>
                </a:cubicBezTo>
                <a:lnTo>
                  <a:pt x="3529903" y="1779986"/>
                </a:lnTo>
                <a:lnTo>
                  <a:pt x="3521468" y="1836998"/>
                </a:lnTo>
                <a:cubicBezTo>
                  <a:pt x="3522502" y="1857808"/>
                  <a:pt x="3519191" y="1876110"/>
                  <a:pt x="3523412" y="1893497"/>
                </a:cubicBezTo>
                <a:cubicBezTo>
                  <a:pt x="3520411" y="1900876"/>
                  <a:pt x="3519436" y="1907708"/>
                  <a:pt x="3525004" y="1913894"/>
                </a:cubicBezTo>
                <a:cubicBezTo>
                  <a:pt x="3524490" y="1933413"/>
                  <a:pt x="3517414" y="1938604"/>
                  <a:pt x="3523928" y="1950514"/>
                </a:cubicBezTo>
                <a:cubicBezTo>
                  <a:pt x="3512685" y="1962215"/>
                  <a:pt x="3517275" y="1962555"/>
                  <a:pt x="3521008" y="1967449"/>
                </a:cubicBezTo>
                <a:lnTo>
                  <a:pt x="3521297" y="1968163"/>
                </a:lnTo>
                <a:lnTo>
                  <a:pt x="3519686" y="1969768"/>
                </a:lnTo>
                <a:lnTo>
                  <a:pt x="3519089" y="1972904"/>
                </a:lnTo>
                <a:lnTo>
                  <a:pt x="3520122" y="1981289"/>
                </a:lnTo>
                <a:lnTo>
                  <a:pt x="3520948" y="1984413"/>
                </a:lnTo>
                <a:cubicBezTo>
                  <a:pt x="3521356" y="1986575"/>
                  <a:pt x="3521416" y="1988026"/>
                  <a:pt x="3521226" y="1989046"/>
                </a:cubicBezTo>
                <a:lnTo>
                  <a:pt x="3521092" y="1989171"/>
                </a:lnTo>
                <a:lnTo>
                  <a:pt x="3521624" y="1993492"/>
                </a:lnTo>
                <a:cubicBezTo>
                  <a:pt x="3522844" y="2000762"/>
                  <a:pt x="3524332" y="2007819"/>
                  <a:pt x="3525996" y="2014518"/>
                </a:cubicBezTo>
                <a:cubicBezTo>
                  <a:pt x="3518529" y="2020777"/>
                  <a:pt x="3529333" y="2045218"/>
                  <a:pt x="3514412" y="2043465"/>
                </a:cubicBezTo>
                <a:cubicBezTo>
                  <a:pt x="3516219" y="2052531"/>
                  <a:pt x="3522688" y="2057653"/>
                  <a:pt x="3512822" y="2055222"/>
                </a:cubicBezTo>
                <a:cubicBezTo>
                  <a:pt x="3513140" y="2058224"/>
                  <a:pt x="3512432" y="2060136"/>
                  <a:pt x="3511227" y="2061550"/>
                </a:cubicBezTo>
                <a:lnTo>
                  <a:pt x="3510645" y="2061975"/>
                </a:lnTo>
                <a:lnTo>
                  <a:pt x="3514907" y="2082129"/>
                </a:lnTo>
                <a:lnTo>
                  <a:pt x="3514347" y="2084880"/>
                </a:lnTo>
                <a:lnTo>
                  <a:pt x="3518565" y="2097919"/>
                </a:lnTo>
                <a:lnTo>
                  <a:pt x="3519976" y="2104707"/>
                </a:lnTo>
                <a:lnTo>
                  <a:pt x="3521958" y="2106519"/>
                </a:lnTo>
                <a:cubicBezTo>
                  <a:pt x="3523219" y="2108534"/>
                  <a:pt x="3523895" y="2111498"/>
                  <a:pt x="3523237" y="2116590"/>
                </a:cubicBezTo>
                <a:lnTo>
                  <a:pt x="3522786" y="2117790"/>
                </a:lnTo>
                <a:lnTo>
                  <a:pt x="3526064" y="2125947"/>
                </a:lnTo>
                <a:cubicBezTo>
                  <a:pt x="3527505" y="2128548"/>
                  <a:pt x="3529274" y="2130818"/>
                  <a:pt x="3531495" y="2132603"/>
                </a:cubicBezTo>
                <a:cubicBezTo>
                  <a:pt x="3522034" y="2161762"/>
                  <a:pt x="3533978" y="2187874"/>
                  <a:pt x="3533955" y="2218836"/>
                </a:cubicBezTo>
                <a:cubicBezTo>
                  <a:pt x="3517312" y="2233337"/>
                  <a:pt x="3542024" y="2285180"/>
                  <a:pt x="3559442" y="2291697"/>
                </a:cubicBezTo>
                <a:cubicBezTo>
                  <a:pt x="3544608" y="2292866"/>
                  <a:pt x="3567228" y="2330146"/>
                  <a:pt x="3568373" y="2340076"/>
                </a:cubicBezTo>
                <a:cubicBezTo>
                  <a:pt x="3568755" y="2343387"/>
                  <a:pt x="3566751" y="2343658"/>
                  <a:pt x="3560178" y="2338540"/>
                </a:cubicBezTo>
                <a:cubicBezTo>
                  <a:pt x="3562571" y="2349015"/>
                  <a:pt x="3555536" y="2360463"/>
                  <a:pt x="3548875" y="2354921"/>
                </a:cubicBezTo>
                <a:cubicBezTo>
                  <a:pt x="3564342" y="2386191"/>
                  <a:pt x="3553912" y="2434573"/>
                  <a:pt x="3562290" y="2470516"/>
                </a:cubicBezTo>
                <a:cubicBezTo>
                  <a:pt x="3548732" y="2491328"/>
                  <a:pt x="3561750" y="2479665"/>
                  <a:pt x="3560263" y="2500409"/>
                </a:cubicBezTo>
                <a:cubicBezTo>
                  <a:pt x="3573531" y="2493872"/>
                  <a:pt x="3554177" y="2525877"/>
                  <a:pt x="3569616" y="2525972"/>
                </a:cubicBezTo>
                <a:cubicBezTo>
                  <a:pt x="3568857" y="2529744"/>
                  <a:pt x="3567635" y="2533395"/>
                  <a:pt x="3566291" y="2537057"/>
                </a:cubicBezTo>
                <a:lnTo>
                  <a:pt x="3565595" y="2538979"/>
                </a:lnTo>
                <a:lnTo>
                  <a:pt x="3565471" y="2546483"/>
                </a:lnTo>
                <a:lnTo>
                  <a:pt x="3562111" y="2548822"/>
                </a:lnTo>
                <a:lnTo>
                  <a:pt x="3559542" y="2560277"/>
                </a:lnTo>
                <a:cubicBezTo>
                  <a:pt x="3559093" y="2564534"/>
                  <a:pt x="3559212" y="2569074"/>
                  <a:pt x="3560240" y="2574030"/>
                </a:cubicBezTo>
                <a:cubicBezTo>
                  <a:pt x="3567097" y="2585933"/>
                  <a:pt x="3560828" y="2605604"/>
                  <a:pt x="3562359" y="2622912"/>
                </a:cubicBezTo>
                <a:lnTo>
                  <a:pt x="3564740" y="2630748"/>
                </a:lnTo>
                <a:lnTo>
                  <a:pt x="3563214" y="2656947"/>
                </a:lnTo>
                <a:cubicBezTo>
                  <a:pt x="3563065" y="2664385"/>
                  <a:pt x="3563222" y="2672085"/>
                  <a:pt x="3563949" y="2680153"/>
                </a:cubicBezTo>
                <a:lnTo>
                  <a:pt x="3566383" y="2695058"/>
                </a:lnTo>
                <a:lnTo>
                  <a:pt x="3565385" y="2699075"/>
                </a:lnTo>
                <a:cubicBezTo>
                  <a:pt x="3565951" y="2705917"/>
                  <a:pt x="3570892" y="2714690"/>
                  <a:pt x="3565525" y="2714239"/>
                </a:cubicBezTo>
                <a:lnTo>
                  <a:pt x="3567847" y="2721812"/>
                </a:lnTo>
                <a:lnTo>
                  <a:pt x="3564077" y="2729693"/>
                </a:lnTo>
                <a:cubicBezTo>
                  <a:pt x="3563144" y="2730592"/>
                  <a:pt x="3562134" y="2731288"/>
                  <a:pt x="3561085" y="2731758"/>
                </a:cubicBezTo>
                <a:lnTo>
                  <a:pt x="3563149" y="2742418"/>
                </a:lnTo>
                <a:lnTo>
                  <a:pt x="3560661" y="2751437"/>
                </a:lnTo>
                <a:lnTo>
                  <a:pt x="3563126" y="2758989"/>
                </a:lnTo>
                <a:lnTo>
                  <a:pt x="3562876" y="2762207"/>
                </a:lnTo>
                <a:lnTo>
                  <a:pt x="3561866" y="2770236"/>
                </a:lnTo>
                <a:cubicBezTo>
                  <a:pt x="3561066" y="2774372"/>
                  <a:pt x="3560080" y="2779005"/>
                  <a:pt x="3559378" y="2784138"/>
                </a:cubicBezTo>
                <a:lnTo>
                  <a:pt x="3559178" y="2788436"/>
                </a:lnTo>
                <a:lnTo>
                  <a:pt x="3554648" y="2798068"/>
                </a:lnTo>
                <a:cubicBezTo>
                  <a:pt x="3551209" y="2805087"/>
                  <a:pt x="3548936" y="2810580"/>
                  <a:pt x="3551400" y="2816345"/>
                </a:cubicBezTo>
                <a:cubicBezTo>
                  <a:pt x="3547036" y="2826742"/>
                  <a:pt x="3533490" y="2834711"/>
                  <a:pt x="3538128" y="2849028"/>
                </a:cubicBezTo>
                <a:cubicBezTo>
                  <a:pt x="3531517" y="2845031"/>
                  <a:pt x="3538369" y="2865256"/>
                  <a:pt x="3532013" y="2868126"/>
                </a:cubicBezTo>
                <a:cubicBezTo>
                  <a:pt x="3526842" y="2869601"/>
                  <a:pt x="3527715" y="2876080"/>
                  <a:pt x="3526094" y="2881167"/>
                </a:cubicBezTo>
                <a:cubicBezTo>
                  <a:pt x="3520961" y="2885059"/>
                  <a:pt x="3517628" y="2910333"/>
                  <a:pt x="3518939" y="2918966"/>
                </a:cubicBezTo>
                <a:cubicBezTo>
                  <a:pt x="3525789" y="2943088"/>
                  <a:pt x="3505468" y="2964225"/>
                  <a:pt x="3510391" y="2983548"/>
                </a:cubicBezTo>
                <a:cubicBezTo>
                  <a:pt x="3510204" y="2988707"/>
                  <a:pt x="3509257" y="2993036"/>
                  <a:pt x="3507840" y="2996827"/>
                </a:cubicBezTo>
                <a:lnTo>
                  <a:pt x="3502741" y="3006379"/>
                </a:lnTo>
                <a:lnTo>
                  <a:pt x="3499028" y="3006971"/>
                </a:lnTo>
                <a:lnTo>
                  <a:pt x="3497157" y="3013976"/>
                </a:lnTo>
                <a:lnTo>
                  <a:pt x="3496053" y="3015450"/>
                </a:lnTo>
                <a:cubicBezTo>
                  <a:pt x="3493931" y="3018255"/>
                  <a:pt x="3491925" y="3021106"/>
                  <a:pt x="3490329" y="3024292"/>
                </a:cubicBezTo>
                <a:cubicBezTo>
                  <a:pt x="3504872" y="3031782"/>
                  <a:pt x="3479143" y="3052632"/>
                  <a:pt x="3493186" y="3052840"/>
                </a:cubicBezTo>
                <a:cubicBezTo>
                  <a:pt x="3486942" y="3071654"/>
                  <a:pt x="3501947" y="3066916"/>
                  <a:pt x="3484298" y="3080007"/>
                </a:cubicBezTo>
                <a:cubicBezTo>
                  <a:pt x="3483814" y="3117860"/>
                  <a:pt x="3462683" y="3158406"/>
                  <a:pt x="3469977" y="3195253"/>
                </a:cubicBezTo>
                <a:cubicBezTo>
                  <a:pt x="3464984" y="3186842"/>
                  <a:pt x="3455676" y="3194249"/>
                  <a:pt x="3455490" y="3205255"/>
                </a:cubicBezTo>
                <a:cubicBezTo>
                  <a:pt x="3435461" y="3173385"/>
                  <a:pt x="3464274" y="3257718"/>
                  <a:pt x="3445250" y="3249703"/>
                </a:cubicBezTo>
                <a:cubicBezTo>
                  <a:pt x="3460163" y="3264187"/>
                  <a:pt x="3471377" y="3324835"/>
                  <a:pt x="3452291" y="3330508"/>
                </a:cubicBezTo>
                <a:cubicBezTo>
                  <a:pt x="3445043" y="3359645"/>
                  <a:pt x="3450218" y="3389952"/>
                  <a:pt x="3434486" y="3412864"/>
                </a:cubicBezTo>
                <a:cubicBezTo>
                  <a:pt x="3436166" y="3415609"/>
                  <a:pt x="3437306" y="3418595"/>
                  <a:pt x="3438058" y="3421734"/>
                </a:cubicBezTo>
                <a:lnTo>
                  <a:pt x="3439245" y="3430986"/>
                </a:lnTo>
                <a:lnTo>
                  <a:pt x="3438541" y="3431897"/>
                </a:lnTo>
                <a:cubicBezTo>
                  <a:pt x="3436732" y="3436375"/>
                  <a:pt x="3436677" y="3439488"/>
                  <a:pt x="3437396" y="3441992"/>
                </a:cubicBezTo>
                <a:lnTo>
                  <a:pt x="3438843" y="3444647"/>
                </a:lnTo>
                <a:lnTo>
                  <a:pt x="3438591" y="3451712"/>
                </a:lnTo>
                <a:lnTo>
                  <a:pt x="3439527" y="3466008"/>
                </a:lnTo>
                <a:lnTo>
                  <a:pt x="3438357" y="3468331"/>
                </a:lnTo>
                <a:lnTo>
                  <a:pt x="3437674" y="3489343"/>
                </a:lnTo>
                <a:cubicBezTo>
                  <a:pt x="3437459" y="3489383"/>
                  <a:pt x="3437241" y="3489424"/>
                  <a:pt x="3437026" y="3489465"/>
                </a:cubicBezTo>
                <a:cubicBezTo>
                  <a:pt x="3435558" y="3490219"/>
                  <a:pt x="3434444" y="3491679"/>
                  <a:pt x="3434044" y="3494659"/>
                </a:cubicBezTo>
                <a:cubicBezTo>
                  <a:pt x="3425302" y="3487640"/>
                  <a:pt x="3430211" y="3495561"/>
                  <a:pt x="3429800" y="3504965"/>
                </a:cubicBezTo>
                <a:cubicBezTo>
                  <a:pt x="3416132" y="3496161"/>
                  <a:pt x="3420620" y="3524348"/>
                  <a:pt x="3412115" y="3526661"/>
                </a:cubicBezTo>
                <a:cubicBezTo>
                  <a:pt x="3412121" y="3533765"/>
                  <a:pt x="3411879" y="3541120"/>
                  <a:pt x="3411331" y="3548549"/>
                </a:cubicBezTo>
                <a:lnTo>
                  <a:pt x="3410824" y="3552872"/>
                </a:lnTo>
                <a:cubicBezTo>
                  <a:pt x="3410773" y="3552889"/>
                  <a:pt x="3410721" y="3552908"/>
                  <a:pt x="3410671" y="3552926"/>
                </a:cubicBezTo>
                <a:cubicBezTo>
                  <a:pt x="3410254" y="3553793"/>
                  <a:pt x="3409971" y="3555188"/>
                  <a:pt x="3409849" y="3557419"/>
                </a:cubicBezTo>
                <a:lnTo>
                  <a:pt x="3409902" y="3560756"/>
                </a:lnTo>
                <a:lnTo>
                  <a:pt x="3408918" y="3569144"/>
                </a:lnTo>
                <a:lnTo>
                  <a:pt x="3407623" y="3571810"/>
                </a:lnTo>
                <a:lnTo>
                  <a:pt x="3405729" y="3572549"/>
                </a:lnTo>
                <a:lnTo>
                  <a:pt x="3405835" y="3573359"/>
                </a:lnTo>
                <a:cubicBezTo>
                  <a:pt x="3408214" y="3579757"/>
                  <a:pt x="3412465" y="3582275"/>
                  <a:pt x="3399129" y="3587902"/>
                </a:cubicBezTo>
                <a:cubicBezTo>
                  <a:pt x="3402495" y="3602236"/>
                  <a:pt x="3394605" y="3603730"/>
                  <a:pt x="3389566" y="3621859"/>
                </a:cubicBezTo>
                <a:cubicBezTo>
                  <a:pt x="3393374" y="3630350"/>
                  <a:pt x="3390863" y="3636316"/>
                  <a:pt x="3386307" y="3641820"/>
                </a:cubicBezTo>
                <a:cubicBezTo>
                  <a:pt x="3386232" y="3660214"/>
                  <a:pt x="3378837" y="3675854"/>
                  <a:pt x="3374956" y="3695940"/>
                </a:cubicBezTo>
                <a:cubicBezTo>
                  <a:pt x="3378387" y="3718839"/>
                  <a:pt x="3365817" y="3728358"/>
                  <a:pt x="3361718" y="3749831"/>
                </a:cubicBezTo>
                <a:cubicBezTo>
                  <a:pt x="3370064" y="3770267"/>
                  <a:pt x="3350403" y="3763879"/>
                  <a:pt x="3344768" y="3774338"/>
                </a:cubicBezTo>
                <a:lnTo>
                  <a:pt x="3343985" y="3777418"/>
                </a:lnTo>
                <a:lnTo>
                  <a:pt x="3344520" y="3785849"/>
                </a:lnTo>
                <a:lnTo>
                  <a:pt x="3345162" y="3789023"/>
                </a:lnTo>
                <a:cubicBezTo>
                  <a:pt x="3345441" y="3791209"/>
                  <a:pt x="3345415" y="3792659"/>
                  <a:pt x="3345164" y="3793659"/>
                </a:cubicBezTo>
                <a:lnTo>
                  <a:pt x="3345024" y="3793774"/>
                </a:lnTo>
                <a:lnTo>
                  <a:pt x="3345300" y="3798119"/>
                </a:lnTo>
                <a:cubicBezTo>
                  <a:pt x="3346087" y="3805456"/>
                  <a:pt x="3347157" y="3812596"/>
                  <a:pt x="3348424" y="3819398"/>
                </a:cubicBezTo>
                <a:cubicBezTo>
                  <a:pt x="3340590" y="3825065"/>
                  <a:pt x="3349940" y="3850234"/>
                  <a:pt x="3335133" y="3847354"/>
                </a:cubicBezTo>
                <a:cubicBezTo>
                  <a:pt x="3336403" y="3856524"/>
                  <a:pt x="3342565" y="3862118"/>
                  <a:pt x="3332848" y="3858945"/>
                </a:cubicBezTo>
                <a:cubicBezTo>
                  <a:pt x="3332988" y="3861961"/>
                  <a:pt x="3332168" y="3863811"/>
                  <a:pt x="3330878" y="3865128"/>
                </a:cubicBezTo>
                <a:lnTo>
                  <a:pt x="3330273" y="3865510"/>
                </a:lnTo>
                <a:lnTo>
                  <a:pt x="3333337" y="3885908"/>
                </a:lnTo>
                <a:lnTo>
                  <a:pt x="3332616" y="3888608"/>
                </a:lnTo>
                <a:lnTo>
                  <a:pt x="3336057" y="3901916"/>
                </a:lnTo>
                <a:lnTo>
                  <a:pt x="3337066" y="3908785"/>
                </a:lnTo>
                <a:lnTo>
                  <a:pt x="3338940" y="3910739"/>
                </a:lnTo>
                <a:cubicBezTo>
                  <a:pt x="3340082" y="3912843"/>
                  <a:pt x="3340580" y="3915849"/>
                  <a:pt x="3339621" y="3920873"/>
                </a:cubicBezTo>
                <a:lnTo>
                  <a:pt x="3339102" y="3922032"/>
                </a:lnTo>
                <a:lnTo>
                  <a:pt x="3341891" y="3930408"/>
                </a:lnTo>
                <a:cubicBezTo>
                  <a:pt x="3343178" y="3933107"/>
                  <a:pt x="3344812" y="3935503"/>
                  <a:pt x="3346927" y="3937451"/>
                </a:cubicBezTo>
                <a:cubicBezTo>
                  <a:pt x="3335745" y="3965779"/>
                  <a:pt x="3346136" y="3992699"/>
                  <a:pt x="3344279" y="4023542"/>
                </a:cubicBezTo>
                <a:cubicBezTo>
                  <a:pt x="3347024" y="4058096"/>
                  <a:pt x="3350783" y="4081986"/>
                  <a:pt x="3351926" y="4104769"/>
                </a:cubicBezTo>
                <a:cubicBezTo>
                  <a:pt x="3353695" y="4115384"/>
                  <a:pt x="3359144" y="4193344"/>
                  <a:pt x="3352816" y="4187317"/>
                </a:cubicBezTo>
                <a:cubicBezTo>
                  <a:pt x="3366419" y="4219638"/>
                  <a:pt x="3351446" y="4239971"/>
                  <a:pt x="3357691" y="4276413"/>
                </a:cubicBezTo>
                <a:cubicBezTo>
                  <a:pt x="3342910" y="4296116"/>
                  <a:pt x="3356610" y="4285488"/>
                  <a:pt x="3353895" y="4306037"/>
                </a:cubicBezTo>
                <a:cubicBezTo>
                  <a:pt x="3367541" y="4300534"/>
                  <a:pt x="3346306" y="4330948"/>
                  <a:pt x="3361728" y="4332215"/>
                </a:cubicBezTo>
                <a:cubicBezTo>
                  <a:pt x="3360746" y="4335915"/>
                  <a:pt x="3359307" y="4339458"/>
                  <a:pt x="3357748" y="4343006"/>
                </a:cubicBezTo>
                <a:lnTo>
                  <a:pt x="3356941" y="4344866"/>
                </a:lnTo>
                <a:lnTo>
                  <a:pt x="3356370" y="4352332"/>
                </a:lnTo>
                <a:lnTo>
                  <a:pt x="3352876" y="4354407"/>
                </a:lnTo>
                <a:lnTo>
                  <a:pt x="3352683" y="4444689"/>
                </a:lnTo>
                <a:cubicBezTo>
                  <a:pt x="3355485" y="4452425"/>
                  <a:pt x="3356736" y="4477980"/>
                  <a:pt x="3352455" y="4483791"/>
                </a:cubicBezTo>
                <a:cubicBezTo>
                  <a:pt x="3351784" y="4489320"/>
                  <a:pt x="3353780" y="4495171"/>
                  <a:pt x="3349030" y="4498683"/>
                </a:cubicBezTo>
                <a:cubicBezTo>
                  <a:pt x="3346858" y="4510741"/>
                  <a:pt x="3341860" y="4538358"/>
                  <a:pt x="3339427" y="4556140"/>
                </a:cubicBezTo>
                <a:cubicBezTo>
                  <a:pt x="3342836" y="4560659"/>
                  <a:pt x="3341611" y="4566842"/>
                  <a:pt x="3339521" y="4574959"/>
                </a:cubicBezTo>
                <a:lnTo>
                  <a:pt x="3338246" y="4582576"/>
                </a:lnTo>
                <a:lnTo>
                  <a:pt x="3348539" y="4605460"/>
                </a:lnTo>
                <a:lnTo>
                  <a:pt x="3345760" y="4678575"/>
                </a:lnTo>
                <a:lnTo>
                  <a:pt x="3356250" y="4713574"/>
                </a:lnTo>
                <a:cubicBezTo>
                  <a:pt x="3358600" y="4727943"/>
                  <a:pt x="3359577" y="4741820"/>
                  <a:pt x="3361380" y="4755215"/>
                </a:cubicBezTo>
                <a:cubicBezTo>
                  <a:pt x="3363928" y="4785596"/>
                  <a:pt x="3347531" y="4766123"/>
                  <a:pt x="3361636" y="4803525"/>
                </a:cubicBezTo>
                <a:cubicBezTo>
                  <a:pt x="3356254" y="4807867"/>
                  <a:pt x="3356117" y="4812705"/>
                  <a:pt x="3358957" y="4820729"/>
                </a:cubicBezTo>
                <a:cubicBezTo>
                  <a:pt x="3359783" y="4835507"/>
                  <a:pt x="3345952" y="4834947"/>
                  <a:pt x="3354635" y="4849546"/>
                </a:cubicBezTo>
                <a:cubicBezTo>
                  <a:pt x="3350894" y="4848362"/>
                  <a:pt x="3350351" y="4855411"/>
                  <a:pt x="3349759" y="4861941"/>
                </a:cubicBezTo>
                <a:lnTo>
                  <a:pt x="3347368" y="4866228"/>
                </a:lnTo>
                <a:lnTo>
                  <a:pt x="3358408" y="4889535"/>
                </a:lnTo>
                <a:cubicBezTo>
                  <a:pt x="3373705" y="4931282"/>
                  <a:pt x="3382233" y="4982216"/>
                  <a:pt x="3393319" y="5017998"/>
                </a:cubicBezTo>
                <a:cubicBezTo>
                  <a:pt x="3368256" y="5040241"/>
                  <a:pt x="3392200" y="5029364"/>
                  <a:pt x="3389184" y="5055049"/>
                </a:cubicBezTo>
                <a:cubicBezTo>
                  <a:pt x="3413510" y="5050695"/>
                  <a:pt x="3377700" y="5085342"/>
                  <a:pt x="3405892" y="5089973"/>
                </a:cubicBezTo>
                <a:cubicBezTo>
                  <a:pt x="3404451" y="5094499"/>
                  <a:pt x="3402165" y="5098741"/>
                  <a:pt x="3399662" y="5102960"/>
                </a:cubicBezTo>
                <a:lnTo>
                  <a:pt x="3398363" y="5105176"/>
                </a:lnTo>
                <a:lnTo>
                  <a:pt x="3398026" y="5114590"/>
                </a:lnTo>
                <a:lnTo>
                  <a:pt x="3391859" y="5116550"/>
                </a:lnTo>
                <a:lnTo>
                  <a:pt x="3386999" y="5130226"/>
                </a:lnTo>
                <a:cubicBezTo>
                  <a:pt x="3386119" y="5135455"/>
                  <a:pt x="3386267" y="5141205"/>
                  <a:pt x="3388073" y="5147747"/>
                </a:cubicBezTo>
                <a:cubicBezTo>
                  <a:pt x="3400425" y="5164741"/>
                  <a:pt x="3388688" y="5187675"/>
                  <a:pt x="3391234" y="5209919"/>
                </a:cubicBezTo>
                <a:lnTo>
                  <a:pt x="3395469" y="5220481"/>
                </a:lnTo>
                <a:lnTo>
                  <a:pt x="3392518" y="5250830"/>
                </a:lnTo>
                <a:lnTo>
                  <a:pt x="3393800" y="5252877"/>
                </a:lnTo>
                <a:cubicBezTo>
                  <a:pt x="3393941" y="5258188"/>
                  <a:pt x="3392357" y="5268832"/>
                  <a:pt x="3393361" y="5282697"/>
                </a:cubicBezTo>
                <a:lnTo>
                  <a:pt x="3399825" y="5336059"/>
                </a:lnTo>
                <a:lnTo>
                  <a:pt x="3392824" y="5344884"/>
                </a:lnTo>
                <a:lnTo>
                  <a:pt x="3389277" y="5345998"/>
                </a:lnTo>
                <a:lnTo>
                  <a:pt x="3390946" y="5360636"/>
                </a:lnTo>
                <a:lnTo>
                  <a:pt x="3386366" y="5371486"/>
                </a:lnTo>
                <a:lnTo>
                  <a:pt x="3390662" y="5381496"/>
                </a:lnTo>
                <a:lnTo>
                  <a:pt x="3388199" y="5395290"/>
                </a:lnTo>
                <a:cubicBezTo>
                  <a:pt x="3386677" y="5400263"/>
                  <a:pt x="3384810" y="5405812"/>
                  <a:pt x="3383455" y="5412069"/>
                </a:cubicBezTo>
                <a:lnTo>
                  <a:pt x="3376345" y="5426008"/>
                </a:lnTo>
                <a:lnTo>
                  <a:pt x="3374012" y="5448470"/>
                </a:lnTo>
                <a:cubicBezTo>
                  <a:pt x="3372358" y="5465848"/>
                  <a:pt x="3370199" y="5482458"/>
                  <a:pt x="3365299" y="5498771"/>
                </a:cubicBezTo>
                <a:cubicBezTo>
                  <a:pt x="3368242" y="5512292"/>
                  <a:pt x="3368289" y="5524931"/>
                  <a:pt x="3358774" y="5536815"/>
                </a:cubicBezTo>
                <a:cubicBezTo>
                  <a:pt x="3355554" y="5573082"/>
                  <a:pt x="3364982" y="5582256"/>
                  <a:pt x="3352897" y="5604851"/>
                </a:cubicBezTo>
                <a:cubicBezTo>
                  <a:pt x="3357655" y="5611851"/>
                  <a:pt x="3360065" y="5616619"/>
                  <a:pt x="3360918" y="5620215"/>
                </a:cubicBezTo>
                <a:cubicBezTo>
                  <a:pt x="3363482" y="5631010"/>
                  <a:pt x="3352061" y="5631235"/>
                  <a:pt x="3348145" y="5649365"/>
                </a:cubicBezTo>
                <a:cubicBezTo>
                  <a:pt x="3342329" y="5668683"/>
                  <a:pt x="3336842" y="5635583"/>
                  <a:pt x="3334135" y="5654076"/>
                </a:cubicBezTo>
                <a:cubicBezTo>
                  <a:pt x="3338089" y="5673079"/>
                  <a:pt x="3320876" y="5674673"/>
                  <a:pt x="3326011" y="5694285"/>
                </a:cubicBezTo>
                <a:cubicBezTo>
                  <a:pt x="3339441" y="5687377"/>
                  <a:pt x="3320185" y="5735320"/>
                  <a:pt x="3331448" y="5735077"/>
                </a:cubicBezTo>
                <a:cubicBezTo>
                  <a:pt x="3313758" y="5754960"/>
                  <a:pt x="3333086" y="5760823"/>
                  <a:pt x="3326180" y="5784860"/>
                </a:cubicBezTo>
                <a:cubicBezTo>
                  <a:pt x="3319129" y="5796737"/>
                  <a:pt x="3317432" y="5804806"/>
                  <a:pt x="3323175" y="5814629"/>
                </a:cubicBezTo>
                <a:cubicBezTo>
                  <a:pt x="3289103" y="5869565"/>
                  <a:pt x="3319352" y="5845410"/>
                  <a:pt x="3303983" y="5894405"/>
                </a:cubicBezTo>
                <a:lnTo>
                  <a:pt x="3302615" y="5898375"/>
                </a:lnTo>
                <a:lnTo>
                  <a:pt x="3305988" y="5914019"/>
                </a:lnTo>
                <a:cubicBezTo>
                  <a:pt x="3306566" y="5914416"/>
                  <a:pt x="3307142" y="5914813"/>
                  <a:pt x="3307720" y="5915209"/>
                </a:cubicBezTo>
                <a:lnTo>
                  <a:pt x="3288942" y="5962966"/>
                </a:lnTo>
                <a:lnTo>
                  <a:pt x="3289995" y="5969791"/>
                </a:lnTo>
                <a:lnTo>
                  <a:pt x="3273219" y="6000303"/>
                </a:lnTo>
                <a:lnTo>
                  <a:pt x="3266971" y="6016394"/>
                </a:lnTo>
                <a:lnTo>
                  <a:pt x="3258268" y="6034498"/>
                </a:lnTo>
                <a:lnTo>
                  <a:pt x="3262376" y="6046147"/>
                </a:lnTo>
                <a:cubicBezTo>
                  <a:pt x="3269023" y="6073717"/>
                  <a:pt x="3250846" y="6118951"/>
                  <a:pt x="3274161" y="6127097"/>
                </a:cubicBezTo>
                <a:cubicBezTo>
                  <a:pt x="3261055" y="6140796"/>
                  <a:pt x="3284255" y="6151240"/>
                  <a:pt x="3287116" y="6165061"/>
                </a:cubicBezTo>
                <a:cubicBezTo>
                  <a:pt x="3278972" y="6176795"/>
                  <a:pt x="3286959" y="6181809"/>
                  <a:pt x="3289289" y="6191816"/>
                </a:cubicBezTo>
                <a:cubicBezTo>
                  <a:pt x="3284123" y="6196765"/>
                  <a:pt x="3284941" y="6205311"/>
                  <a:pt x="3291517" y="6207797"/>
                </a:cubicBezTo>
                <a:cubicBezTo>
                  <a:pt x="3306003" y="6202672"/>
                  <a:pt x="3300501" y="6232914"/>
                  <a:pt x="3310808" y="6234442"/>
                </a:cubicBezTo>
                <a:cubicBezTo>
                  <a:pt x="3314005" y="6251566"/>
                  <a:pt x="3305763" y="6327405"/>
                  <a:pt x="3322832" y="6339012"/>
                </a:cubicBezTo>
                <a:cubicBezTo>
                  <a:pt x="3332735" y="6373401"/>
                  <a:pt x="3309981" y="6425589"/>
                  <a:pt x="3311360" y="6440393"/>
                </a:cubicBezTo>
                <a:cubicBezTo>
                  <a:pt x="3282540" y="6457108"/>
                  <a:pt x="3365374" y="6523495"/>
                  <a:pt x="3370963" y="6586374"/>
                </a:cubicBezTo>
                <a:cubicBezTo>
                  <a:pt x="3368621" y="6595055"/>
                  <a:pt x="3368943" y="6599590"/>
                  <a:pt x="3375863" y="6601412"/>
                </a:cubicBezTo>
                <a:cubicBezTo>
                  <a:pt x="3380798" y="6617525"/>
                  <a:pt x="3389212" y="6649404"/>
                  <a:pt x="3400578" y="6683057"/>
                </a:cubicBezTo>
                <a:cubicBezTo>
                  <a:pt x="3408645" y="6705148"/>
                  <a:pt x="3410628" y="6805370"/>
                  <a:pt x="3417831" y="6852700"/>
                </a:cubicBezTo>
                <a:lnTo>
                  <a:pt x="3418926" y="6858000"/>
                </a:lnTo>
                <a:lnTo>
                  <a:pt x="0" y="6858000"/>
                </a:lnTo>
                <a:close/>
              </a:path>
            </a:pathLst>
          </a:custGeom>
        </p:spPr>
      </p:pic>
    </p:spTree>
    <p:extLst>
      <p:ext uri="{BB962C8B-B14F-4D97-AF65-F5344CB8AC3E}">
        <p14:creationId xmlns:p14="http://schemas.microsoft.com/office/powerpoint/2010/main" val="7655541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B2E13E-9B21-1C4A-AC0F-4F41C749B880}"/>
              </a:ext>
            </a:extLst>
          </p:cNvPr>
          <p:cNvSpPr>
            <a:spLocks noGrp="1"/>
          </p:cNvSpPr>
          <p:nvPr>
            <p:ph type="title"/>
          </p:nvPr>
        </p:nvSpPr>
        <p:spPr>
          <a:xfrm>
            <a:off x="515125" y="1153572"/>
            <a:ext cx="2400300" cy="4461163"/>
          </a:xfrm>
        </p:spPr>
        <p:txBody>
          <a:bodyPr>
            <a:normAutofit/>
          </a:bodyPr>
          <a:lstStyle/>
          <a:p>
            <a:r>
              <a:rPr lang="en-US" sz="4100">
                <a:solidFill>
                  <a:srgbClr val="FFFFFF"/>
                </a:solidFill>
              </a:rPr>
              <a:t>Employer-Employee Loyalty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A35A46C-D98D-5DEE-A7BE-E51189BE6536}"/>
              </a:ext>
            </a:extLst>
          </p:cNvPr>
          <p:cNvSpPr>
            <a:spLocks noGrp="1"/>
          </p:cNvSpPr>
          <p:nvPr>
            <p:ph idx="1"/>
          </p:nvPr>
        </p:nvSpPr>
        <p:spPr>
          <a:xfrm>
            <a:off x="3335481" y="591344"/>
            <a:ext cx="5179868" cy="5585619"/>
          </a:xfrm>
        </p:spPr>
        <p:txBody>
          <a:bodyPr anchor="ctr">
            <a:normAutofit/>
          </a:bodyPr>
          <a:lstStyle/>
          <a:p>
            <a:r>
              <a:rPr lang="en-US" dirty="0"/>
              <a:t>Point: </a:t>
            </a:r>
            <a:r>
              <a:rPr lang="en-IN" dirty="0"/>
              <a:t>Workplace guru Linda Gratton says, “Loyalty is dead-killed off through shortening contracts, outsourcing, automation and multiple careers</a:t>
            </a:r>
          </a:p>
          <a:p>
            <a:r>
              <a:rPr lang="en-IN" dirty="0"/>
              <a:t>Employers tend to cut commitments to an employee, and reduce his or her benefits, if they perceive they can do so. </a:t>
            </a:r>
          </a:p>
          <a:p>
            <a:r>
              <a:rPr lang="en-IN" dirty="0"/>
              <a:t>Employees tend to jump at the best available job offer as soon as they see it.</a:t>
            </a:r>
          </a:p>
          <a:p>
            <a:endParaRPr lang="en-IN" dirty="0"/>
          </a:p>
          <a:p>
            <a:endParaRPr lang="en-US" dirty="0"/>
          </a:p>
        </p:txBody>
      </p:sp>
    </p:spTree>
    <p:extLst>
      <p:ext uri="{BB962C8B-B14F-4D97-AF65-F5344CB8AC3E}">
        <p14:creationId xmlns:p14="http://schemas.microsoft.com/office/powerpoint/2010/main" val="2561902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25EFB8-686E-C69C-FA2F-6F3754175819}"/>
              </a:ext>
            </a:extLst>
          </p:cNvPr>
          <p:cNvSpPr>
            <a:spLocks noGrp="1"/>
          </p:cNvSpPr>
          <p:nvPr>
            <p:ph type="title"/>
          </p:nvPr>
        </p:nvSpPr>
        <p:spPr>
          <a:xfrm>
            <a:off x="515125" y="1153572"/>
            <a:ext cx="2400300" cy="4461163"/>
          </a:xfrm>
        </p:spPr>
        <p:txBody>
          <a:bodyPr>
            <a:normAutofit/>
          </a:bodyPr>
          <a:lstStyle/>
          <a:p>
            <a:r>
              <a:rPr lang="en-US" sz="4100">
                <a:solidFill>
                  <a:srgbClr val="FFFFFF"/>
                </a:solidFill>
              </a:rPr>
              <a:t>Employer-Employee Loyalty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73CC22E-0332-0F11-C792-6AD3CF4AF24D}"/>
              </a:ext>
            </a:extLst>
          </p:cNvPr>
          <p:cNvSpPr>
            <a:spLocks noGrp="1"/>
          </p:cNvSpPr>
          <p:nvPr>
            <p:ph idx="1"/>
          </p:nvPr>
        </p:nvSpPr>
        <p:spPr>
          <a:xfrm>
            <a:off x="3335481" y="591344"/>
            <a:ext cx="5179868" cy="5585619"/>
          </a:xfrm>
        </p:spPr>
        <p:txBody>
          <a:bodyPr anchor="ctr">
            <a:normAutofit/>
          </a:bodyPr>
          <a:lstStyle/>
          <a:p>
            <a:r>
              <a:rPr lang="en-US" sz="2600"/>
              <a:t>Counterpoint: </a:t>
            </a:r>
            <a:r>
              <a:rPr lang="en-IN" sz="2600"/>
              <a:t>Says management guru Tom Peters, “Bottom line: loyalty matters. A lot. Yesterday. Today. Tomorrow.” </a:t>
            </a:r>
          </a:p>
          <a:p>
            <a:r>
              <a:rPr lang="en-IN" sz="2600"/>
              <a:t>“Leaders who encourage loyalty want employees who are not only committed to and engaged in their work but who also find meaning from it.”</a:t>
            </a:r>
          </a:p>
          <a:p>
            <a:r>
              <a:rPr lang="en-IN" sz="2600"/>
              <a:t>Says workplace psychologist Binna Kandola, “Workplaces may have changed but loyalty is not dead-the bonds between people are too strong.”</a:t>
            </a:r>
          </a:p>
          <a:p>
            <a:endParaRPr lang="en-IN" sz="2600"/>
          </a:p>
          <a:p>
            <a:endParaRPr lang="en-US" sz="2600"/>
          </a:p>
        </p:txBody>
      </p:sp>
    </p:spTree>
    <p:extLst>
      <p:ext uri="{BB962C8B-B14F-4D97-AF65-F5344CB8AC3E}">
        <p14:creationId xmlns:p14="http://schemas.microsoft.com/office/powerpoint/2010/main" val="281774660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354</TotalTime>
  <Words>1147</Words>
  <Application>Microsoft Macintosh PowerPoint</Application>
  <PresentationFormat>On-screen Show (4:3)</PresentationFormat>
  <Paragraphs>78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Calibri</vt:lpstr>
      <vt:lpstr>Office Theme</vt:lpstr>
      <vt:lpstr>MS-606 ATTITUDES AND JOB SATISFACTION</vt:lpstr>
      <vt:lpstr>Attitudes</vt:lpstr>
      <vt:lpstr>Main Components of Attitudes</vt:lpstr>
      <vt:lpstr>PowerPoint Presentation</vt:lpstr>
      <vt:lpstr>Does Behavior Always Follow from Attitudes?</vt:lpstr>
      <vt:lpstr>Major Job Attitudes</vt:lpstr>
      <vt:lpstr>Measuring Job Satisfaction</vt:lpstr>
      <vt:lpstr>PowerPoint Presentation</vt:lpstr>
      <vt:lpstr>PowerPoint Presentation</vt:lpstr>
      <vt:lpstr>PowerPoint Presentation</vt:lpstr>
      <vt:lpstr>Causes of Job Satisfaction</vt:lpstr>
      <vt:lpstr>Employee responses to dissatisfaction</vt:lpstr>
      <vt:lpstr>Favorable Job Attitudes Make Organizations More Profitable </vt:lpstr>
      <vt:lpstr>PowerPoint Presentation</vt:lpstr>
      <vt:lpstr>Job Satisfaction</vt:lpstr>
      <vt:lpstr>Job Satisfaction</vt:lpstr>
      <vt:lpstr>Job Satisfaction</vt:lpstr>
      <vt:lpstr>Job Satisfaction</vt:lpstr>
      <vt:lpstr>When Managers "Don't Get It": The Perception Gap</vt:lpstr>
      <vt:lpstr>Employer-Employee Loyalty is an Outdated Concept </vt:lpstr>
      <vt:lpstr>Employer-Employee Loyalty</vt:lpstr>
      <vt:lpstr>Employer-Employee Loyalty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chetanya singh</dc:creator>
  <cp:lastModifiedBy>chetanya singh</cp:lastModifiedBy>
  <cp:revision>13</cp:revision>
  <dcterms:created xsi:type="dcterms:W3CDTF">2026-08-10T02:10:10Z</dcterms:created>
  <dcterms:modified xsi:type="dcterms:W3CDTF">2026-08-10T08:06:13Z</dcterms:modified>
</cp:coreProperties>
</file>